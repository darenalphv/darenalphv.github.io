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200aa7-ab3a-faf3-3d10-15a2a073a32b}">
          <p14:sldIdLst>
            <p14:sldId id="256"/>
            <p14:sldId id="257"/>
            <p14:sldId id="258"/>
          </p14:sldIdLst>
        </p14:section>
        <p14:section name="Point of view" id="{28b4a032-1eee-3255-9b00-781679efb361}">
          <p14:sldIdLst>
            <p14:sldId id="259"/>
            <p14:sldId id="260"/>
            <p14:sldId id="261"/>
          </p14:sldIdLst>
        </p14:section>
        <p14:section name="Who we are" id="{f547c49e-04eb-08fc-d8d3-f08d822977a9}">
          <p14:sldIdLst>
            <p14:sldId id="262"/>
            <p14:sldId id="263"/>
            <p14:sldId id="264"/>
            <p14:sldId id="265"/>
          </p14:sldIdLst>
        </p14:section>
        <p14:section name="What we do" id="{e8fe8a53-33d8-eb3a-b30c-3164074c5cb1}">
          <p14:sldIdLst>
            <p14:sldId id="266"/>
            <p14:sldId id="267"/>
            <p14:sldId id="268"/>
            <p14:sldId id="269"/>
            <p14:sldId id="270"/>
            <p14:sldId id="271"/>
            <p14:sldId id="272"/>
          </p14:sldIdLst>
        </p14:section>
        <p14:section name="Sectors and products" id="{b80a8960-3c5d-0756-017c-faf7e96ffa84}">
          <p14:sldIdLst>
            <p14:sldId id="273"/>
            <p14:sldId id="274"/>
            <p14:sldId id="275"/>
            <p14:sldId id="276"/>
          </p14:sldIdLst>
        </p14:section>
        <p14:section name="Proof" id="{7d5ca821-98d3-3d0d-e5e2-73092bbb784e}">
          <p14:sldIdLst>
            <p14:sldId id="277"/>
            <p14:sldId id="278"/>
            <p14:sldId id="279"/>
            <p14:sldId id="280"/>
            <p14:sldId id="281"/>
            <p14:sldId id="282"/>
            <p14:sldId id="283"/>
            <p14:sldId id="284"/>
            <p14:sldId id="285"/>
            <p14:sldId id="286"/>
          </p14:sldIdLst>
        </p14:section>
        <p14:section name="Engage" id="{96791c26-e1c6-29c1-98fe-e44f517a129a}">
          <p14:sldIdLst>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jp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descr="ALPHV">    </p:cNvPr>
          <p:cNvPicPr>
            <a:picLocks noChangeAspect="1"/>
          </p:cNvPicPr>
          <p:nvPr/>
        </p:nvPicPr>
        <p:blipFill>
          <a:blip r:embed="rId2"/>
          <a:stretch>
            <a:fillRect/>
          </a:stretch>
        </p:blipFill>
        <p:spPr>
          <a:xfrm>
            <a:off x="711220" y="533370"/>
            <a:ext cx="934608" cy="292059"/>
          </a:xfrm>
          <a:prstGeom prst="rect">
            <a:avLst/>
          </a:prstGeom>
        </p:spPr>
      </p:pic>
      <p:sp>
        <p:nvSpPr>
          <p:cNvPr id="3" name="badge"/>
          <p:cNvSpPr/>
          <p:nvPr/>
        </p:nvSpPr>
        <p:spPr>
          <a:xfrm>
            <a:off x="9071671" y="536570"/>
            <a:ext cx="2405969" cy="254020"/>
          </a:xfrm>
          <a:prstGeom prst="roundRect">
            <a:avLst>
              <a:gd name="adj" fmla="val 50000"/>
            </a:avLst>
          </a:prstGeom>
          <a:ln w="6350">
            <a:solidFill>
              <a:srgbClr val="FFFFFF">
                <a:alpha val="55000"/>
              </a:srgbClr>
            </a:solidFill>
            <a:prstDash val="solid"/>
          </a:ln>
        </p:spPr>
      </p:sp>
      <p:sp>
        <p:nvSpPr>
          <p:cNvPr id="4" name="badge"/>
          <p:cNvSpPr/>
          <p:nvPr/>
        </p:nvSpPr>
        <p:spPr>
          <a:xfrm>
            <a:off x="714421" y="2041764"/>
            <a:ext cx="2607046" cy="254020"/>
          </a:xfrm>
          <a:prstGeom prst="roundRect">
            <a:avLst>
              <a:gd name="adj" fmla="val 50000"/>
            </a:avLst>
          </a:prstGeom>
          <a:ln w="6350">
            <a:solidFill>
              <a:srgbClr val="FFFFFF">
                <a:alpha val="55000"/>
              </a:srgbClr>
            </a:solidFill>
            <a:prstDash val="solid"/>
          </a:ln>
        </p:spPr>
      </p:sp>
      <p:sp>
        <p:nvSpPr>
          <p:cNvPr id="5" name="Rule"/>
          <p:cNvSpPr/>
          <p:nvPr/>
        </p:nvSpPr>
        <p:spPr>
          <a:xfrm>
            <a:off x="711220" y="5397337"/>
            <a:ext cx="10769620" cy="0"/>
          </a:xfrm>
          <a:prstGeom prst="line">
            <a:avLst/>
          </a:prstGeom>
          <a:noFill/>
          <a:ln w="6350">
            <a:solidFill>
              <a:srgbClr val="FFFFFF">
                <a:alpha val="22000"/>
              </a:srgbClr>
            </a:solidFill>
            <a:prstDash val="solid"/>
          </a:ln>
        </p:spPr>
      </p:sp>
      <p:sp>
        <p:nvSpPr>
          <p:cNvPr id="6" name="Text"/>
          <p:cNvSpPr txBox="1"/>
          <p:nvPr/>
        </p:nvSpPr>
        <p:spPr>
          <a:xfrm>
            <a:off x="9201882" y="609265"/>
            <a:ext cx="2170968"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FFFFFF"/>
                </a:solidFill>
                <a:latin typeface="Poppins Medium" pitchFamily="34" charset="0"/>
                <a:ea typeface="Poppins Medium" pitchFamily="34" charset="-122"/>
                <a:cs typeface="Poppins Medium" pitchFamily="34" charset="-120"/>
              </a:rPr>
              <a:t>Corporate overview · October 2026</a:t>
            </a:r>
            <a:endParaRPr lang="en-US" sz="950" dirty="0"/>
          </a:p>
        </p:txBody>
      </p:sp>
      <p:sp>
        <p:nvSpPr>
          <p:cNvPr id="7" name="Text"/>
          <p:cNvSpPr txBox="1"/>
          <p:nvPr/>
        </p:nvSpPr>
        <p:spPr>
          <a:xfrm>
            <a:off x="844540" y="2114459"/>
            <a:ext cx="2372136"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FFFFFF"/>
                </a:solidFill>
                <a:latin typeface="Poppins Medium" pitchFamily="34" charset="0"/>
                <a:ea typeface="Poppins Medium" pitchFamily="34" charset="-122"/>
                <a:cs typeface="Poppins Medium" pitchFamily="34" charset="-120"/>
              </a:rPr>
              <a:t>AI systems integration and consulting</a:t>
            </a:r>
            <a:endParaRPr lang="en-US" sz="950" dirty="0"/>
          </a:p>
        </p:txBody>
      </p:sp>
      <p:sp>
        <p:nvSpPr>
          <p:cNvPr id="8" name="Text"/>
          <p:cNvSpPr txBox="1"/>
          <p:nvPr/>
        </p:nvSpPr>
        <p:spPr>
          <a:xfrm>
            <a:off x="711220" y="2575225"/>
            <a:ext cx="9931390" cy="1479316"/>
          </a:xfrm>
          <a:prstGeom prst="rect">
            <a:avLst/>
          </a:prstGeom>
          <a:noFill/>
          <a:ln/>
        </p:spPr>
        <p:txBody>
          <a:bodyPr wrap="square" lIns="0" tIns="0" rIns="0" bIns="0" rtlCol="0" anchor="t"/>
          <a:lstStyle/>
          <a:p>
            <a:pPr algn="l" indent="0" marL="0">
              <a:lnSpc>
                <a:spcPts val="5824"/>
              </a:lnSpc>
              <a:buNone/>
            </a:pPr>
            <a:r>
              <a:rPr lang="en-US" sz="5600" spc="-140" kern="0" dirty="0">
                <a:solidFill>
                  <a:srgbClr val="FFFFFF"/>
                </a:solidFill>
                <a:latin typeface="Poppins SemiBold" pitchFamily="34" charset="0"/>
                <a:ea typeface="Poppins SemiBold" pitchFamily="34" charset="-122"/>
                <a:cs typeface="Poppins SemiBold" pitchFamily="34" charset="-120"/>
              </a:rPr>
              <a:t>Build AI into the systems</a:t>
            </a:r>
            <a:endParaRPr lang="en-US" sz="5600" dirty="0"/>
          </a:p>
          <a:p>
            <a:pPr algn="l" indent="0" marL="0">
              <a:lnSpc>
                <a:spcPts val="5824"/>
              </a:lnSpc>
              <a:buNone/>
            </a:pPr>
            <a:r>
              <a:rPr lang="en-US" sz="5600" spc="-140" kern="0" dirty="0">
                <a:solidFill>
                  <a:srgbClr val="FFFFFF"/>
                </a:solidFill>
                <a:latin typeface="Poppins SemiBold" pitchFamily="34" charset="0"/>
                <a:ea typeface="Poppins SemiBold" pitchFamily="34" charset="-122"/>
                <a:cs typeface="Poppins SemiBold" pitchFamily="34" charset="-120"/>
              </a:rPr>
              <a:t>that run your business</a:t>
            </a:r>
            <a:endParaRPr lang="en-US" sz="5600" dirty="0"/>
          </a:p>
        </p:txBody>
      </p:sp>
      <p:sp>
        <p:nvSpPr>
          <p:cNvPr id="9" name="Text"/>
          <p:cNvSpPr txBox="1"/>
          <p:nvPr/>
        </p:nvSpPr>
        <p:spPr>
          <a:xfrm>
            <a:off x="711220" y="4262841"/>
            <a:ext cx="6898142" cy="828721"/>
          </a:xfrm>
          <a:prstGeom prst="rect">
            <a:avLst/>
          </a:prstGeom>
          <a:noFill/>
          <a:ln/>
        </p:spPr>
        <p:txBody>
          <a:bodyPr wrap="squar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ALPHV designs, integrates and runs production AI for legal, insurance, healthcare, hospitality, finance and retail teams, from first model to measurable outcomes.</a:t>
            </a:r>
            <a:endParaRPr lang="en-US" sz="1450" dirty="0"/>
          </a:p>
        </p:txBody>
      </p:sp>
      <p:sp>
        <p:nvSpPr>
          <p:cNvPr id="10" name="Text"/>
          <p:cNvSpPr txBox="1"/>
          <p:nvPr/>
        </p:nvSpPr>
        <p:spPr>
          <a:xfrm>
            <a:off x="711220" y="5564764"/>
            <a:ext cx="525689" cy="167335"/>
          </a:xfrm>
          <a:prstGeom prst="rect">
            <a:avLst/>
          </a:prstGeom>
          <a:noFill/>
          <a:ln/>
        </p:spPr>
        <p:txBody>
          <a:bodyPr wrap="non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Founded</a:t>
            </a:r>
            <a:endParaRPr lang="en-US" sz="850" dirty="0"/>
          </a:p>
        </p:txBody>
      </p:sp>
      <p:sp>
        <p:nvSpPr>
          <p:cNvPr id="11" name="Text"/>
          <p:cNvSpPr txBox="1"/>
          <p:nvPr/>
        </p:nvSpPr>
        <p:spPr>
          <a:xfrm>
            <a:off x="711220" y="5765475"/>
            <a:ext cx="514990"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2023</a:t>
            </a:r>
            <a:endParaRPr lang="en-US" sz="1200" dirty="0"/>
          </a:p>
        </p:txBody>
      </p:sp>
      <p:sp>
        <p:nvSpPr>
          <p:cNvPr id="12" name="Text"/>
          <p:cNvSpPr txBox="1"/>
          <p:nvPr/>
        </p:nvSpPr>
        <p:spPr>
          <a:xfrm>
            <a:off x="1617848" y="5564764"/>
            <a:ext cx="1067745"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Headquarters</a:t>
            </a:r>
            <a:endParaRPr lang="en-US" sz="850" dirty="0"/>
          </a:p>
        </p:txBody>
      </p:sp>
      <p:sp>
        <p:nvSpPr>
          <p:cNvPr id="13" name="Text"/>
          <p:cNvSpPr txBox="1"/>
          <p:nvPr/>
        </p:nvSpPr>
        <p:spPr>
          <a:xfrm>
            <a:off x="1617848" y="5765475"/>
            <a:ext cx="1076249" cy="236190"/>
          </a:xfrm>
          <a:prstGeom prst="rect">
            <a:avLst/>
          </a:prstGeom>
          <a:noFill/>
          <a:ln/>
        </p:spPr>
        <p:txBody>
          <a:bodyPr wrap="non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Kuala Lumpur</a:t>
            </a:r>
            <a:endParaRPr lang="en-US" sz="1200" dirty="0"/>
          </a:p>
        </p:txBody>
      </p:sp>
      <p:sp>
        <p:nvSpPr>
          <p:cNvPr id="14" name="Text"/>
          <p:cNvSpPr txBox="1"/>
          <p:nvPr/>
        </p:nvSpPr>
        <p:spPr>
          <a:xfrm>
            <a:off x="3075127" y="5564764"/>
            <a:ext cx="798271"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Office</a:t>
            </a:r>
            <a:endParaRPr lang="en-US" sz="850" dirty="0"/>
          </a:p>
        </p:txBody>
      </p:sp>
      <p:sp>
        <p:nvSpPr>
          <p:cNvPr id="15" name="Text"/>
          <p:cNvSpPr txBox="1"/>
          <p:nvPr/>
        </p:nvSpPr>
        <p:spPr>
          <a:xfrm>
            <a:off x="3075127" y="5765475"/>
            <a:ext cx="807872" cy="236190"/>
          </a:xfrm>
          <a:prstGeom prst="rect">
            <a:avLst/>
          </a:prstGeom>
          <a:noFill/>
          <a:ln/>
        </p:spPr>
        <p:txBody>
          <a:bodyPr wrap="non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Singapore</a:t>
            </a:r>
            <a:endParaRPr lang="en-US" sz="1200" dirty="0"/>
          </a:p>
        </p:txBody>
      </p:sp>
      <p:sp>
        <p:nvSpPr>
          <p:cNvPr id="16" name="Text"/>
          <p:cNvSpPr txBox="1"/>
          <p:nvPr/>
        </p:nvSpPr>
        <p:spPr>
          <a:xfrm>
            <a:off x="4263939" y="5564764"/>
            <a:ext cx="2589855"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Clients in</a:t>
            </a:r>
            <a:endParaRPr lang="en-US" sz="850" dirty="0"/>
          </a:p>
        </p:txBody>
      </p:sp>
      <p:sp>
        <p:nvSpPr>
          <p:cNvPr id="17" name="Text"/>
          <p:cNvSpPr txBox="1"/>
          <p:nvPr/>
        </p:nvSpPr>
        <p:spPr>
          <a:xfrm>
            <a:off x="4263939" y="5765475"/>
            <a:ext cx="2592324" cy="236190"/>
          </a:xfrm>
          <a:prstGeom prst="rect">
            <a:avLst/>
          </a:prstGeom>
          <a:noFill/>
          <a:ln/>
        </p:spPr>
        <p:txBody>
          <a:bodyPr wrap="non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Malaysia, Singapore and Vietnam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473281" cy="254020"/>
          </a:xfrm>
          <a:prstGeom prst="roundRect">
            <a:avLst>
              <a:gd name="adj" fmla="val 50000"/>
            </a:avLst>
          </a:prstGeom>
          <a:ln w="6350">
            <a:solidFill>
              <a:srgbClr val="155DFC"/>
            </a:solidFill>
            <a:prstDash val="solid"/>
          </a:ln>
        </p:spPr>
      </p:sp>
      <p:sp>
        <p:nvSpPr>
          <p:cNvPr id="3" name="Rule"/>
          <p:cNvSpPr/>
          <p:nvPr/>
        </p:nvSpPr>
        <p:spPr>
          <a:xfrm>
            <a:off x="711220" y="2077060"/>
            <a:ext cx="10769620" cy="0"/>
          </a:xfrm>
          <a:prstGeom prst="line">
            <a:avLst/>
          </a:prstGeom>
          <a:noFill/>
          <a:ln w="6350">
            <a:solidFill>
              <a:srgbClr val="E3E6EC"/>
            </a:solidFill>
            <a:prstDash val="solid"/>
          </a:ln>
        </p:spPr>
      </p:sp>
      <p:sp>
        <p:nvSpPr>
          <p:cNvPr id="4" name="Rule"/>
          <p:cNvSpPr/>
          <p:nvPr/>
        </p:nvSpPr>
        <p:spPr>
          <a:xfrm>
            <a:off x="711220" y="2873136"/>
            <a:ext cx="10769620" cy="0"/>
          </a:xfrm>
          <a:prstGeom prst="line">
            <a:avLst/>
          </a:prstGeom>
          <a:noFill/>
          <a:ln w="6350">
            <a:solidFill>
              <a:srgbClr val="E3E6EC"/>
            </a:solidFill>
            <a:prstDash val="solid"/>
          </a:ln>
        </p:spPr>
      </p:sp>
      <p:sp>
        <p:nvSpPr>
          <p:cNvPr id="5" name="Rule"/>
          <p:cNvSpPr/>
          <p:nvPr/>
        </p:nvSpPr>
        <p:spPr>
          <a:xfrm>
            <a:off x="711220" y="3669304"/>
            <a:ext cx="10769620" cy="0"/>
          </a:xfrm>
          <a:prstGeom prst="line">
            <a:avLst/>
          </a:prstGeom>
          <a:noFill/>
          <a:ln w="6350">
            <a:solidFill>
              <a:srgbClr val="E3E6EC"/>
            </a:solidFill>
            <a:prstDash val="solid"/>
          </a:ln>
        </p:spPr>
      </p:sp>
      <p:sp>
        <p:nvSpPr>
          <p:cNvPr id="6" name="Rule"/>
          <p:cNvSpPr/>
          <p:nvPr/>
        </p:nvSpPr>
        <p:spPr>
          <a:xfrm>
            <a:off x="711220" y="4465472"/>
            <a:ext cx="10769620" cy="0"/>
          </a:xfrm>
          <a:prstGeom prst="line">
            <a:avLst/>
          </a:prstGeom>
          <a:noFill/>
          <a:ln w="6350">
            <a:solidFill>
              <a:srgbClr val="E3E6EC"/>
            </a:solidFill>
            <a:prstDash val="solid"/>
          </a:ln>
        </p:spPr>
      </p:sp>
      <p:sp>
        <p:nvSpPr>
          <p:cNvPr id="7" name="Rule"/>
          <p:cNvSpPr/>
          <p:nvPr/>
        </p:nvSpPr>
        <p:spPr>
          <a:xfrm>
            <a:off x="711220" y="5261549"/>
            <a:ext cx="10769620" cy="0"/>
          </a:xfrm>
          <a:prstGeom prst="line">
            <a:avLst/>
          </a:prstGeom>
          <a:noFill/>
          <a:ln w="6350">
            <a:solidFill>
              <a:srgbClr val="E3E6EC"/>
            </a:solidFill>
            <a:prstDash val="solid"/>
          </a:ln>
        </p:spPr>
      </p:sp>
      <p:sp>
        <p:nvSpPr>
          <p:cNvPr id="8" name="Rule"/>
          <p:cNvSpPr/>
          <p:nvPr/>
        </p:nvSpPr>
        <p:spPr>
          <a:xfrm>
            <a:off x="711220" y="6057717"/>
            <a:ext cx="10769620" cy="0"/>
          </a:xfrm>
          <a:prstGeom prst="line">
            <a:avLst/>
          </a:prstGeom>
          <a:noFill/>
          <a:ln w="6350">
            <a:solidFill>
              <a:srgbClr val="E3E6EC"/>
            </a:solidFill>
            <a:prstDash val="solid"/>
          </a:ln>
        </p:spPr>
      </p:sp>
      <p:sp>
        <p:nvSpPr>
          <p:cNvPr id="9" name="Text"/>
          <p:cNvSpPr txBox="1"/>
          <p:nvPr/>
        </p:nvSpPr>
        <p:spPr>
          <a:xfrm>
            <a:off x="844540" y="609265"/>
            <a:ext cx="1238372"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Executive summary</a:t>
            </a:r>
            <a:endParaRPr lang="en-US" sz="950" dirty="0"/>
          </a:p>
        </p:txBody>
      </p:sp>
      <p:sp>
        <p:nvSpPr>
          <p:cNvPr id="10"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ALPHV takes AI past the pilot and</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into the systems that</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earn revenue</a:t>
            </a:r>
            <a:endParaRPr lang="en-US" sz="3000" dirty="0"/>
          </a:p>
        </p:txBody>
      </p:sp>
      <p:sp>
        <p:nvSpPr>
          <p:cNvPr id="11" name="Text"/>
          <p:cNvSpPr txBox="1"/>
          <p:nvPr/>
        </p:nvSpPr>
        <p:spPr>
          <a:xfrm>
            <a:off x="711220" y="2244852"/>
            <a:ext cx="420715"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01</a:t>
            </a:r>
            <a:endParaRPr lang="en-US" sz="1100" dirty="0"/>
          </a:p>
        </p:txBody>
      </p:sp>
      <p:sp>
        <p:nvSpPr>
          <p:cNvPr id="12" name="Text"/>
          <p:cNvSpPr txBox="1"/>
          <p:nvPr/>
        </p:nvSpPr>
        <p:spPr>
          <a:xfrm>
            <a:off x="1320759" y="2226290"/>
            <a:ext cx="1606509" cy="238110"/>
          </a:xfrm>
          <a:prstGeom prst="rect">
            <a:avLst/>
          </a:prstGeom>
          <a:noFill/>
          <a:ln/>
        </p:spPr>
        <p:txBody>
          <a:bodyPr wrap="square" lIns="0" tIns="0" rIns="0" bIns="0" rtlCol="0" anchor="t"/>
          <a:lstStyle/>
          <a:p>
            <a:pPr algn="l" indent="0" marL="0">
              <a:lnSpc>
                <a:spcPts val="1875"/>
              </a:lnSpc>
              <a:buNone/>
            </a:pPr>
            <a:r>
              <a:rPr lang="en-US" sz="1500" dirty="0">
                <a:solidFill>
                  <a:srgbClr val="000000"/>
                </a:solidFill>
                <a:latin typeface="Poppins Medium" pitchFamily="34" charset="0"/>
                <a:ea typeface="Poppins Medium" pitchFamily="34" charset="-122"/>
                <a:cs typeface="Poppins Medium" pitchFamily="34" charset="-120"/>
              </a:rPr>
              <a:t>Situation</a:t>
            </a:r>
            <a:endParaRPr lang="en-US" sz="1500" dirty="0"/>
          </a:p>
        </p:txBody>
      </p:sp>
      <p:sp>
        <p:nvSpPr>
          <p:cNvPr id="13" name="Text"/>
          <p:cNvSpPr txBox="1"/>
          <p:nvPr/>
        </p:nvSpPr>
        <p:spPr>
          <a:xfrm>
            <a:off x="3111520" y="2227204"/>
            <a:ext cx="8729502" cy="47247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Most companies have tried AI. Far fewer run it inside the systems that earn their revenue.</a:t>
            </a:r>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 AI pays off after the</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pilot, not in it.</a:t>
            </a:r>
            <a:endParaRPr lang="en-US" sz="1200" dirty="0"/>
          </a:p>
        </p:txBody>
      </p:sp>
      <p:sp>
        <p:nvSpPr>
          <p:cNvPr id="14" name="Text"/>
          <p:cNvSpPr txBox="1"/>
          <p:nvPr/>
        </p:nvSpPr>
        <p:spPr>
          <a:xfrm>
            <a:off x="711220" y="3040929"/>
            <a:ext cx="420715"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02</a:t>
            </a:r>
            <a:endParaRPr lang="en-US" sz="1100" dirty="0"/>
          </a:p>
        </p:txBody>
      </p:sp>
      <p:sp>
        <p:nvSpPr>
          <p:cNvPr id="15" name="Text"/>
          <p:cNvSpPr txBox="1"/>
          <p:nvPr/>
        </p:nvSpPr>
        <p:spPr>
          <a:xfrm>
            <a:off x="1320759" y="3022366"/>
            <a:ext cx="1606509" cy="238110"/>
          </a:xfrm>
          <a:prstGeom prst="rect">
            <a:avLst/>
          </a:prstGeom>
          <a:noFill/>
          <a:ln/>
        </p:spPr>
        <p:txBody>
          <a:bodyPr wrap="square" lIns="0" tIns="0" rIns="0" bIns="0" rtlCol="0" anchor="t"/>
          <a:lstStyle/>
          <a:p>
            <a:pPr algn="l" indent="0" marL="0">
              <a:lnSpc>
                <a:spcPts val="1875"/>
              </a:lnSpc>
              <a:buNone/>
            </a:pPr>
            <a:r>
              <a:rPr lang="en-US" sz="1500" dirty="0">
                <a:solidFill>
                  <a:srgbClr val="000000"/>
                </a:solidFill>
                <a:latin typeface="Poppins Medium" pitchFamily="34" charset="0"/>
                <a:ea typeface="Poppins Medium" pitchFamily="34" charset="-122"/>
                <a:cs typeface="Poppins Medium" pitchFamily="34" charset="-120"/>
              </a:rPr>
              <a:t>Complication</a:t>
            </a:r>
            <a:endParaRPr lang="en-US" sz="1500" dirty="0"/>
          </a:p>
        </p:txBody>
      </p:sp>
      <p:sp>
        <p:nvSpPr>
          <p:cNvPr id="16" name="Text"/>
          <p:cNvSpPr txBox="1"/>
          <p:nvPr/>
        </p:nvSpPr>
        <p:spPr>
          <a:xfrm>
            <a:off x="3111520" y="3023281"/>
            <a:ext cx="8729502" cy="47247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Three barriers keep pilots from reaching production.</a:t>
            </a:r>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 Data sits in silos, legacy systems resist change and pilots</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stall at integration.</a:t>
            </a:r>
            <a:endParaRPr lang="en-US" sz="1200" dirty="0"/>
          </a:p>
        </p:txBody>
      </p:sp>
      <p:sp>
        <p:nvSpPr>
          <p:cNvPr id="17" name="Text"/>
          <p:cNvSpPr txBox="1"/>
          <p:nvPr/>
        </p:nvSpPr>
        <p:spPr>
          <a:xfrm>
            <a:off x="711220" y="3837097"/>
            <a:ext cx="420715"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03</a:t>
            </a:r>
            <a:endParaRPr lang="en-US" sz="1100" dirty="0"/>
          </a:p>
        </p:txBody>
      </p:sp>
      <p:sp>
        <p:nvSpPr>
          <p:cNvPr id="18" name="Text"/>
          <p:cNvSpPr txBox="1"/>
          <p:nvPr/>
        </p:nvSpPr>
        <p:spPr>
          <a:xfrm>
            <a:off x="1320759" y="3818534"/>
            <a:ext cx="1606509" cy="238110"/>
          </a:xfrm>
          <a:prstGeom prst="rect">
            <a:avLst/>
          </a:prstGeom>
          <a:noFill/>
          <a:ln/>
        </p:spPr>
        <p:txBody>
          <a:bodyPr wrap="square" lIns="0" tIns="0" rIns="0" bIns="0" rtlCol="0" anchor="t"/>
          <a:lstStyle/>
          <a:p>
            <a:pPr algn="l" indent="0" marL="0">
              <a:lnSpc>
                <a:spcPts val="1875"/>
              </a:lnSpc>
              <a:buNone/>
            </a:pPr>
            <a:r>
              <a:rPr lang="en-US" sz="1500" dirty="0">
                <a:solidFill>
                  <a:srgbClr val="000000"/>
                </a:solidFill>
                <a:latin typeface="Poppins Medium" pitchFamily="34" charset="0"/>
                <a:ea typeface="Poppins Medium" pitchFamily="34" charset="-122"/>
                <a:cs typeface="Poppins Medium" pitchFamily="34" charset="-120"/>
              </a:rPr>
              <a:t>Answer</a:t>
            </a:r>
            <a:endParaRPr lang="en-US" sz="1500" dirty="0"/>
          </a:p>
        </p:txBody>
      </p:sp>
      <p:sp>
        <p:nvSpPr>
          <p:cNvPr id="19" name="Text"/>
          <p:cNvSpPr txBox="1"/>
          <p:nvPr/>
        </p:nvSpPr>
        <p:spPr>
          <a:xfrm>
            <a:off x="3111520" y="3819449"/>
            <a:ext cx="8415498" cy="47247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ALPHV is an AI-native systems integrator.</a:t>
            </a:r>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 The engineers who scope your AI ship and improve it, with models, hosting and guardrails chosen to fit your systems, data and regulator.</a:t>
            </a:r>
            <a:endParaRPr lang="en-US" sz="1200" dirty="0"/>
          </a:p>
        </p:txBody>
      </p:sp>
      <p:sp>
        <p:nvSpPr>
          <p:cNvPr id="20" name="Text"/>
          <p:cNvSpPr txBox="1"/>
          <p:nvPr/>
        </p:nvSpPr>
        <p:spPr>
          <a:xfrm>
            <a:off x="711220" y="4633173"/>
            <a:ext cx="420715"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04</a:t>
            </a:r>
            <a:endParaRPr lang="en-US" sz="1100" dirty="0"/>
          </a:p>
        </p:txBody>
      </p:sp>
      <p:sp>
        <p:nvSpPr>
          <p:cNvPr id="21" name="Text"/>
          <p:cNvSpPr txBox="1"/>
          <p:nvPr/>
        </p:nvSpPr>
        <p:spPr>
          <a:xfrm>
            <a:off x="1320759" y="4614702"/>
            <a:ext cx="1606509" cy="238110"/>
          </a:xfrm>
          <a:prstGeom prst="rect">
            <a:avLst/>
          </a:prstGeom>
          <a:noFill/>
          <a:ln/>
        </p:spPr>
        <p:txBody>
          <a:bodyPr wrap="square" lIns="0" tIns="0" rIns="0" bIns="0" rtlCol="0" anchor="t"/>
          <a:lstStyle/>
          <a:p>
            <a:pPr algn="l" indent="0" marL="0">
              <a:lnSpc>
                <a:spcPts val="1875"/>
              </a:lnSpc>
              <a:buNone/>
            </a:pPr>
            <a:r>
              <a:rPr lang="en-US" sz="1500" dirty="0">
                <a:solidFill>
                  <a:srgbClr val="000000"/>
                </a:solidFill>
                <a:latin typeface="Poppins Medium" pitchFamily="34" charset="0"/>
                <a:ea typeface="Poppins Medium" pitchFamily="34" charset="-122"/>
                <a:cs typeface="Poppins Medium" pitchFamily="34" charset="-120"/>
              </a:rPr>
              <a:t>Evidence</a:t>
            </a:r>
            <a:endParaRPr lang="en-US" sz="1500" dirty="0"/>
          </a:p>
        </p:txBody>
      </p:sp>
      <p:sp>
        <p:nvSpPr>
          <p:cNvPr id="22" name="Text"/>
          <p:cNvSpPr txBox="1"/>
          <p:nvPr/>
        </p:nvSpPr>
        <p:spPr>
          <a:xfrm>
            <a:off x="3111520" y="4615525"/>
            <a:ext cx="8729502" cy="47247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12 projects delivered and in delivery.</a:t>
            </a:r>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 90+ portal automations for a 36-year-old law firm, 80% less manual data</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entry time for a Singapore hospitality group, and first of nine at the AI for Insurance Challenge × Tasco.</a:t>
            </a:r>
            <a:endParaRPr lang="en-US" sz="1200" dirty="0"/>
          </a:p>
        </p:txBody>
      </p:sp>
      <p:sp>
        <p:nvSpPr>
          <p:cNvPr id="23" name="Text"/>
          <p:cNvSpPr txBox="1"/>
          <p:nvPr/>
        </p:nvSpPr>
        <p:spPr>
          <a:xfrm>
            <a:off x="711220" y="5429341"/>
            <a:ext cx="420715"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05</a:t>
            </a:r>
            <a:endParaRPr lang="en-US" sz="1100" dirty="0"/>
          </a:p>
        </p:txBody>
      </p:sp>
      <p:sp>
        <p:nvSpPr>
          <p:cNvPr id="24" name="Text"/>
          <p:cNvSpPr txBox="1"/>
          <p:nvPr/>
        </p:nvSpPr>
        <p:spPr>
          <a:xfrm>
            <a:off x="1320759" y="5410779"/>
            <a:ext cx="1606509" cy="238110"/>
          </a:xfrm>
          <a:prstGeom prst="rect">
            <a:avLst/>
          </a:prstGeom>
          <a:noFill/>
          <a:ln/>
        </p:spPr>
        <p:txBody>
          <a:bodyPr wrap="square" lIns="0" tIns="0" rIns="0" bIns="0" rtlCol="0" anchor="t"/>
          <a:lstStyle/>
          <a:p>
            <a:pPr algn="l" indent="0" marL="0">
              <a:lnSpc>
                <a:spcPts val="1875"/>
              </a:lnSpc>
              <a:buNone/>
            </a:pPr>
            <a:r>
              <a:rPr lang="en-US" sz="1500" dirty="0">
                <a:solidFill>
                  <a:srgbClr val="000000"/>
                </a:solidFill>
                <a:latin typeface="Poppins Medium" pitchFamily="34" charset="0"/>
                <a:ea typeface="Poppins Medium" pitchFamily="34" charset="-122"/>
                <a:cs typeface="Poppins Medium" pitchFamily="34" charset="-120"/>
              </a:rPr>
              <a:t>Next step</a:t>
            </a:r>
            <a:endParaRPr lang="en-US" sz="1500" dirty="0"/>
          </a:p>
        </p:txBody>
      </p:sp>
      <p:sp>
        <p:nvSpPr>
          <p:cNvPr id="25" name="Text"/>
          <p:cNvSpPr txBox="1"/>
          <p:nvPr/>
        </p:nvSpPr>
        <p:spPr>
          <a:xfrm>
            <a:off x="3111520" y="5411694"/>
            <a:ext cx="8729502" cy="47247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Every engagement starts from the business case.</a:t>
            </a:r>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 Tech advisory, a data audit and AI strategy research find</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where AI pays back, before any build starts.</a:t>
            </a:r>
            <a:endParaRPr lang="en-US" sz="1200" dirty="0"/>
          </a:p>
        </p:txBody>
      </p:sp>
      <p:sp>
        <p:nvSpPr>
          <p:cNvPr id="26"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 alphv.com/about; alphv.com/industries; alphv.com/news/ai-for-insurance-challenge-tasco-winner (October 2026).</a:t>
            </a:r>
            <a:endParaRPr lang="en-US" sz="850" dirty="0"/>
          </a:p>
        </p:txBody>
      </p:sp>
      <p:sp>
        <p:nvSpPr>
          <p:cNvPr id="27" name="Text"/>
          <p:cNvSpPr txBox="1"/>
          <p:nvPr/>
        </p:nvSpPr>
        <p:spPr>
          <a:xfrm>
            <a:off x="9349740"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28" name="Text"/>
          <p:cNvSpPr txBox="1"/>
          <p:nvPr/>
        </p:nvSpPr>
        <p:spPr>
          <a:xfrm>
            <a:off x="9857781"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29" name="Text"/>
          <p:cNvSpPr txBox="1"/>
          <p:nvPr/>
        </p:nvSpPr>
        <p:spPr>
          <a:xfrm>
            <a:off x="11349258" y="6401532"/>
            <a:ext cx="157002"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978865" cy="254020"/>
          </a:xfrm>
          <a:prstGeom prst="roundRect">
            <a:avLst>
              <a:gd name="adj" fmla="val 50000"/>
            </a:avLst>
          </a:prstGeom>
          <a:ln w="6350">
            <a:solidFill>
              <a:srgbClr val="155DFC"/>
            </a:solidFill>
            <a:prstDash val="solid"/>
          </a:ln>
        </p:spPr>
      </p:sp>
      <p:sp>
        <p:nvSpPr>
          <p:cNvPr id="3" name="Rule"/>
          <p:cNvSpPr/>
          <p:nvPr/>
        </p:nvSpPr>
        <p:spPr>
          <a:xfrm>
            <a:off x="711220" y="1855775"/>
            <a:ext cx="10769620" cy="0"/>
          </a:xfrm>
          <a:prstGeom prst="line">
            <a:avLst/>
          </a:prstGeom>
          <a:noFill/>
          <a:ln w="6350">
            <a:solidFill>
              <a:srgbClr val="E3E6EC"/>
            </a:solidFill>
            <a:prstDash val="solid"/>
          </a:ln>
        </p:spPr>
      </p:sp>
      <p:sp>
        <p:nvSpPr>
          <p:cNvPr id="4" name="Rule"/>
          <p:cNvSpPr/>
          <p:nvPr/>
        </p:nvSpPr>
        <p:spPr>
          <a:xfrm>
            <a:off x="711220" y="2516795"/>
            <a:ext cx="10769620" cy="0"/>
          </a:xfrm>
          <a:prstGeom prst="line">
            <a:avLst/>
          </a:prstGeom>
          <a:noFill/>
          <a:ln w="6350">
            <a:solidFill>
              <a:srgbClr val="E3E6EC"/>
            </a:solidFill>
            <a:prstDash val="solid"/>
          </a:ln>
        </p:spPr>
      </p:sp>
      <p:sp>
        <p:nvSpPr>
          <p:cNvPr id="5" name="Rule"/>
          <p:cNvSpPr/>
          <p:nvPr/>
        </p:nvSpPr>
        <p:spPr>
          <a:xfrm>
            <a:off x="711220" y="3177814"/>
            <a:ext cx="10769620" cy="0"/>
          </a:xfrm>
          <a:prstGeom prst="line">
            <a:avLst/>
          </a:prstGeom>
          <a:noFill/>
          <a:ln w="6350">
            <a:solidFill>
              <a:srgbClr val="E3E6EC"/>
            </a:solidFill>
            <a:prstDash val="solid"/>
          </a:ln>
        </p:spPr>
      </p:sp>
      <p:sp>
        <p:nvSpPr>
          <p:cNvPr id="6" name="Rule"/>
          <p:cNvSpPr/>
          <p:nvPr/>
        </p:nvSpPr>
        <p:spPr>
          <a:xfrm>
            <a:off x="711220" y="3838743"/>
            <a:ext cx="10769620" cy="0"/>
          </a:xfrm>
          <a:prstGeom prst="line">
            <a:avLst/>
          </a:prstGeom>
          <a:noFill/>
          <a:ln w="6350">
            <a:solidFill>
              <a:srgbClr val="E3E6EC"/>
            </a:solidFill>
            <a:prstDash val="solid"/>
          </a:ln>
        </p:spPr>
      </p:sp>
      <p:sp>
        <p:nvSpPr>
          <p:cNvPr id="7" name="Rule"/>
          <p:cNvSpPr/>
          <p:nvPr/>
        </p:nvSpPr>
        <p:spPr>
          <a:xfrm>
            <a:off x="711220" y="4499762"/>
            <a:ext cx="10769620" cy="0"/>
          </a:xfrm>
          <a:prstGeom prst="line">
            <a:avLst/>
          </a:prstGeom>
          <a:noFill/>
          <a:ln w="6350">
            <a:solidFill>
              <a:srgbClr val="E3E6EC"/>
            </a:solidFill>
            <a:prstDash val="solid"/>
          </a:ln>
        </p:spPr>
      </p:sp>
      <p:sp>
        <p:nvSpPr>
          <p:cNvPr id="8" name="Rule"/>
          <p:cNvSpPr/>
          <p:nvPr/>
        </p:nvSpPr>
        <p:spPr>
          <a:xfrm>
            <a:off x="711220" y="5355641"/>
            <a:ext cx="10769620" cy="0"/>
          </a:xfrm>
          <a:prstGeom prst="line">
            <a:avLst/>
          </a:prstGeom>
          <a:noFill/>
          <a:ln w="6350">
            <a:solidFill>
              <a:srgbClr val="E3E6EC"/>
            </a:solidFill>
            <a:prstDash val="solid"/>
          </a:ln>
        </p:spPr>
      </p:sp>
      <p:sp>
        <p:nvSpPr>
          <p:cNvPr id="9" name="Rule"/>
          <p:cNvSpPr/>
          <p:nvPr/>
        </p:nvSpPr>
        <p:spPr>
          <a:xfrm>
            <a:off x="711220" y="6016661"/>
            <a:ext cx="10769620" cy="0"/>
          </a:xfrm>
          <a:prstGeom prst="line">
            <a:avLst/>
          </a:prstGeom>
          <a:noFill/>
          <a:ln w="6350">
            <a:solidFill>
              <a:srgbClr val="E3E6EC"/>
            </a:solidFill>
            <a:prstDash val="solid"/>
          </a:ln>
        </p:spPr>
      </p:sp>
      <p:sp>
        <p:nvSpPr>
          <p:cNvPr id="10" name="Text"/>
          <p:cNvSpPr txBox="1"/>
          <p:nvPr/>
        </p:nvSpPr>
        <p:spPr>
          <a:xfrm>
            <a:off x="844540" y="609265"/>
            <a:ext cx="743956"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Six sections</a:t>
            </a:r>
            <a:endParaRPr lang="en-US" sz="950" dirty="0"/>
          </a:p>
        </p:txBody>
      </p:sp>
      <p:sp>
        <p:nvSpPr>
          <p:cNvPr id="11" name="Title"/>
          <p:cNvSpPr txBox="1"/>
          <p:nvPr/>
        </p:nvSpPr>
        <p:spPr>
          <a:xfrm>
            <a:off x="711220" y="931956"/>
            <a:ext cx="9448312" cy="43050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Contents</a:t>
            </a:r>
            <a:endParaRPr lang="en-US" sz="3000" dirty="0"/>
          </a:p>
        </p:txBody>
      </p:sp>
      <p:sp>
        <p:nvSpPr>
          <p:cNvPr id="12" name="Text"/>
          <p:cNvSpPr txBox="1"/>
          <p:nvPr/>
        </p:nvSpPr>
        <p:spPr>
          <a:xfrm>
            <a:off x="711220" y="2087027"/>
            <a:ext cx="624718"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01</a:t>
            </a:r>
            <a:endParaRPr lang="en-US" sz="1100" dirty="0"/>
          </a:p>
        </p:txBody>
      </p:sp>
      <p:sp>
        <p:nvSpPr>
          <p:cNvPr id="13" name="Text"/>
          <p:cNvSpPr txBox="1"/>
          <p:nvPr/>
        </p:nvSpPr>
        <p:spPr>
          <a:xfrm>
            <a:off x="1435059" y="2042495"/>
            <a:ext cx="3009108" cy="2698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Poppins Medium" pitchFamily="34" charset="0"/>
                <a:ea typeface="Poppins Medium" pitchFamily="34" charset="-122"/>
                <a:cs typeface="Poppins Medium" pitchFamily="34" charset="-120"/>
              </a:rPr>
              <a:t>Point of view</a:t>
            </a:r>
            <a:endParaRPr lang="en-US" sz="1700" dirty="0"/>
          </a:p>
        </p:txBody>
      </p:sp>
      <p:sp>
        <p:nvSpPr>
          <p:cNvPr id="14" name="Text"/>
          <p:cNvSpPr txBox="1"/>
          <p:nvPr/>
        </p:nvSpPr>
        <p:spPr>
          <a:xfrm>
            <a:off x="4533870" y="2098274"/>
            <a:ext cx="578879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Why AI pays off after the pilot, and the principles we work by</a:t>
            </a:r>
            <a:endParaRPr lang="en-US" sz="1100" dirty="0"/>
          </a:p>
        </p:txBody>
      </p:sp>
      <p:sp>
        <p:nvSpPr>
          <p:cNvPr id="15" name="Text"/>
          <p:cNvSpPr txBox="1"/>
          <p:nvPr/>
        </p:nvSpPr>
        <p:spPr>
          <a:xfrm>
            <a:off x="10401300" y="2120036"/>
            <a:ext cx="1079541" cy="174925"/>
          </a:xfrm>
          <a:prstGeom prst="rect">
            <a:avLst/>
          </a:prstGeom>
          <a:noFill/>
          <a:ln/>
        </p:spPr>
        <p:txBody>
          <a:bodyPr wrap="square" lIns="0" tIns="0" rIns="0" bIns="0" rtlCol="0" anchor="t"/>
          <a:lstStyle/>
          <a:p>
            <a:pPr algn="r" indent="0" marL="0">
              <a:lnSpc>
                <a:spcPts val="1378"/>
              </a:lnSpc>
              <a:buNone/>
            </a:pPr>
            <a:r>
              <a:rPr lang="en-US" sz="950" dirty="0">
                <a:solidFill>
                  <a:srgbClr val="6B6B6B"/>
                </a:solidFill>
                <a:latin typeface="Poppins Light" pitchFamily="34" charset="0"/>
                <a:ea typeface="Poppins Light" pitchFamily="34" charset="-122"/>
                <a:cs typeface="Poppins Light" pitchFamily="34" charset="-120"/>
              </a:rPr>
              <a:t>Slides 04–06</a:t>
            </a:r>
            <a:endParaRPr lang="en-US" sz="950" dirty="0"/>
          </a:p>
        </p:txBody>
      </p:sp>
      <p:sp>
        <p:nvSpPr>
          <p:cNvPr id="16" name="Text"/>
          <p:cNvSpPr txBox="1"/>
          <p:nvPr/>
        </p:nvSpPr>
        <p:spPr>
          <a:xfrm>
            <a:off x="711220" y="2748046"/>
            <a:ext cx="624718"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02</a:t>
            </a:r>
            <a:endParaRPr lang="en-US" sz="1100" dirty="0"/>
          </a:p>
        </p:txBody>
      </p:sp>
      <p:sp>
        <p:nvSpPr>
          <p:cNvPr id="17" name="Text"/>
          <p:cNvSpPr txBox="1"/>
          <p:nvPr/>
        </p:nvSpPr>
        <p:spPr>
          <a:xfrm>
            <a:off x="1435059" y="2703515"/>
            <a:ext cx="3009108" cy="2698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Poppins Medium" pitchFamily="34" charset="0"/>
                <a:ea typeface="Poppins Medium" pitchFamily="34" charset="-122"/>
                <a:cs typeface="Poppins Medium" pitchFamily="34" charset="-120"/>
              </a:rPr>
              <a:t>Who we are</a:t>
            </a:r>
            <a:endParaRPr lang="en-US" sz="1700" dirty="0"/>
          </a:p>
        </p:txBody>
      </p:sp>
      <p:sp>
        <p:nvSpPr>
          <p:cNvPr id="18" name="Text"/>
          <p:cNvSpPr txBox="1"/>
          <p:nvPr/>
        </p:nvSpPr>
        <p:spPr>
          <a:xfrm>
            <a:off x="4533870" y="2759202"/>
            <a:ext cx="578879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The team, the people, and the platforms and partners we build with</a:t>
            </a:r>
            <a:endParaRPr lang="en-US" sz="1100" dirty="0"/>
          </a:p>
        </p:txBody>
      </p:sp>
      <p:sp>
        <p:nvSpPr>
          <p:cNvPr id="19" name="Text"/>
          <p:cNvSpPr txBox="1"/>
          <p:nvPr/>
        </p:nvSpPr>
        <p:spPr>
          <a:xfrm>
            <a:off x="10401300" y="2780965"/>
            <a:ext cx="1079541" cy="174925"/>
          </a:xfrm>
          <a:prstGeom prst="rect">
            <a:avLst/>
          </a:prstGeom>
          <a:noFill/>
          <a:ln/>
        </p:spPr>
        <p:txBody>
          <a:bodyPr wrap="square" lIns="0" tIns="0" rIns="0" bIns="0" rtlCol="0" anchor="t"/>
          <a:lstStyle/>
          <a:p>
            <a:pPr algn="r" indent="0" marL="0">
              <a:lnSpc>
                <a:spcPts val="1378"/>
              </a:lnSpc>
              <a:buNone/>
            </a:pPr>
            <a:r>
              <a:rPr lang="en-US" sz="950" dirty="0">
                <a:solidFill>
                  <a:srgbClr val="6B6B6B"/>
                </a:solidFill>
                <a:latin typeface="Poppins Light" pitchFamily="34" charset="0"/>
                <a:ea typeface="Poppins Light" pitchFamily="34" charset="-122"/>
                <a:cs typeface="Poppins Light" pitchFamily="34" charset="-120"/>
              </a:rPr>
              <a:t>Slides 07–10</a:t>
            </a:r>
            <a:endParaRPr lang="en-US" sz="950" dirty="0"/>
          </a:p>
        </p:txBody>
      </p:sp>
      <p:sp>
        <p:nvSpPr>
          <p:cNvPr id="20" name="Text"/>
          <p:cNvSpPr txBox="1"/>
          <p:nvPr/>
        </p:nvSpPr>
        <p:spPr>
          <a:xfrm>
            <a:off x="711220" y="3409066"/>
            <a:ext cx="624718"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03</a:t>
            </a:r>
            <a:endParaRPr lang="en-US" sz="1100" dirty="0"/>
          </a:p>
        </p:txBody>
      </p:sp>
      <p:sp>
        <p:nvSpPr>
          <p:cNvPr id="21" name="Text"/>
          <p:cNvSpPr txBox="1"/>
          <p:nvPr/>
        </p:nvSpPr>
        <p:spPr>
          <a:xfrm>
            <a:off x="1435059" y="3364443"/>
            <a:ext cx="3009108" cy="2698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Poppins Medium" pitchFamily="34" charset="0"/>
                <a:ea typeface="Poppins Medium" pitchFamily="34" charset="-122"/>
                <a:cs typeface="Poppins Medium" pitchFamily="34" charset="-120"/>
              </a:rPr>
              <a:t>What we do</a:t>
            </a:r>
            <a:endParaRPr lang="en-US" sz="1700" dirty="0"/>
          </a:p>
        </p:txBody>
      </p:sp>
      <p:sp>
        <p:nvSpPr>
          <p:cNvPr id="22" name="Text"/>
          <p:cNvSpPr txBox="1"/>
          <p:nvPr/>
        </p:nvSpPr>
        <p:spPr>
          <a:xfrm>
            <a:off x="4533870" y="3420222"/>
            <a:ext cx="578879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Six services, one team, from the first model to the last integration</a:t>
            </a:r>
            <a:endParaRPr lang="en-US" sz="1100" dirty="0"/>
          </a:p>
        </p:txBody>
      </p:sp>
      <p:sp>
        <p:nvSpPr>
          <p:cNvPr id="23" name="Text"/>
          <p:cNvSpPr txBox="1"/>
          <p:nvPr/>
        </p:nvSpPr>
        <p:spPr>
          <a:xfrm>
            <a:off x="10401300" y="3441984"/>
            <a:ext cx="1079541" cy="174925"/>
          </a:xfrm>
          <a:prstGeom prst="rect">
            <a:avLst/>
          </a:prstGeom>
          <a:noFill/>
          <a:ln/>
        </p:spPr>
        <p:txBody>
          <a:bodyPr wrap="square" lIns="0" tIns="0" rIns="0" bIns="0" rtlCol="0" anchor="t"/>
          <a:lstStyle/>
          <a:p>
            <a:pPr algn="r" indent="0" marL="0">
              <a:lnSpc>
                <a:spcPts val="1378"/>
              </a:lnSpc>
              <a:buNone/>
            </a:pPr>
            <a:r>
              <a:rPr lang="en-US" sz="950" dirty="0">
                <a:solidFill>
                  <a:srgbClr val="6B6B6B"/>
                </a:solidFill>
                <a:latin typeface="Poppins Light" pitchFamily="34" charset="0"/>
                <a:ea typeface="Poppins Light" pitchFamily="34" charset="-122"/>
                <a:cs typeface="Poppins Light" pitchFamily="34" charset="-120"/>
              </a:rPr>
              <a:t>Slides 11–17</a:t>
            </a:r>
            <a:endParaRPr lang="en-US" sz="950" dirty="0"/>
          </a:p>
        </p:txBody>
      </p:sp>
      <p:sp>
        <p:nvSpPr>
          <p:cNvPr id="24" name="Text"/>
          <p:cNvSpPr txBox="1"/>
          <p:nvPr/>
        </p:nvSpPr>
        <p:spPr>
          <a:xfrm>
            <a:off x="711220" y="4070086"/>
            <a:ext cx="624718"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04</a:t>
            </a:r>
            <a:endParaRPr lang="en-US" sz="1100" dirty="0"/>
          </a:p>
        </p:txBody>
      </p:sp>
      <p:sp>
        <p:nvSpPr>
          <p:cNvPr id="25" name="Text"/>
          <p:cNvSpPr txBox="1"/>
          <p:nvPr/>
        </p:nvSpPr>
        <p:spPr>
          <a:xfrm>
            <a:off x="1435059" y="4025463"/>
            <a:ext cx="3009108" cy="2698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Poppins Medium" pitchFamily="34" charset="0"/>
                <a:ea typeface="Poppins Medium" pitchFamily="34" charset="-122"/>
                <a:cs typeface="Poppins Medium" pitchFamily="34" charset="-120"/>
              </a:rPr>
              <a:t>Sectors and products</a:t>
            </a:r>
            <a:endParaRPr lang="en-US" sz="1700" dirty="0"/>
          </a:p>
        </p:txBody>
      </p:sp>
      <p:sp>
        <p:nvSpPr>
          <p:cNvPr id="26" name="Text"/>
          <p:cNvSpPr txBox="1"/>
          <p:nvPr/>
        </p:nvSpPr>
        <p:spPr>
          <a:xfrm>
            <a:off x="4533870" y="4081242"/>
            <a:ext cx="578879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Six sectors with work to show, and five products ready to deploy</a:t>
            </a:r>
            <a:endParaRPr lang="en-US" sz="1100" dirty="0"/>
          </a:p>
        </p:txBody>
      </p:sp>
      <p:sp>
        <p:nvSpPr>
          <p:cNvPr id="27" name="Text"/>
          <p:cNvSpPr txBox="1"/>
          <p:nvPr/>
        </p:nvSpPr>
        <p:spPr>
          <a:xfrm>
            <a:off x="10401300" y="4103004"/>
            <a:ext cx="1079541" cy="174925"/>
          </a:xfrm>
          <a:prstGeom prst="rect">
            <a:avLst/>
          </a:prstGeom>
          <a:noFill/>
          <a:ln/>
        </p:spPr>
        <p:txBody>
          <a:bodyPr wrap="square" lIns="0" tIns="0" rIns="0" bIns="0" rtlCol="0" anchor="t"/>
          <a:lstStyle/>
          <a:p>
            <a:pPr algn="r" indent="0" marL="0">
              <a:lnSpc>
                <a:spcPts val="1378"/>
              </a:lnSpc>
              <a:buNone/>
            </a:pPr>
            <a:r>
              <a:rPr lang="en-US" sz="950" dirty="0">
                <a:solidFill>
                  <a:srgbClr val="6B6B6B"/>
                </a:solidFill>
                <a:latin typeface="Poppins Light" pitchFamily="34" charset="0"/>
                <a:ea typeface="Poppins Light" pitchFamily="34" charset="-122"/>
                <a:cs typeface="Poppins Light" pitchFamily="34" charset="-120"/>
              </a:rPr>
              <a:t>Slides 18–21</a:t>
            </a:r>
            <a:endParaRPr lang="en-US" sz="950" dirty="0"/>
          </a:p>
        </p:txBody>
      </p:sp>
      <p:sp>
        <p:nvSpPr>
          <p:cNvPr id="28" name="Text"/>
          <p:cNvSpPr txBox="1"/>
          <p:nvPr/>
        </p:nvSpPr>
        <p:spPr>
          <a:xfrm>
            <a:off x="711220" y="4731014"/>
            <a:ext cx="624718"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05</a:t>
            </a:r>
            <a:endParaRPr lang="en-US" sz="1100" dirty="0"/>
          </a:p>
        </p:txBody>
      </p:sp>
      <p:sp>
        <p:nvSpPr>
          <p:cNvPr id="29" name="Text"/>
          <p:cNvSpPr txBox="1"/>
          <p:nvPr/>
        </p:nvSpPr>
        <p:spPr>
          <a:xfrm>
            <a:off x="1435059" y="4686483"/>
            <a:ext cx="3009108" cy="2698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Poppins Medium" pitchFamily="34" charset="0"/>
                <a:ea typeface="Poppins Medium" pitchFamily="34" charset="-122"/>
                <a:cs typeface="Poppins Medium" pitchFamily="34" charset="-120"/>
              </a:rPr>
              <a:t>Proof</a:t>
            </a:r>
            <a:endParaRPr lang="en-US" sz="1700" dirty="0"/>
          </a:p>
        </p:txBody>
      </p:sp>
      <p:sp>
        <p:nvSpPr>
          <p:cNvPr id="30" name="Text"/>
          <p:cNvSpPr txBox="1"/>
          <p:nvPr/>
        </p:nvSpPr>
        <p:spPr>
          <a:xfrm>
            <a:off x="4533870" y="4742170"/>
            <a:ext cx="5788792" cy="405171"/>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Nine engagements and a case note, what clients say, and the wins and stages around them</a:t>
            </a:r>
            <a:endParaRPr lang="en-US" sz="1100" dirty="0"/>
          </a:p>
        </p:txBody>
      </p:sp>
      <p:sp>
        <p:nvSpPr>
          <p:cNvPr id="31" name="Text"/>
          <p:cNvSpPr txBox="1"/>
          <p:nvPr/>
        </p:nvSpPr>
        <p:spPr>
          <a:xfrm>
            <a:off x="10401300" y="4764024"/>
            <a:ext cx="1079541" cy="174925"/>
          </a:xfrm>
          <a:prstGeom prst="rect">
            <a:avLst/>
          </a:prstGeom>
          <a:noFill/>
          <a:ln/>
        </p:spPr>
        <p:txBody>
          <a:bodyPr wrap="square" lIns="0" tIns="0" rIns="0" bIns="0" rtlCol="0" anchor="t"/>
          <a:lstStyle/>
          <a:p>
            <a:pPr algn="r" indent="0" marL="0">
              <a:lnSpc>
                <a:spcPts val="1378"/>
              </a:lnSpc>
              <a:buNone/>
            </a:pPr>
            <a:r>
              <a:rPr lang="en-US" sz="950" dirty="0">
                <a:solidFill>
                  <a:srgbClr val="6B6B6B"/>
                </a:solidFill>
                <a:latin typeface="Poppins Light" pitchFamily="34" charset="0"/>
                <a:ea typeface="Poppins Light" pitchFamily="34" charset="-122"/>
                <a:cs typeface="Poppins Light" pitchFamily="34" charset="-120"/>
              </a:rPr>
              <a:t>Slides 22–31</a:t>
            </a:r>
            <a:endParaRPr lang="en-US" sz="950" dirty="0"/>
          </a:p>
        </p:txBody>
      </p:sp>
      <p:sp>
        <p:nvSpPr>
          <p:cNvPr id="32" name="Text"/>
          <p:cNvSpPr txBox="1"/>
          <p:nvPr/>
        </p:nvSpPr>
        <p:spPr>
          <a:xfrm>
            <a:off x="711220" y="5586893"/>
            <a:ext cx="624718"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06</a:t>
            </a:r>
            <a:endParaRPr lang="en-US" sz="1100" dirty="0"/>
          </a:p>
        </p:txBody>
      </p:sp>
      <p:sp>
        <p:nvSpPr>
          <p:cNvPr id="33" name="Text"/>
          <p:cNvSpPr txBox="1"/>
          <p:nvPr/>
        </p:nvSpPr>
        <p:spPr>
          <a:xfrm>
            <a:off x="1435059" y="5542361"/>
            <a:ext cx="3009108" cy="269839"/>
          </a:xfrm>
          <a:prstGeom prst="rect">
            <a:avLst/>
          </a:prstGeom>
          <a:noFill/>
          <a:ln/>
        </p:spPr>
        <p:txBody>
          <a:bodyPr wrap="square" lIns="0" tIns="0" rIns="0" bIns="0" rtlCol="0" anchor="t"/>
          <a:lstStyle/>
          <a:p>
            <a:pPr algn="l" indent="0" marL="0">
              <a:lnSpc>
                <a:spcPts val="2125"/>
              </a:lnSpc>
              <a:buNone/>
            </a:pPr>
            <a:r>
              <a:rPr lang="en-US" sz="1700" dirty="0">
                <a:solidFill>
                  <a:srgbClr val="000000"/>
                </a:solidFill>
                <a:latin typeface="Poppins Medium" pitchFamily="34" charset="0"/>
                <a:ea typeface="Poppins Medium" pitchFamily="34" charset="-122"/>
                <a:cs typeface="Poppins Medium" pitchFamily="34" charset="-120"/>
              </a:rPr>
              <a:t>Engage</a:t>
            </a:r>
            <a:endParaRPr lang="en-US" sz="1700" dirty="0"/>
          </a:p>
        </p:txBody>
      </p:sp>
      <p:sp>
        <p:nvSpPr>
          <p:cNvPr id="34" name="Text"/>
          <p:cNvSpPr txBox="1"/>
          <p:nvPr/>
        </p:nvSpPr>
        <p:spPr>
          <a:xfrm>
            <a:off x="4533870" y="5598048"/>
            <a:ext cx="578879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How our model differs, and how a first message turns into a plan</a:t>
            </a:r>
            <a:endParaRPr lang="en-US" sz="1100" dirty="0"/>
          </a:p>
        </p:txBody>
      </p:sp>
      <p:sp>
        <p:nvSpPr>
          <p:cNvPr id="35" name="Text"/>
          <p:cNvSpPr txBox="1"/>
          <p:nvPr/>
        </p:nvSpPr>
        <p:spPr>
          <a:xfrm>
            <a:off x="10401300" y="5619811"/>
            <a:ext cx="1079541" cy="174925"/>
          </a:xfrm>
          <a:prstGeom prst="rect">
            <a:avLst/>
          </a:prstGeom>
          <a:noFill/>
          <a:ln/>
        </p:spPr>
        <p:txBody>
          <a:bodyPr wrap="square" lIns="0" tIns="0" rIns="0" bIns="0" rtlCol="0" anchor="t"/>
          <a:lstStyle/>
          <a:p>
            <a:pPr algn="r" indent="0" marL="0">
              <a:lnSpc>
                <a:spcPts val="1378"/>
              </a:lnSpc>
              <a:buNone/>
            </a:pPr>
            <a:r>
              <a:rPr lang="en-US" sz="950" dirty="0">
                <a:solidFill>
                  <a:srgbClr val="6B6B6B"/>
                </a:solidFill>
                <a:latin typeface="Poppins Light" pitchFamily="34" charset="0"/>
                <a:ea typeface="Poppins Light" pitchFamily="34" charset="-122"/>
                <a:cs typeface="Poppins Light" pitchFamily="34" charset="-120"/>
              </a:rPr>
              <a:t>Slides 32–35</a:t>
            </a:r>
            <a:endParaRPr lang="en-US" sz="950" dirty="0"/>
          </a:p>
        </p:txBody>
      </p:sp>
      <p:sp>
        <p:nvSpPr>
          <p:cNvPr id="36" name="Text"/>
          <p:cNvSpPr txBox="1"/>
          <p:nvPr/>
        </p:nvSpPr>
        <p:spPr>
          <a:xfrm>
            <a:off x="9348003"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37" name="Text"/>
          <p:cNvSpPr txBox="1"/>
          <p:nvPr/>
        </p:nvSpPr>
        <p:spPr>
          <a:xfrm>
            <a:off x="9855952"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38" name="Text"/>
          <p:cNvSpPr txBox="1"/>
          <p:nvPr/>
        </p:nvSpPr>
        <p:spPr>
          <a:xfrm>
            <a:off x="11347430" y="6401532"/>
            <a:ext cx="158740"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p:cNvSpPr txBox="1"/>
          <p:nvPr/>
        </p:nvSpPr>
        <p:spPr>
          <a:xfrm>
            <a:off x="711220" y="2584460"/>
            <a:ext cx="10825399" cy="1257300"/>
          </a:xfrm>
          <a:prstGeom prst="rect">
            <a:avLst/>
          </a:prstGeom>
          <a:noFill/>
          <a:ln/>
        </p:spPr>
        <p:txBody>
          <a:bodyPr wrap="square" lIns="0" tIns="0" rIns="0" bIns="0" rtlCol="0" anchor="t"/>
          <a:lstStyle/>
          <a:p>
            <a:pPr algn="l" indent="0" marL="0">
              <a:lnSpc>
                <a:spcPts val="9900"/>
              </a:lnSpc>
              <a:buNone/>
            </a:pPr>
            <a:r>
              <a:rPr lang="en-US" sz="11000" spc="-440" kern="0" dirty="0">
                <a:solidFill>
                  <a:srgbClr val="F2F6FD"/>
                </a:solidFill>
                <a:latin typeface="Poppins SemiBold" pitchFamily="34" charset="0"/>
                <a:ea typeface="Poppins SemiBold" pitchFamily="34" charset="-122"/>
                <a:cs typeface="Poppins SemiBold" pitchFamily="34" charset="-120"/>
              </a:rPr>
              <a:t>01</a:t>
            </a:r>
            <a:endParaRPr lang="en-US" sz="11000" dirty="0"/>
          </a:p>
        </p:txBody>
      </p:sp>
      <p:sp>
        <p:nvSpPr>
          <p:cNvPr id="3" name="Text"/>
          <p:cNvSpPr txBox="1"/>
          <p:nvPr/>
        </p:nvSpPr>
        <p:spPr>
          <a:xfrm>
            <a:off x="711220" y="3974257"/>
            <a:ext cx="9271010" cy="1280160"/>
          </a:xfrm>
          <a:prstGeom prst="rect">
            <a:avLst/>
          </a:prstGeom>
          <a:noFill/>
          <a:ln/>
        </p:spPr>
        <p:txBody>
          <a:bodyPr wrap="square" lIns="0" tIns="0" rIns="0" bIns="0" rtlCol="0" anchor="t"/>
          <a:lstStyle/>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AI pays off after</a:t>
            </a:r>
            <a:endParaRPr lang="en-US" sz="4800" dirty="0"/>
          </a:p>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the pilot. Not in it.</a:t>
            </a:r>
            <a:endParaRPr lang="en-US" sz="4800" dirty="0"/>
          </a:p>
        </p:txBody>
      </p:sp>
      <p:sp>
        <p:nvSpPr>
          <p:cNvPr id="4" name="Text"/>
          <p:cNvSpPr txBox="1"/>
          <p:nvPr/>
        </p:nvSpPr>
        <p:spPr>
          <a:xfrm>
            <a:off x="711220" y="5444155"/>
            <a:ext cx="7421910" cy="552480"/>
          </a:xfrm>
          <a:prstGeom prst="rect">
            <a:avLst/>
          </a:prstGeom>
          <a:noFill/>
          <a:ln/>
        </p:spPr>
        <p:txBody>
          <a:bodyPr wrap="squar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Most companies have tried AI. Far fewer have it running inside the systems</a:t>
            </a:r>
            <a:endParaRPr lang="en-US" sz="1450" dirty="0"/>
          </a:p>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that earn their revenue.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072317" cy="254020"/>
          </a:xfrm>
          <a:prstGeom prst="roundRect">
            <a:avLst>
              <a:gd name="adj" fmla="val 50000"/>
            </a:avLst>
          </a:prstGeom>
          <a:ln w="6350">
            <a:solidFill>
              <a:srgbClr val="155DFC"/>
            </a:solidFill>
            <a:prstDash val="solid"/>
          </a:ln>
        </p:spPr>
      </p:sp>
      <p:sp>
        <p:nvSpPr>
          <p:cNvPr id="3" name="card"/>
          <p:cNvSpPr/>
          <p:nvPr/>
        </p:nvSpPr>
        <p:spPr>
          <a:xfrm>
            <a:off x="714421" y="2077060"/>
            <a:ext cx="1466880" cy="2894990"/>
          </a:xfrm>
          <a:prstGeom prst="roundRect">
            <a:avLst>
              <a:gd name="adj" fmla="val 10173"/>
            </a:avLst>
          </a:prstGeom>
          <a:solidFill>
            <a:srgbClr val="FBFBFB"/>
          </a:solidFill>
          <a:ln w="6350">
            <a:solidFill>
              <a:srgbClr val="F0F0F0"/>
            </a:solidFill>
            <a:prstDash val="solid"/>
          </a:ln>
        </p:spPr>
      </p:sp>
      <p:sp>
        <p:nvSpPr>
          <p:cNvPr id="4" name="tile"/>
          <p:cNvSpPr/>
          <p:nvPr/>
        </p:nvSpPr>
        <p:spPr>
          <a:xfrm>
            <a:off x="895380" y="2258019"/>
            <a:ext cx="381030" cy="381030"/>
          </a:xfrm>
          <a:prstGeom prst="roundRect">
            <a:avLst>
              <a:gd name="adj" fmla="val 29998"/>
            </a:avLst>
          </a:prstGeom>
          <a:solidFill>
            <a:srgbClr val="044BD9">
              <a:alpha val="8000"/>
            </a:srgbClr>
          </a:solidFill>
          <a:ln/>
        </p:spPr>
      </p:sp>
      <p:pic>
        <p:nvPicPr>
          <p:cNvPr id="5" name="Icon" descr="/tmp/deck-pptx-VwALqa/icon-2.png">    </p:cNvPr>
          <p:cNvPicPr>
            <a:picLocks noChangeAspect="1"/>
          </p:cNvPicPr>
          <p:nvPr/>
        </p:nvPicPr>
        <p:blipFill>
          <a:blip r:embed="rId1"/>
          <a:stretch>
            <a:fillRect/>
          </a:stretch>
        </p:blipFill>
        <p:spPr>
          <a:xfrm>
            <a:off x="996970" y="2359609"/>
            <a:ext cx="177759" cy="177759"/>
          </a:xfrm>
          <a:prstGeom prst="rect">
            <a:avLst/>
          </a:prstGeom>
        </p:spPr>
      </p:pic>
      <p:sp>
        <p:nvSpPr>
          <p:cNvPr id="6" name="Rule"/>
          <p:cNvSpPr/>
          <p:nvPr/>
        </p:nvSpPr>
        <p:spPr>
          <a:xfrm>
            <a:off x="895380" y="3518520"/>
            <a:ext cx="1104870" cy="0"/>
          </a:xfrm>
          <a:prstGeom prst="line">
            <a:avLst/>
          </a:prstGeom>
          <a:noFill/>
          <a:ln w="6350">
            <a:solidFill>
              <a:srgbClr val="E3E6EC"/>
            </a:solidFill>
            <a:prstDash val="solid"/>
          </a:ln>
        </p:spPr>
      </p:sp>
      <p:pic>
        <p:nvPicPr>
          <p:cNvPr id="7" name="Icon" descr="/tmp/deck-pptx-VwALqa/icon-3.png">    </p:cNvPr>
          <p:cNvPicPr>
            <a:picLocks noChangeAspect="1"/>
          </p:cNvPicPr>
          <p:nvPr/>
        </p:nvPicPr>
        <p:blipFill>
          <a:blip r:embed="rId2"/>
          <a:stretch>
            <a:fillRect/>
          </a:stretch>
        </p:blipFill>
        <p:spPr>
          <a:xfrm>
            <a:off x="2260580" y="3422965"/>
            <a:ext cx="203180" cy="203180"/>
          </a:xfrm>
          <a:prstGeom prst="rect">
            <a:avLst/>
          </a:prstGeom>
        </p:spPr>
      </p:pic>
      <p:sp>
        <p:nvSpPr>
          <p:cNvPr id="8" name="card"/>
          <p:cNvSpPr/>
          <p:nvPr/>
        </p:nvSpPr>
        <p:spPr>
          <a:xfrm>
            <a:off x="2492380" y="2077060"/>
            <a:ext cx="2194926" cy="2894990"/>
          </a:xfrm>
          <a:prstGeom prst="roundRect">
            <a:avLst>
              <a:gd name="adj" fmla="val 6799"/>
            </a:avLst>
          </a:prstGeom>
          <a:solidFill>
            <a:srgbClr val="FBFBFB"/>
          </a:solidFill>
          <a:ln w="6350">
            <a:solidFill>
              <a:srgbClr val="F0F0F0"/>
            </a:solidFill>
            <a:prstDash val="solid"/>
          </a:ln>
        </p:spPr>
      </p:sp>
      <p:sp>
        <p:nvSpPr>
          <p:cNvPr id="9" name="tile"/>
          <p:cNvSpPr/>
          <p:nvPr/>
        </p:nvSpPr>
        <p:spPr>
          <a:xfrm>
            <a:off x="2673340" y="2258019"/>
            <a:ext cx="381030" cy="381030"/>
          </a:xfrm>
          <a:prstGeom prst="roundRect">
            <a:avLst>
              <a:gd name="adj" fmla="val 29998"/>
            </a:avLst>
          </a:prstGeom>
          <a:solidFill>
            <a:srgbClr val="044BD9">
              <a:alpha val="8000"/>
            </a:srgbClr>
          </a:solidFill>
          <a:ln/>
        </p:spPr>
      </p:sp>
      <p:pic>
        <p:nvPicPr>
          <p:cNvPr id="10" name="Icon" descr="/tmp/deck-pptx-VwALqa/icon-4.png">    </p:cNvPr>
          <p:cNvPicPr>
            <a:picLocks noChangeAspect="1"/>
          </p:cNvPicPr>
          <p:nvPr/>
        </p:nvPicPr>
        <p:blipFill>
          <a:blip r:embed="rId3"/>
          <a:stretch>
            <a:fillRect/>
          </a:stretch>
        </p:blipFill>
        <p:spPr>
          <a:xfrm>
            <a:off x="2774930" y="2359609"/>
            <a:ext cx="177759" cy="177759"/>
          </a:xfrm>
          <a:prstGeom prst="rect">
            <a:avLst/>
          </a:prstGeom>
        </p:spPr>
      </p:pic>
      <p:sp>
        <p:nvSpPr>
          <p:cNvPr id="11" name="Rule"/>
          <p:cNvSpPr/>
          <p:nvPr/>
        </p:nvSpPr>
        <p:spPr>
          <a:xfrm>
            <a:off x="2673340" y="3518520"/>
            <a:ext cx="1833006" cy="0"/>
          </a:xfrm>
          <a:prstGeom prst="line">
            <a:avLst/>
          </a:prstGeom>
          <a:noFill/>
          <a:ln w="6350">
            <a:solidFill>
              <a:srgbClr val="E3E6EC"/>
            </a:solidFill>
            <a:prstDash val="solid"/>
          </a:ln>
        </p:spPr>
      </p:sp>
      <p:pic>
        <p:nvPicPr>
          <p:cNvPr id="12" name="Icon" descr="/tmp/deck-pptx-VwALqa/icon-5.png">    </p:cNvPr>
          <p:cNvPicPr>
            <a:picLocks noChangeAspect="1"/>
          </p:cNvPicPr>
          <p:nvPr/>
        </p:nvPicPr>
        <p:blipFill>
          <a:blip r:embed="rId4"/>
          <a:stretch>
            <a:fillRect/>
          </a:stretch>
        </p:blipFill>
        <p:spPr>
          <a:xfrm>
            <a:off x="4766676" y="3422965"/>
            <a:ext cx="203180" cy="203180"/>
          </a:xfrm>
          <a:prstGeom prst="rect">
            <a:avLst/>
          </a:prstGeom>
        </p:spPr>
      </p:pic>
      <p:sp>
        <p:nvSpPr>
          <p:cNvPr id="13" name="card"/>
          <p:cNvSpPr/>
          <p:nvPr/>
        </p:nvSpPr>
        <p:spPr>
          <a:xfrm>
            <a:off x="4998476" y="2077060"/>
            <a:ext cx="2195017" cy="2894990"/>
          </a:xfrm>
          <a:prstGeom prst="roundRect">
            <a:avLst>
              <a:gd name="adj" fmla="val 6799"/>
            </a:avLst>
          </a:prstGeom>
          <a:solidFill>
            <a:srgbClr val="FBFBFB"/>
          </a:solidFill>
          <a:ln w="6350">
            <a:solidFill>
              <a:srgbClr val="F0F0F0"/>
            </a:solidFill>
            <a:prstDash val="solid"/>
          </a:ln>
        </p:spPr>
      </p:sp>
      <p:sp>
        <p:nvSpPr>
          <p:cNvPr id="14" name="tile"/>
          <p:cNvSpPr/>
          <p:nvPr/>
        </p:nvSpPr>
        <p:spPr>
          <a:xfrm>
            <a:off x="5179436" y="2258019"/>
            <a:ext cx="381030" cy="381030"/>
          </a:xfrm>
          <a:prstGeom prst="roundRect">
            <a:avLst>
              <a:gd name="adj" fmla="val 29998"/>
            </a:avLst>
          </a:prstGeom>
          <a:solidFill>
            <a:srgbClr val="044BD9">
              <a:alpha val="8000"/>
            </a:srgbClr>
          </a:solidFill>
          <a:ln/>
        </p:spPr>
      </p:sp>
      <p:pic>
        <p:nvPicPr>
          <p:cNvPr id="15" name="Icon" descr="/tmp/deck-pptx-VwALqa/icon-6.png">    </p:cNvPr>
          <p:cNvPicPr>
            <a:picLocks noChangeAspect="1"/>
          </p:cNvPicPr>
          <p:nvPr/>
        </p:nvPicPr>
        <p:blipFill>
          <a:blip r:embed="rId5"/>
          <a:stretch>
            <a:fillRect/>
          </a:stretch>
        </p:blipFill>
        <p:spPr>
          <a:xfrm>
            <a:off x="5281026" y="2359609"/>
            <a:ext cx="177759" cy="177759"/>
          </a:xfrm>
          <a:prstGeom prst="rect">
            <a:avLst/>
          </a:prstGeom>
        </p:spPr>
      </p:pic>
      <p:sp>
        <p:nvSpPr>
          <p:cNvPr id="16" name="Rule"/>
          <p:cNvSpPr/>
          <p:nvPr/>
        </p:nvSpPr>
        <p:spPr>
          <a:xfrm>
            <a:off x="5179436" y="3518520"/>
            <a:ext cx="1833098" cy="0"/>
          </a:xfrm>
          <a:prstGeom prst="line">
            <a:avLst/>
          </a:prstGeom>
          <a:noFill/>
          <a:ln w="6350">
            <a:solidFill>
              <a:srgbClr val="E3E6EC"/>
            </a:solidFill>
            <a:prstDash val="solid"/>
          </a:ln>
        </p:spPr>
      </p:sp>
      <p:pic>
        <p:nvPicPr>
          <p:cNvPr id="17" name="Icon" descr="/tmp/deck-pptx-VwALqa/icon-7.png">    </p:cNvPr>
          <p:cNvPicPr>
            <a:picLocks noChangeAspect="1"/>
          </p:cNvPicPr>
          <p:nvPr/>
        </p:nvPicPr>
        <p:blipFill>
          <a:blip r:embed="rId6"/>
          <a:stretch>
            <a:fillRect/>
          </a:stretch>
        </p:blipFill>
        <p:spPr>
          <a:xfrm>
            <a:off x="7272863" y="3422965"/>
            <a:ext cx="203180" cy="203180"/>
          </a:xfrm>
          <a:prstGeom prst="rect">
            <a:avLst/>
          </a:prstGeom>
        </p:spPr>
      </p:pic>
      <p:sp>
        <p:nvSpPr>
          <p:cNvPr id="18" name="card"/>
          <p:cNvSpPr/>
          <p:nvPr/>
        </p:nvSpPr>
        <p:spPr>
          <a:xfrm>
            <a:off x="7504572" y="2077060"/>
            <a:ext cx="2194926" cy="2894990"/>
          </a:xfrm>
          <a:prstGeom prst="roundRect">
            <a:avLst>
              <a:gd name="adj" fmla="val 6799"/>
            </a:avLst>
          </a:prstGeom>
          <a:solidFill>
            <a:srgbClr val="FBFBFB"/>
          </a:solidFill>
          <a:ln w="6350">
            <a:solidFill>
              <a:srgbClr val="F0F0F0"/>
            </a:solidFill>
            <a:prstDash val="solid"/>
          </a:ln>
        </p:spPr>
      </p:sp>
      <p:sp>
        <p:nvSpPr>
          <p:cNvPr id="19" name="tile"/>
          <p:cNvSpPr/>
          <p:nvPr/>
        </p:nvSpPr>
        <p:spPr>
          <a:xfrm>
            <a:off x="7685623" y="2258019"/>
            <a:ext cx="381030" cy="381030"/>
          </a:xfrm>
          <a:prstGeom prst="roundRect">
            <a:avLst>
              <a:gd name="adj" fmla="val 29998"/>
            </a:avLst>
          </a:prstGeom>
          <a:solidFill>
            <a:srgbClr val="044BD9">
              <a:alpha val="8000"/>
            </a:srgbClr>
          </a:solidFill>
          <a:ln/>
        </p:spPr>
      </p:sp>
      <p:pic>
        <p:nvPicPr>
          <p:cNvPr id="20" name="Icon" descr="/tmp/deck-pptx-VwALqa/icon-8.png">    </p:cNvPr>
          <p:cNvPicPr>
            <a:picLocks noChangeAspect="1"/>
          </p:cNvPicPr>
          <p:nvPr/>
        </p:nvPicPr>
        <p:blipFill>
          <a:blip r:embed="rId7"/>
          <a:stretch>
            <a:fillRect/>
          </a:stretch>
        </p:blipFill>
        <p:spPr>
          <a:xfrm>
            <a:off x="7787213" y="2359609"/>
            <a:ext cx="177759" cy="177759"/>
          </a:xfrm>
          <a:prstGeom prst="rect">
            <a:avLst/>
          </a:prstGeom>
        </p:spPr>
      </p:pic>
      <p:sp>
        <p:nvSpPr>
          <p:cNvPr id="21" name="Rule"/>
          <p:cNvSpPr/>
          <p:nvPr/>
        </p:nvSpPr>
        <p:spPr>
          <a:xfrm>
            <a:off x="7685623" y="3518520"/>
            <a:ext cx="1833006" cy="0"/>
          </a:xfrm>
          <a:prstGeom prst="line">
            <a:avLst/>
          </a:prstGeom>
          <a:noFill/>
          <a:ln w="6350">
            <a:solidFill>
              <a:srgbClr val="E3E6EC"/>
            </a:solidFill>
            <a:prstDash val="solid"/>
          </a:ln>
        </p:spPr>
      </p:sp>
      <p:pic>
        <p:nvPicPr>
          <p:cNvPr id="22" name="Icon" descr="/tmp/deck-pptx-VwALqa/icon-9.png">    </p:cNvPr>
          <p:cNvPicPr>
            <a:picLocks noChangeAspect="1"/>
          </p:cNvPicPr>
          <p:nvPr/>
        </p:nvPicPr>
        <p:blipFill>
          <a:blip r:embed="rId8"/>
          <a:stretch>
            <a:fillRect/>
          </a:stretch>
        </p:blipFill>
        <p:spPr>
          <a:xfrm>
            <a:off x="9778868" y="3422965"/>
            <a:ext cx="203180" cy="203180"/>
          </a:xfrm>
          <a:prstGeom prst="rect">
            <a:avLst/>
          </a:prstGeom>
        </p:spPr>
      </p:pic>
      <p:sp>
        <p:nvSpPr>
          <p:cNvPr id="23" name="card"/>
          <p:cNvSpPr/>
          <p:nvPr/>
        </p:nvSpPr>
        <p:spPr>
          <a:xfrm>
            <a:off x="10010668" y="2077060"/>
            <a:ext cx="1466880" cy="2894990"/>
          </a:xfrm>
          <a:prstGeom prst="roundRect">
            <a:avLst>
              <a:gd name="adj" fmla="val 10173"/>
            </a:avLst>
          </a:prstGeom>
          <a:solidFill>
            <a:srgbClr val="044BD9"/>
          </a:solidFill>
          <a:ln w="6350">
            <a:solidFill>
              <a:srgbClr val="044BD9"/>
            </a:solidFill>
            <a:prstDash val="solid"/>
          </a:ln>
        </p:spPr>
      </p:sp>
      <p:sp>
        <p:nvSpPr>
          <p:cNvPr id="24" name="tile"/>
          <p:cNvSpPr/>
          <p:nvPr/>
        </p:nvSpPr>
        <p:spPr>
          <a:xfrm>
            <a:off x="10191628" y="2258019"/>
            <a:ext cx="381030" cy="381030"/>
          </a:xfrm>
          <a:prstGeom prst="roundRect">
            <a:avLst>
              <a:gd name="adj" fmla="val 29998"/>
            </a:avLst>
          </a:prstGeom>
          <a:solidFill>
            <a:srgbClr val="FFFFFF">
              <a:alpha val="14000"/>
            </a:srgbClr>
          </a:solidFill>
          <a:ln/>
        </p:spPr>
      </p:sp>
      <p:pic>
        <p:nvPicPr>
          <p:cNvPr id="25" name="Icon" descr="/tmp/deck-pptx-VwALqa/icon-10.png">    </p:cNvPr>
          <p:cNvPicPr>
            <a:picLocks noChangeAspect="1"/>
          </p:cNvPicPr>
          <p:nvPr/>
        </p:nvPicPr>
        <p:blipFill>
          <a:blip r:embed="rId9"/>
          <a:stretch>
            <a:fillRect/>
          </a:stretch>
        </p:blipFill>
        <p:spPr>
          <a:xfrm>
            <a:off x="10293218" y="2359609"/>
            <a:ext cx="177759" cy="177759"/>
          </a:xfrm>
          <a:prstGeom prst="rect">
            <a:avLst/>
          </a:prstGeom>
        </p:spPr>
      </p:pic>
      <p:sp>
        <p:nvSpPr>
          <p:cNvPr id="26" name="Rule"/>
          <p:cNvSpPr/>
          <p:nvPr/>
        </p:nvSpPr>
        <p:spPr>
          <a:xfrm>
            <a:off x="10191628" y="3518520"/>
            <a:ext cx="1104870" cy="0"/>
          </a:xfrm>
          <a:prstGeom prst="line">
            <a:avLst/>
          </a:prstGeom>
          <a:noFill/>
          <a:ln w="6350">
            <a:solidFill>
              <a:srgbClr val="FFFFFF">
                <a:alpha val="22000"/>
              </a:srgbClr>
            </a:solidFill>
            <a:prstDash val="solid"/>
          </a:ln>
        </p:spPr>
      </p:sp>
      <p:sp>
        <p:nvSpPr>
          <p:cNvPr id="27" name="sowhat"/>
          <p:cNvSpPr/>
          <p:nvPr/>
        </p:nvSpPr>
        <p:spPr>
          <a:xfrm>
            <a:off x="711220" y="5203850"/>
            <a:ext cx="10769620" cy="816011"/>
          </a:xfrm>
          <a:prstGeom prst="roundRect">
            <a:avLst>
              <a:gd name="adj" fmla="val 18680"/>
            </a:avLst>
          </a:prstGeom>
          <a:solidFill>
            <a:srgbClr val="044BD9"/>
          </a:solidFill>
          <a:ln/>
        </p:spPr>
      </p:sp>
      <p:sp>
        <p:nvSpPr>
          <p:cNvPr id="28" name="lbl"/>
          <p:cNvSpPr/>
          <p:nvPr/>
        </p:nvSpPr>
        <p:spPr>
          <a:xfrm>
            <a:off x="943021" y="5479542"/>
            <a:ext cx="674370" cy="264444"/>
          </a:xfrm>
          <a:prstGeom prst="roundRect">
            <a:avLst>
              <a:gd name="adj" fmla="val 50000"/>
            </a:avLst>
          </a:prstGeom>
          <a:ln w="6350">
            <a:solidFill>
              <a:srgbClr val="FFFFFF">
                <a:alpha val="55000"/>
              </a:srgbClr>
            </a:solidFill>
            <a:prstDash val="solid"/>
          </a:ln>
        </p:spPr>
      </p:sp>
      <p:sp>
        <p:nvSpPr>
          <p:cNvPr id="29" name="on::before"/>
          <p:cNvSpPr/>
          <p:nvPr/>
        </p:nvSpPr>
        <p:spPr>
          <a:xfrm>
            <a:off x="6191860" y="311170"/>
            <a:ext cx="44440" cy="44440"/>
          </a:xfrm>
          <a:prstGeom prst="rect">
            <a:avLst/>
          </a:prstGeom>
          <a:solidFill>
            <a:srgbClr val="044BD9"/>
          </a:solidFill>
          <a:ln/>
        </p:spPr>
      </p:sp>
      <p:sp>
        <p:nvSpPr>
          <p:cNvPr id="30" name="span::before"/>
          <p:cNvSpPr/>
          <p:nvPr/>
        </p:nvSpPr>
        <p:spPr>
          <a:xfrm>
            <a:off x="7145213" y="311170"/>
            <a:ext cx="44440" cy="44440"/>
          </a:xfrm>
          <a:prstGeom prst="rect">
            <a:avLst/>
          </a:prstGeom>
          <a:solidFill>
            <a:srgbClr val="A0A6AF">
              <a:alpha val="55000"/>
            </a:srgbClr>
          </a:solidFill>
          <a:ln/>
        </p:spPr>
      </p:sp>
      <p:sp>
        <p:nvSpPr>
          <p:cNvPr id="31" name="span::before"/>
          <p:cNvSpPr/>
          <p:nvPr/>
        </p:nvSpPr>
        <p:spPr>
          <a:xfrm>
            <a:off x="8056230" y="311170"/>
            <a:ext cx="44440" cy="44440"/>
          </a:xfrm>
          <a:prstGeom prst="rect">
            <a:avLst/>
          </a:prstGeom>
          <a:solidFill>
            <a:srgbClr val="A0A6AF">
              <a:alpha val="55000"/>
            </a:srgbClr>
          </a:solidFill>
          <a:ln/>
        </p:spPr>
      </p:sp>
      <p:sp>
        <p:nvSpPr>
          <p:cNvPr id="32" name="span::before"/>
          <p:cNvSpPr/>
          <p:nvPr/>
        </p:nvSpPr>
        <p:spPr>
          <a:xfrm>
            <a:off x="8972550" y="311170"/>
            <a:ext cx="44440" cy="44440"/>
          </a:xfrm>
          <a:prstGeom prst="rect">
            <a:avLst/>
          </a:prstGeom>
          <a:solidFill>
            <a:srgbClr val="A0A6AF">
              <a:alpha val="55000"/>
            </a:srgbClr>
          </a:solidFill>
          <a:ln/>
        </p:spPr>
      </p:sp>
      <p:sp>
        <p:nvSpPr>
          <p:cNvPr id="33" name="span::before"/>
          <p:cNvSpPr/>
          <p:nvPr/>
        </p:nvSpPr>
        <p:spPr>
          <a:xfrm>
            <a:off x="10421142" y="311170"/>
            <a:ext cx="44440" cy="44440"/>
          </a:xfrm>
          <a:prstGeom prst="rect">
            <a:avLst/>
          </a:prstGeom>
          <a:solidFill>
            <a:srgbClr val="A0A6AF">
              <a:alpha val="55000"/>
            </a:srgbClr>
          </a:solidFill>
          <a:ln/>
        </p:spPr>
      </p:sp>
      <p:sp>
        <p:nvSpPr>
          <p:cNvPr id="34" name="span::before"/>
          <p:cNvSpPr/>
          <p:nvPr/>
        </p:nvSpPr>
        <p:spPr>
          <a:xfrm>
            <a:off x="10966216" y="311170"/>
            <a:ext cx="44440" cy="44440"/>
          </a:xfrm>
          <a:prstGeom prst="rect">
            <a:avLst/>
          </a:prstGeom>
          <a:solidFill>
            <a:srgbClr val="A0A6AF">
              <a:alpha val="55000"/>
            </a:srgbClr>
          </a:solidFill>
          <a:ln/>
        </p:spPr>
      </p:sp>
      <p:sp>
        <p:nvSpPr>
          <p:cNvPr id="35" name="Text"/>
          <p:cNvSpPr txBox="1"/>
          <p:nvPr/>
        </p:nvSpPr>
        <p:spPr>
          <a:xfrm>
            <a:off x="844540" y="609265"/>
            <a:ext cx="837408"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The pilot gap</a:t>
            </a:r>
            <a:endParaRPr lang="en-US" sz="950" dirty="0"/>
          </a:p>
        </p:txBody>
      </p:sp>
      <p:sp>
        <p:nvSpPr>
          <p:cNvPr id="36"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Pilots stall where AI meets data silos,</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legacy systems and integration</a:t>
            </a:r>
            <a:endParaRPr lang="en-US" sz="3000" dirty="0"/>
          </a:p>
        </p:txBody>
      </p:sp>
      <p:sp>
        <p:nvSpPr>
          <p:cNvPr id="37" name="Text"/>
          <p:cNvSpPr txBox="1"/>
          <p:nvPr/>
        </p:nvSpPr>
        <p:spPr>
          <a:xfrm>
            <a:off x="895380" y="2701686"/>
            <a:ext cx="1122060"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Start</a:t>
            </a:r>
            <a:endParaRPr lang="en-US" sz="850" dirty="0"/>
          </a:p>
        </p:txBody>
      </p:sp>
      <p:sp>
        <p:nvSpPr>
          <p:cNvPr id="38" name="Text"/>
          <p:cNvSpPr txBox="1"/>
          <p:nvPr/>
        </p:nvSpPr>
        <p:spPr>
          <a:xfrm>
            <a:off x="895380" y="2950586"/>
            <a:ext cx="1122060" cy="23244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Pilot</a:t>
            </a:r>
            <a:endParaRPr lang="en-US" sz="1500" dirty="0"/>
          </a:p>
        </p:txBody>
      </p:sp>
      <p:sp>
        <p:nvSpPr>
          <p:cNvPr id="39" name="Text"/>
          <p:cNvSpPr txBox="1"/>
          <p:nvPr/>
        </p:nvSpPr>
        <p:spPr>
          <a:xfrm>
            <a:off x="895380" y="3622487"/>
            <a:ext cx="1122060"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Where most are</a:t>
            </a:r>
            <a:endParaRPr lang="en-US" sz="850" dirty="0"/>
          </a:p>
        </p:txBody>
      </p:sp>
      <p:sp>
        <p:nvSpPr>
          <p:cNvPr id="40" name="Text"/>
          <p:cNvSpPr txBox="1"/>
          <p:nvPr/>
        </p:nvSpPr>
        <p:spPr>
          <a:xfrm>
            <a:off x="895380" y="3834536"/>
            <a:ext cx="1122060" cy="64959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Most companies have tried AI.</a:t>
            </a:r>
            <a:endParaRPr lang="en-US" sz="1100" dirty="0"/>
          </a:p>
        </p:txBody>
      </p:sp>
      <p:sp>
        <p:nvSpPr>
          <p:cNvPr id="41" name="Text"/>
          <p:cNvSpPr txBox="1"/>
          <p:nvPr/>
        </p:nvSpPr>
        <p:spPr>
          <a:xfrm>
            <a:off x="2673340" y="2701686"/>
            <a:ext cx="1853032"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Barrier 01</a:t>
            </a:r>
            <a:endParaRPr lang="en-US" sz="850" dirty="0"/>
          </a:p>
        </p:txBody>
      </p:sp>
      <p:sp>
        <p:nvSpPr>
          <p:cNvPr id="42" name="Text"/>
          <p:cNvSpPr txBox="1"/>
          <p:nvPr/>
        </p:nvSpPr>
        <p:spPr>
          <a:xfrm>
            <a:off x="2673340" y="2950586"/>
            <a:ext cx="1853032" cy="23244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Data sits in silos</a:t>
            </a:r>
            <a:endParaRPr lang="en-US" sz="1500" dirty="0"/>
          </a:p>
        </p:txBody>
      </p:sp>
      <p:sp>
        <p:nvSpPr>
          <p:cNvPr id="43" name="Text"/>
          <p:cNvSpPr txBox="1"/>
          <p:nvPr/>
        </p:nvSpPr>
        <p:spPr>
          <a:xfrm>
            <a:off x="2673340" y="3622487"/>
            <a:ext cx="1853032"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What closes it</a:t>
            </a:r>
            <a:endParaRPr lang="en-US" sz="850" dirty="0"/>
          </a:p>
        </p:txBody>
      </p:sp>
      <p:sp>
        <p:nvSpPr>
          <p:cNvPr id="44" name="Text"/>
          <p:cNvSpPr txBox="1"/>
          <p:nvPr/>
        </p:nvSpPr>
        <p:spPr>
          <a:xfrm>
            <a:off x="2673340" y="3834536"/>
            <a:ext cx="1931670" cy="86612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 data audit of what you</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hold and where it sits,</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then retrieval over your</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own data.</a:t>
            </a:r>
            <a:endParaRPr lang="en-US" sz="1100" dirty="0"/>
          </a:p>
        </p:txBody>
      </p:sp>
      <p:sp>
        <p:nvSpPr>
          <p:cNvPr id="45" name="Text"/>
          <p:cNvSpPr txBox="1"/>
          <p:nvPr/>
        </p:nvSpPr>
        <p:spPr>
          <a:xfrm>
            <a:off x="5179436" y="2701686"/>
            <a:ext cx="185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Barrier 02</a:t>
            </a:r>
            <a:endParaRPr lang="en-US" sz="850" dirty="0"/>
          </a:p>
        </p:txBody>
      </p:sp>
      <p:sp>
        <p:nvSpPr>
          <p:cNvPr id="46" name="Text"/>
          <p:cNvSpPr txBox="1"/>
          <p:nvPr/>
        </p:nvSpPr>
        <p:spPr>
          <a:xfrm>
            <a:off x="5179436" y="2950586"/>
            <a:ext cx="1931761"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Legacy systems</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resist change</a:t>
            </a:r>
            <a:endParaRPr lang="en-US" sz="1500" dirty="0"/>
          </a:p>
        </p:txBody>
      </p:sp>
      <p:sp>
        <p:nvSpPr>
          <p:cNvPr id="47" name="Text"/>
          <p:cNvSpPr txBox="1"/>
          <p:nvPr/>
        </p:nvSpPr>
        <p:spPr>
          <a:xfrm>
            <a:off x="5179436" y="3622487"/>
            <a:ext cx="185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What closes it</a:t>
            </a:r>
            <a:endParaRPr lang="en-US" sz="850" dirty="0"/>
          </a:p>
        </p:txBody>
      </p:sp>
      <p:sp>
        <p:nvSpPr>
          <p:cNvPr id="48" name="Text"/>
          <p:cNvSpPr txBox="1"/>
          <p:nvPr/>
        </p:nvSpPr>
        <p:spPr>
          <a:xfrm>
            <a:off x="5179436" y="3834536"/>
            <a:ext cx="1931761" cy="86612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Replace and connect</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legacy systems, and build</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AI into ERP, CRM and</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third-party portals.</a:t>
            </a:r>
            <a:endParaRPr lang="en-US" sz="1100" dirty="0"/>
          </a:p>
        </p:txBody>
      </p:sp>
      <p:sp>
        <p:nvSpPr>
          <p:cNvPr id="49" name="Text"/>
          <p:cNvSpPr txBox="1"/>
          <p:nvPr/>
        </p:nvSpPr>
        <p:spPr>
          <a:xfrm>
            <a:off x="7685623" y="2701686"/>
            <a:ext cx="1853032"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Barrier 03</a:t>
            </a:r>
            <a:endParaRPr lang="en-US" sz="850" dirty="0"/>
          </a:p>
        </p:txBody>
      </p:sp>
      <p:sp>
        <p:nvSpPr>
          <p:cNvPr id="50" name="Text"/>
          <p:cNvSpPr txBox="1"/>
          <p:nvPr/>
        </p:nvSpPr>
        <p:spPr>
          <a:xfrm>
            <a:off x="7685623" y="2950586"/>
            <a:ext cx="1931670"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Pilots stall</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at integration</a:t>
            </a:r>
            <a:endParaRPr lang="en-US" sz="1500" dirty="0"/>
          </a:p>
        </p:txBody>
      </p:sp>
      <p:sp>
        <p:nvSpPr>
          <p:cNvPr id="51" name="Text"/>
          <p:cNvSpPr txBox="1"/>
          <p:nvPr/>
        </p:nvSpPr>
        <p:spPr>
          <a:xfrm>
            <a:off x="7685623" y="3622487"/>
            <a:ext cx="1853032"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What closes it</a:t>
            </a:r>
            <a:endParaRPr lang="en-US" sz="850" dirty="0"/>
          </a:p>
        </p:txBody>
      </p:sp>
      <p:sp>
        <p:nvSpPr>
          <p:cNvPr id="52" name="Text"/>
          <p:cNvSpPr txBox="1"/>
          <p:nvPr/>
        </p:nvSpPr>
        <p:spPr>
          <a:xfrm>
            <a:off x="7685623" y="3834536"/>
            <a:ext cx="1853032" cy="64959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One team from business case to production, with improvement scoped in.</a:t>
            </a:r>
            <a:endParaRPr lang="en-US" sz="1100" dirty="0"/>
          </a:p>
        </p:txBody>
      </p:sp>
      <p:sp>
        <p:nvSpPr>
          <p:cNvPr id="53" name="Text"/>
          <p:cNvSpPr txBox="1"/>
          <p:nvPr/>
        </p:nvSpPr>
        <p:spPr>
          <a:xfrm>
            <a:off x="10191628" y="2701686"/>
            <a:ext cx="1122060"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CDDBF7"/>
                </a:solidFill>
                <a:latin typeface="Poppins Medium" pitchFamily="34" charset="0"/>
                <a:ea typeface="Poppins Medium" pitchFamily="34" charset="-122"/>
                <a:cs typeface="Poppins Medium" pitchFamily="34" charset="-120"/>
              </a:rPr>
              <a:t>Goal</a:t>
            </a:r>
            <a:endParaRPr lang="en-US" sz="850" dirty="0"/>
          </a:p>
        </p:txBody>
      </p:sp>
      <p:sp>
        <p:nvSpPr>
          <p:cNvPr id="54" name="Text"/>
          <p:cNvSpPr txBox="1"/>
          <p:nvPr/>
        </p:nvSpPr>
        <p:spPr>
          <a:xfrm>
            <a:off x="10191628" y="2950586"/>
            <a:ext cx="1122060" cy="232440"/>
          </a:xfrm>
          <a:prstGeom prst="rect">
            <a:avLst/>
          </a:prstGeom>
          <a:noFill/>
          <a:ln/>
        </p:spPr>
        <p:txBody>
          <a:bodyPr wrap="square" lIns="0" tIns="0" rIns="0" bIns="0" rtlCol="0" anchor="t"/>
          <a:lstStyle/>
          <a:p>
            <a:pPr algn="l" indent="0" marL="0">
              <a:lnSpc>
                <a:spcPts val="1830"/>
              </a:lnSpc>
              <a:buNone/>
            </a:pPr>
            <a:r>
              <a:rPr lang="en-US" sz="1500" dirty="0">
                <a:solidFill>
                  <a:srgbClr val="FFFFFF"/>
                </a:solidFill>
                <a:latin typeface="Poppins Medium" pitchFamily="34" charset="0"/>
                <a:ea typeface="Poppins Medium" pitchFamily="34" charset="-122"/>
                <a:cs typeface="Poppins Medium" pitchFamily="34" charset="-120"/>
              </a:rPr>
              <a:t>Production</a:t>
            </a:r>
            <a:endParaRPr lang="en-US" sz="1500" dirty="0"/>
          </a:p>
        </p:txBody>
      </p:sp>
      <p:sp>
        <p:nvSpPr>
          <p:cNvPr id="55" name="Text"/>
          <p:cNvSpPr txBox="1"/>
          <p:nvPr/>
        </p:nvSpPr>
        <p:spPr>
          <a:xfrm>
            <a:off x="10191628" y="3622487"/>
            <a:ext cx="1122060"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CDDBF7"/>
                </a:solidFill>
                <a:latin typeface="Poppins Medium" pitchFamily="34" charset="0"/>
                <a:ea typeface="Poppins Medium" pitchFamily="34" charset="-122"/>
                <a:cs typeface="Poppins Medium" pitchFamily="34" charset="-120"/>
              </a:rPr>
              <a:t>Where few are</a:t>
            </a:r>
            <a:endParaRPr lang="en-US" sz="850" dirty="0"/>
          </a:p>
        </p:txBody>
      </p:sp>
      <p:sp>
        <p:nvSpPr>
          <p:cNvPr id="56" name="Text"/>
          <p:cNvSpPr txBox="1"/>
          <p:nvPr/>
        </p:nvSpPr>
        <p:spPr>
          <a:xfrm>
            <a:off x="10191628" y="3834536"/>
            <a:ext cx="1174455" cy="866120"/>
          </a:xfrm>
          <a:prstGeom prst="rect">
            <a:avLst/>
          </a:prstGeom>
          <a:noFill/>
          <a:ln/>
        </p:spPr>
        <p:txBody>
          <a:bodyPr wrap="square" lIns="0" tIns="0" rIns="0" bIns="0" rtlCol="0" anchor="t"/>
          <a:lstStyle/>
          <a:p>
            <a:pPr algn="l" indent="0" marL="0">
              <a:lnSpc>
                <a:spcPts val="1705"/>
              </a:lnSpc>
              <a:buNone/>
            </a:pPr>
            <a:r>
              <a:rPr lang="en-US" sz="1100" dirty="0">
                <a:solidFill>
                  <a:srgbClr val="E1E9FA"/>
                </a:solidFill>
                <a:latin typeface="Poppins Light" pitchFamily="34" charset="0"/>
                <a:ea typeface="Poppins Light" pitchFamily="34" charset="-122"/>
                <a:cs typeface="Poppins Light" pitchFamily="34" charset="-120"/>
              </a:rPr>
              <a:t>AI running</a:t>
            </a:r>
            <a:endParaRPr lang="en-US" sz="1100" dirty="0"/>
          </a:p>
          <a:p>
            <a:pPr algn="l" indent="0" marL="0">
              <a:lnSpc>
                <a:spcPts val="1705"/>
              </a:lnSpc>
              <a:buNone/>
            </a:pPr>
            <a:r>
              <a:rPr lang="en-US" sz="1100" dirty="0">
                <a:solidFill>
                  <a:srgbClr val="E1E9FA"/>
                </a:solidFill>
                <a:latin typeface="Poppins Light" pitchFamily="34" charset="0"/>
                <a:ea typeface="Poppins Light" pitchFamily="34" charset="-122"/>
                <a:cs typeface="Poppins Light" pitchFamily="34" charset="-120"/>
              </a:rPr>
              <a:t>inside the</a:t>
            </a:r>
            <a:endParaRPr lang="en-US" sz="1100" dirty="0"/>
          </a:p>
          <a:p>
            <a:pPr algn="l" indent="0" marL="0">
              <a:lnSpc>
                <a:spcPts val="1705"/>
              </a:lnSpc>
              <a:buNone/>
            </a:pPr>
            <a:r>
              <a:rPr lang="en-US" sz="1100" dirty="0">
                <a:solidFill>
                  <a:srgbClr val="E1E9FA"/>
                </a:solidFill>
                <a:latin typeface="Poppins Light" pitchFamily="34" charset="0"/>
                <a:ea typeface="Poppins Light" pitchFamily="34" charset="-122"/>
                <a:cs typeface="Poppins Light" pitchFamily="34" charset="-120"/>
              </a:rPr>
              <a:t>systems that</a:t>
            </a:r>
            <a:endParaRPr lang="en-US" sz="1100" dirty="0"/>
          </a:p>
          <a:p>
            <a:pPr algn="l" indent="0" marL="0">
              <a:lnSpc>
                <a:spcPts val="1705"/>
              </a:lnSpc>
              <a:buNone/>
            </a:pPr>
            <a:r>
              <a:rPr lang="en-US" sz="1100" dirty="0">
                <a:solidFill>
                  <a:srgbClr val="E1E9FA"/>
                </a:solidFill>
                <a:latin typeface="Poppins Light" pitchFamily="34" charset="0"/>
                <a:ea typeface="Poppins Light" pitchFamily="34" charset="-122"/>
                <a:cs typeface="Poppins Light" pitchFamily="34" charset="-120"/>
              </a:rPr>
              <a:t>earn revenue.</a:t>
            </a:r>
            <a:endParaRPr lang="en-US" sz="1100" dirty="0"/>
          </a:p>
        </p:txBody>
      </p:sp>
      <p:sp>
        <p:nvSpPr>
          <p:cNvPr id="57" name="Text"/>
          <p:cNvSpPr txBox="1"/>
          <p:nvPr/>
        </p:nvSpPr>
        <p:spPr>
          <a:xfrm>
            <a:off x="1047720" y="5522244"/>
            <a:ext cx="490210" cy="156545"/>
          </a:xfrm>
          <a:prstGeom prst="rect">
            <a:avLst/>
          </a:prstGeom>
          <a:noFill/>
          <a:ln/>
        </p:spPr>
        <p:txBody>
          <a:bodyPr wrap="none" lIns="0" tIns="0" rIns="0" bIns="0" rtlCol="0" anchor="t"/>
          <a:lstStyle/>
          <a:p>
            <a:pPr algn="l" indent="0" marL="0">
              <a:lnSpc>
                <a:spcPts val="1232"/>
              </a:lnSpc>
              <a:buNone/>
            </a:pPr>
            <a:r>
              <a:rPr lang="en-US" sz="850" spc="34" kern="0" dirty="0">
                <a:solidFill>
                  <a:srgbClr val="FFFFFF"/>
                </a:solidFill>
                <a:latin typeface="Poppins Medium" pitchFamily="34" charset="0"/>
                <a:ea typeface="Poppins Medium" pitchFamily="34" charset="-122"/>
                <a:cs typeface="Poppins Medium" pitchFamily="34" charset="-120"/>
              </a:rPr>
              <a:t>So what</a:t>
            </a:r>
            <a:endParaRPr lang="en-US" sz="850" dirty="0"/>
          </a:p>
        </p:txBody>
      </p:sp>
      <p:sp>
        <p:nvSpPr>
          <p:cNvPr id="58" name="Text"/>
          <p:cNvSpPr txBox="1"/>
          <p:nvPr/>
        </p:nvSpPr>
        <p:spPr>
          <a:xfrm>
            <a:off x="1798350" y="5364145"/>
            <a:ext cx="9857415" cy="460400"/>
          </a:xfrm>
          <a:prstGeom prst="rect">
            <a:avLst/>
          </a:prstGeom>
          <a:noFill/>
          <a:ln/>
        </p:spPr>
        <p:txBody>
          <a:bodyPr wrap="square" lIns="0" tIns="0" rIns="0" bIns="0" rtlCol="0" anchor="t"/>
          <a:lstStyle/>
          <a:p>
            <a:pPr algn="l" indent="0" marL="0">
              <a:lnSpc>
                <a:spcPts val="1813"/>
              </a:lnSpc>
              <a:buNone/>
            </a:pPr>
            <a:r>
              <a:rPr lang="en-US" sz="1250" dirty="0">
                <a:solidFill>
                  <a:srgbClr val="FFFFFF"/>
                </a:solidFill>
                <a:latin typeface="Poppins Medium" pitchFamily="34" charset="0"/>
                <a:ea typeface="Poppins Medium" pitchFamily="34" charset="-122"/>
                <a:cs typeface="Poppins Medium" pitchFamily="34" charset="-120"/>
              </a:rPr>
              <a:t>ALPHV was founded in 2023 to close that gap.</a:t>
            </a:r>
            <a:pPr algn="l" indent="0" marL="0">
              <a:lnSpc>
                <a:spcPts val="1813"/>
              </a:lnSpc>
              <a:buNone/>
            </a:pPr>
            <a:r>
              <a:rPr lang="en-US" sz="1250" dirty="0">
                <a:solidFill>
                  <a:srgbClr val="FFFFFF"/>
                </a:solidFill>
                <a:latin typeface="Poppins" pitchFamily="34" charset="0"/>
                <a:ea typeface="Poppins" pitchFamily="34" charset="-122"/>
                <a:cs typeface="Poppins" pitchFamily="34" charset="-120"/>
              </a:rPr>
              <a:t> We embed AI into the core systems you already run, then stay to</a:t>
            </a:r>
            <a:endParaRPr lang="en-US" sz="1250" dirty="0"/>
          </a:p>
          <a:p>
            <a:pPr algn="l" indent="0" marL="0">
              <a:lnSpc>
                <a:spcPts val="1813"/>
              </a:lnSpc>
              <a:buNone/>
            </a:pPr>
            <a:r>
              <a:rPr lang="en-US" sz="1250" dirty="0">
                <a:solidFill>
                  <a:srgbClr val="FFFFFF"/>
                </a:solidFill>
                <a:latin typeface="Poppins" pitchFamily="34" charset="0"/>
                <a:ea typeface="Poppins" pitchFamily="34" charset="-122"/>
                <a:cs typeface="Poppins" pitchFamily="34" charset="-120"/>
              </a:rPr>
              <a:t>improve it after go-live.</a:t>
            </a:r>
            <a:endParaRPr lang="en-US" sz="1250" dirty="0"/>
          </a:p>
        </p:txBody>
      </p:sp>
      <p:sp>
        <p:nvSpPr>
          <p:cNvPr id="59"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Point of view</a:t>
            </a:r>
            <a:endParaRPr lang="en-US" sz="850" dirty="0"/>
          </a:p>
        </p:txBody>
      </p:sp>
      <p:sp>
        <p:nvSpPr>
          <p:cNvPr id="60"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61"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62"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3"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4"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5"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 alphv.com/about; alphv.com/how-we-work; alphv.com/services (October 2026).</a:t>
            </a:r>
            <a:endParaRPr lang="en-US" sz="850" dirty="0"/>
          </a:p>
        </p:txBody>
      </p:sp>
      <p:sp>
        <p:nvSpPr>
          <p:cNvPr id="66" name="Text"/>
          <p:cNvSpPr txBox="1"/>
          <p:nvPr/>
        </p:nvSpPr>
        <p:spPr>
          <a:xfrm>
            <a:off x="9343156"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7" name="Text"/>
          <p:cNvSpPr txBox="1"/>
          <p:nvPr/>
        </p:nvSpPr>
        <p:spPr>
          <a:xfrm>
            <a:off x="985110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8" name="Text"/>
          <p:cNvSpPr txBox="1"/>
          <p:nvPr/>
        </p:nvSpPr>
        <p:spPr>
          <a:xfrm>
            <a:off x="11342583" y="6401532"/>
            <a:ext cx="163586"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1279063" cy="254020"/>
          </a:xfrm>
          <a:prstGeom prst="roundRect">
            <a:avLst>
              <a:gd name="adj" fmla="val 50000"/>
            </a:avLst>
          </a:prstGeom>
          <a:ln w="6350">
            <a:solidFill>
              <a:srgbClr val="155DFC"/>
            </a:solidFill>
            <a:prstDash val="solid"/>
          </a:ln>
        </p:spPr>
      </p:sp>
      <p:sp>
        <p:nvSpPr>
          <p:cNvPr id="3" name="card"/>
          <p:cNvSpPr/>
          <p:nvPr/>
        </p:nvSpPr>
        <p:spPr>
          <a:xfrm>
            <a:off x="714421" y="2077060"/>
            <a:ext cx="2571750" cy="3939601"/>
          </a:xfrm>
          <a:prstGeom prst="roundRect">
            <a:avLst>
              <a:gd name="adj" fmla="val 5803"/>
            </a:avLst>
          </a:prstGeom>
          <a:solidFill>
            <a:srgbClr val="FFFFFF"/>
          </a:solidFill>
          <a:ln w="6350">
            <a:solidFill>
              <a:srgbClr val="F0F0F0"/>
            </a:solidFill>
            <a:prstDash val="solid"/>
          </a:ln>
        </p:spPr>
      </p:sp>
      <p:sp>
        <p:nvSpPr>
          <p:cNvPr id="4" name="tile"/>
          <p:cNvSpPr/>
          <p:nvPr/>
        </p:nvSpPr>
        <p:spPr>
          <a:xfrm>
            <a:off x="946130" y="2308860"/>
            <a:ext cx="381030" cy="381030"/>
          </a:xfrm>
          <a:prstGeom prst="roundRect">
            <a:avLst>
              <a:gd name="adj" fmla="val 29998"/>
            </a:avLst>
          </a:prstGeom>
          <a:solidFill>
            <a:srgbClr val="044BD9"/>
          </a:solidFill>
          <a:ln/>
        </p:spPr>
      </p:sp>
      <p:pic>
        <p:nvPicPr>
          <p:cNvPr id="5" name="Icon" descr="/tmp/deck-pptx-VwALqa/icon-11.png">    </p:cNvPr>
          <p:cNvPicPr>
            <a:picLocks noChangeAspect="1"/>
          </p:cNvPicPr>
          <p:nvPr/>
        </p:nvPicPr>
        <p:blipFill>
          <a:blip r:embed="rId1"/>
          <a:stretch>
            <a:fillRect/>
          </a:stretch>
        </p:blipFill>
        <p:spPr>
          <a:xfrm>
            <a:off x="1047720" y="2410450"/>
            <a:ext cx="177759" cy="177759"/>
          </a:xfrm>
          <a:prstGeom prst="rect">
            <a:avLst/>
          </a:prstGeom>
        </p:spPr>
      </p:pic>
      <p:sp>
        <p:nvSpPr>
          <p:cNvPr id="6" name="Rule"/>
          <p:cNvSpPr/>
          <p:nvPr/>
        </p:nvSpPr>
        <p:spPr>
          <a:xfrm>
            <a:off x="946130" y="5113508"/>
            <a:ext cx="2108241" cy="0"/>
          </a:xfrm>
          <a:prstGeom prst="line">
            <a:avLst/>
          </a:prstGeom>
          <a:noFill/>
          <a:ln w="6350">
            <a:solidFill>
              <a:srgbClr val="F0F0F0"/>
            </a:solidFill>
            <a:prstDash val="solid"/>
          </a:ln>
        </p:spPr>
      </p:sp>
      <p:sp>
        <p:nvSpPr>
          <p:cNvPr id="7" name="card"/>
          <p:cNvSpPr/>
          <p:nvPr/>
        </p:nvSpPr>
        <p:spPr>
          <a:xfrm>
            <a:off x="3444911" y="2077060"/>
            <a:ext cx="2571750" cy="3939601"/>
          </a:xfrm>
          <a:prstGeom prst="roundRect">
            <a:avLst>
              <a:gd name="adj" fmla="val 5803"/>
            </a:avLst>
          </a:prstGeom>
          <a:solidFill>
            <a:srgbClr val="FFFFFF"/>
          </a:solidFill>
          <a:ln w="6350">
            <a:solidFill>
              <a:srgbClr val="F0F0F0"/>
            </a:solidFill>
            <a:prstDash val="solid"/>
          </a:ln>
        </p:spPr>
      </p:sp>
      <p:sp>
        <p:nvSpPr>
          <p:cNvPr id="8" name="tile"/>
          <p:cNvSpPr/>
          <p:nvPr/>
        </p:nvSpPr>
        <p:spPr>
          <a:xfrm>
            <a:off x="3676620" y="2308860"/>
            <a:ext cx="381030" cy="381030"/>
          </a:xfrm>
          <a:prstGeom prst="roundRect">
            <a:avLst>
              <a:gd name="adj" fmla="val 29998"/>
            </a:avLst>
          </a:prstGeom>
          <a:solidFill>
            <a:srgbClr val="044BD9"/>
          </a:solidFill>
          <a:ln/>
        </p:spPr>
      </p:sp>
      <p:pic>
        <p:nvPicPr>
          <p:cNvPr id="9" name="Icon" descr="/tmp/deck-pptx-VwALqa/icon-12.png">    </p:cNvPr>
          <p:cNvPicPr>
            <a:picLocks noChangeAspect="1"/>
          </p:cNvPicPr>
          <p:nvPr/>
        </p:nvPicPr>
        <p:blipFill>
          <a:blip r:embed="rId2"/>
          <a:stretch>
            <a:fillRect/>
          </a:stretch>
        </p:blipFill>
        <p:spPr>
          <a:xfrm>
            <a:off x="3778209" y="2410450"/>
            <a:ext cx="177759" cy="177759"/>
          </a:xfrm>
          <a:prstGeom prst="rect">
            <a:avLst/>
          </a:prstGeom>
        </p:spPr>
      </p:pic>
      <p:sp>
        <p:nvSpPr>
          <p:cNvPr id="10" name="Rule"/>
          <p:cNvSpPr/>
          <p:nvPr/>
        </p:nvSpPr>
        <p:spPr>
          <a:xfrm>
            <a:off x="3676620" y="5300502"/>
            <a:ext cx="2108241" cy="0"/>
          </a:xfrm>
          <a:prstGeom prst="line">
            <a:avLst/>
          </a:prstGeom>
          <a:noFill/>
          <a:ln w="6350">
            <a:solidFill>
              <a:srgbClr val="F0F0F0"/>
            </a:solidFill>
            <a:prstDash val="solid"/>
          </a:ln>
        </p:spPr>
      </p:sp>
      <p:sp>
        <p:nvSpPr>
          <p:cNvPr id="11" name="card"/>
          <p:cNvSpPr/>
          <p:nvPr/>
        </p:nvSpPr>
        <p:spPr>
          <a:xfrm>
            <a:off x="6175400" y="2077060"/>
            <a:ext cx="2571750" cy="3939601"/>
          </a:xfrm>
          <a:prstGeom prst="roundRect">
            <a:avLst>
              <a:gd name="adj" fmla="val 5803"/>
            </a:avLst>
          </a:prstGeom>
          <a:solidFill>
            <a:srgbClr val="FFFFFF"/>
          </a:solidFill>
          <a:ln w="6350">
            <a:solidFill>
              <a:srgbClr val="F0F0F0"/>
            </a:solidFill>
            <a:prstDash val="solid"/>
          </a:ln>
        </p:spPr>
      </p:sp>
      <p:sp>
        <p:nvSpPr>
          <p:cNvPr id="12" name="tile"/>
          <p:cNvSpPr/>
          <p:nvPr/>
        </p:nvSpPr>
        <p:spPr>
          <a:xfrm>
            <a:off x="6407109" y="2308860"/>
            <a:ext cx="381030" cy="381030"/>
          </a:xfrm>
          <a:prstGeom prst="roundRect">
            <a:avLst>
              <a:gd name="adj" fmla="val 29998"/>
            </a:avLst>
          </a:prstGeom>
          <a:solidFill>
            <a:srgbClr val="044BD9"/>
          </a:solidFill>
          <a:ln/>
        </p:spPr>
      </p:sp>
      <p:pic>
        <p:nvPicPr>
          <p:cNvPr id="13" name="Icon" descr="/tmp/deck-pptx-VwALqa/icon-13.png">    </p:cNvPr>
          <p:cNvPicPr>
            <a:picLocks noChangeAspect="1"/>
          </p:cNvPicPr>
          <p:nvPr/>
        </p:nvPicPr>
        <p:blipFill>
          <a:blip r:embed="rId3"/>
          <a:stretch>
            <a:fillRect/>
          </a:stretch>
        </p:blipFill>
        <p:spPr>
          <a:xfrm>
            <a:off x="6508791" y="2410450"/>
            <a:ext cx="177759" cy="177759"/>
          </a:xfrm>
          <a:prstGeom prst="rect">
            <a:avLst/>
          </a:prstGeom>
        </p:spPr>
      </p:pic>
      <p:sp>
        <p:nvSpPr>
          <p:cNvPr id="14" name="Rule"/>
          <p:cNvSpPr/>
          <p:nvPr/>
        </p:nvSpPr>
        <p:spPr>
          <a:xfrm>
            <a:off x="6407109" y="5113508"/>
            <a:ext cx="2108241" cy="0"/>
          </a:xfrm>
          <a:prstGeom prst="line">
            <a:avLst/>
          </a:prstGeom>
          <a:noFill/>
          <a:ln w="6350">
            <a:solidFill>
              <a:srgbClr val="F0F0F0"/>
            </a:solidFill>
            <a:prstDash val="solid"/>
          </a:ln>
        </p:spPr>
      </p:sp>
      <p:sp>
        <p:nvSpPr>
          <p:cNvPr id="15" name="card"/>
          <p:cNvSpPr/>
          <p:nvPr/>
        </p:nvSpPr>
        <p:spPr>
          <a:xfrm>
            <a:off x="8905890" y="2077060"/>
            <a:ext cx="2571750" cy="3939601"/>
          </a:xfrm>
          <a:prstGeom prst="roundRect">
            <a:avLst>
              <a:gd name="adj" fmla="val 5803"/>
            </a:avLst>
          </a:prstGeom>
          <a:solidFill>
            <a:srgbClr val="FFFFFF"/>
          </a:solidFill>
          <a:ln w="6350">
            <a:solidFill>
              <a:srgbClr val="F0F0F0"/>
            </a:solidFill>
            <a:prstDash val="solid"/>
          </a:ln>
        </p:spPr>
      </p:sp>
      <p:sp>
        <p:nvSpPr>
          <p:cNvPr id="16" name="tile"/>
          <p:cNvSpPr/>
          <p:nvPr/>
        </p:nvSpPr>
        <p:spPr>
          <a:xfrm>
            <a:off x="9137691" y="2308860"/>
            <a:ext cx="381030" cy="381030"/>
          </a:xfrm>
          <a:prstGeom prst="roundRect">
            <a:avLst>
              <a:gd name="adj" fmla="val 29998"/>
            </a:avLst>
          </a:prstGeom>
          <a:solidFill>
            <a:srgbClr val="044BD9"/>
          </a:solidFill>
          <a:ln/>
        </p:spPr>
      </p:sp>
      <p:pic>
        <p:nvPicPr>
          <p:cNvPr id="17" name="Icon" descr="/tmp/deck-pptx-VwALqa/icon-14.png">    </p:cNvPr>
          <p:cNvPicPr>
            <a:picLocks noChangeAspect="1"/>
          </p:cNvPicPr>
          <p:nvPr/>
        </p:nvPicPr>
        <p:blipFill>
          <a:blip r:embed="rId4"/>
          <a:stretch>
            <a:fillRect/>
          </a:stretch>
        </p:blipFill>
        <p:spPr>
          <a:xfrm>
            <a:off x="9239280" y="2410450"/>
            <a:ext cx="177759" cy="177759"/>
          </a:xfrm>
          <a:prstGeom prst="rect">
            <a:avLst/>
          </a:prstGeom>
        </p:spPr>
      </p:pic>
      <p:sp>
        <p:nvSpPr>
          <p:cNvPr id="18" name="Rule"/>
          <p:cNvSpPr/>
          <p:nvPr/>
        </p:nvSpPr>
        <p:spPr>
          <a:xfrm>
            <a:off x="9137691" y="5113508"/>
            <a:ext cx="2108241" cy="0"/>
          </a:xfrm>
          <a:prstGeom prst="line">
            <a:avLst/>
          </a:prstGeom>
          <a:noFill/>
          <a:ln w="6350">
            <a:solidFill>
              <a:srgbClr val="F0F0F0"/>
            </a:solidFill>
            <a:prstDash val="solid"/>
          </a:ln>
        </p:spPr>
      </p:sp>
      <p:sp>
        <p:nvSpPr>
          <p:cNvPr id="19" name="on::before"/>
          <p:cNvSpPr/>
          <p:nvPr/>
        </p:nvSpPr>
        <p:spPr>
          <a:xfrm>
            <a:off x="6191860" y="311170"/>
            <a:ext cx="44440" cy="44440"/>
          </a:xfrm>
          <a:prstGeom prst="rect">
            <a:avLst/>
          </a:prstGeom>
          <a:solidFill>
            <a:srgbClr val="044BD9"/>
          </a:solidFill>
          <a:ln/>
        </p:spPr>
      </p:sp>
      <p:sp>
        <p:nvSpPr>
          <p:cNvPr id="20" name="span::before"/>
          <p:cNvSpPr/>
          <p:nvPr/>
        </p:nvSpPr>
        <p:spPr>
          <a:xfrm>
            <a:off x="7145213" y="311170"/>
            <a:ext cx="44440" cy="44440"/>
          </a:xfrm>
          <a:prstGeom prst="rect">
            <a:avLst/>
          </a:prstGeom>
          <a:solidFill>
            <a:srgbClr val="A0A6AF">
              <a:alpha val="55000"/>
            </a:srgbClr>
          </a:solidFill>
          <a:ln/>
        </p:spPr>
      </p:sp>
      <p:sp>
        <p:nvSpPr>
          <p:cNvPr id="21" name="span::before"/>
          <p:cNvSpPr/>
          <p:nvPr/>
        </p:nvSpPr>
        <p:spPr>
          <a:xfrm>
            <a:off x="8056230" y="311170"/>
            <a:ext cx="44440" cy="44440"/>
          </a:xfrm>
          <a:prstGeom prst="rect">
            <a:avLst/>
          </a:prstGeom>
          <a:solidFill>
            <a:srgbClr val="A0A6AF">
              <a:alpha val="55000"/>
            </a:srgbClr>
          </a:solidFill>
          <a:ln/>
        </p:spPr>
      </p:sp>
      <p:sp>
        <p:nvSpPr>
          <p:cNvPr id="22" name="span::before"/>
          <p:cNvSpPr/>
          <p:nvPr/>
        </p:nvSpPr>
        <p:spPr>
          <a:xfrm>
            <a:off x="8972550" y="311170"/>
            <a:ext cx="44440" cy="44440"/>
          </a:xfrm>
          <a:prstGeom prst="rect">
            <a:avLst/>
          </a:prstGeom>
          <a:solidFill>
            <a:srgbClr val="A0A6AF">
              <a:alpha val="55000"/>
            </a:srgbClr>
          </a:solidFill>
          <a:ln/>
        </p:spPr>
      </p:sp>
      <p:sp>
        <p:nvSpPr>
          <p:cNvPr id="23" name="span::before"/>
          <p:cNvSpPr/>
          <p:nvPr/>
        </p:nvSpPr>
        <p:spPr>
          <a:xfrm>
            <a:off x="10421142" y="311170"/>
            <a:ext cx="44440" cy="44440"/>
          </a:xfrm>
          <a:prstGeom prst="rect">
            <a:avLst/>
          </a:prstGeom>
          <a:solidFill>
            <a:srgbClr val="A0A6AF">
              <a:alpha val="55000"/>
            </a:srgbClr>
          </a:solidFill>
          <a:ln/>
        </p:spPr>
      </p:sp>
      <p:sp>
        <p:nvSpPr>
          <p:cNvPr id="24" name="span::before"/>
          <p:cNvSpPr/>
          <p:nvPr/>
        </p:nvSpPr>
        <p:spPr>
          <a:xfrm>
            <a:off x="10966216" y="311170"/>
            <a:ext cx="44440" cy="44440"/>
          </a:xfrm>
          <a:prstGeom prst="rect">
            <a:avLst/>
          </a:prstGeom>
          <a:solidFill>
            <a:srgbClr val="A0A6AF">
              <a:alpha val="55000"/>
            </a:srgbClr>
          </a:solidFill>
          <a:ln/>
        </p:spPr>
      </p:sp>
      <p:sp>
        <p:nvSpPr>
          <p:cNvPr id="25" name="Text"/>
          <p:cNvSpPr txBox="1"/>
          <p:nvPr/>
        </p:nvSpPr>
        <p:spPr>
          <a:xfrm>
            <a:off x="844540" y="609265"/>
            <a:ext cx="1044062"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What we believe</a:t>
            </a:r>
            <a:endParaRPr lang="en-US" sz="950" dirty="0"/>
          </a:p>
        </p:txBody>
      </p:sp>
      <p:sp>
        <p:nvSpPr>
          <p:cNvPr id="26" name="Title"/>
          <p:cNvSpPr txBox="1"/>
          <p:nvPr/>
        </p:nvSpPr>
        <p:spPr>
          <a:xfrm>
            <a:off x="711220" y="931956"/>
            <a:ext cx="702561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Four principles shape how we</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scope, build and run every system</a:t>
            </a:r>
            <a:endParaRPr lang="en-US" sz="3000" dirty="0"/>
          </a:p>
        </p:txBody>
      </p:sp>
      <p:sp>
        <p:nvSpPr>
          <p:cNvPr id="27" name="Text"/>
          <p:cNvSpPr txBox="1"/>
          <p:nvPr/>
        </p:nvSpPr>
        <p:spPr>
          <a:xfrm>
            <a:off x="8178759" y="1125444"/>
            <a:ext cx="3327867" cy="64959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From a first model to a legacy system replacement, the same four principles apply to every engagement.</a:t>
            </a:r>
            <a:endParaRPr lang="en-US" sz="1100" dirty="0"/>
          </a:p>
        </p:txBody>
      </p:sp>
      <p:sp>
        <p:nvSpPr>
          <p:cNvPr id="28" name="Text"/>
          <p:cNvSpPr txBox="1"/>
          <p:nvPr/>
        </p:nvSpPr>
        <p:spPr>
          <a:xfrm>
            <a:off x="946130" y="2783251"/>
            <a:ext cx="2217969"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Start from the</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business case</a:t>
            </a:r>
            <a:endParaRPr lang="en-US" sz="1500" dirty="0"/>
          </a:p>
        </p:txBody>
      </p:sp>
      <p:sp>
        <p:nvSpPr>
          <p:cNvPr id="29" name="Text"/>
          <p:cNvSpPr txBox="1"/>
          <p:nvPr/>
        </p:nvSpPr>
        <p:spPr>
          <a:xfrm>
            <a:off x="946130" y="3579693"/>
            <a:ext cx="2217969" cy="944850"/>
          </a:xfrm>
          <a:prstGeom prst="rect">
            <a:avLst/>
          </a:prstGeom>
          <a:noFill/>
          <a:ln/>
        </p:spPr>
        <p:txBody>
          <a:bodyPr wrap="square" lIns="0" tIns="0" rIns="0" bIns="0" rtlCol="0" anchor="t"/>
          <a:lstStyle/>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Tech advisory, a data audit</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and AI strategy research</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come first, so the build</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goes where AI pays back.</a:t>
            </a:r>
            <a:endParaRPr lang="en-US" sz="1200" dirty="0"/>
          </a:p>
        </p:txBody>
      </p:sp>
      <p:sp>
        <p:nvSpPr>
          <p:cNvPr id="30" name="Text"/>
          <p:cNvSpPr txBox="1"/>
          <p:nvPr/>
        </p:nvSpPr>
        <p:spPr>
          <a:xfrm>
            <a:off x="946130" y="5204765"/>
            <a:ext cx="212936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In practice</a:t>
            </a:r>
            <a:endParaRPr lang="en-US" sz="850" dirty="0"/>
          </a:p>
        </p:txBody>
      </p:sp>
      <p:sp>
        <p:nvSpPr>
          <p:cNvPr id="31" name="Text"/>
          <p:cNvSpPr txBox="1"/>
          <p:nvPr/>
        </p:nvSpPr>
        <p:spPr>
          <a:xfrm>
            <a:off x="946130" y="5395692"/>
            <a:ext cx="2129363" cy="373990"/>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Tech advisory, data audit and AI strategy for EasyRenz</a:t>
            </a:r>
            <a:endParaRPr lang="en-US" sz="950" dirty="0"/>
          </a:p>
        </p:txBody>
      </p:sp>
      <p:sp>
        <p:nvSpPr>
          <p:cNvPr id="32" name="Text"/>
          <p:cNvSpPr txBox="1"/>
          <p:nvPr/>
        </p:nvSpPr>
        <p:spPr>
          <a:xfrm>
            <a:off x="3676620" y="2783251"/>
            <a:ext cx="2217969"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One team,</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no hand-offs</a:t>
            </a:r>
            <a:endParaRPr lang="en-US" sz="1500" dirty="0"/>
          </a:p>
        </p:txBody>
      </p:sp>
      <p:sp>
        <p:nvSpPr>
          <p:cNvPr id="33" name="Text"/>
          <p:cNvSpPr txBox="1"/>
          <p:nvPr/>
        </p:nvSpPr>
        <p:spPr>
          <a:xfrm>
            <a:off x="3676620" y="3579693"/>
            <a:ext cx="2129363" cy="1181130"/>
          </a:xfrm>
          <a:prstGeom prst="rect">
            <a:avLst/>
          </a:prstGeom>
          <a:noFill/>
          <a:ln/>
        </p:spPr>
        <p:txBody>
          <a:bodyPr wrap="square" lIns="0" tIns="0" rIns="0" bIns="0" rtlCol="0" anchor="t"/>
          <a:lstStyle/>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The engineers who scope your AI are the ones who ship and improve it. You keep one point of accountability throughout.</a:t>
            </a:r>
            <a:endParaRPr lang="en-US" sz="1200" dirty="0"/>
          </a:p>
        </p:txBody>
      </p:sp>
      <p:sp>
        <p:nvSpPr>
          <p:cNvPr id="34" name="Text"/>
          <p:cNvSpPr txBox="1"/>
          <p:nvPr/>
        </p:nvSpPr>
        <p:spPr>
          <a:xfrm>
            <a:off x="3676620" y="5391668"/>
            <a:ext cx="212936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In practice</a:t>
            </a:r>
            <a:endParaRPr lang="en-US" sz="850" dirty="0"/>
          </a:p>
        </p:txBody>
      </p:sp>
      <p:sp>
        <p:nvSpPr>
          <p:cNvPr id="35" name="Text"/>
          <p:cNvSpPr txBox="1"/>
          <p:nvPr/>
        </p:nvSpPr>
        <p:spPr>
          <a:xfrm>
            <a:off x="3676620" y="5582595"/>
            <a:ext cx="2133570"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Six services, delivered by one team</a:t>
            </a:r>
            <a:endParaRPr lang="en-US" sz="950" dirty="0"/>
          </a:p>
        </p:txBody>
      </p:sp>
      <p:sp>
        <p:nvSpPr>
          <p:cNvPr id="36" name="Text"/>
          <p:cNvSpPr txBox="1"/>
          <p:nvPr/>
        </p:nvSpPr>
        <p:spPr>
          <a:xfrm>
            <a:off x="6407109" y="2783251"/>
            <a:ext cx="2217969" cy="69723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Built around your</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systems, data</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and regulator</a:t>
            </a:r>
            <a:endParaRPr lang="en-US" sz="1500" dirty="0"/>
          </a:p>
        </p:txBody>
      </p:sp>
      <p:sp>
        <p:nvSpPr>
          <p:cNvPr id="37" name="Text"/>
          <p:cNvSpPr txBox="1"/>
          <p:nvPr/>
        </p:nvSpPr>
        <p:spPr>
          <a:xfrm>
            <a:off x="6407109" y="3579693"/>
            <a:ext cx="2217969" cy="1181130"/>
          </a:xfrm>
          <a:prstGeom prst="rect">
            <a:avLst/>
          </a:prstGeom>
          <a:noFill/>
          <a:ln/>
        </p:spPr>
        <p:txBody>
          <a:bodyPr wrap="square" lIns="0" tIns="0" rIns="0" bIns="0" rtlCol="0" anchor="t"/>
          <a:lstStyle/>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Models, hosting and</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guardrails are chosen to fit</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the systems you already</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run, the data you hold and</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the rules you answer to.</a:t>
            </a:r>
            <a:endParaRPr lang="en-US" sz="1200" dirty="0"/>
          </a:p>
        </p:txBody>
      </p:sp>
      <p:sp>
        <p:nvSpPr>
          <p:cNvPr id="38" name="Text"/>
          <p:cNvSpPr txBox="1"/>
          <p:nvPr/>
        </p:nvSpPr>
        <p:spPr>
          <a:xfrm>
            <a:off x="6407109" y="5204765"/>
            <a:ext cx="212936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In practice</a:t>
            </a:r>
            <a:endParaRPr lang="en-US" sz="850" dirty="0"/>
          </a:p>
        </p:txBody>
      </p:sp>
      <p:sp>
        <p:nvSpPr>
          <p:cNvPr id="39" name="Text"/>
          <p:cNvSpPr txBox="1"/>
          <p:nvPr/>
        </p:nvSpPr>
        <p:spPr>
          <a:xfrm>
            <a:off x="6407109" y="5395692"/>
            <a:ext cx="2217969" cy="373990"/>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A law firm’s models run on a locally</a:t>
            </a:r>
            <a:endParaRPr lang="en-US" sz="950" dirty="0"/>
          </a:p>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hosted NVIDIA GPU workstation</a:t>
            </a:r>
            <a:endParaRPr lang="en-US" sz="950" dirty="0"/>
          </a:p>
        </p:txBody>
      </p:sp>
      <p:sp>
        <p:nvSpPr>
          <p:cNvPr id="40" name="Text"/>
          <p:cNvSpPr txBox="1"/>
          <p:nvPr/>
        </p:nvSpPr>
        <p:spPr>
          <a:xfrm>
            <a:off x="9137691" y="2783251"/>
            <a:ext cx="2217969"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Improvement scoped</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in from day one</a:t>
            </a:r>
            <a:endParaRPr lang="en-US" sz="1500" dirty="0"/>
          </a:p>
        </p:txBody>
      </p:sp>
      <p:sp>
        <p:nvSpPr>
          <p:cNvPr id="41" name="Text"/>
          <p:cNvSpPr txBox="1"/>
          <p:nvPr/>
        </p:nvSpPr>
        <p:spPr>
          <a:xfrm>
            <a:off x="9137691" y="3579693"/>
            <a:ext cx="2217969" cy="1181130"/>
          </a:xfrm>
          <a:prstGeom prst="rect">
            <a:avLst/>
          </a:prstGeom>
          <a:noFill/>
          <a:ln/>
        </p:spPr>
        <p:txBody>
          <a:bodyPr wrap="square" lIns="0" tIns="0" rIns="0" bIns="0" rtlCol="0" anchor="t"/>
          <a:lstStyle/>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Monitoring adoption and</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model performance is part</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of the build. After go-live,</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we stay to review, iterate</a:t>
            </a:r>
            <a:endParaRPr lang="en-US" sz="1200" dirty="0"/>
          </a:p>
          <a:p>
            <a:pPr algn="l" indent="0" marL="0">
              <a:lnSpc>
                <a:spcPts val="1860"/>
              </a:lnSpc>
              <a:buNone/>
            </a:pPr>
            <a:r>
              <a:rPr lang="en-US" sz="1200" dirty="0">
                <a:solidFill>
                  <a:srgbClr val="1F2937"/>
                </a:solidFill>
                <a:latin typeface="Poppins Light" pitchFamily="34" charset="0"/>
                <a:ea typeface="Poppins Light" pitchFamily="34" charset="-122"/>
                <a:cs typeface="Poppins Light" pitchFamily="34" charset="-120"/>
              </a:rPr>
              <a:t>and improve.</a:t>
            </a:r>
            <a:endParaRPr lang="en-US" sz="1200" dirty="0"/>
          </a:p>
        </p:txBody>
      </p:sp>
      <p:sp>
        <p:nvSpPr>
          <p:cNvPr id="42" name="Text"/>
          <p:cNvSpPr txBox="1"/>
          <p:nvPr/>
        </p:nvSpPr>
        <p:spPr>
          <a:xfrm>
            <a:off x="9137691" y="5204765"/>
            <a:ext cx="212936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In practice</a:t>
            </a:r>
            <a:endParaRPr lang="en-US" sz="850" dirty="0"/>
          </a:p>
        </p:txBody>
      </p:sp>
      <p:sp>
        <p:nvSpPr>
          <p:cNvPr id="43" name="Text"/>
          <p:cNvSpPr txBox="1"/>
          <p:nvPr/>
        </p:nvSpPr>
        <p:spPr>
          <a:xfrm>
            <a:off x="9137691" y="5395692"/>
            <a:ext cx="2129363" cy="373990"/>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After go-live, we stay to review, iterate and improve</a:t>
            </a:r>
            <a:endParaRPr lang="en-US" sz="950" dirty="0"/>
          </a:p>
        </p:txBody>
      </p:sp>
      <p:sp>
        <p:nvSpPr>
          <p:cNvPr id="44"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Point of view</a:t>
            </a:r>
            <a:endParaRPr lang="en-US" sz="850" dirty="0"/>
          </a:p>
        </p:txBody>
      </p:sp>
      <p:sp>
        <p:nvSpPr>
          <p:cNvPr id="45"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46"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47"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48"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49"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50"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alphv.com/how-we-work; alphv.com/services and service pages (October 2026).</a:t>
            </a:r>
            <a:endParaRPr lang="en-US" sz="850" dirty="0"/>
          </a:p>
        </p:txBody>
      </p:sp>
      <p:sp>
        <p:nvSpPr>
          <p:cNvPr id="51" name="Text"/>
          <p:cNvSpPr txBox="1"/>
          <p:nvPr/>
        </p:nvSpPr>
        <p:spPr>
          <a:xfrm>
            <a:off x="9342791"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52" name="Text"/>
          <p:cNvSpPr txBox="1"/>
          <p:nvPr/>
        </p:nvSpPr>
        <p:spPr>
          <a:xfrm>
            <a:off x="9850831"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53" name="Text"/>
          <p:cNvSpPr txBox="1"/>
          <p:nvPr/>
        </p:nvSpPr>
        <p:spPr>
          <a:xfrm>
            <a:off x="11342309" y="6401532"/>
            <a:ext cx="163952"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p:cNvSpPr txBox="1"/>
          <p:nvPr/>
        </p:nvSpPr>
        <p:spPr>
          <a:xfrm>
            <a:off x="711220" y="2584460"/>
            <a:ext cx="10825399" cy="1257300"/>
          </a:xfrm>
          <a:prstGeom prst="rect">
            <a:avLst/>
          </a:prstGeom>
          <a:noFill/>
          <a:ln/>
        </p:spPr>
        <p:txBody>
          <a:bodyPr wrap="square" lIns="0" tIns="0" rIns="0" bIns="0" rtlCol="0" anchor="t"/>
          <a:lstStyle/>
          <a:p>
            <a:pPr algn="l" indent="0" marL="0">
              <a:lnSpc>
                <a:spcPts val="9900"/>
              </a:lnSpc>
              <a:buNone/>
            </a:pPr>
            <a:r>
              <a:rPr lang="en-US" sz="11000" spc="-440" kern="0" dirty="0">
                <a:solidFill>
                  <a:srgbClr val="F2F6FD"/>
                </a:solidFill>
                <a:latin typeface="Poppins SemiBold" pitchFamily="34" charset="0"/>
                <a:ea typeface="Poppins SemiBold" pitchFamily="34" charset="-122"/>
                <a:cs typeface="Poppins SemiBold" pitchFamily="34" charset="-120"/>
              </a:rPr>
              <a:t>02</a:t>
            </a:r>
            <a:endParaRPr lang="en-US" sz="11000" dirty="0"/>
          </a:p>
        </p:txBody>
      </p:sp>
      <p:sp>
        <p:nvSpPr>
          <p:cNvPr id="3" name="Text"/>
          <p:cNvSpPr txBox="1"/>
          <p:nvPr/>
        </p:nvSpPr>
        <p:spPr>
          <a:xfrm>
            <a:off x="711220" y="3974257"/>
            <a:ext cx="9271010" cy="1280160"/>
          </a:xfrm>
          <a:prstGeom prst="rect">
            <a:avLst/>
          </a:prstGeom>
          <a:noFill/>
          <a:ln/>
        </p:spPr>
        <p:txBody>
          <a:bodyPr wrap="square" lIns="0" tIns="0" rIns="0" bIns="0" rtlCol="0" anchor="t"/>
          <a:lstStyle/>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An AI-native systems</a:t>
            </a:r>
            <a:endParaRPr lang="en-US" sz="4800" dirty="0"/>
          </a:p>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integrator from Kuala Lumpur</a:t>
            </a:r>
            <a:endParaRPr lang="en-US" sz="4800" dirty="0"/>
          </a:p>
        </p:txBody>
      </p:sp>
      <p:sp>
        <p:nvSpPr>
          <p:cNvPr id="4" name="Text"/>
          <p:cNvSpPr txBox="1"/>
          <p:nvPr/>
        </p:nvSpPr>
        <p:spPr>
          <a:xfrm>
            <a:off x="711220" y="5444155"/>
            <a:ext cx="7421910" cy="552480"/>
          </a:xfrm>
          <a:prstGeom prst="rect">
            <a:avLst/>
          </a:prstGeom>
          <a:noFill/>
          <a:ln/>
        </p:spPr>
        <p:txBody>
          <a:bodyPr wrap="squar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ALPHV designs, integrates and runs production AI inside the core systems that</a:t>
            </a:r>
            <a:endParaRPr lang="en-US" sz="1450" dirty="0"/>
          </a:p>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legal, insurance, healthcare, hospitality, finance and retail teams already run.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382298" cy="254020"/>
          </a:xfrm>
          <a:prstGeom prst="roundRect">
            <a:avLst>
              <a:gd name="adj" fmla="val 50000"/>
            </a:avLst>
          </a:prstGeom>
          <a:ln w="6350">
            <a:solidFill>
              <a:srgbClr val="155DFC"/>
            </a:solidFill>
            <a:prstDash val="solid"/>
          </a:ln>
        </p:spPr>
      </p:sp>
      <p:pic>
        <p:nvPicPr>
          <p:cNvPr id="3" name="Picture" descr="The ALPHV team together in a high-rise office">    </p:cNvPr>
          <p:cNvPicPr>
            <a:picLocks noChangeAspect="1"/>
          </p:cNvPicPr>
          <p:nvPr/>
        </p:nvPicPr>
        <p:blipFill>
          <a:blip r:embed="rId1"/>
          <a:stretch>
            <a:fillRect/>
          </a:stretch>
        </p:blipFill>
        <p:spPr>
          <a:xfrm>
            <a:off x="711220" y="2073859"/>
            <a:ext cx="4296766" cy="3945910"/>
          </a:xfrm>
          <a:prstGeom prst="roundRect">
            <a:avLst>
              <a:gd name="adj" fmla="val 3862"/>
            </a:avLst>
          </a:prstGeom>
        </p:spPr>
      </p:pic>
      <p:sp>
        <p:nvSpPr>
          <p:cNvPr id="4" name="tag"/>
          <p:cNvSpPr/>
          <p:nvPr/>
        </p:nvSpPr>
        <p:spPr>
          <a:xfrm>
            <a:off x="838230" y="5657850"/>
            <a:ext cx="2794955" cy="234909"/>
          </a:xfrm>
          <a:prstGeom prst="roundRect">
            <a:avLst>
              <a:gd name="adj" fmla="val 50020"/>
            </a:avLst>
          </a:prstGeom>
          <a:solidFill>
            <a:srgbClr val="FFFFFF">
              <a:alpha val="92000"/>
            </a:srgbClr>
          </a:solidFill>
          <a:ln/>
        </p:spPr>
      </p:sp>
      <p:sp>
        <p:nvSpPr>
          <p:cNvPr id="5" name="Rule"/>
          <p:cNvSpPr/>
          <p:nvPr/>
        </p:nvSpPr>
        <p:spPr>
          <a:xfrm>
            <a:off x="5465186" y="2077060"/>
            <a:ext cx="2880726" cy="0"/>
          </a:xfrm>
          <a:prstGeom prst="line">
            <a:avLst/>
          </a:prstGeom>
          <a:noFill/>
          <a:ln w="6350">
            <a:solidFill>
              <a:srgbClr val="E3E6EC"/>
            </a:solidFill>
            <a:prstDash val="solid"/>
          </a:ln>
        </p:spPr>
      </p:sp>
      <p:sp>
        <p:nvSpPr>
          <p:cNvPr id="6" name="Rule"/>
          <p:cNvSpPr/>
          <p:nvPr/>
        </p:nvSpPr>
        <p:spPr>
          <a:xfrm>
            <a:off x="8599841" y="2077060"/>
            <a:ext cx="2880817" cy="0"/>
          </a:xfrm>
          <a:prstGeom prst="line">
            <a:avLst/>
          </a:prstGeom>
          <a:noFill/>
          <a:ln w="6350">
            <a:solidFill>
              <a:srgbClr val="E3E6EC"/>
            </a:solidFill>
            <a:prstDash val="solid"/>
          </a:ln>
        </p:spPr>
      </p:sp>
      <p:sp>
        <p:nvSpPr>
          <p:cNvPr id="7" name="Rule"/>
          <p:cNvSpPr/>
          <p:nvPr/>
        </p:nvSpPr>
        <p:spPr>
          <a:xfrm>
            <a:off x="5465186" y="3187598"/>
            <a:ext cx="2880726" cy="0"/>
          </a:xfrm>
          <a:prstGeom prst="line">
            <a:avLst/>
          </a:prstGeom>
          <a:noFill/>
          <a:ln w="6350">
            <a:solidFill>
              <a:srgbClr val="E3E6EC"/>
            </a:solidFill>
            <a:prstDash val="solid"/>
          </a:ln>
        </p:spPr>
      </p:sp>
      <p:sp>
        <p:nvSpPr>
          <p:cNvPr id="8" name="Rule"/>
          <p:cNvSpPr/>
          <p:nvPr/>
        </p:nvSpPr>
        <p:spPr>
          <a:xfrm>
            <a:off x="8599841" y="3187598"/>
            <a:ext cx="2880817" cy="0"/>
          </a:xfrm>
          <a:prstGeom prst="line">
            <a:avLst/>
          </a:prstGeom>
          <a:noFill/>
          <a:ln w="6350">
            <a:solidFill>
              <a:srgbClr val="E3E6EC"/>
            </a:solidFill>
            <a:prstDash val="solid"/>
          </a:ln>
        </p:spPr>
      </p:sp>
      <p:sp>
        <p:nvSpPr>
          <p:cNvPr id="9" name="card"/>
          <p:cNvSpPr/>
          <p:nvPr/>
        </p:nvSpPr>
        <p:spPr>
          <a:xfrm>
            <a:off x="5468386" y="4526097"/>
            <a:ext cx="6009162" cy="1468069"/>
          </a:xfrm>
          <a:prstGeom prst="roundRect">
            <a:avLst>
              <a:gd name="adj" fmla="val 10165"/>
            </a:avLst>
          </a:prstGeom>
          <a:solidFill>
            <a:srgbClr val="FBFBFB"/>
          </a:solidFill>
          <a:ln w="6350">
            <a:solidFill>
              <a:srgbClr val="F0F0F0"/>
            </a:solidFill>
            <a:prstDash val="solid"/>
          </a:ln>
        </p:spPr>
      </p:sp>
      <p:sp>
        <p:nvSpPr>
          <p:cNvPr id="10" name="span::before"/>
          <p:cNvSpPr/>
          <p:nvPr/>
        </p:nvSpPr>
        <p:spPr>
          <a:xfrm>
            <a:off x="6191860" y="311170"/>
            <a:ext cx="44440" cy="44440"/>
          </a:xfrm>
          <a:prstGeom prst="rect">
            <a:avLst/>
          </a:prstGeom>
          <a:solidFill>
            <a:srgbClr val="A0A6AF">
              <a:alpha val="55000"/>
            </a:srgbClr>
          </a:solidFill>
          <a:ln/>
        </p:spPr>
      </p:sp>
      <p:sp>
        <p:nvSpPr>
          <p:cNvPr id="11" name="on::before"/>
          <p:cNvSpPr/>
          <p:nvPr/>
        </p:nvSpPr>
        <p:spPr>
          <a:xfrm>
            <a:off x="7145213" y="311170"/>
            <a:ext cx="44440" cy="44440"/>
          </a:xfrm>
          <a:prstGeom prst="rect">
            <a:avLst/>
          </a:prstGeom>
          <a:solidFill>
            <a:srgbClr val="044BD9"/>
          </a:solidFill>
          <a:ln/>
        </p:spPr>
      </p:sp>
      <p:sp>
        <p:nvSpPr>
          <p:cNvPr id="12" name="span::before"/>
          <p:cNvSpPr/>
          <p:nvPr/>
        </p:nvSpPr>
        <p:spPr>
          <a:xfrm>
            <a:off x="8056230" y="311170"/>
            <a:ext cx="44440" cy="44440"/>
          </a:xfrm>
          <a:prstGeom prst="rect">
            <a:avLst/>
          </a:prstGeom>
          <a:solidFill>
            <a:srgbClr val="A0A6AF">
              <a:alpha val="55000"/>
            </a:srgbClr>
          </a:solidFill>
          <a:ln/>
        </p:spPr>
      </p:sp>
      <p:sp>
        <p:nvSpPr>
          <p:cNvPr id="13" name="span::before"/>
          <p:cNvSpPr/>
          <p:nvPr/>
        </p:nvSpPr>
        <p:spPr>
          <a:xfrm>
            <a:off x="8972550" y="311170"/>
            <a:ext cx="44440" cy="44440"/>
          </a:xfrm>
          <a:prstGeom prst="rect">
            <a:avLst/>
          </a:prstGeom>
          <a:solidFill>
            <a:srgbClr val="A0A6AF">
              <a:alpha val="55000"/>
            </a:srgbClr>
          </a:solidFill>
          <a:ln/>
        </p:spPr>
      </p:sp>
      <p:sp>
        <p:nvSpPr>
          <p:cNvPr id="14" name="span::before"/>
          <p:cNvSpPr/>
          <p:nvPr/>
        </p:nvSpPr>
        <p:spPr>
          <a:xfrm>
            <a:off x="10421142" y="311170"/>
            <a:ext cx="44440" cy="44440"/>
          </a:xfrm>
          <a:prstGeom prst="rect">
            <a:avLst/>
          </a:prstGeom>
          <a:solidFill>
            <a:srgbClr val="A0A6AF">
              <a:alpha val="55000"/>
            </a:srgbClr>
          </a:solidFill>
          <a:ln/>
        </p:spPr>
      </p:sp>
      <p:sp>
        <p:nvSpPr>
          <p:cNvPr id="15" name="span::before"/>
          <p:cNvSpPr/>
          <p:nvPr/>
        </p:nvSpPr>
        <p:spPr>
          <a:xfrm>
            <a:off x="10966216" y="311170"/>
            <a:ext cx="44440" cy="44440"/>
          </a:xfrm>
          <a:prstGeom prst="rect">
            <a:avLst/>
          </a:prstGeom>
          <a:solidFill>
            <a:srgbClr val="A0A6AF">
              <a:alpha val="55000"/>
            </a:srgbClr>
          </a:solidFill>
          <a:ln/>
        </p:spPr>
      </p:sp>
      <p:sp>
        <p:nvSpPr>
          <p:cNvPr id="16" name="Text"/>
          <p:cNvSpPr txBox="1"/>
          <p:nvPr/>
        </p:nvSpPr>
        <p:spPr>
          <a:xfrm>
            <a:off x="844540" y="609265"/>
            <a:ext cx="1147389"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ALPHV at a glance</a:t>
            </a:r>
            <a:endParaRPr lang="en-US" sz="950" dirty="0"/>
          </a:p>
        </p:txBody>
      </p:sp>
      <p:sp>
        <p:nvSpPr>
          <p:cNvPr id="17"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 founder-led team of 15+ builds production AI</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from</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Kuala Lumpur</a:t>
            </a:r>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 with an office in Singapore</a:t>
            </a:r>
            <a:endParaRPr lang="en-US" sz="3000" dirty="0"/>
          </a:p>
        </p:txBody>
      </p:sp>
      <p:sp>
        <p:nvSpPr>
          <p:cNvPr id="18" name="Text"/>
          <p:cNvSpPr txBox="1"/>
          <p:nvPr/>
        </p:nvSpPr>
        <p:spPr>
          <a:xfrm>
            <a:off x="946130" y="5723595"/>
            <a:ext cx="2604486"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The ALPHV team, 100% Malaysian and fully local</a:t>
            </a:r>
            <a:endParaRPr lang="en-US" sz="850" dirty="0"/>
          </a:p>
        </p:txBody>
      </p:sp>
      <p:sp>
        <p:nvSpPr>
          <p:cNvPr id="19" name="Text"/>
          <p:cNvSpPr txBox="1"/>
          <p:nvPr/>
        </p:nvSpPr>
        <p:spPr>
          <a:xfrm>
            <a:off x="5465186" y="2245309"/>
            <a:ext cx="2904957" cy="508041"/>
          </a:xfrm>
          <a:prstGeom prst="rect">
            <a:avLst/>
          </a:prstGeom>
          <a:noFill/>
          <a:ln/>
        </p:spPr>
        <p:txBody>
          <a:bodyPr wrap="square" lIns="0" tIns="0" rIns="0" bIns="0" rtlCol="0" anchor="t"/>
          <a:lstStyle/>
          <a:p>
            <a:pPr algn="l" indent="0" marL="0">
              <a:lnSpc>
                <a:spcPts val="4000"/>
              </a:lnSpc>
              <a:buNone/>
            </a:pPr>
            <a:r>
              <a:rPr lang="en-US" sz="4000" spc="-80" kern="0" dirty="0">
                <a:solidFill>
                  <a:srgbClr val="044BD9"/>
                </a:solidFill>
                <a:latin typeface="Poppins Medium" pitchFamily="34" charset="0"/>
                <a:ea typeface="Poppins Medium" pitchFamily="34" charset="-122"/>
                <a:cs typeface="Poppins Medium" pitchFamily="34" charset="-120"/>
              </a:rPr>
              <a:t>16</a:t>
            </a:r>
            <a:endParaRPr lang="en-US" sz="4000" dirty="0"/>
          </a:p>
        </p:txBody>
      </p:sp>
      <p:sp>
        <p:nvSpPr>
          <p:cNvPr id="20" name="Text"/>
          <p:cNvSpPr txBox="1"/>
          <p:nvPr/>
        </p:nvSpPr>
        <p:spPr>
          <a:xfrm>
            <a:off x="5465186" y="2802087"/>
            <a:ext cx="2904957"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Industry verticals served</a:t>
            </a:r>
            <a:endParaRPr lang="en-US" sz="1100" dirty="0"/>
          </a:p>
        </p:txBody>
      </p:sp>
      <p:sp>
        <p:nvSpPr>
          <p:cNvPr id="21" name="Text"/>
          <p:cNvSpPr txBox="1"/>
          <p:nvPr/>
        </p:nvSpPr>
        <p:spPr>
          <a:xfrm>
            <a:off x="8599841" y="2245309"/>
            <a:ext cx="2905049" cy="508041"/>
          </a:xfrm>
          <a:prstGeom prst="rect">
            <a:avLst/>
          </a:prstGeom>
          <a:noFill/>
          <a:ln/>
        </p:spPr>
        <p:txBody>
          <a:bodyPr wrap="square" lIns="0" tIns="0" rIns="0" bIns="0" rtlCol="0" anchor="t"/>
          <a:lstStyle/>
          <a:p>
            <a:pPr algn="l" indent="0" marL="0">
              <a:lnSpc>
                <a:spcPts val="4000"/>
              </a:lnSpc>
              <a:buNone/>
            </a:pPr>
            <a:r>
              <a:rPr lang="en-US" sz="4000" spc="-80" kern="0" dirty="0">
                <a:solidFill>
                  <a:srgbClr val="044BD9"/>
                </a:solidFill>
                <a:latin typeface="Poppins Medium" pitchFamily="34" charset="0"/>
                <a:ea typeface="Poppins Medium" pitchFamily="34" charset="-122"/>
                <a:cs typeface="Poppins Medium" pitchFamily="34" charset="-120"/>
              </a:rPr>
              <a:t>12</a:t>
            </a:r>
            <a:endParaRPr lang="en-US" sz="4000" dirty="0"/>
          </a:p>
        </p:txBody>
      </p:sp>
      <p:sp>
        <p:nvSpPr>
          <p:cNvPr id="22" name="Text"/>
          <p:cNvSpPr txBox="1"/>
          <p:nvPr/>
        </p:nvSpPr>
        <p:spPr>
          <a:xfrm>
            <a:off x="8599841" y="2802087"/>
            <a:ext cx="2905049"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Projects delivered and in delivery</a:t>
            </a:r>
            <a:endParaRPr lang="en-US" sz="1100" dirty="0"/>
          </a:p>
        </p:txBody>
      </p:sp>
      <p:sp>
        <p:nvSpPr>
          <p:cNvPr id="23" name="Text"/>
          <p:cNvSpPr txBox="1"/>
          <p:nvPr/>
        </p:nvSpPr>
        <p:spPr>
          <a:xfrm>
            <a:off x="5465186" y="3355848"/>
            <a:ext cx="2904957" cy="508041"/>
          </a:xfrm>
          <a:prstGeom prst="rect">
            <a:avLst/>
          </a:prstGeom>
          <a:noFill/>
          <a:ln/>
        </p:spPr>
        <p:txBody>
          <a:bodyPr wrap="square" lIns="0" tIns="0" rIns="0" bIns="0" rtlCol="0" anchor="t"/>
          <a:lstStyle/>
          <a:p>
            <a:pPr algn="l" indent="0" marL="0">
              <a:lnSpc>
                <a:spcPts val="4000"/>
              </a:lnSpc>
              <a:buNone/>
            </a:pPr>
            <a:r>
              <a:rPr lang="en-US" sz="4000" spc="-80" kern="0" dirty="0">
                <a:solidFill>
                  <a:srgbClr val="044BD9"/>
                </a:solidFill>
                <a:latin typeface="Poppins Medium" pitchFamily="34" charset="0"/>
                <a:ea typeface="Poppins Medium" pitchFamily="34" charset="-122"/>
                <a:cs typeface="Poppins Medium" pitchFamily="34" charset="-120"/>
              </a:rPr>
              <a:t>15</a:t>
            </a:r>
            <a:pPr algn="l" indent="0" marL="0">
              <a:lnSpc>
                <a:spcPts val="4000"/>
              </a:lnSpc>
              <a:buNone/>
            </a:pPr>
            <a:r>
              <a:rPr lang="en-US" sz="2000" dirty="0">
                <a:solidFill>
                  <a:srgbClr val="044BD9"/>
                </a:solidFill>
                <a:latin typeface="Poppins Medium" pitchFamily="34" charset="0"/>
                <a:ea typeface="Poppins Medium" pitchFamily="34" charset="-122"/>
                <a:cs typeface="Poppins Medium" pitchFamily="34" charset="-120"/>
              </a:rPr>
              <a:t>+</a:t>
            </a:r>
            <a:endParaRPr lang="en-US" sz="4000" dirty="0"/>
          </a:p>
        </p:txBody>
      </p:sp>
      <p:sp>
        <p:nvSpPr>
          <p:cNvPr id="24" name="Text"/>
          <p:cNvSpPr txBox="1"/>
          <p:nvPr/>
        </p:nvSpPr>
        <p:spPr>
          <a:xfrm>
            <a:off x="5465186" y="3912626"/>
            <a:ext cx="3021360" cy="405171"/>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Solutions architects, engineers</a:t>
            </a:r>
            <a:endParaRPr lang="en-US" sz="1100" dirty="0"/>
          </a:p>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and consultants</a:t>
            </a:r>
            <a:endParaRPr lang="en-US" sz="1100" dirty="0"/>
          </a:p>
        </p:txBody>
      </p:sp>
      <p:sp>
        <p:nvSpPr>
          <p:cNvPr id="25" name="Text"/>
          <p:cNvSpPr txBox="1"/>
          <p:nvPr/>
        </p:nvSpPr>
        <p:spPr>
          <a:xfrm>
            <a:off x="8599841" y="3355848"/>
            <a:ext cx="2905049" cy="508041"/>
          </a:xfrm>
          <a:prstGeom prst="rect">
            <a:avLst/>
          </a:prstGeom>
          <a:noFill/>
          <a:ln/>
        </p:spPr>
        <p:txBody>
          <a:bodyPr wrap="square" lIns="0" tIns="0" rIns="0" bIns="0" rtlCol="0" anchor="t"/>
          <a:lstStyle/>
          <a:p>
            <a:pPr algn="l" indent="0" marL="0">
              <a:lnSpc>
                <a:spcPts val="4000"/>
              </a:lnSpc>
              <a:buNone/>
            </a:pPr>
            <a:r>
              <a:rPr lang="en-US" sz="4000" spc="-80" kern="0" dirty="0">
                <a:solidFill>
                  <a:srgbClr val="044BD9"/>
                </a:solidFill>
                <a:latin typeface="Poppins Medium" pitchFamily="34" charset="0"/>
                <a:ea typeface="Poppins Medium" pitchFamily="34" charset="-122"/>
                <a:cs typeface="Poppins Medium" pitchFamily="34" charset="-120"/>
              </a:rPr>
              <a:t>2</a:t>
            </a:r>
            <a:endParaRPr lang="en-US" sz="4000" dirty="0"/>
          </a:p>
        </p:txBody>
      </p:sp>
      <p:sp>
        <p:nvSpPr>
          <p:cNvPr id="26" name="Text"/>
          <p:cNvSpPr txBox="1"/>
          <p:nvPr/>
        </p:nvSpPr>
        <p:spPr>
          <a:xfrm>
            <a:off x="8599841" y="3912626"/>
            <a:ext cx="3021452" cy="405171"/>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Office countries: Malaysia (HQ)</a:t>
            </a:r>
            <a:endParaRPr lang="en-US" sz="1100" dirty="0"/>
          </a:p>
          <a:p>
            <a:pPr algn="l" indent="0" marL="0">
              <a:lnSpc>
                <a:spcPts val="1595"/>
              </a:lnSpc>
              <a:buNone/>
            </a:pPr>
            <a:r>
              <a:rPr lang="en-US" sz="1100" dirty="0">
                <a:solidFill>
                  <a:srgbClr val="6B6B6B"/>
                </a:solidFill>
                <a:latin typeface="Poppins Light" pitchFamily="34" charset="0"/>
                <a:ea typeface="Poppins Light" pitchFamily="34" charset="-122"/>
                <a:cs typeface="Poppins Light" pitchFamily="34" charset="-120"/>
              </a:rPr>
              <a:t>and Singapore</a:t>
            </a:r>
            <a:endParaRPr lang="en-US" sz="1100" dirty="0"/>
          </a:p>
        </p:txBody>
      </p:sp>
      <p:sp>
        <p:nvSpPr>
          <p:cNvPr id="27" name="Text"/>
          <p:cNvSpPr txBox="1"/>
          <p:nvPr/>
        </p:nvSpPr>
        <p:spPr>
          <a:xfrm>
            <a:off x="5662056" y="4674047"/>
            <a:ext cx="2707264"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Company</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ALPHV Technologies Sdn Bhd</a:t>
            </a:r>
            <a:endParaRPr lang="en-US" sz="850" dirty="0"/>
          </a:p>
        </p:txBody>
      </p:sp>
      <p:sp>
        <p:nvSpPr>
          <p:cNvPr id="28" name="Text"/>
          <p:cNvSpPr txBox="1"/>
          <p:nvPr/>
        </p:nvSpPr>
        <p:spPr>
          <a:xfrm>
            <a:off x="8599841" y="4674047"/>
            <a:ext cx="2707447"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Reg. No.</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202301015604 (1509526-V)</a:t>
            </a:r>
            <a:endParaRPr lang="en-US" sz="850" dirty="0"/>
          </a:p>
        </p:txBody>
      </p:sp>
      <p:sp>
        <p:nvSpPr>
          <p:cNvPr id="29" name="Text"/>
          <p:cNvSpPr txBox="1"/>
          <p:nvPr/>
        </p:nvSpPr>
        <p:spPr>
          <a:xfrm>
            <a:off x="5662056" y="4982383"/>
            <a:ext cx="2707264"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Founded</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2023</a:t>
            </a:r>
            <a:endParaRPr lang="en-US" sz="850" dirty="0"/>
          </a:p>
        </p:txBody>
      </p:sp>
      <p:sp>
        <p:nvSpPr>
          <p:cNvPr id="30" name="Text"/>
          <p:cNvSpPr txBox="1"/>
          <p:nvPr/>
        </p:nvSpPr>
        <p:spPr>
          <a:xfrm>
            <a:off x="8599841" y="4982383"/>
            <a:ext cx="2707447"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Status</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MDEC Malaysia Digital</a:t>
            </a:r>
            <a:endParaRPr lang="en-US" sz="850" dirty="0"/>
          </a:p>
        </p:txBody>
      </p:sp>
      <p:sp>
        <p:nvSpPr>
          <p:cNvPr id="31" name="Text"/>
          <p:cNvSpPr txBox="1"/>
          <p:nvPr/>
        </p:nvSpPr>
        <p:spPr>
          <a:xfrm>
            <a:off x="5662056" y="5290627"/>
            <a:ext cx="2707264"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HQ</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Bangsar South, Kuala Lumpur</a:t>
            </a:r>
            <a:endParaRPr lang="en-US" sz="850" dirty="0"/>
          </a:p>
        </p:txBody>
      </p:sp>
      <p:sp>
        <p:nvSpPr>
          <p:cNvPr id="32" name="Text"/>
          <p:cNvSpPr txBox="1"/>
          <p:nvPr/>
        </p:nvSpPr>
        <p:spPr>
          <a:xfrm>
            <a:off x="8599841" y="5290627"/>
            <a:ext cx="2707447"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Office</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WCEGA Tower, Singapore</a:t>
            </a:r>
            <a:endParaRPr lang="en-US" sz="850" dirty="0"/>
          </a:p>
        </p:txBody>
      </p:sp>
      <p:sp>
        <p:nvSpPr>
          <p:cNvPr id="33" name="Text"/>
          <p:cNvSpPr txBox="1"/>
          <p:nvPr/>
        </p:nvSpPr>
        <p:spPr>
          <a:xfrm>
            <a:off x="5662056" y="5598871"/>
            <a:ext cx="5657027" cy="206654"/>
          </a:xfrm>
          <a:prstGeom prst="rect">
            <a:avLst/>
          </a:prstGeom>
          <a:noFill/>
          <a:ln/>
        </p:spPr>
        <p:txBody>
          <a:bodyPr wrap="square" lIns="0" tIns="0" rIns="0" bIns="0" rtlCol="0" anchor="t"/>
          <a:lstStyle/>
          <a:p>
            <a:pPr algn="l" indent="0" marL="0">
              <a:lnSpc>
                <a:spcPts val="1627"/>
              </a:lnSpc>
              <a:buNone/>
            </a:pPr>
            <a:r>
              <a:rPr lang="en-US" sz="850" spc="17" kern="0" dirty="0">
                <a:solidFill>
                  <a:srgbClr val="044BD9"/>
                </a:solidFill>
                <a:latin typeface="Poppins Medium" pitchFamily="34" charset="0"/>
                <a:ea typeface="Poppins Medium" pitchFamily="34" charset="-122"/>
                <a:cs typeface="Poppins Medium" pitchFamily="34" charset="-120"/>
              </a:rPr>
              <a:t>Clients in</a:t>
            </a:r>
            <a:pPr algn="l" indent="0" marL="0">
              <a:lnSpc>
                <a:spcPts val="1627"/>
              </a:lnSpc>
              <a:buNone/>
            </a:pPr>
            <a:r>
              <a:rPr lang="en-US" sz="1050" dirty="0">
                <a:solidFill>
                  <a:srgbClr val="000000"/>
                </a:solidFill>
                <a:latin typeface="Poppins Light" pitchFamily="34" charset="0"/>
                <a:ea typeface="Poppins Light" pitchFamily="34" charset="-122"/>
                <a:cs typeface="Poppins Light" pitchFamily="34" charset="-120"/>
              </a:rPr>
              <a:t>  Malaysia, Singapore and Vietnam</a:t>
            </a:r>
            <a:endParaRPr lang="en-US" sz="850" dirty="0"/>
          </a:p>
        </p:txBody>
      </p:sp>
      <p:sp>
        <p:nvSpPr>
          <p:cNvPr id="34"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35"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Who we are</a:t>
            </a:r>
            <a:endParaRPr lang="en-US" sz="850" dirty="0"/>
          </a:p>
        </p:txBody>
      </p:sp>
      <p:sp>
        <p:nvSpPr>
          <p:cNvPr id="36"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37"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38"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39"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40"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 alphv.com/about (October 2026).</a:t>
            </a:r>
            <a:endParaRPr lang="en-US" sz="850" dirty="0"/>
          </a:p>
        </p:txBody>
      </p:sp>
      <p:sp>
        <p:nvSpPr>
          <p:cNvPr id="41" name="Text"/>
          <p:cNvSpPr txBox="1"/>
          <p:nvPr/>
        </p:nvSpPr>
        <p:spPr>
          <a:xfrm>
            <a:off x="9343248"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42" name="Text"/>
          <p:cNvSpPr txBox="1"/>
          <p:nvPr/>
        </p:nvSpPr>
        <p:spPr>
          <a:xfrm>
            <a:off x="9851197"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43" name="Text"/>
          <p:cNvSpPr txBox="1"/>
          <p:nvPr/>
        </p:nvSpPr>
        <p:spPr>
          <a:xfrm>
            <a:off x="11342675" y="6401532"/>
            <a:ext cx="163495"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678942" cy="254020"/>
          </a:xfrm>
          <a:prstGeom prst="roundRect">
            <a:avLst>
              <a:gd name="adj" fmla="val 50000"/>
            </a:avLst>
          </a:prstGeom>
          <a:ln w="6350">
            <a:solidFill>
              <a:srgbClr val="155DFC"/>
            </a:solidFill>
            <a:prstDash val="solid"/>
          </a:ln>
        </p:spPr>
      </p:sp>
      <p:sp>
        <p:nvSpPr>
          <p:cNvPr id="3" name="card"/>
          <p:cNvSpPr/>
          <p:nvPr/>
        </p:nvSpPr>
        <p:spPr>
          <a:xfrm>
            <a:off x="714421" y="2077060"/>
            <a:ext cx="2045879" cy="2286000"/>
          </a:xfrm>
          <a:prstGeom prst="roundRect">
            <a:avLst>
              <a:gd name="adj" fmla="val 7294"/>
            </a:avLst>
          </a:prstGeom>
          <a:solidFill>
            <a:srgbClr val="FFFFFF"/>
          </a:solidFill>
          <a:ln w="6350">
            <a:solidFill>
              <a:srgbClr val="F0F0F0"/>
            </a:solidFill>
            <a:prstDash val="solid"/>
          </a:ln>
        </p:spPr>
      </p:sp>
      <p:sp>
        <p:nvSpPr>
          <p:cNvPr id="4" name="tile"/>
          <p:cNvSpPr/>
          <p:nvPr/>
        </p:nvSpPr>
        <p:spPr>
          <a:xfrm>
            <a:off x="895380" y="2258019"/>
            <a:ext cx="381030" cy="381030"/>
          </a:xfrm>
          <a:prstGeom prst="roundRect">
            <a:avLst>
              <a:gd name="adj" fmla="val 29998"/>
            </a:avLst>
          </a:prstGeom>
          <a:solidFill>
            <a:srgbClr val="044BD9">
              <a:alpha val="8000"/>
            </a:srgbClr>
          </a:solidFill>
          <a:ln/>
        </p:spPr>
      </p:sp>
      <p:pic>
        <p:nvPicPr>
          <p:cNvPr id="5" name="Icon" descr="/tmp/deck-pptx-VwALqa/icon-16.png">    </p:cNvPr>
          <p:cNvPicPr>
            <a:picLocks noChangeAspect="1"/>
          </p:cNvPicPr>
          <p:nvPr/>
        </p:nvPicPr>
        <p:blipFill>
          <a:blip r:embed="rId1"/>
          <a:stretch>
            <a:fillRect/>
          </a:stretch>
        </p:blipFill>
        <p:spPr>
          <a:xfrm>
            <a:off x="996970" y="2359609"/>
            <a:ext cx="177759" cy="177759"/>
          </a:xfrm>
          <a:prstGeom prst="rect">
            <a:avLst/>
          </a:prstGeom>
        </p:spPr>
      </p:pic>
      <p:sp>
        <p:nvSpPr>
          <p:cNvPr id="6" name="card"/>
          <p:cNvSpPr/>
          <p:nvPr/>
        </p:nvSpPr>
        <p:spPr>
          <a:xfrm>
            <a:off x="2893619" y="2077060"/>
            <a:ext cx="2045970" cy="2286000"/>
          </a:xfrm>
          <a:prstGeom prst="roundRect">
            <a:avLst>
              <a:gd name="adj" fmla="val 7294"/>
            </a:avLst>
          </a:prstGeom>
          <a:solidFill>
            <a:srgbClr val="FFFFFF"/>
          </a:solidFill>
          <a:ln w="6350">
            <a:solidFill>
              <a:srgbClr val="F0F0F0"/>
            </a:solidFill>
            <a:prstDash val="solid"/>
          </a:ln>
        </p:spPr>
      </p:sp>
      <p:sp>
        <p:nvSpPr>
          <p:cNvPr id="7" name="tile"/>
          <p:cNvSpPr/>
          <p:nvPr/>
        </p:nvSpPr>
        <p:spPr>
          <a:xfrm>
            <a:off x="3074579" y="2258019"/>
            <a:ext cx="381030" cy="381030"/>
          </a:xfrm>
          <a:prstGeom prst="roundRect">
            <a:avLst>
              <a:gd name="adj" fmla="val 29998"/>
            </a:avLst>
          </a:prstGeom>
          <a:solidFill>
            <a:srgbClr val="044BD9">
              <a:alpha val="8000"/>
            </a:srgbClr>
          </a:solidFill>
          <a:ln/>
        </p:spPr>
      </p:sp>
      <p:pic>
        <p:nvPicPr>
          <p:cNvPr id="8" name="Icon" descr="/tmp/deck-pptx-VwALqa/icon-17.png">    </p:cNvPr>
          <p:cNvPicPr>
            <a:picLocks noChangeAspect="1"/>
          </p:cNvPicPr>
          <p:nvPr/>
        </p:nvPicPr>
        <p:blipFill>
          <a:blip r:embed="rId2"/>
          <a:stretch>
            <a:fillRect/>
          </a:stretch>
        </p:blipFill>
        <p:spPr>
          <a:xfrm>
            <a:off x="3176168" y="2359609"/>
            <a:ext cx="177759" cy="177759"/>
          </a:xfrm>
          <a:prstGeom prst="rect">
            <a:avLst/>
          </a:prstGeom>
        </p:spPr>
      </p:pic>
      <p:sp>
        <p:nvSpPr>
          <p:cNvPr id="9" name="card"/>
          <p:cNvSpPr/>
          <p:nvPr/>
        </p:nvSpPr>
        <p:spPr>
          <a:xfrm>
            <a:off x="5073000" y="2077060"/>
            <a:ext cx="2045970" cy="2286000"/>
          </a:xfrm>
          <a:prstGeom prst="roundRect">
            <a:avLst>
              <a:gd name="adj" fmla="val 7294"/>
            </a:avLst>
          </a:prstGeom>
          <a:solidFill>
            <a:srgbClr val="FFFFFF"/>
          </a:solidFill>
          <a:ln w="6350">
            <a:solidFill>
              <a:srgbClr val="F0F0F0"/>
            </a:solidFill>
            <a:prstDash val="solid"/>
          </a:ln>
        </p:spPr>
      </p:sp>
      <p:sp>
        <p:nvSpPr>
          <p:cNvPr id="10" name="tile"/>
          <p:cNvSpPr/>
          <p:nvPr/>
        </p:nvSpPr>
        <p:spPr>
          <a:xfrm>
            <a:off x="5253960" y="2258019"/>
            <a:ext cx="381030" cy="381030"/>
          </a:xfrm>
          <a:prstGeom prst="roundRect">
            <a:avLst>
              <a:gd name="adj" fmla="val 29998"/>
            </a:avLst>
          </a:prstGeom>
          <a:solidFill>
            <a:srgbClr val="044BD9">
              <a:alpha val="8000"/>
            </a:srgbClr>
          </a:solidFill>
          <a:ln/>
        </p:spPr>
      </p:sp>
      <p:pic>
        <p:nvPicPr>
          <p:cNvPr id="11" name="Icon" descr="/tmp/deck-pptx-VwALqa/icon-18.png">    </p:cNvPr>
          <p:cNvPicPr>
            <a:picLocks noChangeAspect="1"/>
          </p:cNvPicPr>
          <p:nvPr/>
        </p:nvPicPr>
        <p:blipFill>
          <a:blip r:embed="rId3"/>
          <a:stretch>
            <a:fillRect/>
          </a:stretch>
        </p:blipFill>
        <p:spPr>
          <a:xfrm>
            <a:off x="5355549" y="2359609"/>
            <a:ext cx="177759" cy="177759"/>
          </a:xfrm>
          <a:prstGeom prst="rect">
            <a:avLst/>
          </a:prstGeom>
        </p:spPr>
      </p:pic>
      <p:sp>
        <p:nvSpPr>
          <p:cNvPr id="12" name="card"/>
          <p:cNvSpPr/>
          <p:nvPr/>
        </p:nvSpPr>
        <p:spPr>
          <a:xfrm>
            <a:off x="7252289" y="2077060"/>
            <a:ext cx="2045970" cy="2286000"/>
          </a:xfrm>
          <a:prstGeom prst="roundRect">
            <a:avLst>
              <a:gd name="adj" fmla="val 7294"/>
            </a:avLst>
          </a:prstGeom>
          <a:solidFill>
            <a:srgbClr val="FFFFFF"/>
          </a:solidFill>
          <a:ln w="6350">
            <a:solidFill>
              <a:srgbClr val="F0F0F0"/>
            </a:solidFill>
            <a:prstDash val="solid"/>
          </a:ln>
        </p:spPr>
      </p:sp>
      <p:sp>
        <p:nvSpPr>
          <p:cNvPr id="13" name="tile"/>
          <p:cNvSpPr/>
          <p:nvPr/>
        </p:nvSpPr>
        <p:spPr>
          <a:xfrm>
            <a:off x="7433249" y="2258019"/>
            <a:ext cx="381030" cy="381030"/>
          </a:xfrm>
          <a:prstGeom prst="roundRect">
            <a:avLst>
              <a:gd name="adj" fmla="val 29998"/>
            </a:avLst>
          </a:prstGeom>
          <a:solidFill>
            <a:srgbClr val="044BD9">
              <a:alpha val="8000"/>
            </a:srgbClr>
          </a:solidFill>
          <a:ln/>
        </p:spPr>
      </p:sp>
      <p:pic>
        <p:nvPicPr>
          <p:cNvPr id="14" name="Icon" descr="/tmp/deck-pptx-VwALqa/icon-19.png">    </p:cNvPr>
          <p:cNvPicPr>
            <a:picLocks noChangeAspect="1"/>
          </p:cNvPicPr>
          <p:nvPr/>
        </p:nvPicPr>
        <p:blipFill>
          <a:blip r:embed="rId4"/>
          <a:stretch>
            <a:fillRect/>
          </a:stretch>
        </p:blipFill>
        <p:spPr>
          <a:xfrm>
            <a:off x="7534839" y="2359609"/>
            <a:ext cx="177759" cy="177759"/>
          </a:xfrm>
          <a:prstGeom prst="rect">
            <a:avLst/>
          </a:prstGeom>
        </p:spPr>
      </p:pic>
      <p:sp>
        <p:nvSpPr>
          <p:cNvPr id="15" name="card"/>
          <p:cNvSpPr/>
          <p:nvPr/>
        </p:nvSpPr>
        <p:spPr>
          <a:xfrm>
            <a:off x="9431670" y="2077060"/>
            <a:ext cx="2045970" cy="2286000"/>
          </a:xfrm>
          <a:prstGeom prst="roundRect">
            <a:avLst>
              <a:gd name="adj" fmla="val 7294"/>
            </a:avLst>
          </a:prstGeom>
          <a:solidFill>
            <a:srgbClr val="FFFFFF"/>
          </a:solidFill>
          <a:ln w="6350">
            <a:solidFill>
              <a:srgbClr val="F0F0F0"/>
            </a:solidFill>
            <a:prstDash val="solid"/>
          </a:ln>
        </p:spPr>
      </p:sp>
      <p:sp>
        <p:nvSpPr>
          <p:cNvPr id="16" name="tile"/>
          <p:cNvSpPr/>
          <p:nvPr/>
        </p:nvSpPr>
        <p:spPr>
          <a:xfrm>
            <a:off x="9612630" y="2258019"/>
            <a:ext cx="381030" cy="381030"/>
          </a:xfrm>
          <a:prstGeom prst="roundRect">
            <a:avLst>
              <a:gd name="adj" fmla="val 29998"/>
            </a:avLst>
          </a:prstGeom>
          <a:solidFill>
            <a:srgbClr val="044BD9">
              <a:alpha val="8000"/>
            </a:srgbClr>
          </a:solidFill>
          <a:ln/>
        </p:spPr>
      </p:sp>
      <p:pic>
        <p:nvPicPr>
          <p:cNvPr id="17" name="Icon" descr="/tmp/deck-pptx-VwALqa/icon-20.png">    </p:cNvPr>
          <p:cNvPicPr>
            <a:picLocks noChangeAspect="1"/>
          </p:cNvPicPr>
          <p:nvPr/>
        </p:nvPicPr>
        <p:blipFill>
          <a:blip r:embed="rId5"/>
          <a:stretch>
            <a:fillRect/>
          </a:stretch>
        </p:blipFill>
        <p:spPr>
          <a:xfrm>
            <a:off x="9714220" y="2359609"/>
            <a:ext cx="177759" cy="177759"/>
          </a:xfrm>
          <a:prstGeom prst="rect">
            <a:avLst/>
          </a:prstGeom>
        </p:spPr>
      </p:pic>
      <p:sp>
        <p:nvSpPr>
          <p:cNvPr id="18" name="card"/>
          <p:cNvSpPr/>
          <p:nvPr/>
        </p:nvSpPr>
        <p:spPr>
          <a:xfrm>
            <a:off x="714421" y="4496379"/>
            <a:ext cx="10763220" cy="1581180"/>
          </a:xfrm>
          <a:prstGeom prst="roundRect">
            <a:avLst>
              <a:gd name="adj" fmla="val 9438"/>
            </a:avLst>
          </a:prstGeom>
          <a:solidFill>
            <a:srgbClr val="FFFFFF"/>
          </a:solidFill>
          <a:ln w="6350">
            <a:solidFill>
              <a:srgbClr val="F0F0F0"/>
            </a:solidFill>
            <a:prstDash val="solid"/>
          </a:ln>
        </p:spPr>
      </p:sp>
      <p:sp>
        <p:nvSpPr>
          <p:cNvPr id="19" name="Rule"/>
          <p:cNvSpPr/>
          <p:nvPr/>
        </p:nvSpPr>
        <p:spPr>
          <a:xfrm>
            <a:off x="4502140" y="4655119"/>
            <a:ext cx="1584289" cy="0"/>
          </a:xfrm>
          <a:prstGeom prst="line">
            <a:avLst/>
          </a:prstGeom>
          <a:noFill/>
          <a:ln w="6350">
            <a:solidFill>
              <a:srgbClr val="E3E6EC"/>
            </a:solidFill>
            <a:prstDash val="solid"/>
          </a:ln>
        </p:spPr>
      </p:sp>
      <p:sp>
        <p:nvSpPr>
          <p:cNvPr id="20" name="Rule"/>
          <p:cNvSpPr/>
          <p:nvPr/>
        </p:nvSpPr>
        <p:spPr>
          <a:xfrm>
            <a:off x="6238860" y="4655119"/>
            <a:ext cx="1584289" cy="0"/>
          </a:xfrm>
          <a:prstGeom prst="line">
            <a:avLst/>
          </a:prstGeom>
          <a:noFill/>
          <a:ln w="6350">
            <a:solidFill>
              <a:srgbClr val="E3E6EC"/>
            </a:solidFill>
            <a:prstDash val="solid"/>
          </a:ln>
        </p:spPr>
      </p:sp>
      <p:sp>
        <p:nvSpPr>
          <p:cNvPr id="21" name="Rule"/>
          <p:cNvSpPr/>
          <p:nvPr/>
        </p:nvSpPr>
        <p:spPr>
          <a:xfrm>
            <a:off x="7975580" y="4655119"/>
            <a:ext cx="1584289" cy="0"/>
          </a:xfrm>
          <a:prstGeom prst="line">
            <a:avLst/>
          </a:prstGeom>
          <a:noFill/>
          <a:ln w="6350">
            <a:solidFill>
              <a:srgbClr val="E3E6EC"/>
            </a:solidFill>
            <a:prstDash val="solid"/>
          </a:ln>
        </p:spPr>
      </p:sp>
      <p:sp>
        <p:nvSpPr>
          <p:cNvPr id="22" name="Rule"/>
          <p:cNvSpPr/>
          <p:nvPr/>
        </p:nvSpPr>
        <p:spPr>
          <a:xfrm>
            <a:off x="9712300" y="4655119"/>
            <a:ext cx="1584289" cy="0"/>
          </a:xfrm>
          <a:prstGeom prst="line">
            <a:avLst/>
          </a:prstGeom>
          <a:noFill/>
          <a:ln w="6350">
            <a:solidFill>
              <a:srgbClr val="E3E6EC"/>
            </a:solidFill>
            <a:prstDash val="solid"/>
          </a:ln>
        </p:spPr>
      </p:sp>
      <p:sp>
        <p:nvSpPr>
          <p:cNvPr id="23" name="logo-cell"/>
          <p:cNvSpPr/>
          <p:nvPr/>
        </p:nvSpPr>
        <p:spPr>
          <a:xfrm>
            <a:off x="898489" y="5455219"/>
            <a:ext cx="1216061" cy="463509"/>
          </a:xfrm>
          <a:prstGeom prst="roundRect">
            <a:avLst>
              <a:gd name="adj" fmla="val 21227"/>
            </a:avLst>
          </a:prstGeom>
          <a:solidFill>
            <a:srgbClr val="FFFFFF"/>
          </a:solidFill>
          <a:ln w="6350">
            <a:solidFill>
              <a:srgbClr val="F0F0F0"/>
            </a:solidFill>
            <a:prstDash val="solid"/>
          </a:ln>
        </p:spPr>
      </p:sp>
      <p:pic>
        <p:nvPicPr>
          <p:cNvPr id="24" name="Picture" descr="Yale University">    </p:cNvPr>
          <p:cNvPicPr>
            <a:picLocks noChangeAspect="1"/>
          </p:cNvPicPr>
          <p:nvPr/>
        </p:nvPicPr>
        <p:blipFill>
          <a:blip r:embed="rId6"/>
          <a:stretch>
            <a:fillRect/>
          </a:stretch>
        </p:blipFill>
        <p:spPr>
          <a:xfrm>
            <a:off x="1214506" y="5560009"/>
            <a:ext cx="583936" cy="254020"/>
          </a:xfrm>
          <a:prstGeom prst="rect">
            <a:avLst/>
          </a:prstGeom>
        </p:spPr>
      </p:pic>
      <p:sp>
        <p:nvSpPr>
          <p:cNvPr id="25" name="logo-cell"/>
          <p:cNvSpPr/>
          <p:nvPr/>
        </p:nvSpPr>
        <p:spPr>
          <a:xfrm>
            <a:off x="2209830" y="5455219"/>
            <a:ext cx="1216061" cy="463509"/>
          </a:xfrm>
          <a:prstGeom prst="roundRect">
            <a:avLst>
              <a:gd name="adj" fmla="val 21227"/>
            </a:avLst>
          </a:prstGeom>
          <a:solidFill>
            <a:srgbClr val="FFFFFF"/>
          </a:solidFill>
          <a:ln w="6350">
            <a:solidFill>
              <a:srgbClr val="F0F0F0"/>
            </a:solidFill>
            <a:prstDash val="solid"/>
          </a:ln>
        </p:spPr>
      </p:sp>
      <p:pic>
        <p:nvPicPr>
          <p:cNvPr id="26" name="Picture" descr="University of Toronto">    </p:cNvPr>
          <p:cNvPicPr>
            <a:picLocks noChangeAspect="1"/>
          </p:cNvPicPr>
          <p:nvPr/>
        </p:nvPicPr>
        <p:blipFill>
          <a:blip r:embed="rId7"/>
          <a:stretch>
            <a:fillRect/>
          </a:stretch>
        </p:blipFill>
        <p:spPr>
          <a:xfrm>
            <a:off x="2470343" y="5509260"/>
            <a:ext cx="694853" cy="368229"/>
          </a:xfrm>
          <a:prstGeom prst="rect">
            <a:avLst/>
          </a:prstGeom>
        </p:spPr>
      </p:pic>
      <p:sp>
        <p:nvSpPr>
          <p:cNvPr id="27" name="logo-cell"/>
          <p:cNvSpPr/>
          <p:nvPr/>
        </p:nvSpPr>
        <p:spPr>
          <a:xfrm>
            <a:off x="3521080" y="5455219"/>
            <a:ext cx="1216061" cy="463509"/>
          </a:xfrm>
          <a:prstGeom prst="roundRect">
            <a:avLst>
              <a:gd name="adj" fmla="val 21227"/>
            </a:avLst>
          </a:prstGeom>
          <a:solidFill>
            <a:srgbClr val="FFFFFF"/>
          </a:solidFill>
          <a:ln w="6350">
            <a:solidFill>
              <a:srgbClr val="F0F0F0"/>
            </a:solidFill>
            <a:prstDash val="solid"/>
          </a:ln>
        </p:spPr>
      </p:sp>
      <p:pic>
        <p:nvPicPr>
          <p:cNvPr id="28" name="Picture" descr="University of Illinois">    </p:cNvPr>
          <p:cNvPicPr>
            <a:picLocks noChangeAspect="1"/>
          </p:cNvPicPr>
          <p:nvPr/>
        </p:nvPicPr>
        <p:blipFill>
          <a:blip r:embed="rId8"/>
          <a:stretch>
            <a:fillRect/>
          </a:stretch>
        </p:blipFill>
        <p:spPr>
          <a:xfrm>
            <a:off x="3701125" y="5560009"/>
            <a:ext cx="855878" cy="254020"/>
          </a:xfrm>
          <a:prstGeom prst="rect">
            <a:avLst/>
          </a:prstGeom>
        </p:spPr>
      </p:pic>
      <p:sp>
        <p:nvSpPr>
          <p:cNvPr id="29" name="logo-cell"/>
          <p:cNvSpPr/>
          <p:nvPr/>
        </p:nvSpPr>
        <p:spPr>
          <a:xfrm>
            <a:off x="4832330" y="5455219"/>
            <a:ext cx="1216061" cy="463509"/>
          </a:xfrm>
          <a:prstGeom prst="roundRect">
            <a:avLst>
              <a:gd name="adj" fmla="val 21227"/>
            </a:avLst>
          </a:prstGeom>
          <a:solidFill>
            <a:srgbClr val="FFFFFF"/>
          </a:solidFill>
          <a:ln w="6350">
            <a:solidFill>
              <a:srgbClr val="F0F0F0"/>
            </a:solidFill>
            <a:prstDash val="solid"/>
          </a:ln>
        </p:spPr>
      </p:sp>
      <p:pic>
        <p:nvPicPr>
          <p:cNvPr id="30" name="Picture" descr="Taylor’s University">    </p:cNvPr>
          <p:cNvPicPr>
            <a:picLocks noChangeAspect="1"/>
          </p:cNvPicPr>
          <p:nvPr/>
        </p:nvPicPr>
        <p:blipFill>
          <a:blip r:embed="rId9"/>
          <a:stretch>
            <a:fillRect/>
          </a:stretch>
        </p:blipFill>
        <p:spPr>
          <a:xfrm>
            <a:off x="5000305" y="5521970"/>
            <a:ext cx="879927" cy="330190"/>
          </a:xfrm>
          <a:prstGeom prst="rect">
            <a:avLst/>
          </a:prstGeom>
        </p:spPr>
      </p:pic>
      <p:sp>
        <p:nvSpPr>
          <p:cNvPr id="31" name="logo-cell"/>
          <p:cNvSpPr/>
          <p:nvPr/>
        </p:nvSpPr>
        <p:spPr>
          <a:xfrm>
            <a:off x="6143671" y="5455219"/>
            <a:ext cx="1216061" cy="463509"/>
          </a:xfrm>
          <a:prstGeom prst="roundRect">
            <a:avLst>
              <a:gd name="adj" fmla="val 21227"/>
            </a:avLst>
          </a:prstGeom>
          <a:solidFill>
            <a:srgbClr val="FFFFFF"/>
          </a:solidFill>
          <a:ln w="6350">
            <a:solidFill>
              <a:srgbClr val="F0F0F0"/>
            </a:solidFill>
            <a:prstDash val="solid"/>
          </a:ln>
        </p:spPr>
      </p:sp>
      <p:pic>
        <p:nvPicPr>
          <p:cNvPr id="32" name="Picture" descr="Sunway University">    </p:cNvPr>
          <p:cNvPicPr>
            <a:picLocks noChangeAspect="1"/>
          </p:cNvPicPr>
          <p:nvPr/>
        </p:nvPicPr>
        <p:blipFill>
          <a:blip r:embed="rId10"/>
          <a:stretch>
            <a:fillRect/>
          </a:stretch>
        </p:blipFill>
        <p:spPr>
          <a:xfrm>
            <a:off x="6384707" y="5537789"/>
            <a:ext cx="733806" cy="298460"/>
          </a:xfrm>
          <a:prstGeom prst="rect">
            <a:avLst/>
          </a:prstGeom>
        </p:spPr>
      </p:pic>
      <p:sp>
        <p:nvSpPr>
          <p:cNvPr id="33" name="logo-cell"/>
          <p:cNvSpPr/>
          <p:nvPr/>
        </p:nvSpPr>
        <p:spPr>
          <a:xfrm>
            <a:off x="7454920" y="5455219"/>
            <a:ext cx="1216061" cy="463509"/>
          </a:xfrm>
          <a:prstGeom prst="roundRect">
            <a:avLst>
              <a:gd name="adj" fmla="val 21227"/>
            </a:avLst>
          </a:prstGeom>
          <a:solidFill>
            <a:srgbClr val="FFFFFF"/>
          </a:solidFill>
          <a:ln w="6350">
            <a:solidFill>
              <a:srgbClr val="F0F0F0"/>
            </a:solidFill>
            <a:prstDash val="solid"/>
          </a:ln>
        </p:spPr>
      </p:sp>
      <p:pic>
        <p:nvPicPr>
          <p:cNvPr id="34" name="Picture" descr="Universiti Kebangsaan Malaysia">    </p:cNvPr>
          <p:cNvPicPr>
            <a:picLocks noChangeAspect="1"/>
          </p:cNvPicPr>
          <p:nvPr/>
        </p:nvPicPr>
        <p:blipFill>
          <a:blip r:embed="rId11"/>
          <a:stretch>
            <a:fillRect/>
          </a:stretch>
        </p:blipFill>
        <p:spPr>
          <a:xfrm>
            <a:off x="7699980" y="5509260"/>
            <a:ext cx="725759" cy="368229"/>
          </a:xfrm>
          <a:prstGeom prst="rect">
            <a:avLst/>
          </a:prstGeom>
        </p:spPr>
      </p:pic>
      <p:sp>
        <p:nvSpPr>
          <p:cNvPr id="35" name="logo-cell"/>
          <p:cNvSpPr/>
          <p:nvPr/>
        </p:nvSpPr>
        <p:spPr>
          <a:xfrm>
            <a:off x="8766170" y="5455219"/>
            <a:ext cx="1216061" cy="463509"/>
          </a:xfrm>
          <a:prstGeom prst="roundRect">
            <a:avLst>
              <a:gd name="adj" fmla="val 21227"/>
            </a:avLst>
          </a:prstGeom>
          <a:solidFill>
            <a:srgbClr val="FFFFFF"/>
          </a:solidFill>
          <a:ln w="6350">
            <a:solidFill>
              <a:srgbClr val="F0F0F0"/>
            </a:solidFill>
            <a:prstDash val="solid"/>
          </a:ln>
        </p:spPr>
      </p:sp>
      <p:pic>
        <p:nvPicPr>
          <p:cNvPr id="36" name="Picture" descr="Universiti Teknologi MARA">    </p:cNvPr>
          <p:cNvPicPr>
            <a:picLocks noChangeAspect="1"/>
          </p:cNvPicPr>
          <p:nvPr/>
        </p:nvPicPr>
        <p:blipFill>
          <a:blip r:embed="rId12"/>
          <a:stretch>
            <a:fillRect/>
          </a:stretch>
        </p:blipFill>
        <p:spPr>
          <a:xfrm>
            <a:off x="8996050" y="5521970"/>
            <a:ext cx="756117" cy="330190"/>
          </a:xfrm>
          <a:prstGeom prst="rect">
            <a:avLst/>
          </a:prstGeom>
        </p:spPr>
      </p:pic>
      <p:sp>
        <p:nvSpPr>
          <p:cNvPr id="37" name="logo-cell"/>
          <p:cNvSpPr/>
          <p:nvPr/>
        </p:nvSpPr>
        <p:spPr>
          <a:xfrm>
            <a:off x="10077420" y="5455219"/>
            <a:ext cx="1216061" cy="463509"/>
          </a:xfrm>
          <a:prstGeom prst="roundRect">
            <a:avLst>
              <a:gd name="adj" fmla="val 21227"/>
            </a:avLst>
          </a:prstGeom>
          <a:solidFill>
            <a:srgbClr val="FFFFFF"/>
          </a:solidFill>
          <a:ln w="6350">
            <a:solidFill>
              <a:srgbClr val="F0F0F0"/>
            </a:solidFill>
            <a:prstDash val="solid"/>
          </a:ln>
        </p:spPr>
      </p:sp>
      <p:pic>
        <p:nvPicPr>
          <p:cNvPr id="38" name="Picture" descr="Multimedia University">    </p:cNvPr>
          <p:cNvPicPr>
            <a:picLocks noChangeAspect="1"/>
          </p:cNvPicPr>
          <p:nvPr/>
        </p:nvPicPr>
        <p:blipFill>
          <a:blip r:embed="rId13"/>
          <a:stretch>
            <a:fillRect/>
          </a:stretch>
        </p:blipFill>
        <p:spPr>
          <a:xfrm>
            <a:off x="10282702" y="5569519"/>
            <a:ext cx="805495" cy="234909"/>
          </a:xfrm>
          <a:prstGeom prst="rect">
            <a:avLst/>
          </a:prstGeom>
        </p:spPr>
      </p:pic>
      <p:sp>
        <p:nvSpPr>
          <p:cNvPr id="39" name="span::before"/>
          <p:cNvSpPr/>
          <p:nvPr/>
        </p:nvSpPr>
        <p:spPr>
          <a:xfrm>
            <a:off x="6191860" y="311170"/>
            <a:ext cx="44440" cy="44440"/>
          </a:xfrm>
          <a:prstGeom prst="rect">
            <a:avLst/>
          </a:prstGeom>
          <a:solidFill>
            <a:srgbClr val="A0A6AF">
              <a:alpha val="55000"/>
            </a:srgbClr>
          </a:solidFill>
          <a:ln/>
        </p:spPr>
      </p:sp>
      <p:sp>
        <p:nvSpPr>
          <p:cNvPr id="40" name="on::before"/>
          <p:cNvSpPr/>
          <p:nvPr/>
        </p:nvSpPr>
        <p:spPr>
          <a:xfrm>
            <a:off x="7145213" y="311170"/>
            <a:ext cx="44440" cy="44440"/>
          </a:xfrm>
          <a:prstGeom prst="rect">
            <a:avLst/>
          </a:prstGeom>
          <a:solidFill>
            <a:srgbClr val="044BD9"/>
          </a:solidFill>
          <a:ln/>
        </p:spPr>
      </p:sp>
      <p:sp>
        <p:nvSpPr>
          <p:cNvPr id="41" name="span::before"/>
          <p:cNvSpPr/>
          <p:nvPr/>
        </p:nvSpPr>
        <p:spPr>
          <a:xfrm>
            <a:off x="8056230" y="311170"/>
            <a:ext cx="44440" cy="44440"/>
          </a:xfrm>
          <a:prstGeom prst="rect">
            <a:avLst/>
          </a:prstGeom>
          <a:solidFill>
            <a:srgbClr val="A0A6AF">
              <a:alpha val="55000"/>
            </a:srgbClr>
          </a:solidFill>
          <a:ln/>
        </p:spPr>
      </p:sp>
      <p:sp>
        <p:nvSpPr>
          <p:cNvPr id="42" name="span::before"/>
          <p:cNvSpPr/>
          <p:nvPr/>
        </p:nvSpPr>
        <p:spPr>
          <a:xfrm>
            <a:off x="8972550" y="311170"/>
            <a:ext cx="44440" cy="44440"/>
          </a:xfrm>
          <a:prstGeom prst="rect">
            <a:avLst/>
          </a:prstGeom>
          <a:solidFill>
            <a:srgbClr val="A0A6AF">
              <a:alpha val="55000"/>
            </a:srgbClr>
          </a:solidFill>
          <a:ln/>
        </p:spPr>
      </p:sp>
      <p:sp>
        <p:nvSpPr>
          <p:cNvPr id="43" name="span::before"/>
          <p:cNvSpPr/>
          <p:nvPr/>
        </p:nvSpPr>
        <p:spPr>
          <a:xfrm>
            <a:off x="10421142" y="311170"/>
            <a:ext cx="44440" cy="44440"/>
          </a:xfrm>
          <a:prstGeom prst="rect">
            <a:avLst/>
          </a:prstGeom>
          <a:solidFill>
            <a:srgbClr val="A0A6AF">
              <a:alpha val="55000"/>
            </a:srgbClr>
          </a:solidFill>
          <a:ln/>
        </p:spPr>
      </p:sp>
      <p:sp>
        <p:nvSpPr>
          <p:cNvPr id="44" name="span::before"/>
          <p:cNvSpPr/>
          <p:nvPr/>
        </p:nvSpPr>
        <p:spPr>
          <a:xfrm>
            <a:off x="10966216" y="311170"/>
            <a:ext cx="44440" cy="44440"/>
          </a:xfrm>
          <a:prstGeom prst="rect">
            <a:avLst/>
          </a:prstGeom>
          <a:solidFill>
            <a:srgbClr val="A0A6AF">
              <a:alpha val="55000"/>
            </a:srgbClr>
          </a:solidFill>
          <a:ln/>
        </p:spPr>
      </p:sp>
      <p:sp>
        <p:nvSpPr>
          <p:cNvPr id="45" name="Text"/>
          <p:cNvSpPr txBox="1"/>
          <p:nvPr/>
        </p:nvSpPr>
        <p:spPr>
          <a:xfrm>
            <a:off x="844540" y="609265"/>
            <a:ext cx="444033"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People</a:t>
            </a:r>
            <a:endParaRPr lang="en-US" sz="950" dirty="0"/>
          </a:p>
        </p:txBody>
      </p:sp>
      <p:sp>
        <p:nvSpPr>
          <p:cNvPr id="46" name="Title"/>
          <p:cNvSpPr txBox="1"/>
          <p:nvPr/>
        </p:nvSpPr>
        <p:spPr>
          <a:xfrm>
            <a:off x="711220" y="931956"/>
            <a:ext cx="702561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The people who scope your</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system are the people who build it</a:t>
            </a:r>
            <a:endParaRPr lang="en-US" sz="3000" dirty="0"/>
          </a:p>
        </p:txBody>
      </p:sp>
      <p:sp>
        <p:nvSpPr>
          <p:cNvPr id="47" name="Text"/>
          <p:cNvSpPr txBox="1"/>
          <p:nvPr/>
        </p:nvSpPr>
        <p:spPr>
          <a:xfrm>
            <a:off x="8178759" y="1125444"/>
            <a:ext cx="3459450" cy="64959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A 100% Malaysian team, led by a founder who</a:t>
            </a:r>
            <a:endParaRPr lang="en-US" sz="1100" dirty="0"/>
          </a:p>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still writes code. We hire across five role</a:t>
            </a:r>
            <a:endParaRPr lang="en-US" sz="1100" dirty="0"/>
          </a:p>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families, all working on real client systems.</a:t>
            </a:r>
            <a:endParaRPr lang="en-US" sz="1100" dirty="0"/>
          </a:p>
        </p:txBody>
      </p:sp>
      <p:sp>
        <p:nvSpPr>
          <p:cNvPr id="48" name="Text"/>
          <p:cNvSpPr txBox="1"/>
          <p:nvPr/>
        </p:nvSpPr>
        <p:spPr>
          <a:xfrm>
            <a:off x="895380" y="2706624"/>
            <a:ext cx="1703344"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AI engineers</a:t>
            </a:r>
            <a:endParaRPr lang="en-US" sz="1250" dirty="0"/>
          </a:p>
        </p:txBody>
      </p:sp>
      <p:sp>
        <p:nvSpPr>
          <p:cNvPr id="49" name="Text"/>
          <p:cNvSpPr txBox="1"/>
          <p:nvPr/>
        </p:nvSpPr>
        <p:spPr>
          <a:xfrm>
            <a:off x="895380" y="3180009"/>
            <a:ext cx="1776679" cy="98426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Build retrieval, agents and</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fine-tuned models, then</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deploy, monitor and</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improve them inside</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client systems.</a:t>
            </a:r>
            <a:endParaRPr lang="en-US" sz="1000" dirty="0"/>
          </a:p>
        </p:txBody>
      </p:sp>
      <p:sp>
        <p:nvSpPr>
          <p:cNvPr id="50" name="Text"/>
          <p:cNvSpPr txBox="1"/>
          <p:nvPr/>
        </p:nvSpPr>
        <p:spPr>
          <a:xfrm>
            <a:off x="3074579" y="2706624"/>
            <a:ext cx="1776771" cy="406359"/>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Software engineers,</a:t>
            </a:r>
            <a:endParaRPr lang="en-US" sz="1250" dirty="0"/>
          </a:p>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web and mobile</a:t>
            </a:r>
            <a:endParaRPr lang="en-US" sz="1250" dirty="0"/>
          </a:p>
        </p:txBody>
      </p:sp>
      <p:sp>
        <p:nvSpPr>
          <p:cNvPr id="51" name="Text"/>
          <p:cNvSpPr txBox="1"/>
          <p:nvPr/>
        </p:nvSpPr>
        <p:spPr>
          <a:xfrm>
            <a:off x="3074579" y="3180009"/>
            <a:ext cx="1703436" cy="78739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Build the web and mobile platforms, portals and integrations that production AI runs inside.</a:t>
            </a:r>
            <a:endParaRPr lang="en-US" sz="1000" dirty="0"/>
          </a:p>
        </p:txBody>
      </p:sp>
      <p:sp>
        <p:nvSpPr>
          <p:cNvPr id="52" name="Text"/>
          <p:cNvSpPr txBox="1"/>
          <p:nvPr/>
        </p:nvSpPr>
        <p:spPr>
          <a:xfrm>
            <a:off x="5253960" y="2706624"/>
            <a:ext cx="1703436"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Solutions architects</a:t>
            </a:r>
            <a:endParaRPr lang="en-US" sz="1250" dirty="0"/>
          </a:p>
        </p:txBody>
      </p:sp>
      <p:sp>
        <p:nvSpPr>
          <p:cNvPr id="53" name="Text"/>
          <p:cNvSpPr txBox="1"/>
          <p:nvPr/>
        </p:nvSpPr>
        <p:spPr>
          <a:xfrm>
            <a:off x="5253960" y="3180009"/>
            <a:ext cx="1776771" cy="98426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Design architectures that</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fit a client’s stack,</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choosing models, hosting</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and guardrails around</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their data and regulator.</a:t>
            </a:r>
            <a:endParaRPr lang="en-US" sz="1000" dirty="0"/>
          </a:p>
        </p:txBody>
      </p:sp>
      <p:sp>
        <p:nvSpPr>
          <p:cNvPr id="54" name="Text"/>
          <p:cNvSpPr txBox="1"/>
          <p:nvPr/>
        </p:nvSpPr>
        <p:spPr>
          <a:xfrm>
            <a:off x="7433249" y="2706624"/>
            <a:ext cx="1703436"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UI/UX designers</a:t>
            </a:r>
            <a:endParaRPr lang="en-US" sz="1250" dirty="0"/>
          </a:p>
        </p:txBody>
      </p:sp>
      <p:sp>
        <p:nvSpPr>
          <p:cNvPr id="55" name="Text"/>
          <p:cNvSpPr txBox="1"/>
          <p:nvPr/>
        </p:nvSpPr>
        <p:spPr>
          <a:xfrm>
            <a:off x="7433249" y="3180009"/>
            <a:ext cx="1776771" cy="98426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Design the interfaces</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people use every day,</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from client portals and</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CRM dashboards to</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lending platforms.</a:t>
            </a:r>
            <a:endParaRPr lang="en-US" sz="1000" dirty="0"/>
          </a:p>
        </p:txBody>
      </p:sp>
      <p:sp>
        <p:nvSpPr>
          <p:cNvPr id="56" name="Text"/>
          <p:cNvSpPr txBox="1"/>
          <p:nvPr/>
        </p:nvSpPr>
        <p:spPr>
          <a:xfrm>
            <a:off x="9612630" y="2706624"/>
            <a:ext cx="1703436"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Consultants</a:t>
            </a:r>
            <a:endParaRPr lang="en-US" sz="1250" dirty="0"/>
          </a:p>
        </p:txBody>
      </p:sp>
      <p:sp>
        <p:nvSpPr>
          <p:cNvPr id="57" name="Text"/>
          <p:cNvSpPr txBox="1"/>
          <p:nvPr/>
        </p:nvSpPr>
        <p:spPr>
          <a:xfrm>
            <a:off x="9612630" y="3180009"/>
            <a:ext cx="1776771" cy="98426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Run tech advisory, data</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audits and AI strategy</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research to find where AI</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pays back before any</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build starts.</a:t>
            </a:r>
            <a:endParaRPr lang="en-US" sz="1000" dirty="0"/>
          </a:p>
        </p:txBody>
      </p:sp>
      <p:sp>
        <p:nvSpPr>
          <p:cNvPr id="58" name="Text"/>
          <p:cNvSpPr txBox="1"/>
          <p:nvPr/>
        </p:nvSpPr>
        <p:spPr>
          <a:xfrm>
            <a:off x="895380" y="4687032"/>
            <a:ext cx="3327867"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APEX internship programme</a:t>
            </a:r>
            <a:endParaRPr lang="en-US" sz="850" dirty="0"/>
          </a:p>
        </p:txBody>
      </p:sp>
      <p:sp>
        <p:nvSpPr>
          <p:cNvPr id="59" name="Text"/>
          <p:cNvSpPr txBox="1"/>
          <p:nvPr/>
        </p:nvSpPr>
        <p:spPr>
          <a:xfrm>
            <a:off x="895380" y="4910054"/>
            <a:ext cx="3459450" cy="406359"/>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Interns work on hands-</a:t>
            </a:r>
            <a:endParaRPr lang="en-US" sz="1250" dirty="0"/>
          </a:p>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on projects with the team</a:t>
            </a:r>
            <a:endParaRPr lang="en-US" sz="1250" dirty="0"/>
          </a:p>
        </p:txBody>
      </p:sp>
      <p:sp>
        <p:nvSpPr>
          <p:cNvPr id="60" name="Text"/>
          <p:cNvSpPr txBox="1"/>
          <p:nvPr/>
        </p:nvSpPr>
        <p:spPr>
          <a:xfrm>
            <a:off x="4502140" y="4766310"/>
            <a:ext cx="1603400" cy="381030"/>
          </a:xfrm>
          <a:prstGeom prst="rect">
            <a:avLst/>
          </a:prstGeom>
          <a:noFill/>
          <a:ln/>
        </p:spPr>
        <p:txBody>
          <a:bodyPr wrap="square" lIns="0" tIns="0" rIns="0" bIns="0" rtlCol="0" anchor="t"/>
          <a:lstStyle/>
          <a:p>
            <a:pPr algn="l" indent="0" marL="0">
              <a:lnSpc>
                <a:spcPts val="3000"/>
              </a:lnSpc>
              <a:buNone/>
            </a:pPr>
            <a:r>
              <a:rPr lang="en-US" sz="3000" spc="-60" kern="0" dirty="0">
                <a:solidFill>
                  <a:srgbClr val="044BD9"/>
                </a:solidFill>
                <a:latin typeface="Poppins Medium" pitchFamily="34" charset="0"/>
                <a:ea typeface="Poppins Medium" pitchFamily="34" charset="-122"/>
                <a:cs typeface="Poppins Medium" pitchFamily="34" charset="-120"/>
              </a:rPr>
              <a:t>8</a:t>
            </a:r>
            <a:endParaRPr lang="en-US" sz="3000" dirty="0"/>
          </a:p>
        </p:txBody>
      </p:sp>
      <p:sp>
        <p:nvSpPr>
          <p:cNvPr id="61" name="Text"/>
          <p:cNvSpPr txBox="1"/>
          <p:nvPr/>
        </p:nvSpPr>
        <p:spPr>
          <a:xfrm>
            <a:off x="4502140" y="5152370"/>
            <a:ext cx="1603400" cy="184160"/>
          </a:xfrm>
          <a:prstGeom prst="rect">
            <a:avLst/>
          </a:prstGeom>
          <a:noFill/>
          <a:ln/>
        </p:spPr>
        <p:txBody>
          <a:bodyPr wrap="square" lIns="0" tIns="0" rIns="0" bIns="0" rtlCol="0" anchor="t"/>
          <a:lstStyle/>
          <a:p>
            <a:pPr algn="l" indent="0" marL="0">
              <a:lnSpc>
                <a:spcPts val="1450"/>
              </a:lnSpc>
              <a:buNone/>
            </a:pPr>
            <a:r>
              <a:rPr lang="en-US" sz="1000" dirty="0">
                <a:solidFill>
                  <a:srgbClr val="6B6B6B"/>
                </a:solidFill>
                <a:latin typeface="Poppins Light" pitchFamily="34" charset="0"/>
                <a:ea typeface="Poppins Light" pitchFamily="34" charset="-122"/>
                <a:cs typeface="Poppins Light" pitchFamily="34" charset="-120"/>
              </a:rPr>
              <a:t>Cohorts</a:t>
            </a:r>
            <a:endParaRPr lang="en-US" sz="1000" dirty="0"/>
          </a:p>
        </p:txBody>
      </p:sp>
      <p:sp>
        <p:nvSpPr>
          <p:cNvPr id="62" name="Text"/>
          <p:cNvSpPr txBox="1"/>
          <p:nvPr/>
        </p:nvSpPr>
        <p:spPr>
          <a:xfrm>
            <a:off x="6238860" y="4766310"/>
            <a:ext cx="1603400" cy="381030"/>
          </a:xfrm>
          <a:prstGeom prst="rect">
            <a:avLst/>
          </a:prstGeom>
          <a:noFill/>
          <a:ln/>
        </p:spPr>
        <p:txBody>
          <a:bodyPr wrap="square" lIns="0" tIns="0" rIns="0" bIns="0" rtlCol="0" anchor="t"/>
          <a:lstStyle/>
          <a:p>
            <a:pPr algn="l" indent="0" marL="0">
              <a:lnSpc>
                <a:spcPts val="3000"/>
              </a:lnSpc>
              <a:buNone/>
            </a:pPr>
            <a:r>
              <a:rPr lang="en-US" sz="3000" spc="-60" kern="0" dirty="0">
                <a:solidFill>
                  <a:srgbClr val="044BD9"/>
                </a:solidFill>
                <a:latin typeface="Poppins Medium" pitchFamily="34" charset="0"/>
                <a:ea typeface="Poppins Medium" pitchFamily="34" charset="-122"/>
                <a:cs typeface="Poppins Medium" pitchFamily="34" charset="-120"/>
              </a:rPr>
              <a:t>10</a:t>
            </a:r>
            <a:pPr algn="l" indent="0" marL="0">
              <a:lnSpc>
                <a:spcPts val="3000"/>
              </a:lnSpc>
              <a:buNone/>
            </a:pPr>
            <a:r>
              <a:rPr lang="en-US" sz="1500" dirty="0">
                <a:solidFill>
                  <a:srgbClr val="044BD9"/>
                </a:solidFill>
                <a:latin typeface="Poppins Medium" pitchFamily="34" charset="0"/>
                <a:ea typeface="Poppins Medium" pitchFamily="34" charset="-122"/>
                <a:cs typeface="Poppins Medium" pitchFamily="34" charset="-120"/>
              </a:rPr>
              <a:t>+</a:t>
            </a:r>
            <a:endParaRPr lang="en-US" sz="3000" dirty="0"/>
          </a:p>
        </p:txBody>
      </p:sp>
      <p:sp>
        <p:nvSpPr>
          <p:cNvPr id="63" name="Text"/>
          <p:cNvSpPr txBox="1"/>
          <p:nvPr/>
        </p:nvSpPr>
        <p:spPr>
          <a:xfrm>
            <a:off x="6238860" y="5152370"/>
            <a:ext cx="1603400" cy="184160"/>
          </a:xfrm>
          <a:prstGeom prst="rect">
            <a:avLst/>
          </a:prstGeom>
          <a:noFill/>
          <a:ln/>
        </p:spPr>
        <p:txBody>
          <a:bodyPr wrap="square" lIns="0" tIns="0" rIns="0" bIns="0" rtlCol="0" anchor="t"/>
          <a:lstStyle/>
          <a:p>
            <a:pPr algn="l" indent="0" marL="0">
              <a:lnSpc>
                <a:spcPts val="1450"/>
              </a:lnSpc>
              <a:buNone/>
            </a:pPr>
            <a:r>
              <a:rPr lang="en-US" sz="1000" dirty="0">
                <a:solidFill>
                  <a:srgbClr val="6B6B6B"/>
                </a:solidFill>
                <a:latin typeface="Poppins Light" pitchFamily="34" charset="0"/>
                <a:ea typeface="Poppins Light" pitchFamily="34" charset="-122"/>
                <a:cs typeface="Poppins Light" pitchFamily="34" charset="-120"/>
              </a:rPr>
              <a:t>Interns trained</a:t>
            </a:r>
            <a:endParaRPr lang="en-US" sz="1000" dirty="0"/>
          </a:p>
        </p:txBody>
      </p:sp>
      <p:sp>
        <p:nvSpPr>
          <p:cNvPr id="64" name="Text"/>
          <p:cNvSpPr txBox="1"/>
          <p:nvPr/>
        </p:nvSpPr>
        <p:spPr>
          <a:xfrm>
            <a:off x="7975580" y="4766310"/>
            <a:ext cx="1603400" cy="381030"/>
          </a:xfrm>
          <a:prstGeom prst="rect">
            <a:avLst/>
          </a:prstGeom>
          <a:noFill/>
          <a:ln/>
        </p:spPr>
        <p:txBody>
          <a:bodyPr wrap="square" lIns="0" tIns="0" rIns="0" bIns="0" rtlCol="0" anchor="t"/>
          <a:lstStyle/>
          <a:p>
            <a:pPr algn="l" indent="0" marL="0">
              <a:lnSpc>
                <a:spcPts val="3000"/>
              </a:lnSpc>
              <a:buNone/>
            </a:pPr>
            <a:r>
              <a:rPr lang="en-US" sz="3000" spc="-60" kern="0" dirty="0">
                <a:solidFill>
                  <a:srgbClr val="044BD9"/>
                </a:solidFill>
                <a:latin typeface="Poppins Medium" pitchFamily="34" charset="0"/>
                <a:ea typeface="Poppins Medium" pitchFamily="34" charset="-122"/>
                <a:cs typeface="Poppins Medium" pitchFamily="34" charset="-120"/>
              </a:rPr>
              <a:t>100</a:t>
            </a:r>
            <a:pPr algn="l" indent="0" marL="0">
              <a:lnSpc>
                <a:spcPts val="3000"/>
              </a:lnSpc>
              <a:buNone/>
            </a:pPr>
            <a:r>
              <a:rPr lang="en-US" sz="1500" dirty="0">
                <a:solidFill>
                  <a:srgbClr val="044BD9"/>
                </a:solidFill>
                <a:latin typeface="Poppins Medium" pitchFamily="34" charset="0"/>
                <a:ea typeface="Poppins Medium" pitchFamily="34" charset="-122"/>
                <a:cs typeface="Poppins Medium" pitchFamily="34" charset="-120"/>
              </a:rPr>
              <a:t>%</a:t>
            </a:r>
            <a:endParaRPr lang="en-US" sz="3000" dirty="0"/>
          </a:p>
        </p:txBody>
      </p:sp>
      <p:sp>
        <p:nvSpPr>
          <p:cNvPr id="65" name="Text"/>
          <p:cNvSpPr txBox="1"/>
          <p:nvPr/>
        </p:nvSpPr>
        <p:spPr>
          <a:xfrm>
            <a:off x="7975580" y="5152370"/>
            <a:ext cx="1603400" cy="184160"/>
          </a:xfrm>
          <a:prstGeom prst="rect">
            <a:avLst/>
          </a:prstGeom>
          <a:noFill/>
          <a:ln/>
        </p:spPr>
        <p:txBody>
          <a:bodyPr wrap="square" lIns="0" tIns="0" rIns="0" bIns="0" rtlCol="0" anchor="t"/>
          <a:lstStyle/>
          <a:p>
            <a:pPr algn="l" indent="0" marL="0">
              <a:lnSpc>
                <a:spcPts val="1450"/>
              </a:lnSpc>
              <a:buNone/>
            </a:pPr>
            <a:r>
              <a:rPr lang="en-US" sz="1000" dirty="0">
                <a:solidFill>
                  <a:srgbClr val="6B6B6B"/>
                </a:solidFill>
                <a:latin typeface="Poppins Light" pitchFamily="34" charset="0"/>
                <a:ea typeface="Poppins Light" pitchFamily="34" charset="-122"/>
                <a:cs typeface="Poppins Light" pitchFamily="34" charset="-120"/>
              </a:rPr>
              <a:t>Hands-on projects</a:t>
            </a:r>
            <a:endParaRPr lang="en-US" sz="1000" dirty="0"/>
          </a:p>
        </p:txBody>
      </p:sp>
      <p:sp>
        <p:nvSpPr>
          <p:cNvPr id="66" name="Text"/>
          <p:cNvSpPr txBox="1"/>
          <p:nvPr/>
        </p:nvSpPr>
        <p:spPr>
          <a:xfrm>
            <a:off x="9712300" y="4766310"/>
            <a:ext cx="1603400" cy="381030"/>
          </a:xfrm>
          <a:prstGeom prst="rect">
            <a:avLst/>
          </a:prstGeom>
          <a:noFill/>
          <a:ln/>
        </p:spPr>
        <p:txBody>
          <a:bodyPr wrap="square" lIns="0" tIns="0" rIns="0" bIns="0" rtlCol="0" anchor="t"/>
          <a:lstStyle/>
          <a:p>
            <a:pPr algn="l" indent="0" marL="0">
              <a:lnSpc>
                <a:spcPts val="3000"/>
              </a:lnSpc>
              <a:buNone/>
            </a:pPr>
            <a:r>
              <a:rPr lang="en-US" sz="3000" spc="-60" kern="0" dirty="0">
                <a:solidFill>
                  <a:srgbClr val="044BD9"/>
                </a:solidFill>
                <a:latin typeface="Poppins Medium" pitchFamily="34" charset="0"/>
                <a:ea typeface="Poppins Medium" pitchFamily="34" charset="-122"/>
                <a:cs typeface="Poppins Medium" pitchFamily="34" charset="-120"/>
              </a:rPr>
              <a:t>13</a:t>
            </a:r>
            <a:endParaRPr lang="en-US" sz="3000" dirty="0"/>
          </a:p>
        </p:txBody>
      </p:sp>
      <p:sp>
        <p:nvSpPr>
          <p:cNvPr id="67" name="Text"/>
          <p:cNvSpPr txBox="1"/>
          <p:nvPr/>
        </p:nvSpPr>
        <p:spPr>
          <a:xfrm>
            <a:off x="9712300" y="5152370"/>
            <a:ext cx="1609710" cy="184160"/>
          </a:xfrm>
          <a:prstGeom prst="rect">
            <a:avLst/>
          </a:prstGeom>
          <a:noFill/>
          <a:ln/>
        </p:spPr>
        <p:txBody>
          <a:bodyPr wrap="none" lIns="0" tIns="0" rIns="0" bIns="0" rtlCol="0" anchor="t"/>
          <a:lstStyle/>
          <a:p>
            <a:pPr algn="l" indent="0" marL="0">
              <a:lnSpc>
                <a:spcPts val="1450"/>
              </a:lnSpc>
              <a:buNone/>
            </a:pPr>
            <a:r>
              <a:rPr lang="en-US" sz="1000" dirty="0">
                <a:solidFill>
                  <a:srgbClr val="6B6B6B"/>
                </a:solidFill>
                <a:latin typeface="Poppins Light" pitchFamily="34" charset="0"/>
                <a:ea typeface="Poppins Light" pitchFamily="34" charset="-122"/>
                <a:cs typeface="Poppins Light" pitchFamily="34" charset="-120"/>
              </a:rPr>
              <a:t>Universities and colleges</a:t>
            </a:r>
            <a:endParaRPr lang="en-US" sz="1000" dirty="0"/>
          </a:p>
        </p:txBody>
      </p:sp>
      <p:sp>
        <p:nvSpPr>
          <p:cNvPr id="68"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69"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Who we are</a:t>
            </a:r>
            <a:endParaRPr lang="en-US" sz="850" dirty="0"/>
          </a:p>
        </p:txBody>
      </p:sp>
      <p:sp>
        <p:nvSpPr>
          <p:cNvPr id="70"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71"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72"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73"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74"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alphv.com/careers; alphv.com/apex; alphv.com/about (October 2026). Note: 13 counts the universities and colleges on the APEX page.</a:t>
            </a:r>
            <a:endParaRPr lang="en-US" sz="850" dirty="0"/>
          </a:p>
        </p:txBody>
      </p:sp>
      <p:sp>
        <p:nvSpPr>
          <p:cNvPr id="75" name="Text"/>
          <p:cNvSpPr txBox="1"/>
          <p:nvPr/>
        </p:nvSpPr>
        <p:spPr>
          <a:xfrm>
            <a:off x="9343522"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76" name="Text"/>
          <p:cNvSpPr txBox="1"/>
          <p:nvPr/>
        </p:nvSpPr>
        <p:spPr>
          <a:xfrm>
            <a:off x="9851563"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77" name="Text"/>
          <p:cNvSpPr txBox="1"/>
          <p:nvPr/>
        </p:nvSpPr>
        <p:spPr>
          <a:xfrm>
            <a:off x="11342949" y="6401532"/>
            <a:ext cx="163220"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693377" cy="254020"/>
          </a:xfrm>
          <a:prstGeom prst="roundRect">
            <a:avLst>
              <a:gd name="adj" fmla="val 50000"/>
            </a:avLst>
          </a:prstGeom>
          <a:ln w="6350">
            <a:solidFill>
              <a:srgbClr val="155DFC"/>
            </a:solidFill>
            <a:prstDash val="solid"/>
          </a:ln>
        </p:spPr>
      </p:sp>
      <p:sp>
        <p:nvSpPr>
          <p:cNvPr id="3" name="logo-cell"/>
          <p:cNvSpPr/>
          <p:nvPr/>
        </p:nvSpPr>
        <p:spPr>
          <a:xfrm>
            <a:off x="714421" y="2330348"/>
            <a:ext cx="1125626" cy="704820"/>
          </a:xfrm>
          <a:prstGeom prst="roundRect">
            <a:avLst>
              <a:gd name="adj" fmla="val 13960"/>
            </a:avLst>
          </a:prstGeom>
          <a:solidFill>
            <a:srgbClr val="FFFFFF"/>
          </a:solidFill>
          <a:ln w="6350">
            <a:solidFill>
              <a:srgbClr val="F0F0F0"/>
            </a:solidFill>
            <a:prstDash val="solid"/>
          </a:ln>
        </p:spPr>
      </p:sp>
      <p:pic>
        <p:nvPicPr>
          <p:cNvPr id="4" name="Picture" descr="Qwen">    </p:cNvPr>
          <p:cNvPicPr>
            <a:picLocks noChangeAspect="1"/>
          </p:cNvPicPr>
          <p:nvPr/>
        </p:nvPicPr>
        <p:blipFill>
          <a:blip r:embed="rId1"/>
          <a:stretch>
            <a:fillRect/>
          </a:stretch>
        </p:blipFill>
        <p:spPr>
          <a:xfrm>
            <a:off x="866668" y="2562423"/>
            <a:ext cx="820948" cy="240762"/>
          </a:xfrm>
          <a:prstGeom prst="rect">
            <a:avLst/>
          </a:prstGeom>
        </p:spPr>
      </p:pic>
      <p:sp>
        <p:nvSpPr>
          <p:cNvPr id="5" name="logo-cell"/>
          <p:cNvSpPr/>
          <p:nvPr/>
        </p:nvSpPr>
        <p:spPr>
          <a:xfrm>
            <a:off x="1935236" y="2330348"/>
            <a:ext cx="1125626" cy="704820"/>
          </a:xfrm>
          <a:prstGeom prst="roundRect">
            <a:avLst>
              <a:gd name="adj" fmla="val 13960"/>
            </a:avLst>
          </a:prstGeom>
          <a:solidFill>
            <a:srgbClr val="FFFFFF"/>
          </a:solidFill>
          <a:ln w="6350">
            <a:solidFill>
              <a:srgbClr val="F0F0F0"/>
            </a:solidFill>
            <a:prstDash val="solid"/>
          </a:ln>
        </p:spPr>
      </p:sp>
      <p:pic>
        <p:nvPicPr>
          <p:cNvPr id="6" name="Picture" descr="Claude">    </p:cNvPr>
          <p:cNvPicPr>
            <a:picLocks noChangeAspect="1"/>
          </p:cNvPicPr>
          <p:nvPr/>
        </p:nvPicPr>
        <p:blipFill>
          <a:blip r:embed="rId2"/>
          <a:stretch>
            <a:fillRect/>
          </a:stretch>
        </p:blipFill>
        <p:spPr>
          <a:xfrm>
            <a:off x="2039752" y="2584460"/>
            <a:ext cx="916595" cy="196596"/>
          </a:xfrm>
          <a:prstGeom prst="rect">
            <a:avLst/>
          </a:prstGeom>
        </p:spPr>
      </p:pic>
      <p:sp>
        <p:nvSpPr>
          <p:cNvPr id="7" name="logo-cell"/>
          <p:cNvSpPr/>
          <p:nvPr/>
        </p:nvSpPr>
        <p:spPr>
          <a:xfrm>
            <a:off x="3156143" y="2330348"/>
            <a:ext cx="1125626" cy="704820"/>
          </a:xfrm>
          <a:prstGeom prst="roundRect">
            <a:avLst>
              <a:gd name="adj" fmla="val 13960"/>
            </a:avLst>
          </a:prstGeom>
          <a:solidFill>
            <a:srgbClr val="FFFFFF"/>
          </a:solidFill>
          <a:ln w="6350">
            <a:solidFill>
              <a:srgbClr val="F0F0F0"/>
            </a:solidFill>
            <a:prstDash val="solid"/>
          </a:ln>
        </p:spPr>
      </p:sp>
      <p:pic>
        <p:nvPicPr>
          <p:cNvPr id="8" name="Picture" descr="OpenAI">    </p:cNvPr>
          <p:cNvPicPr>
            <a:picLocks noChangeAspect="1"/>
          </p:cNvPicPr>
          <p:nvPr/>
        </p:nvPicPr>
        <p:blipFill>
          <a:blip r:embed="rId3"/>
          <a:stretch>
            <a:fillRect/>
          </a:stretch>
        </p:blipFill>
        <p:spPr>
          <a:xfrm>
            <a:off x="3293577" y="2577968"/>
            <a:ext cx="850758" cy="209580"/>
          </a:xfrm>
          <a:prstGeom prst="rect">
            <a:avLst/>
          </a:prstGeom>
        </p:spPr>
      </p:pic>
      <p:sp>
        <p:nvSpPr>
          <p:cNvPr id="9" name="logo-cell"/>
          <p:cNvSpPr/>
          <p:nvPr/>
        </p:nvSpPr>
        <p:spPr>
          <a:xfrm>
            <a:off x="4377050" y="2330348"/>
            <a:ext cx="1125626" cy="704820"/>
          </a:xfrm>
          <a:prstGeom prst="roundRect">
            <a:avLst>
              <a:gd name="adj" fmla="val 13960"/>
            </a:avLst>
          </a:prstGeom>
          <a:solidFill>
            <a:srgbClr val="FFFFFF"/>
          </a:solidFill>
          <a:ln w="6350">
            <a:solidFill>
              <a:srgbClr val="F0F0F0"/>
            </a:solidFill>
            <a:prstDash val="solid"/>
          </a:ln>
        </p:spPr>
      </p:sp>
      <p:pic>
        <p:nvPicPr>
          <p:cNvPr id="10" name="Picture" descr="Gemini">    </p:cNvPr>
          <p:cNvPicPr>
            <a:picLocks noChangeAspect="1"/>
          </p:cNvPicPr>
          <p:nvPr/>
        </p:nvPicPr>
        <p:blipFill>
          <a:blip r:embed="rId4"/>
          <a:stretch>
            <a:fillRect/>
          </a:stretch>
        </p:blipFill>
        <p:spPr>
          <a:xfrm>
            <a:off x="4578675" y="2549439"/>
            <a:ext cx="722285" cy="266639"/>
          </a:xfrm>
          <a:prstGeom prst="rect">
            <a:avLst/>
          </a:prstGeom>
        </p:spPr>
      </p:pic>
      <p:sp>
        <p:nvSpPr>
          <p:cNvPr id="11" name="logo-cell"/>
          <p:cNvSpPr/>
          <p:nvPr/>
        </p:nvSpPr>
        <p:spPr>
          <a:xfrm>
            <a:off x="5597957" y="2330348"/>
            <a:ext cx="1125626" cy="704820"/>
          </a:xfrm>
          <a:prstGeom prst="roundRect">
            <a:avLst>
              <a:gd name="adj" fmla="val 13960"/>
            </a:avLst>
          </a:prstGeom>
          <a:solidFill>
            <a:srgbClr val="FFFFFF"/>
          </a:solidFill>
          <a:ln w="6350">
            <a:solidFill>
              <a:srgbClr val="F0F0F0"/>
            </a:solidFill>
            <a:prstDash val="solid"/>
          </a:ln>
        </p:spPr>
      </p:sp>
      <p:pic>
        <p:nvPicPr>
          <p:cNvPr id="12" name="Picture" descr="ILMU">    </p:cNvPr>
          <p:cNvPicPr>
            <a:picLocks noChangeAspect="1"/>
          </p:cNvPicPr>
          <p:nvPr/>
        </p:nvPicPr>
        <p:blipFill>
          <a:blip r:embed="rId5"/>
          <a:stretch>
            <a:fillRect/>
          </a:stretch>
        </p:blipFill>
        <p:spPr>
          <a:xfrm>
            <a:off x="5782574" y="2546238"/>
            <a:ext cx="756209" cy="273040"/>
          </a:xfrm>
          <a:prstGeom prst="rect">
            <a:avLst/>
          </a:prstGeom>
        </p:spPr>
      </p:pic>
      <p:sp>
        <p:nvSpPr>
          <p:cNvPr id="13" name="logo-cell"/>
          <p:cNvSpPr/>
          <p:nvPr/>
        </p:nvSpPr>
        <p:spPr>
          <a:xfrm>
            <a:off x="714421" y="3459998"/>
            <a:ext cx="1939534" cy="704820"/>
          </a:xfrm>
          <a:prstGeom prst="roundRect">
            <a:avLst>
              <a:gd name="adj" fmla="val 13960"/>
            </a:avLst>
          </a:prstGeom>
          <a:solidFill>
            <a:srgbClr val="FFFFFF"/>
          </a:solidFill>
          <a:ln w="6350">
            <a:solidFill>
              <a:srgbClr val="F0F0F0"/>
            </a:solidFill>
            <a:prstDash val="solid"/>
          </a:ln>
        </p:spPr>
      </p:sp>
      <p:pic>
        <p:nvPicPr>
          <p:cNvPr id="14" name="Picture" descr="FPT AI Factory">    </p:cNvPr>
          <p:cNvPicPr>
            <a:picLocks noChangeAspect="1"/>
          </p:cNvPicPr>
          <p:nvPr/>
        </p:nvPicPr>
        <p:blipFill>
          <a:blip r:embed="rId6"/>
          <a:stretch>
            <a:fillRect/>
          </a:stretch>
        </p:blipFill>
        <p:spPr>
          <a:xfrm>
            <a:off x="1034735" y="3618738"/>
            <a:ext cx="1298814" cy="190470"/>
          </a:xfrm>
          <a:prstGeom prst="rect">
            <a:avLst/>
          </a:prstGeom>
        </p:spPr>
      </p:pic>
      <p:sp>
        <p:nvSpPr>
          <p:cNvPr id="15" name="logo-cell"/>
          <p:cNvSpPr/>
          <p:nvPr/>
        </p:nvSpPr>
        <p:spPr>
          <a:xfrm>
            <a:off x="2749144" y="3459998"/>
            <a:ext cx="1939534" cy="704820"/>
          </a:xfrm>
          <a:prstGeom prst="roundRect">
            <a:avLst>
              <a:gd name="adj" fmla="val 13960"/>
            </a:avLst>
          </a:prstGeom>
          <a:solidFill>
            <a:srgbClr val="FFFFFF"/>
          </a:solidFill>
          <a:ln w="6350">
            <a:solidFill>
              <a:srgbClr val="F0F0F0"/>
            </a:solidFill>
            <a:prstDash val="solid"/>
          </a:ln>
        </p:spPr>
      </p:sp>
      <p:pic>
        <p:nvPicPr>
          <p:cNvPr id="16" name="Picture" descr="NVIDIA">    </p:cNvPr>
          <p:cNvPicPr>
            <a:picLocks noChangeAspect="1"/>
          </p:cNvPicPr>
          <p:nvPr/>
        </p:nvPicPr>
        <p:blipFill>
          <a:blip r:embed="rId7"/>
          <a:stretch>
            <a:fillRect/>
          </a:stretch>
        </p:blipFill>
        <p:spPr>
          <a:xfrm>
            <a:off x="3180832" y="3615538"/>
            <a:ext cx="1076066" cy="196870"/>
          </a:xfrm>
          <a:prstGeom prst="rect">
            <a:avLst/>
          </a:prstGeom>
        </p:spPr>
      </p:pic>
      <p:sp>
        <p:nvSpPr>
          <p:cNvPr id="17" name="logo-cell"/>
          <p:cNvSpPr/>
          <p:nvPr/>
        </p:nvSpPr>
        <p:spPr>
          <a:xfrm>
            <a:off x="4783958" y="3459998"/>
            <a:ext cx="1939625" cy="704820"/>
          </a:xfrm>
          <a:prstGeom prst="roundRect">
            <a:avLst>
              <a:gd name="adj" fmla="val 13960"/>
            </a:avLst>
          </a:prstGeom>
          <a:solidFill>
            <a:srgbClr val="FFFFFF"/>
          </a:solidFill>
          <a:ln w="6350">
            <a:solidFill>
              <a:srgbClr val="F0F0F0"/>
            </a:solidFill>
            <a:prstDash val="solid"/>
          </a:ln>
        </p:spPr>
      </p:sp>
      <p:pic>
        <p:nvPicPr>
          <p:cNvPr id="18" name="Picture" descr="FootfallCam">    </p:cNvPr>
          <p:cNvPicPr>
            <a:picLocks noChangeAspect="1"/>
          </p:cNvPicPr>
          <p:nvPr/>
        </p:nvPicPr>
        <p:blipFill>
          <a:blip r:embed="rId8"/>
          <a:stretch>
            <a:fillRect/>
          </a:stretch>
        </p:blipFill>
        <p:spPr>
          <a:xfrm>
            <a:off x="5053340" y="3637758"/>
            <a:ext cx="1400861" cy="152430"/>
          </a:xfrm>
          <a:prstGeom prst="rect">
            <a:avLst/>
          </a:prstGeom>
        </p:spPr>
      </p:pic>
      <p:sp>
        <p:nvSpPr>
          <p:cNvPr id="19" name="logo-cell"/>
          <p:cNvSpPr/>
          <p:nvPr/>
        </p:nvSpPr>
        <p:spPr>
          <a:xfrm>
            <a:off x="714421" y="4589556"/>
            <a:ext cx="1939534" cy="704820"/>
          </a:xfrm>
          <a:prstGeom prst="roundRect">
            <a:avLst>
              <a:gd name="adj" fmla="val 13960"/>
            </a:avLst>
          </a:prstGeom>
          <a:solidFill>
            <a:srgbClr val="FFFFFF"/>
          </a:solidFill>
          <a:ln w="6350">
            <a:solidFill>
              <a:srgbClr val="F0F0F0"/>
            </a:solidFill>
            <a:prstDash val="solid"/>
          </a:ln>
        </p:spPr>
      </p:sp>
      <p:pic>
        <p:nvPicPr>
          <p:cNvPr id="20" name="Picture" descr="Alibaba Cloud">    </p:cNvPr>
          <p:cNvPicPr>
            <a:picLocks noChangeAspect="1"/>
          </p:cNvPicPr>
          <p:nvPr/>
        </p:nvPicPr>
        <p:blipFill>
          <a:blip r:embed="rId9"/>
          <a:stretch>
            <a:fillRect/>
          </a:stretch>
        </p:blipFill>
        <p:spPr>
          <a:xfrm>
            <a:off x="1090422" y="4865797"/>
            <a:ext cx="1187440" cy="152430"/>
          </a:xfrm>
          <a:prstGeom prst="rect">
            <a:avLst/>
          </a:prstGeom>
        </p:spPr>
      </p:pic>
      <p:sp>
        <p:nvSpPr>
          <p:cNvPr id="21" name="logo-cell"/>
          <p:cNvSpPr/>
          <p:nvPr/>
        </p:nvSpPr>
        <p:spPr>
          <a:xfrm>
            <a:off x="2749144" y="4589556"/>
            <a:ext cx="1939534" cy="704820"/>
          </a:xfrm>
          <a:prstGeom prst="roundRect">
            <a:avLst>
              <a:gd name="adj" fmla="val 13960"/>
            </a:avLst>
          </a:prstGeom>
          <a:solidFill>
            <a:srgbClr val="FFFFFF"/>
          </a:solidFill>
          <a:ln w="6350">
            <a:solidFill>
              <a:srgbClr val="F0F0F0"/>
            </a:solidFill>
            <a:prstDash val="solid"/>
          </a:ln>
        </p:spPr>
      </p:sp>
      <p:pic>
        <p:nvPicPr>
          <p:cNvPr id="22" name="Picture" descr="Google Cloud">    </p:cNvPr>
          <p:cNvPicPr>
            <a:picLocks noChangeAspect="1"/>
          </p:cNvPicPr>
          <p:nvPr/>
        </p:nvPicPr>
        <p:blipFill>
          <a:blip r:embed="rId10"/>
          <a:stretch>
            <a:fillRect/>
          </a:stretch>
        </p:blipFill>
        <p:spPr>
          <a:xfrm>
            <a:off x="3137398" y="4849886"/>
            <a:ext cx="1163025" cy="184160"/>
          </a:xfrm>
          <a:prstGeom prst="rect">
            <a:avLst/>
          </a:prstGeom>
        </p:spPr>
      </p:pic>
      <p:sp>
        <p:nvSpPr>
          <p:cNvPr id="23" name="logo-cell"/>
          <p:cNvSpPr/>
          <p:nvPr/>
        </p:nvSpPr>
        <p:spPr>
          <a:xfrm>
            <a:off x="4783958" y="4589556"/>
            <a:ext cx="1939625" cy="704820"/>
          </a:xfrm>
          <a:prstGeom prst="roundRect">
            <a:avLst>
              <a:gd name="adj" fmla="val 13960"/>
            </a:avLst>
          </a:prstGeom>
          <a:solidFill>
            <a:srgbClr val="FFFFFF"/>
          </a:solidFill>
          <a:ln w="6350">
            <a:solidFill>
              <a:srgbClr val="F0F0F0"/>
            </a:solidFill>
            <a:prstDash val="solid"/>
          </a:ln>
        </p:spPr>
      </p:sp>
      <p:pic>
        <p:nvPicPr>
          <p:cNvPr id="24" name="Picture" descr="Microsoft">    </p:cNvPr>
          <p:cNvPicPr>
            <a:picLocks noChangeAspect="1"/>
          </p:cNvPicPr>
          <p:nvPr/>
        </p:nvPicPr>
        <p:blipFill>
          <a:blip r:embed="rId11"/>
          <a:stretch>
            <a:fillRect/>
          </a:stretch>
        </p:blipFill>
        <p:spPr>
          <a:xfrm>
            <a:off x="5261823" y="4837176"/>
            <a:ext cx="983620" cy="209580"/>
          </a:xfrm>
          <a:prstGeom prst="rect">
            <a:avLst/>
          </a:prstGeom>
        </p:spPr>
      </p:pic>
      <p:sp>
        <p:nvSpPr>
          <p:cNvPr id="25" name="Rule"/>
          <p:cNvSpPr/>
          <p:nvPr/>
        </p:nvSpPr>
        <p:spPr>
          <a:xfrm>
            <a:off x="7183892" y="2343059"/>
            <a:ext cx="2059503" cy="0"/>
          </a:xfrm>
          <a:prstGeom prst="line">
            <a:avLst/>
          </a:prstGeom>
          <a:noFill/>
          <a:ln w="6350">
            <a:solidFill>
              <a:srgbClr val="E3E6EC"/>
            </a:solidFill>
            <a:prstDash val="solid"/>
          </a:ln>
        </p:spPr>
      </p:sp>
      <p:sp>
        <p:nvSpPr>
          <p:cNvPr id="26" name="Rule"/>
          <p:cNvSpPr/>
          <p:nvPr/>
        </p:nvSpPr>
        <p:spPr>
          <a:xfrm>
            <a:off x="9421246" y="2343059"/>
            <a:ext cx="2059503" cy="0"/>
          </a:xfrm>
          <a:prstGeom prst="line">
            <a:avLst/>
          </a:prstGeom>
          <a:noFill/>
          <a:ln w="6350">
            <a:solidFill>
              <a:srgbClr val="E3E6EC"/>
            </a:solidFill>
            <a:prstDash val="solid"/>
          </a:ln>
        </p:spPr>
      </p:sp>
      <p:sp>
        <p:nvSpPr>
          <p:cNvPr id="27" name="Rule"/>
          <p:cNvSpPr/>
          <p:nvPr/>
        </p:nvSpPr>
        <p:spPr>
          <a:xfrm>
            <a:off x="7183892" y="3227466"/>
            <a:ext cx="2059503" cy="0"/>
          </a:xfrm>
          <a:prstGeom prst="line">
            <a:avLst/>
          </a:prstGeom>
          <a:noFill/>
          <a:ln w="6350">
            <a:solidFill>
              <a:srgbClr val="E3E6EC"/>
            </a:solidFill>
            <a:prstDash val="solid"/>
          </a:ln>
        </p:spPr>
      </p:sp>
      <p:sp>
        <p:nvSpPr>
          <p:cNvPr id="28" name="Rule"/>
          <p:cNvSpPr/>
          <p:nvPr/>
        </p:nvSpPr>
        <p:spPr>
          <a:xfrm>
            <a:off x="9421246" y="3227466"/>
            <a:ext cx="2059503" cy="0"/>
          </a:xfrm>
          <a:prstGeom prst="line">
            <a:avLst/>
          </a:prstGeom>
          <a:noFill/>
          <a:ln w="6350">
            <a:solidFill>
              <a:srgbClr val="E3E6EC"/>
            </a:solidFill>
            <a:prstDash val="solid"/>
          </a:ln>
        </p:spPr>
      </p:sp>
      <p:sp>
        <p:nvSpPr>
          <p:cNvPr id="29" name="Rule"/>
          <p:cNvSpPr/>
          <p:nvPr/>
        </p:nvSpPr>
        <p:spPr>
          <a:xfrm>
            <a:off x="7183892" y="4622658"/>
            <a:ext cx="4296766" cy="0"/>
          </a:xfrm>
          <a:prstGeom prst="line">
            <a:avLst/>
          </a:prstGeom>
          <a:noFill/>
          <a:ln w="6350">
            <a:solidFill>
              <a:srgbClr val="E3E6EC"/>
            </a:solidFill>
            <a:prstDash val="solid"/>
          </a:ln>
        </p:spPr>
      </p:sp>
      <p:sp>
        <p:nvSpPr>
          <p:cNvPr id="30" name="Rule"/>
          <p:cNvSpPr/>
          <p:nvPr/>
        </p:nvSpPr>
        <p:spPr>
          <a:xfrm>
            <a:off x="7183892" y="4988143"/>
            <a:ext cx="4296766" cy="0"/>
          </a:xfrm>
          <a:prstGeom prst="line">
            <a:avLst/>
          </a:prstGeom>
          <a:noFill/>
          <a:ln w="6350">
            <a:solidFill>
              <a:srgbClr val="E3E6EC"/>
            </a:solidFill>
            <a:prstDash val="solid"/>
          </a:ln>
        </p:spPr>
      </p:sp>
      <p:sp>
        <p:nvSpPr>
          <p:cNvPr id="31" name="Rule"/>
          <p:cNvSpPr/>
          <p:nvPr/>
        </p:nvSpPr>
        <p:spPr>
          <a:xfrm>
            <a:off x="7183892" y="5560192"/>
            <a:ext cx="4296766" cy="0"/>
          </a:xfrm>
          <a:prstGeom prst="line">
            <a:avLst/>
          </a:prstGeom>
          <a:noFill/>
          <a:ln w="6350">
            <a:solidFill>
              <a:srgbClr val="E3E6EC"/>
            </a:solidFill>
            <a:prstDash val="solid"/>
          </a:ln>
        </p:spPr>
      </p:sp>
      <p:sp>
        <p:nvSpPr>
          <p:cNvPr id="32" name="span::before"/>
          <p:cNvSpPr/>
          <p:nvPr/>
        </p:nvSpPr>
        <p:spPr>
          <a:xfrm>
            <a:off x="6191860" y="311170"/>
            <a:ext cx="44440" cy="44440"/>
          </a:xfrm>
          <a:prstGeom prst="rect">
            <a:avLst/>
          </a:prstGeom>
          <a:solidFill>
            <a:srgbClr val="A0A6AF">
              <a:alpha val="55000"/>
            </a:srgbClr>
          </a:solidFill>
          <a:ln/>
        </p:spPr>
      </p:sp>
      <p:sp>
        <p:nvSpPr>
          <p:cNvPr id="33" name="on::before"/>
          <p:cNvSpPr/>
          <p:nvPr/>
        </p:nvSpPr>
        <p:spPr>
          <a:xfrm>
            <a:off x="7145213" y="311170"/>
            <a:ext cx="44440" cy="44440"/>
          </a:xfrm>
          <a:prstGeom prst="rect">
            <a:avLst/>
          </a:prstGeom>
          <a:solidFill>
            <a:srgbClr val="044BD9"/>
          </a:solidFill>
          <a:ln/>
        </p:spPr>
      </p:sp>
      <p:sp>
        <p:nvSpPr>
          <p:cNvPr id="34" name="span::before"/>
          <p:cNvSpPr/>
          <p:nvPr/>
        </p:nvSpPr>
        <p:spPr>
          <a:xfrm>
            <a:off x="8056230" y="311170"/>
            <a:ext cx="44440" cy="44440"/>
          </a:xfrm>
          <a:prstGeom prst="rect">
            <a:avLst/>
          </a:prstGeom>
          <a:solidFill>
            <a:srgbClr val="A0A6AF">
              <a:alpha val="55000"/>
            </a:srgbClr>
          </a:solidFill>
          <a:ln/>
        </p:spPr>
      </p:sp>
      <p:sp>
        <p:nvSpPr>
          <p:cNvPr id="35" name="span::before"/>
          <p:cNvSpPr/>
          <p:nvPr/>
        </p:nvSpPr>
        <p:spPr>
          <a:xfrm>
            <a:off x="8972550" y="311170"/>
            <a:ext cx="44440" cy="44440"/>
          </a:xfrm>
          <a:prstGeom prst="rect">
            <a:avLst/>
          </a:prstGeom>
          <a:solidFill>
            <a:srgbClr val="A0A6AF">
              <a:alpha val="55000"/>
            </a:srgbClr>
          </a:solidFill>
          <a:ln/>
        </p:spPr>
      </p:sp>
      <p:sp>
        <p:nvSpPr>
          <p:cNvPr id="36" name="span::before"/>
          <p:cNvSpPr/>
          <p:nvPr/>
        </p:nvSpPr>
        <p:spPr>
          <a:xfrm>
            <a:off x="10421142" y="311170"/>
            <a:ext cx="44440" cy="44440"/>
          </a:xfrm>
          <a:prstGeom prst="rect">
            <a:avLst/>
          </a:prstGeom>
          <a:solidFill>
            <a:srgbClr val="A0A6AF">
              <a:alpha val="55000"/>
            </a:srgbClr>
          </a:solidFill>
          <a:ln/>
        </p:spPr>
      </p:sp>
      <p:sp>
        <p:nvSpPr>
          <p:cNvPr id="37" name="span::before"/>
          <p:cNvSpPr/>
          <p:nvPr/>
        </p:nvSpPr>
        <p:spPr>
          <a:xfrm>
            <a:off x="10966216" y="311170"/>
            <a:ext cx="44440" cy="44440"/>
          </a:xfrm>
          <a:prstGeom prst="rect">
            <a:avLst/>
          </a:prstGeom>
          <a:solidFill>
            <a:srgbClr val="A0A6AF">
              <a:alpha val="55000"/>
            </a:srgbClr>
          </a:solidFill>
          <a:ln/>
        </p:spPr>
      </p:sp>
      <p:sp>
        <p:nvSpPr>
          <p:cNvPr id="38" name="Text"/>
          <p:cNvSpPr txBox="1"/>
          <p:nvPr/>
        </p:nvSpPr>
        <p:spPr>
          <a:xfrm>
            <a:off x="844540" y="609265"/>
            <a:ext cx="1458377"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Platforms and partners</a:t>
            </a:r>
            <a:endParaRPr lang="en-US" sz="950" dirty="0"/>
          </a:p>
        </p:txBody>
      </p:sp>
      <p:sp>
        <p:nvSpPr>
          <p:cNvPr id="39"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We choose the model, compute and cloud</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per project, for your data, cost and residency</a:t>
            </a:r>
            <a:endParaRPr lang="en-US" sz="3000" dirty="0"/>
          </a:p>
        </p:txBody>
      </p:sp>
      <p:sp>
        <p:nvSpPr>
          <p:cNvPr id="40" name="Text"/>
          <p:cNvSpPr txBox="1"/>
          <p:nvPr/>
        </p:nvSpPr>
        <p:spPr>
          <a:xfrm>
            <a:off x="711220" y="2057857"/>
            <a:ext cx="6052322"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Models</a:t>
            </a:r>
            <a:endParaRPr lang="en-US" sz="900" dirty="0"/>
          </a:p>
        </p:txBody>
      </p:sp>
      <p:sp>
        <p:nvSpPr>
          <p:cNvPr id="41" name="Text"/>
          <p:cNvSpPr txBox="1"/>
          <p:nvPr/>
        </p:nvSpPr>
        <p:spPr>
          <a:xfrm>
            <a:off x="711220" y="3187507"/>
            <a:ext cx="4009278"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Compute</a:t>
            </a:r>
            <a:endParaRPr lang="en-US" sz="900" dirty="0"/>
          </a:p>
        </p:txBody>
      </p:sp>
      <p:sp>
        <p:nvSpPr>
          <p:cNvPr id="42" name="Text"/>
          <p:cNvSpPr txBox="1"/>
          <p:nvPr/>
        </p:nvSpPr>
        <p:spPr>
          <a:xfrm>
            <a:off x="4780758" y="3187507"/>
            <a:ext cx="1966417"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AI hardware</a:t>
            </a:r>
            <a:endParaRPr lang="en-US" sz="900" dirty="0"/>
          </a:p>
        </p:txBody>
      </p:sp>
      <p:sp>
        <p:nvSpPr>
          <p:cNvPr id="43" name="Text"/>
          <p:cNvSpPr txBox="1"/>
          <p:nvPr/>
        </p:nvSpPr>
        <p:spPr>
          <a:xfrm>
            <a:off x="1259403" y="3891412"/>
            <a:ext cx="874806" cy="120609"/>
          </a:xfrm>
          <a:prstGeom prst="rect">
            <a:avLst/>
          </a:prstGeom>
          <a:noFill/>
          <a:ln/>
        </p:spPr>
        <p:txBody>
          <a:bodyPr wrap="none" lIns="0" tIns="0" rIns="0" bIns="0" rtlCol="0" anchor="t"/>
          <a:lstStyle/>
          <a:p>
            <a:pPr algn="l" indent="0" marL="0">
              <a:lnSpc>
                <a:spcPts val="950"/>
              </a:lnSpc>
              <a:buNone/>
            </a:pPr>
            <a:r>
              <a:rPr lang="en-US" sz="950" dirty="0">
                <a:solidFill>
                  <a:srgbClr val="6B6B6B"/>
                </a:solidFill>
                <a:latin typeface="Poppins Light" pitchFamily="34" charset="0"/>
                <a:ea typeface="Poppins Light" pitchFamily="34" charset="-122"/>
                <a:cs typeface="Poppins Light" pitchFamily="34" charset="-120"/>
              </a:rPr>
              <a:t>H100 compute</a:t>
            </a:r>
            <a:endParaRPr lang="en-US" sz="950" dirty="0"/>
          </a:p>
        </p:txBody>
      </p:sp>
      <p:sp>
        <p:nvSpPr>
          <p:cNvPr id="44" name="Text"/>
          <p:cNvSpPr txBox="1"/>
          <p:nvPr/>
        </p:nvSpPr>
        <p:spPr>
          <a:xfrm>
            <a:off x="3206618" y="3894612"/>
            <a:ext cx="1049914" cy="120609"/>
          </a:xfrm>
          <a:prstGeom prst="rect">
            <a:avLst/>
          </a:prstGeom>
          <a:noFill/>
          <a:ln/>
        </p:spPr>
        <p:txBody>
          <a:bodyPr wrap="none" lIns="0" tIns="0" rIns="0" bIns="0" rtlCol="0" anchor="t"/>
          <a:lstStyle/>
          <a:p>
            <a:pPr algn="l" indent="0" marL="0">
              <a:lnSpc>
                <a:spcPts val="950"/>
              </a:lnSpc>
              <a:buNone/>
            </a:pPr>
            <a:r>
              <a:rPr lang="en-US" sz="950" dirty="0">
                <a:solidFill>
                  <a:srgbClr val="6B6B6B"/>
                </a:solidFill>
                <a:latin typeface="Poppins Light" pitchFamily="34" charset="0"/>
                <a:ea typeface="Poppins Light" pitchFamily="34" charset="-122"/>
                <a:cs typeface="Poppins Light" pitchFamily="34" charset="-120"/>
              </a:rPr>
              <a:t>GPU workstations</a:t>
            </a:r>
            <a:endParaRPr lang="en-US" sz="950" dirty="0"/>
          </a:p>
        </p:txBody>
      </p:sp>
      <p:sp>
        <p:nvSpPr>
          <p:cNvPr id="45" name="Text"/>
          <p:cNvSpPr txBox="1"/>
          <p:nvPr/>
        </p:nvSpPr>
        <p:spPr>
          <a:xfrm>
            <a:off x="5086624" y="3872393"/>
            <a:ext cx="1359621" cy="120609"/>
          </a:xfrm>
          <a:prstGeom prst="rect">
            <a:avLst/>
          </a:prstGeom>
          <a:noFill/>
          <a:ln/>
        </p:spPr>
        <p:txBody>
          <a:bodyPr wrap="none" lIns="0" tIns="0" rIns="0" bIns="0" rtlCol="0" anchor="t"/>
          <a:lstStyle/>
          <a:p>
            <a:pPr algn="l" indent="0" marL="0">
              <a:lnSpc>
                <a:spcPts val="950"/>
              </a:lnSpc>
              <a:buNone/>
            </a:pPr>
            <a:r>
              <a:rPr lang="en-US" sz="950" dirty="0">
                <a:solidFill>
                  <a:srgbClr val="6B6B6B"/>
                </a:solidFill>
                <a:latin typeface="Poppins Light" pitchFamily="34" charset="0"/>
                <a:ea typeface="Poppins Light" pitchFamily="34" charset="-122"/>
                <a:cs typeface="Poppins Light" pitchFamily="34" charset="-120"/>
              </a:rPr>
              <a:t>Hardware for Kiralytics</a:t>
            </a:r>
            <a:endParaRPr lang="en-US" sz="950" dirty="0"/>
          </a:p>
        </p:txBody>
      </p:sp>
      <p:sp>
        <p:nvSpPr>
          <p:cNvPr id="46" name="Text"/>
          <p:cNvSpPr txBox="1"/>
          <p:nvPr/>
        </p:nvSpPr>
        <p:spPr>
          <a:xfrm>
            <a:off x="711220" y="4317065"/>
            <a:ext cx="6052322"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Cloud</a:t>
            </a:r>
            <a:endParaRPr lang="en-US" sz="900" dirty="0"/>
          </a:p>
        </p:txBody>
      </p:sp>
      <p:sp>
        <p:nvSpPr>
          <p:cNvPr id="47" name="Text"/>
          <p:cNvSpPr txBox="1"/>
          <p:nvPr/>
        </p:nvSpPr>
        <p:spPr>
          <a:xfrm>
            <a:off x="711220" y="5783763"/>
            <a:ext cx="6052322" cy="21653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Technology platforms, not clients.</a:t>
            </a:r>
            <a:endParaRPr lang="en-US" sz="1100" dirty="0"/>
          </a:p>
        </p:txBody>
      </p:sp>
      <p:sp>
        <p:nvSpPr>
          <p:cNvPr id="48" name="Text"/>
          <p:cNvSpPr txBox="1"/>
          <p:nvPr/>
        </p:nvSpPr>
        <p:spPr>
          <a:xfrm>
            <a:off x="7183892" y="2057857"/>
            <a:ext cx="4326666"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How we choose</a:t>
            </a:r>
            <a:endParaRPr lang="en-US" sz="900" dirty="0"/>
          </a:p>
        </p:txBody>
      </p:sp>
      <p:sp>
        <p:nvSpPr>
          <p:cNvPr id="49" name="Text"/>
          <p:cNvSpPr txBox="1"/>
          <p:nvPr/>
        </p:nvSpPr>
        <p:spPr>
          <a:xfrm>
            <a:off x="7183892" y="2416942"/>
            <a:ext cx="2080443" cy="23619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Data and residency</a:t>
            </a:r>
            <a:endParaRPr lang="en-US" sz="1200" dirty="0"/>
          </a:p>
        </p:txBody>
      </p:sp>
      <p:sp>
        <p:nvSpPr>
          <p:cNvPr id="50" name="Text"/>
          <p:cNvSpPr txBox="1"/>
          <p:nvPr/>
        </p:nvSpPr>
        <p:spPr>
          <a:xfrm>
            <a:off x="7183892" y="2651028"/>
            <a:ext cx="2080443" cy="413400"/>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Locally hosted models where data must stay in-house</a:t>
            </a:r>
            <a:endParaRPr lang="en-US" sz="1050" dirty="0"/>
          </a:p>
        </p:txBody>
      </p:sp>
      <p:sp>
        <p:nvSpPr>
          <p:cNvPr id="51" name="Text"/>
          <p:cNvSpPr txBox="1"/>
          <p:nvPr/>
        </p:nvSpPr>
        <p:spPr>
          <a:xfrm>
            <a:off x="9421246" y="2416942"/>
            <a:ext cx="2080443" cy="23619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Cost</a:t>
            </a:r>
            <a:endParaRPr lang="en-US" sz="1200" dirty="0"/>
          </a:p>
        </p:txBody>
      </p:sp>
      <p:sp>
        <p:nvSpPr>
          <p:cNvPr id="52" name="Text"/>
          <p:cNvSpPr txBox="1"/>
          <p:nvPr/>
        </p:nvSpPr>
        <p:spPr>
          <a:xfrm>
            <a:off x="9421246" y="2651028"/>
            <a:ext cx="2167219" cy="413400"/>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H100 compute shortens</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training time and lowers cost</a:t>
            </a:r>
            <a:endParaRPr lang="en-US" sz="1050" dirty="0"/>
          </a:p>
        </p:txBody>
      </p:sp>
      <p:sp>
        <p:nvSpPr>
          <p:cNvPr id="53" name="Text"/>
          <p:cNvSpPr txBox="1"/>
          <p:nvPr/>
        </p:nvSpPr>
        <p:spPr>
          <a:xfrm>
            <a:off x="7183892" y="3301441"/>
            <a:ext cx="2080443" cy="23619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Capability</a:t>
            </a:r>
            <a:endParaRPr lang="en-US" sz="1200" dirty="0"/>
          </a:p>
        </p:txBody>
      </p:sp>
      <p:sp>
        <p:nvSpPr>
          <p:cNvPr id="54" name="Text"/>
          <p:cNvSpPr txBox="1"/>
          <p:nvPr/>
        </p:nvSpPr>
        <p:spPr>
          <a:xfrm>
            <a:off x="7183892" y="3535436"/>
            <a:ext cx="2167219" cy="620055"/>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Vision and language models</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together where a job</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needs both</a:t>
            </a:r>
            <a:endParaRPr lang="en-US" sz="1050" dirty="0"/>
          </a:p>
        </p:txBody>
      </p:sp>
      <p:sp>
        <p:nvSpPr>
          <p:cNvPr id="55" name="Text"/>
          <p:cNvSpPr txBox="1"/>
          <p:nvPr/>
        </p:nvSpPr>
        <p:spPr>
          <a:xfrm>
            <a:off x="9421246" y="3301441"/>
            <a:ext cx="2080443" cy="236190"/>
          </a:xfrm>
          <a:prstGeom prst="rect">
            <a:avLst/>
          </a:prstGeom>
          <a:noFill/>
          <a:ln/>
        </p:spPr>
        <p:txBody>
          <a:bodyPr wrap="square" lIns="0" tIns="0" rIns="0" bIns="0" rtlCol="0" anchor="t"/>
          <a:lstStyle/>
          <a:p>
            <a:pPr algn="l" indent="0" marL="0">
              <a:lnSpc>
                <a:spcPts val="1860"/>
              </a:lnSpc>
              <a:buNone/>
            </a:pPr>
            <a:r>
              <a:rPr lang="en-US" sz="1200" dirty="0">
                <a:solidFill>
                  <a:srgbClr val="000000"/>
                </a:solidFill>
                <a:latin typeface="Poppins Medium" pitchFamily="34" charset="0"/>
                <a:ea typeface="Poppins Medium" pitchFamily="34" charset="-122"/>
                <a:cs typeface="Poppins Medium" pitchFamily="34" charset="-120"/>
              </a:rPr>
              <a:t>Governance</a:t>
            </a:r>
            <a:endParaRPr lang="en-US" sz="1200" dirty="0"/>
          </a:p>
        </p:txBody>
      </p:sp>
      <p:sp>
        <p:nvSpPr>
          <p:cNvPr id="56" name="Text"/>
          <p:cNvSpPr txBox="1"/>
          <p:nvPr/>
        </p:nvSpPr>
        <p:spPr>
          <a:xfrm>
            <a:off x="9421246" y="3535436"/>
            <a:ext cx="2167219" cy="620055"/>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Guardrails, AI safety and</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alignment are part of</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the design</a:t>
            </a:r>
            <a:endParaRPr lang="en-US" sz="1050" dirty="0"/>
          </a:p>
        </p:txBody>
      </p:sp>
      <p:sp>
        <p:nvSpPr>
          <p:cNvPr id="57" name="Text"/>
          <p:cNvSpPr txBox="1"/>
          <p:nvPr/>
        </p:nvSpPr>
        <p:spPr>
          <a:xfrm>
            <a:off x="7183892" y="4337548"/>
            <a:ext cx="4326666"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Partnerships</a:t>
            </a:r>
            <a:endParaRPr lang="en-US" sz="900" dirty="0"/>
          </a:p>
        </p:txBody>
      </p:sp>
      <p:sp>
        <p:nvSpPr>
          <p:cNvPr id="58" name="Text"/>
          <p:cNvSpPr txBox="1"/>
          <p:nvPr/>
        </p:nvSpPr>
        <p:spPr>
          <a:xfrm>
            <a:off x="7183892" y="4686757"/>
            <a:ext cx="968990"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Medium" pitchFamily="34" charset="0"/>
                <a:ea typeface="Poppins Medium" pitchFamily="34" charset="-122"/>
                <a:cs typeface="Poppins Medium" pitchFamily="34" charset="-120"/>
              </a:rPr>
              <a:t>24 Apr 2026</a:t>
            </a:r>
            <a:endParaRPr lang="en-US" sz="950" dirty="0"/>
          </a:p>
        </p:txBody>
      </p:sp>
      <p:sp>
        <p:nvSpPr>
          <p:cNvPr id="59" name="Text"/>
          <p:cNvSpPr txBox="1"/>
          <p:nvPr/>
        </p:nvSpPr>
        <p:spPr>
          <a:xfrm>
            <a:off x="8263433" y="4681819"/>
            <a:ext cx="3242828" cy="206654"/>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Strategic partnership with FPT AI Factory</a:t>
            </a:r>
            <a:endParaRPr lang="en-US" sz="1050" dirty="0"/>
          </a:p>
        </p:txBody>
      </p:sp>
      <p:sp>
        <p:nvSpPr>
          <p:cNvPr id="60" name="Text"/>
          <p:cNvSpPr txBox="1"/>
          <p:nvPr/>
        </p:nvSpPr>
        <p:spPr>
          <a:xfrm>
            <a:off x="7183892" y="5052151"/>
            <a:ext cx="968990"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Medium" pitchFamily="34" charset="0"/>
                <a:ea typeface="Poppins Medium" pitchFamily="34" charset="-122"/>
                <a:cs typeface="Poppins Medium" pitchFamily="34" charset="-120"/>
              </a:rPr>
              <a:t>Dec 2025</a:t>
            </a:r>
            <a:endParaRPr lang="en-US" sz="950" dirty="0"/>
          </a:p>
        </p:txBody>
      </p:sp>
      <p:sp>
        <p:nvSpPr>
          <p:cNvPr id="61" name="Text"/>
          <p:cNvSpPr txBox="1"/>
          <p:nvPr/>
        </p:nvSpPr>
        <p:spPr>
          <a:xfrm>
            <a:off x="8263433" y="5047214"/>
            <a:ext cx="3242828" cy="413400"/>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Highlighted as one of 12 AI implementation partners at Alibaba Cloud AI Day</a:t>
            </a:r>
            <a:endParaRPr lang="en-US" sz="1050" dirty="0"/>
          </a:p>
        </p:txBody>
      </p:sp>
      <p:sp>
        <p:nvSpPr>
          <p:cNvPr id="62" name="Text"/>
          <p:cNvSpPr txBox="1"/>
          <p:nvPr/>
        </p:nvSpPr>
        <p:spPr>
          <a:xfrm>
            <a:off x="7183892" y="5624292"/>
            <a:ext cx="968990"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Medium" pitchFamily="34" charset="0"/>
                <a:ea typeface="Poppins Medium" pitchFamily="34" charset="-122"/>
                <a:cs typeface="Poppins Medium" pitchFamily="34" charset="-120"/>
              </a:rPr>
              <a:t>15 Jul 2025</a:t>
            </a:r>
            <a:endParaRPr lang="en-US" sz="950" dirty="0"/>
          </a:p>
        </p:txBody>
      </p:sp>
      <p:sp>
        <p:nvSpPr>
          <p:cNvPr id="63" name="Text"/>
          <p:cNvSpPr txBox="1"/>
          <p:nvPr/>
        </p:nvSpPr>
        <p:spPr>
          <a:xfrm>
            <a:off x="8263433" y="5619354"/>
            <a:ext cx="3242828" cy="413400"/>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Joined the Alibaba Cloud Partner Network, Tier 2 reseller for Malaysia</a:t>
            </a:r>
            <a:endParaRPr lang="en-US" sz="1050" dirty="0"/>
          </a:p>
        </p:txBody>
      </p:sp>
      <p:sp>
        <p:nvSpPr>
          <p:cNvPr id="64"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65"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Who we are</a:t>
            </a:r>
            <a:endParaRPr lang="en-US" sz="850" dirty="0"/>
          </a:p>
        </p:txBody>
      </p:sp>
      <p:sp>
        <p:nvSpPr>
          <p:cNvPr id="66"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67"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8"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9"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70"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alphv.com/platforms-and-clients; alphv.com/insights (October 2026).</a:t>
            </a:r>
            <a:endParaRPr lang="en-US" sz="850" dirty="0"/>
          </a:p>
        </p:txBody>
      </p:sp>
      <p:sp>
        <p:nvSpPr>
          <p:cNvPr id="71" name="Text"/>
          <p:cNvSpPr txBox="1"/>
          <p:nvPr/>
        </p:nvSpPr>
        <p:spPr>
          <a:xfrm>
            <a:off x="9374246"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72" name="Text"/>
          <p:cNvSpPr txBox="1"/>
          <p:nvPr/>
        </p:nvSpPr>
        <p:spPr>
          <a:xfrm>
            <a:off x="9882287"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73" name="Text"/>
          <p:cNvSpPr txBox="1"/>
          <p:nvPr/>
        </p:nvSpPr>
        <p:spPr>
          <a:xfrm>
            <a:off x="11373764" y="6401532"/>
            <a:ext cx="132497"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p:cNvSpPr txBox="1"/>
          <p:nvPr/>
        </p:nvSpPr>
        <p:spPr>
          <a:xfrm>
            <a:off x="711220" y="3500780"/>
            <a:ext cx="10825399" cy="1257300"/>
          </a:xfrm>
          <a:prstGeom prst="rect">
            <a:avLst/>
          </a:prstGeom>
          <a:noFill/>
          <a:ln/>
        </p:spPr>
        <p:txBody>
          <a:bodyPr wrap="square" lIns="0" tIns="0" rIns="0" bIns="0" rtlCol="0" anchor="t"/>
          <a:lstStyle/>
          <a:p>
            <a:pPr algn="l" indent="0" marL="0">
              <a:lnSpc>
                <a:spcPts val="9900"/>
              </a:lnSpc>
              <a:buNone/>
            </a:pPr>
            <a:r>
              <a:rPr lang="en-US" sz="11000" spc="-440" kern="0" dirty="0">
                <a:solidFill>
                  <a:srgbClr val="F2F6FD"/>
                </a:solidFill>
                <a:latin typeface="Poppins SemiBold" pitchFamily="34" charset="0"/>
                <a:ea typeface="Poppins SemiBold" pitchFamily="34" charset="-122"/>
                <a:cs typeface="Poppins SemiBold" pitchFamily="34" charset="-120"/>
              </a:rPr>
              <a:t>03</a:t>
            </a:r>
            <a:endParaRPr lang="en-US" sz="11000" dirty="0"/>
          </a:p>
        </p:txBody>
      </p:sp>
      <p:sp>
        <p:nvSpPr>
          <p:cNvPr id="3" name="Text"/>
          <p:cNvSpPr txBox="1"/>
          <p:nvPr/>
        </p:nvSpPr>
        <p:spPr>
          <a:xfrm>
            <a:off x="711220" y="4890577"/>
            <a:ext cx="8938260" cy="640080"/>
          </a:xfrm>
          <a:prstGeom prst="rect">
            <a:avLst/>
          </a:prstGeom>
          <a:noFill/>
          <a:ln/>
        </p:spPr>
        <p:txBody>
          <a:bodyPr wrap="square" lIns="0" tIns="0" rIns="0" bIns="0" rtlCol="0" anchor="t"/>
          <a:lstStyle/>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Six services, one team</a:t>
            </a:r>
            <a:endParaRPr lang="en-US" sz="4800" dirty="0"/>
          </a:p>
        </p:txBody>
      </p:sp>
      <p:sp>
        <p:nvSpPr>
          <p:cNvPr id="4" name="Text"/>
          <p:cNvSpPr txBox="1"/>
          <p:nvPr/>
        </p:nvSpPr>
        <p:spPr>
          <a:xfrm>
            <a:off x="711220" y="5720395"/>
            <a:ext cx="7137441" cy="276240"/>
          </a:xfrm>
          <a:prstGeom prst="rect">
            <a:avLst/>
          </a:prstGeom>
          <a:noFill/>
          <a:ln/>
        </p:spPr>
        <p:txBody>
          <a:bodyPr wrap="non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Every service is shipped and improved by the same engineers who scoped it.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604681" cy="254020"/>
          </a:xfrm>
          <a:prstGeom prst="roundRect">
            <a:avLst>
              <a:gd name="adj" fmla="val 50000"/>
            </a:avLst>
          </a:prstGeom>
          <a:ln w="6350">
            <a:solidFill>
              <a:srgbClr val="155DFC"/>
            </a:solidFill>
            <a:prstDash val="solid"/>
          </a:ln>
        </p:spPr>
      </p:sp>
      <p:sp>
        <p:nvSpPr>
          <p:cNvPr id="3" name="roof"/>
          <p:cNvSpPr/>
          <p:nvPr/>
        </p:nvSpPr>
        <p:spPr>
          <a:xfrm>
            <a:off x="711220" y="2073859"/>
            <a:ext cx="10769620" cy="645109"/>
          </a:xfrm>
          <a:prstGeom prst="roundRect">
            <a:avLst>
              <a:gd name="adj" fmla="val 23629"/>
            </a:avLst>
          </a:prstGeom>
          <a:solidFill>
            <a:srgbClr val="044BD9"/>
          </a:solidFill>
          <a:ln/>
        </p:spPr>
      </p:sp>
      <p:sp>
        <p:nvSpPr>
          <p:cNvPr id="4" name="pillar"/>
          <p:cNvSpPr/>
          <p:nvPr/>
        </p:nvSpPr>
        <p:spPr>
          <a:xfrm>
            <a:off x="714421" y="2811048"/>
            <a:ext cx="1714500" cy="2558217"/>
          </a:xfrm>
          <a:prstGeom prst="roundRect">
            <a:avLst>
              <a:gd name="adj" fmla="val 8704"/>
            </a:avLst>
          </a:prstGeom>
          <a:solidFill>
            <a:srgbClr val="FBFBFB"/>
          </a:solidFill>
          <a:ln w="6350">
            <a:solidFill>
              <a:srgbClr val="F0F0F0"/>
            </a:solidFill>
            <a:prstDash val="solid"/>
          </a:ln>
        </p:spPr>
      </p:sp>
      <p:sp>
        <p:nvSpPr>
          <p:cNvPr id="5" name="li::before"/>
          <p:cNvSpPr/>
          <p:nvPr/>
        </p:nvSpPr>
        <p:spPr>
          <a:xfrm>
            <a:off x="857250" y="3720968"/>
            <a:ext cx="44440" cy="44440"/>
          </a:xfrm>
          <a:prstGeom prst="rect">
            <a:avLst/>
          </a:prstGeom>
          <a:solidFill>
            <a:srgbClr val="044BD9"/>
          </a:solidFill>
          <a:ln/>
        </p:spPr>
      </p:sp>
      <p:sp>
        <p:nvSpPr>
          <p:cNvPr id="6" name="li::before"/>
          <p:cNvSpPr/>
          <p:nvPr/>
        </p:nvSpPr>
        <p:spPr>
          <a:xfrm>
            <a:off x="857250" y="4109496"/>
            <a:ext cx="44440" cy="44440"/>
          </a:xfrm>
          <a:prstGeom prst="rect">
            <a:avLst/>
          </a:prstGeom>
          <a:solidFill>
            <a:srgbClr val="044BD9"/>
          </a:solidFill>
          <a:ln/>
        </p:spPr>
      </p:sp>
      <p:sp>
        <p:nvSpPr>
          <p:cNvPr id="7" name="li::before"/>
          <p:cNvSpPr/>
          <p:nvPr/>
        </p:nvSpPr>
        <p:spPr>
          <a:xfrm>
            <a:off x="857250" y="4498025"/>
            <a:ext cx="44440" cy="44440"/>
          </a:xfrm>
          <a:prstGeom prst="rect">
            <a:avLst/>
          </a:prstGeom>
          <a:solidFill>
            <a:srgbClr val="044BD9"/>
          </a:solidFill>
          <a:ln/>
        </p:spPr>
      </p:sp>
      <p:sp>
        <p:nvSpPr>
          <p:cNvPr id="8" name="li::before"/>
          <p:cNvSpPr/>
          <p:nvPr/>
        </p:nvSpPr>
        <p:spPr>
          <a:xfrm>
            <a:off x="857250" y="4886645"/>
            <a:ext cx="44440" cy="44440"/>
          </a:xfrm>
          <a:prstGeom prst="rect">
            <a:avLst/>
          </a:prstGeom>
          <a:solidFill>
            <a:srgbClr val="044BD9"/>
          </a:solidFill>
          <a:ln/>
        </p:spPr>
      </p:sp>
      <p:sp>
        <p:nvSpPr>
          <p:cNvPr id="9" name="pillar"/>
          <p:cNvSpPr/>
          <p:nvPr/>
        </p:nvSpPr>
        <p:spPr>
          <a:xfrm>
            <a:off x="2524110" y="2811048"/>
            <a:ext cx="1714500" cy="2558217"/>
          </a:xfrm>
          <a:prstGeom prst="roundRect">
            <a:avLst>
              <a:gd name="adj" fmla="val 8704"/>
            </a:avLst>
          </a:prstGeom>
          <a:solidFill>
            <a:srgbClr val="FBFBFB"/>
          </a:solidFill>
          <a:ln w="6350">
            <a:solidFill>
              <a:srgbClr val="F0F0F0"/>
            </a:solidFill>
            <a:prstDash val="solid"/>
          </a:ln>
        </p:spPr>
      </p:sp>
      <p:sp>
        <p:nvSpPr>
          <p:cNvPr id="10" name="li::before"/>
          <p:cNvSpPr/>
          <p:nvPr/>
        </p:nvSpPr>
        <p:spPr>
          <a:xfrm>
            <a:off x="2667030" y="3720968"/>
            <a:ext cx="44440" cy="44440"/>
          </a:xfrm>
          <a:prstGeom prst="rect">
            <a:avLst/>
          </a:prstGeom>
          <a:solidFill>
            <a:srgbClr val="044BD9"/>
          </a:solidFill>
          <a:ln/>
        </p:spPr>
      </p:sp>
      <p:sp>
        <p:nvSpPr>
          <p:cNvPr id="11" name="li::before"/>
          <p:cNvSpPr/>
          <p:nvPr/>
        </p:nvSpPr>
        <p:spPr>
          <a:xfrm>
            <a:off x="2667030" y="4109496"/>
            <a:ext cx="44440" cy="44440"/>
          </a:xfrm>
          <a:prstGeom prst="rect">
            <a:avLst/>
          </a:prstGeom>
          <a:solidFill>
            <a:srgbClr val="044BD9"/>
          </a:solidFill>
          <a:ln/>
        </p:spPr>
      </p:sp>
      <p:sp>
        <p:nvSpPr>
          <p:cNvPr id="12" name="li::before"/>
          <p:cNvSpPr/>
          <p:nvPr/>
        </p:nvSpPr>
        <p:spPr>
          <a:xfrm>
            <a:off x="2667030" y="4498025"/>
            <a:ext cx="44440" cy="44440"/>
          </a:xfrm>
          <a:prstGeom prst="rect">
            <a:avLst/>
          </a:prstGeom>
          <a:solidFill>
            <a:srgbClr val="044BD9"/>
          </a:solidFill>
          <a:ln/>
        </p:spPr>
      </p:sp>
      <p:sp>
        <p:nvSpPr>
          <p:cNvPr id="13" name="li::before"/>
          <p:cNvSpPr/>
          <p:nvPr/>
        </p:nvSpPr>
        <p:spPr>
          <a:xfrm>
            <a:off x="2667030" y="4886645"/>
            <a:ext cx="44440" cy="44440"/>
          </a:xfrm>
          <a:prstGeom prst="rect">
            <a:avLst/>
          </a:prstGeom>
          <a:solidFill>
            <a:srgbClr val="044BD9"/>
          </a:solidFill>
          <a:ln/>
        </p:spPr>
      </p:sp>
      <p:sp>
        <p:nvSpPr>
          <p:cNvPr id="14" name="pillar"/>
          <p:cNvSpPr/>
          <p:nvPr/>
        </p:nvSpPr>
        <p:spPr>
          <a:xfrm>
            <a:off x="4333890" y="2811048"/>
            <a:ext cx="1714500" cy="2558217"/>
          </a:xfrm>
          <a:prstGeom prst="roundRect">
            <a:avLst>
              <a:gd name="adj" fmla="val 8704"/>
            </a:avLst>
          </a:prstGeom>
          <a:solidFill>
            <a:srgbClr val="FBFBFB"/>
          </a:solidFill>
          <a:ln w="6350">
            <a:solidFill>
              <a:srgbClr val="F0F0F0"/>
            </a:solidFill>
            <a:prstDash val="solid"/>
          </a:ln>
        </p:spPr>
      </p:sp>
      <p:sp>
        <p:nvSpPr>
          <p:cNvPr id="15" name="li::before"/>
          <p:cNvSpPr/>
          <p:nvPr/>
        </p:nvSpPr>
        <p:spPr>
          <a:xfrm>
            <a:off x="4476720" y="3720968"/>
            <a:ext cx="44440" cy="44440"/>
          </a:xfrm>
          <a:prstGeom prst="rect">
            <a:avLst/>
          </a:prstGeom>
          <a:solidFill>
            <a:srgbClr val="044BD9"/>
          </a:solidFill>
          <a:ln/>
        </p:spPr>
      </p:sp>
      <p:sp>
        <p:nvSpPr>
          <p:cNvPr id="16" name="li::before"/>
          <p:cNvSpPr/>
          <p:nvPr/>
        </p:nvSpPr>
        <p:spPr>
          <a:xfrm>
            <a:off x="4476720" y="4109496"/>
            <a:ext cx="44440" cy="44440"/>
          </a:xfrm>
          <a:prstGeom prst="rect">
            <a:avLst/>
          </a:prstGeom>
          <a:solidFill>
            <a:srgbClr val="044BD9"/>
          </a:solidFill>
          <a:ln/>
        </p:spPr>
      </p:sp>
      <p:sp>
        <p:nvSpPr>
          <p:cNvPr id="17" name="li::before"/>
          <p:cNvSpPr/>
          <p:nvPr/>
        </p:nvSpPr>
        <p:spPr>
          <a:xfrm>
            <a:off x="4476720" y="4498025"/>
            <a:ext cx="44440" cy="44440"/>
          </a:xfrm>
          <a:prstGeom prst="rect">
            <a:avLst/>
          </a:prstGeom>
          <a:solidFill>
            <a:srgbClr val="044BD9"/>
          </a:solidFill>
          <a:ln/>
        </p:spPr>
      </p:sp>
      <p:sp>
        <p:nvSpPr>
          <p:cNvPr id="18" name="li::before"/>
          <p:cNvSpPr/>
          <p:nvPr/>
        </p:nvSpPr>
        <p:spPr>
          <a:xfrm>
            <a:off x="4476720" y="4886645"/>
            <a:ext cx="44440" cy="44440"/>
          </a:xfrm>
          <a:prstGeom prst="rect">
            <a:avLst/>
          </a:prstGeom>
          <a:solidFill>
            <a:srgbClr val="044BD9"/>
          </a:solidFill>
          <a:ln/>
        </p:spPr>
      </p:sp>
      <p:sp>
        <p:nvSpPr>
          <p:cNvPr id="19" name="pillar"/>
          <p:cNvSpPr/>
          <p:nvPr/>
        </p:nvSpPr>
        <p:spPr>
          <a:xfrm>
            <a:off x="6143671" y="2811048"/>
            <a:ext cx="1714500" cy="2558217"/>
          </a:xfrm>
          <a:prstGeom prst="roundRect">
            <a:avLst>
              <a:gd name="adj" fmla="val 8704"/>
            </a:avLst>
          </a:prstGeom>
          <a:solidFill>
            <a:srgbClr val="FBFBFB"/>
          </a:solidFill>
          <a:ln w="6350">
            <a:solidFill>
              <a:srgbClr val="F0F0F0"/>
            </a:solidFill>
            <a:prstDash val="solid"/>
          </a:ln>
        </p:spPr>
      </p:sp>
      <p:sp>
        <p:nvSpPr>
          <p:cNvPr id="20" name="li::before"/>
          <p:cNvSpPr/>
          <p:nvPr/>
        </p:nvSpPr>
        <p:spPr>
          <a:xfrm>
            <a:off x="6286500" y="3720968"/>
            <a:ext cx="44440" cy="44440"/>
          </a:xfrm>
          <a:prstGeom prst="rect">
            <a:avLst/>
          </a:prstGeom>
          <a:solidFill>
            <a:srgbClr val="044BD9"/>
          </a:solidFill>
          <a:ln/>
        </p:spPr>
      </p:sp>
      <p:sp>
        <p:nvSpPr>
          <p:cNvPr id="21" name="li::before"/>
          <p:cNvSpPr/>
          <p:nvPr/>
        </p:nvSpPr>
        <p:spPr>
          <a:xfrm>
            <a:off x="6286500" y="4109496"/>
            <a:ext cx="44440" cy="44440"/>
          </a:xfrm>
          <a:prstGeom prst="rect">
            <a:avLst/>
          </a:prstGeom>
          <a:solidFill>
            <a:srgbClr val="044BD9"/>
          </a:solidFill>
          <a:ln/>
        </p:spPr>
      </p:sp>
      <p:sp>
        <p:nvSpPr>
          <p:cNvPr id="22" name="li::before"/>
          <p:cNvSpPr/>
          <p:nvPr/>
        </p:nvSpPr>
        <p:spPr>
          <a:xfrm>
            <a:off x="6286500" y="4329227"/>
            <a:ext cx="44440" cy="44440"/>
          </a:xfrm>
          <a:prstGeom prst="rect">
            <a:avLst/>
          </a:prstGeom>
          <a:solidFill>
            <a:srgbClr val="044BD9"/>
          </a:solidFill>
          <a:ln/>
        </p:spPr>
      </p:sp>
      <p:sp>
        <p:nvSpPr>
          <p:cNvPr id="23" name="li::before"/>
          <p:cNvSpPr/>
          <p:nvPr/>
        </p:nvSpPr>
        <p:spPr>
          <a:xfrm>
            <a:off x="6286500" y="4717755"/>
            <a:ext cx="44440" cy="44440"/>
          </a:xfrm>
          <a:prstGeom prst="rect">
            <a:avLst/>
          </a:prstGeom>
          <a:solidFill>
            <a:srgbClr val="044BD9"/>
          </a:solidFill>
          <a:ln/>
        </p:spPr>
      </p:sp>
      <p:sp>
        <p:nvSpPr>
          <p:cNvPr id="24" name="pillar"/>
          <p:cNvSpPr/>
          <p:nvPr/>
        </p:nvSpPr>
        <p:spPr>
          <a:xfrm>
            <a:off x="7953360" y="2811048"/>
            <a:ext cx="1714500" cy="2558217"/>
          </a:xfrm>
          <a:prstGeom prst="roundRect">
            <a:avLst>
              <a:gd name="adj" fmla="val 8704"/>
            </a:avLst>
          </a:prstGeom>
          <a:solidFill>
            <a:srgbClr val="FBFBFB"/>
          </a:solidFill>
          <a:ln w="6350">
            <a:solidFill>
              <a:srgbClr val="F0F0F0"/>
            </a:solidFill>
            <a:prstDash val="solid"/>
          </a:ln>
        </p:spPr>
      </p:sp>
      <p:sp>
        <p:nvSpPr>
          <p:cNvPr id="25" name="li::before"/>
          <p:cNvSpPr/>
          <p:nvPr/>
        </p:nvSpPr>
        <p:spPr>
          <a:xfrm>
            <a:off x="8096280" y="3720968"/>
            <a:ext cx="44440" cy="44440"/>
          </a:xfrm>
          <a:prstGeom prst="rect">
            <a:avLst/>
          </a:prstGeom>
          <a:solidFill>
            <a:srgbClr val="044BD9"/>
          </a:solidFill>
          <a:ln/>
        </p:spPr>
      </p:sp>
      <p:sp>
        <p:nvSpPr>
          <p:cNvPr id="26" name="li::before"/>
          <p:cNvSpPr/>
          <p:nvPr/>
        </p:nvSpPr>
        <p:spPr>
          <a:xfrm>
            <a:off x="8096280" y="3940607"/>
            <a:ext cx="44440" cy="44440"/>
          </a:xfrm>
          <a:prstGeom prst="rect">
            <a:avLst/>
          </a:prstGeom>
          <a:solidFill>
            <a:srgbClr val="044BD9"/>
          </a:solidFill>
          <a:ln/>
        </p:spPr>
      </p:sp>
      <p:sp>
        <p:nvSpPr>
          <p:cNvPr id="27" name="li::before"/>
          <p:cNvSpPr/>
          <p:nvPr/>
        </p:nvSpPr>
        <p:spPr>
          <a:xfrm>
            <a:off x="8096280" y="4160337"/>
            <a:ext cx="44440" cy="44440"/>
          </a:xfrm>
          <a:prstGeom prst="rect">
            <a:avLst/>
          </a:prstGeom>
          <a:solidFill>
            <a:srgbClr val="044BD9"/>
          </a:solidFill>
          <a:ln/>
        </p:spPr>
      </p:sp>
      <p:sp>
        <p:nvSpPr>
          <p:cNvPr id="28" name="li::before"/>
          <p:cNvSpPr/>
          <p:nvPr/>
        </p:nvSpPr>
        <p:spPr>
          <a:xfrm>
            <a:off x="8096280" y="4379976"/>
            <a:ext cx="44440" cy="44440"/>
          </a:xfrm>
          <a:prstGeom prst="rect">
            <a:avLst/>
          </a:prstGeom>
          <a:solidFill>
            <a:srgbClr val="044BD9"/>
          </a:solidFill>
          <a:ln/>
        </p:spPr>
      </p:sp>
      <p:sp>
        <p:nvSpPr>
          <p:cNvPr id="29" name="pillar"/>
          <p:cNvSpPr/>
          <p:nvPr/>
        </p:nvSpPr>
        <p:spPr>
          <a:xfrm>
            <a:off x="9763140" y="2811048"/>
            <a:ext cx="1714500" cy="2558217"/>
          </a:xfrm>
          <a:prstGeom prst="roundRect">
            <a:avLst>
              <a:gd name="adj" fmla="val 8704"/>
            </a:avLst>
          </a:prstGeom>
          <a:solidFill>
            <a:srgbClr val="FBFBFB"/>
          </a:solidFill>
          <a:ln w="6350">
            <a:solidFill>
              <a:srgbClr val="F0F0F0"/>
            </a:solidFill>
            <a:prstDash val="solid"/>
          </a:ln>
        </p:spPr>
      </p:sp>
      <p:sp>
        <p:nvSpPr>
          <p:cNvPr id="30" name="li::before"/>
          <p:cNvSpPr/>
          <p:nvPr/>
        </p:nvSpPr>
        <p:spPr>
          <a:xfrm>
            <a:off x="9905970" y="3720968"/>
            <a:ext cx="44440" cy="44440"/>
          </a:xfrm>
          <a:prstGeom prst="rect">
            <a:avLst/>
          </a:prstGeom>
          <a:solidFill>
            <a:srgbClr val="044BD9"/>
          </a:solidFill>
          <a:ln/>
        </p:spPr>
      </p:sp>
      <p:sp>
        <p:nvSpPr>
          <p:cNvPr id="31" name="li::before"/>
          <p:cNvSpPr/>
          <p:nvPr/>
        </p:nvSpPr>
        <p:spPr>
          <a:xfrm>
            <a:off x="9905970" y="4109496"/>
            <a:ext cx="44440" cy="44440"/>
          </a:xfrm>
          <a:prstGeom prst="rect">
            <a:avLst/>
          </a:prstGeom>
          <a:solidFill>
            <a:srgbClr val="044BD9"/>
          </a:solidFill>
          <a:ln/>
        </p:spPr>
      </p:sp>
      <p:sp>
        <p:nvSpPr>
          <p:cNvPr id="32" name="li::before"/>
          <p:cNvSpPr/>
          <p:nvPr/>
        </p:nvSpPr>
        <p:spPr>
          <a:xfrm>
            <a:off x="9905970" y="4498025"/>
            <a:ext cx="44440" cy="44440"/>
          </a:xfrm>
          <a:prstGeom prst="rect">
            <a:avLst/>
          </a:prstGeom>
          <a:solidFill>
            <a:srgbClr val="044BD9"/>
          </a:solidFill>
          <a:ln/>
        </p:spPr>
      </p:sp>
      <p:sp>
        <p:nvSpPr>
          <p:cNvPr id="33" name="li::before"/>
          <p:cNvSpPr/>
          <p:nvPr/>
        </p:nvSpPr>
        <p:spPr>
          <a:xfrm>
            <a:off x="9905970" y="4717755"/>
            <a:ext cx="44440" cy="44440"/>
          </a:xfrm>
          <a:prstGeom prst="rect">
            <a:avLst/>
          </a:prstGeom>
          <a:solidFill>
            <a:srgbClr val="044BD9"/>
          </a:solidFill>
          <a:ln/>
        </p:spPr>
      </p:sp>
      <p:sp>
        <p:nvSpPr>
          <p:cNvPr id="34" name="div"/>
          <p:cNvSpPr/>
          <p:nvPr/>
        </p:nvSpPr>
        <p:spPr>
          <a:xfrm>
            <a:off x="714421" y="5464546"/>
            <a:ext cx="2619390" cy="552023"/>
          </a:xfrm>
          <a:prstGeom prst="roundRect">
            <a:avLst>
              <a:gd name="adj" fmla="val 17823"/>
            </a:avLst>
          </a:prstGeom>
          <a:solidFill>
            <a:srgbClr val="044BD9">
              <a:alpha val="8000"/>
            </a:srgbClr>
          </a:solidFill>
          <a:ln w="6350">
            <a:solidFill>
              <a:srgbClr val="044BD9">
                <a:alpha val="20000"/>
              </a:srgbClr>
            </a:solidFill>
            <a:prstDash val="solid"/>
          </a:ln>
        </p:spPr>
      </p:sp>
      <p:sp>
        <p:nvSpPr>
          <p:cNvPr id="35" name="div"/>
          <p:cNvSpPr/>
          <p:nvPr/>
        </p:nvSpPr>
        <p:spPr>
          <a:xfrm>
            <a:off x="3429000" y="5464546"/>
            <a:ext cx="2619390" cy="552023"/>
          </a:xfrm>
          <a:prstGeom prst="roundRect">
            <a:avLst>
              <a:gd name="adj" fmla="val 17823"/>
            </a:avLst>
          </a:prstGeom>
          <a:solidFill>
            <a:srgbClr val="044BD9">
              <a:alpha val="8000"/>
            </a:srgbClr>
          </a:solidFill>
          <a:ln w="6350">
            <a:solidFill>
              <a:srgbClr val="044BD9">
                <a:alpha val="20000"/>
              </a:srgbClr>
            </a:solidFill>
            <a:prstDash val="solid"/>
          </a:ln>
        </p:spPr>
      </p:sp>
      <p:sp>
        <p:nvSpPr>
          <p:cNvPr id="36" name="div"/>
          <p:cNvSpPr/>
          <p:nvPr/>
        </p:nvSpPr>
        <p:spPr>
          <a:xfrm>
            <a:off x="6143671" y="5464546"/>
            <a:ext cx="2619390" cy="552023"/>
          </a:xfrm>
          <a:prstGeom prst="roundRect">
            <a:avLst>
              <a:gd name="adj" fmla="val 17823"/>
            </a:avLst>
          </a:prstGeom>
          <a:solidFill>
            <a:srgbClr val="044BD9">
              <a:alpha val="8000"/>
            </a:srgbClr>
          </a:solidFill>
          <a:ln w="6350">
            <a:solidFill>
              <a:srgbClr val="044BD9">
                <a:alpha val="20000"/>
              </a:srgbClr>
            </a:solidFill>
            <a:prstDash val="solid"/>
          </a:ln>
        </p:spPr>
      </p:sp>
      <p:sp>
        <p:nvSpPr>
          <p:cNvPr id="37" name="div"/>
          <p:cNvSpPr/>
          <p:nvPr/>
        </p:nvSpPr>
        <p:spPr>
          <a:xfrm>
            <a:off x="8858250" y="5464546"/>
            <a:ext cx="2619390" cy="552023"/>
          </a:xfrm>
          <a:prstGeom prst="roundRect">
            <a:avLst>
              <a:gd name="adj" fmla="val 17823"/>
            </a:avLst>
          </a:prstGeom>
          <a:solidFill>
            <a:srgbClr val="044BD9">
              <a:alpha val="8000"/>
            </a:srgbClr>
          </a:solidFill>
          <a:ln w="6350">
            <a:solidFill>
              <a:srgbClr val="044BD9">
                <a:alpha val="20000"/>
              </a:srgbClr>
            </a:solidFill>
            <a:prstDash val="solid"/>
          </a:ln>
        </p:spPr>
      </p:sp>
      <p:sp>
        <p:nvSpPr>
          <p:cNvPr id="38" name="span::before"/>
          <p:cNvSpPr/>
          <p:nvPr/>
        </p:nvSpPr>
        <p:spPr>
          <a:xfrm>
            <a:off x="6191860" y="311170"/>
            <a:ext cx="44440" cy="44440"/>
          </a:xfrm>
          <a:prstGeom prst="rect">
            <a:avLst/>
          </a:prstGeom>
          <a:solidFill>
            <a:srgbClr val="A0A6AF">
              <a:alpha val="55000"/>
            </a:srgbClr>
          </a:solidFill>
          <a:ln/>
        </p:spPr>
      </p:sp>
      <p:sp>
        <p:nvSpPr>
          <p:cNvPr id="39" name="span::before"/>
          <p:cNvSpPr/>
          <p:nvPr/>
        </p:nvSpPr>
        <p:spPr>
          <a:xfrm>
            <a:off x="7145213" y="311170"/>
            <a:ext cx="44440" cy="44440"/>
          </a:xfrm>
          <a:prstGeom prst="rect">
            <a:avLst/>
          </a:prstGeom>
          <a:solidFill>
            <a:srgbClr val="A0A6AF">
              <a:alpha val="55000"/>
            </a:srgbClr>
          </a:solidFill>
          <a:ln/>
        </p:spPr>
      </p:sp>
      <p:sp>
        <p:nvSpPr>
          <p:cNvPr id="40" name="on::before"/>
          <p:cNvSpPr/>
          <p:nvPr/>
        </p:nvSpPr>
        <p:spPr>
          <a:xfrm>
            <a:off x="8056230" y="311170"/>
            <a:ext cx="44440" cy="44440"/>
          </a:xfrm>
          <a:prstGeom prst="rect">
            <a:avLst/>
          </a:prstGeom>
          <a:solidFill>
            <a:srgbClr val="044BD9"/>
          </a:solidFill>
          <a:ln/>
        </p:spPr>
      </p:sp>
      <p:sp>
        <p:nvSpPr>
          <p:cNvPr id="41" name="span::before"/>
          <p:cNvSpPr/>
          <p:nvPr/>
        </p:nvSpPr>
        <p:spPr>
          <a:xfrm>
            <a:off x="8972550" y="311170"/>
            <a:ext cx="44440" cy="44440"/>
          </a:xfrm>
          <a:prstGeom prst="rect">
            <a:avLst/>
          </a:prstGeom>
          <a:solidFill>
            <a:srgbClr val="A0A6AF">
              <a:alpha val="55000"/>
            </a:srgbClr>
          </a:solidFill>
          <a:ln/>
        </p:spPr>
      </p:sp>
      <p:sp>
        <p:nvSpPr>
          <p:cNvPr id="42" name="span::before"/>
          <p:cNvSpPr/>
          <p:nvPr/>
        </p:nvSpPr>
        <p:spPr>
          <a:xfrm>
            <a:off x="10421142" y="311170"/>
            <a:ext cx="44440" cy="44440"/>
          </a:xfrm>
          <a:prstGeom prst="rect">
            <a:avLst/>
          </a:prstGeom>
          <a:solidFill>
            <a:srgbClr val="A0A6AF">
              <a:alpha val="55000"/>
            </a:srgbClr>
          </a:solidFill>
          <a:ln/>
        </p:spPr>
      </p:sp>
      <p:sp>
        <p:nvSpPr>
          <p:cNvPr id="43" name="span::before"/>
          <p:cNvSpPr/>
          <p:nvPr/>
        </p:nvSpPr>
        <p:spPr>
          <a:xfrm>
            <a:off x="10966216" y="311170"/>
            <a:ext cx="44440" cy="44440"/>
          </a:xfrm>
          <a:prstGeom prst="rect">
            <a:avLst/>
          </a:prstGeom>
          <a:solidFill>
            <a:srgbClr val="A0A6AF">
              <a:alpha val="55000"/>
            </a:srgbClr>
          </a:solidFill>
          <a:ln/>
        </p:spPr>
      </p:sp>
      <p:sp>
        <p:nvSpPr>
          <p:cNvPr id="44" name="Text"/>
          <p:cNvSpPr txBox="1"/>
          <p:nvPr/>
        </p:nvSpPr>
        <p:spPr>
          <a:xfrm>
            <a:off x="844540" y="609265"/>
            <a:ext cx="1369680"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Capability framework</a:t>
            </a:r>
            <a:endParaRPr lang="en-US" sz="950" dirty="0"/>
          </a:p>
        </p:txBody>
      </p:sp>
      <p:sp>
        <p:nvSpPr>
          <p:cNvPr id="45"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Six services cover the path from</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first model to the last integration</a:t>
            </a:r>
            <a:endParaRPr lang="en-US" sz="3000" dirty="0"/>
          </a:p>
        </p:txBody>
      </p:sp>
      <p:sp>
        <p:nvSpPr>
          <p:cNvPr id="46" name="Text"/>
          <p:cNvSpPr txBox="1"/>
          <p:nvPr/>
        </p:nvSpPr>
        <p:spPr>
          <a:xfrm>
            <a:off x="939820" y="2213671"/>
            <a:ext cx="5011186" cy="314919"/>
          </a:xfrm>
          <a:prstGeom prst="rect">
            <a:avLst/>
          </a:prstGeom>
          <a:noFill/>
          <a:ln/>
        </p:spPr>
        <p:txBody>
          <a:bodyPr wrap="none" lIns="0" tIns="0" rIns="0" bIns="0" rtlCol="0" anchor="t"/>
          <a:lstStyle/>
          <a:p>
            <a:pPr algn="l" indent="0" marL="0">
              <a:lnSpc>
                <a:spcPts val="2480"/>
              </a:lnSpc>
              <a:buNone/>
            </a:pPr>
            <a:r>
              <a:rPr lang="en-US" sz="1600" dirty="0">
                <a:solidFill>
                  <a:srgbClr val="FFFFFF"/>
                </a:solidFill>
                <a:latin typeface="Poppins Medium" pitchFamily="34" charset="0"/>
                <a:ea typeface="Poppins Medium" pitchFamily="34" charset="-122"/>
                <a:cs typeface="Poppins Medium" pitchFamily="34" charset="-120"/>
              </a:rPr>
              <a:t>Production AI inside the systems you already run</a:t>
            </a:r>
            <a:endParaRPr lang="en-US" sz="1600" dirty="0"/>
          </a:p>
        </p:txBody>
      </p:sp>
      <p:sp>
        <p:nvSpPr>
          <p:cNvPr id="47" name="Text"/>
          <p:cNvSpPr txBox="1"/>
          <p:nvPr/>
        </p:nvSpPr>
        <p:spPr>
          <a:xfrm>
            <a:off x="6439296" y="2272833"/>
            <a:ext cx="4838273" cy="206654"/>
          </a:xfrm>
          <a:prstGeom prst="rect">
            <a:avLst/>
          </a:prstGeom>
          <a:noFill/>
          <a:ln/>
        </p:spPr>
        <p:txBody>
          <a:bodyPr wrap="none" lIns="0" tIns="0" rIns="0" bIns="0" rtlCol="0" anchor="t"/>
          <a:lstStyle/>
          <a:p>
            <a:pPr algn="l" indent="0" marL="0">
              <a:lnSpc>
                <a:spcPts val="1627"/>
              </a:lnSpc>
              <a:buNone/>
            </a:pPr>
            <a:r>
              <a:rPr lang="en-US" sz="1050" dirty="0">
                <a:solidFill>
                  <a:srgbClr val="E1E9FA"/>
                </a:solidFill>
                <a:latin typeface="Poppins Light" pitchFamily="34" charset="0"/>
                <a:ea typeface="Poppins Light" pitchFamily="34" charset="-122"/>
                <a:cs typeface="Poppins Light" pitchFamily="34" charset="-120"/>
              </a:rPr>
              <a:t>ALPHV designs, builds and runs AI systems inside your existing operations.</a:t>
            </a:r>
            <a:endParaRPr lang="en-US" sz="1050" dirty="0"/>
          </a:p>
        </p:txBody>
      </p:sp>
      <p:sp>
        <p:nvSpPr>
          <p:cNvPr id="48" name="Text"/>
          <p:cNvSpPr txBox="1"/>
          <p:nvPr/>
        </p:nvSpPr>
        <p:spPr>
          <a:xfrm>
            <a:off x="857250" y="2953146"/>
            <a:ext cx="1447129" cy="167335"/>
          </a:xfrm>
          <a:prstGeom prst="rect">
            <a:avLst/>
          </a:prstGeom>
          <a:noFill/>
          <a:ln/>
        </p:spPr>
        <p:txBody>
          <a:bodyPr wrap="square" lIns="0" tIns="0" rIns="0" bIns="0" rtlCol="0" anchor="t"/>
          <a:lstStyle/>
          <a:p>
            <a:pPr algn="l" indent="0" marL="0">
              <a:lnSpc>
                <a:spcPts val="1318"/>
              </a:lnSpc>
              <a:buNone/>
            </a:pPr>
            <a:r>
              <a:rPr lang="en-US" sz="850" dirty="0">
                <a:solidFill>
                  <a:srgbClr val="044BD9"/>
                </a:solidFill>
                <a:latin typeface="Poppins Medium" pitchFamily="34" charset="0"/>
                <a:ea typeface="Poppins Medium" pitchFamily="34" charset="-122"/>
                <a:cs typeface="Poppins Medium" pitchFamily="34" charset="-120"/>
              </a:rPr>
              <a:t>01</a:t>
            </a:r>
            <a:endParaRPr lang="en-US" sz="850" dirty="0"/>
          </a:p>
        </p:txBody>
      </p:sp>
      <p:sp>
        <p:nvSpPr>
          <p:cNvPr id="49" name="Text"/>
          <p:cNvSpPr txBox="1"/>
          <p:nvPr/>
        </p:nvSpPr>
        <p:spPr>
          <a:xfrm>
            <a:off x="857250" y="3204058"/>
            <a:ext cx="1447129" cy="182606"/>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AI engineering</a:t>
            </a:r>
            <a:endParaRPr lang="en-US" sz="1150" dirty="0"/>
          </a:p>
        </p:txBody>
      </p:sp>
      <p:sp>
        <p:nvSpPr>
          <p:cNvPr id="50" name="Text"/>
          <p:cNvSpPr txBox="1"/>
          <p:nvPr/>
        </p:nvSpPr>
        <p:spPr>
          <a:xfrm>
            <a:off x="971550" y="3641141"/>
            <a:ext cx="1392448"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Knowledge</a:t>
            </a:r>
            <a:endParaRPr lang="en-US" sz="950" dirty="0"/>
          </a:p>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integration and RAG</a:t>
            </a:r>
            <a:endParaRPr lang="en-US" sz="950" dirty="0"/>
          </a:p>
        </p:txBody>
      </p:sp>
      <p:sp>
        <p:nvSpPr>
          <p:cNvPr id="51" name="Text"/>
          <p:cNvSpPr txBox="1"/>
          <p:nvPr/>
        </p:nvSpPr>
        <p:spPr>
          <a:xfrm>
            <a:off x="971550" y="4029669"/>
            <a:ext cx="1392448"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Specialised</a:t>
            </a:r>
            <a:endParaRPr lang="en-US" sz="950" dirty="0"/>
          </a:p>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fine-tuning</a:t>
            </a:r>
            <a:endParaRPr lang="en-US" sz="950" dirty="0"/>
          </a:p>
        </p:txBody>
      </p:sp>
      <p:sp>
        <p:nvSpPr>
          <p:cNvPr id="52" name="Text"/>
          <p:cNvSpPr txBox="1"/>
          <p:nvPr/>
        </p:nvSpPr>
        <p:spPr>
          <a:xfrm>
            <a:off x="971550" y="4418198"/>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Multimodal intelligence</a:t>
            </a:r>
            <a:endParaRPr lang="en-US" sz="950" dirty="0"/>
          </a:p>
        </p:txBody>
      </p:sp>
      <p:sp>
        <p:nvSpPr>
          <p:cNvPr id="53" name="Text"/>
          <p:cNvSpPr txBox="1"/>
          <p:nvPr/>
        </p:nvSpPr>
        <p:spPr>
          <a:xfrm>
            <a:off x="971550" y="4806726"/>
            <a:ext cx="1332372" cy="168890"/>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Document AI</a:t>
            </a:r>
            <a:endParaRPr lang="en-US" sz="950" dirty="0"/>
          </a:p>
        </p:txBody>
      </p:sp>
      <p:sp>
        <p:nvSpPr>
          <p:cNvPr id="54" name="Text"/>
          <p:cNvSpPr txBox="1"/>
          <p:nvPr/>
        </p:nvSpPr>
        <p:spPr>
          <a:xfrm>
            <a:off x="2667030" y="2953146"/>
            <a:ext cx="1447129" cy="167335"/>
          </a:xfrm>
          <a:prstGeom prst="rect">
            <a:avLst/>
          </a:prstGeom>
          <a:noFill/>
          <a:ln/>
        </p:spPr>
        <p:txBody>
          <a:bodyPr wrap="square" lIns="0" tIns="0" rIns="0" bIns="0" rtlCol="0" anchor="t"/>
          <a:lstStyle/>
          <a:p>
            <a:pPr algn="l" indent="0" marL="0">
              <a:lnSpc>
                <a:spcPts val="1318"/>
              </a:lnSpc>
              <a:buNone/>
            </a:pPr>
            <a:r>
              <a:rPr lang="en-US" sz="850" dirty="0">
                <a:solidFill>
                  <a:srgbClr val="044BD9"/>
                </a:solidFill>
                <a:latin typeface="Poppins Medium" pitchFamily="34" charset="0"/>
                <a:ea typeface="Poppins Medium" pitchFamily="34" charset="-122"/>
                <a:cs typeface="Poppins Medium" pitchFamily="34" charset="-120"/>
              </a:rPr>
              <a:t>02</a:t>
            </a:r>
            <a:endParaRPr lang="en-US" sz="850" dirty="0"/>
          </a:p>
        </p:txBody>
      </p:sp>
      <p:sp>
        <p:nvSpPr>
          <p:cNvPr id="55" name="Text"/>
          <p:cNvSpPr txBox="1"/>
          <p:nvPr/>
        </p:nvSpPr>
        <p:spPr>
          <a:xfrm>
            <a:off x="2667030" y="3204058"/>
            <a:ext cx="1511320" cy="365120"/>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Agentic</a:t>
            </a:r>
            <a:endParaRPr lang="en-US" sz="1150" dirty="0"/>
          </a:p>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automation</a:t>
            </a:r>
            <a:endParaRPr lang="en-US" sz="1150" dirty="0"/>
          </a:p>
        </p:txBody>
      </p:sp>
      <p:sp>
        <p:nvSpPr>
          <p:cNvPr id="56" name="Text"/>
          <p:cNvSpPr txBox="1"/>
          <p:nvPr/>
        </p:nvSpPr>
        <p:spPr>
          <a:xfrm>
            <a:off x="2781330" y="3641141"/>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Agentic process automation</a:t>
            </a:r>
            <a:endParaRPr lang="en-US" sz="950" dirty="0"/>
          </a:p>
        </p:txBody>
      </p:sp>
      <p:sp>
        <p:nvSpPr>
          <p:cNvPr id="57" name="Text"/>
          <p:cNvSpPr txBox="1"/>
          <p:nvPr/>
        </p:nvSpPr>
        <p:spPr>
          <a:xfrm>
            <a:off x="2781330" y="4029669"/>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Custom tools, MCP servers and APIs</a:t>
            </a:r>
            <a:endParaRPr lang="en-US" sz="950" dirty="0"/>
          </a:p>
        </p:txBody>
      </p:sp>
      <p:sp>
        <p:nvSpPr>
          <p:cNvPr id="58" name="Text"/>
          <p:cNvSpPr txBox="1"/>
          <p:nvPr/>
        </p:nvSpPr>
        <p:spPr>
          <a:xfrm>
            <a:off x="2781330" y="4418198"/>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WhatsApp sales agents</a:t>
            </a:r>
            <a:endParaRPr lang="en-US" sz="950" dirty="0"/>
          </a:p>
        </p:txBody>
      </p:sp>
      <p:sp>
        <p:nvSpPr>
          <p:cNvPr id="59" name="Text"/>
          <p:cNvSpPr txBox="1"/>
          <p:nvPr/>
        </p:nvSpPr>
        <p:spPr>
          <a:xfrm>
            <a:off x="2781330" y="4806726"/>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Claims and case handling</a:t>
            </a:r>
            <a:endParaRPr lang="en-US" sz="950" dirty="0"/>
          </a:p>
        </p:txBody>
      </p:sp>
      <p:sp>
        <p:nvSpPr>
          <p:cNvPr id="60" name="Text"/>
          <p:cNvSpPr txBox="1"/>
          <p:nvPr/>
        </p:nvSpPr>
        <p:spPr>
          <a:xfrm>
            <a:off x="4476720" y="2953146"/>
            <a:ext cx="1447129" cy="167335"/>
          </a:xfrm>
          <a:prstGeom prst="rect">
            <a:avLst/>
          </a:prstGeom>
          <a:noFill/>
          <a:ln/>
        </p:spPr>
        <p:txBody>
          <a:bodyPr wrap="square" lIns="0" tIns="0" rIns="0" bIns="0" rtlCol="0" anchor="t"/>
          <a:lstStyle/>
          <a:p>
            <a:pPr algn="l" indent="0" marL="0">
              <a:lnSpc>
                <a:spcPts val="1318"/>
              </a:lnSpc>
              <a:buNone/>
            </a:pPr>
            <a:r>
              <a:rPr lang="en-US" sz="850" dirty="0">
                <a:solidFill>
                  <a:srgbClr val="044BD9"/>
                </a:solidFill>
                <a:latin typeface="Poppins Medium" pitchFamily="34" charset="0"/>
                <a:ea typeface="Poppins Medium" pitchFamily="34" charset="-122"/>
                <a:cs typeface="Poppins Medium" pitchFamily="34" charset="-120"/>
              </a:rPr>
              <a:t>03</a:t>
            </a:r>
            <a:endParaRPr lang="en-US" sz="850" dirty="0"/>
          </a:p>
        </p:txBody>
      </p:sp>
      <p:sp>
        <p:nvSpPr>
          <p:cNvPr id="61" name="Text"/>
          <p:cNvSpPr txBox="1"/>
          <p:nvPr/>
        </p:nvSpPr>
        <p:spPr>
          <a:xfrm>
            <a:off x="4476720" y="3204058"/>
            <a:ext cx="1511320" cy="365120"/>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System integration</a:t>
            </a:r>
            <a:endParaRPr lang="en-US" sz="1150" dirty="0"/>
          </a:p>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and consulting</a:t>
            </a:r>
            <a:endParaRPr lang="en-US" sz="1150" dirty="0"/>
          </a:p>
        </p:txBody>
      </p:sp>
      <p:sp>
        <p:nvSpPr>
          <p:cNvPr id="62" name="Text"/>
          <p:cNvSpPr txBox="1"/>
          <p:nvPr/>
        </p:nvSpPr>
        <p:spPr>
          <a:xfrm>
            <a:off x="4591020" y="3641141"/>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Strategy before the build</a:t>
            </a:r>
            <a:endParaRPr lang="en-US" sz="950" dirty="0"/>
          </a:p>
        </p:txBody>
      </p:sp>
      <p:sp>
        <p:nvSpPr>
          <p:cNvPr id="63" name="Text"/>
          <p:cNvSpPr txBox="1"/>
          <p:nvPr/>
        </p:nvSpPr>
        <p:spPr>
          <a:xfrm>
            <a:off x="4591020" y="4029669"/>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Replace legacy systems</a:t>
            </a:r>
            <a:endParaRPr lang="en-US" sz="950" dirty="0"/>
          </a:p>
        </p:txBody>
      </p:sp>
      <p:sp>
        <p:nvSpPr>
          <p:cNvPr id="64" name="Text"/>
          <p:cNvSpPr txBox="1"/>
          <p:nvPr/>
        </p:nvSpPr>
        <p:spPr>
          <a:xfrm>
            <a:off x="4591020" y="4418198"/>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Connect third-party portals</a:t>
            </a:r>
            <a:endParaRPr lang="en-US" sz="950" dirty="0"/>
          </a:p>
        </p:txBody>
      </p:sp>
      <p:sp>
        <p:nvSpPr>
          <p:cNvPr id="65" name="Text"/>
          <p:cNvSpPr txBox="1"/>
          <p:nvPr/>
        </p:nvSpPr>
        <p:spPr>
          <a:xfrm>
            <a:off x="4591020" y="4806726"/>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Take over projects midway</a:t>
            </a:r>
            <a:endParaRPr lang="en-US" sz="950" dirty="0"/>
          </a:p>
        </p:txBody>
      </p:sp>
      <p:sp>
        <p:nvSpPr>
          <p:cNvPr id="66" name="Text"/>
          <p:cNvSpPr txBox="1"/>
          <p:nvPr/>
        </p:nvSpPr>
        <p:spPr>
          <a:xfrm>
            <a:off x="6286500" y="2953146"/>
            <a:ext cx="1447129" cy="167335"/>
          </a:xfrm>
          <a:prstGeom prst="rect">
            <a:avLst/>
          </a:prstGeom>
          <a:noFill/>
          <a:ln/>
        </p:spPr>
        <p:txBody>
          <a:bodyPr wrap="square" lIns="0" tIns="0" rIns="0" bIns="0" rtlCol="0" anchor="t"/>
          <a:lstStyle/>
          <a:p>
            <a:pPr algn="l" indent="0" marL="0">
              <a:lnSpc>
                <a:spcPts val="1318"/>
              </a:lnSpc>
              <a:buNone/>
            </a:pPr>
            <a:r>
              <a:rPr lang="en-US" sz="850" dirty="0">
                <a:solidFill>
                  <a:srgbClr val="044BD9"/>
                </a:solidFill>
                <a:latin typeface="Poppins Medium" pitchFamily="34" charset="0"/>
                <a:ea typeface="Poppins Medium" pitchFamily="34" charset="-122"/>
                <a:cs typeface="Poppins Medium" pitchFamily="34" charset="-120"/>
              </a:rPr>
              <a:t>04</a:t>
            </a:r>
            <a:endParaRPr lang="en-US" sz="850" dirty="0"/>
          </a:p>
        </p:txBody>
      </p:sp>
      <p:sp>
        <p:nvSpPr>
          <p:cNvPr id="67" name="Text"/>
          <p:cNvSpPr txBox="1"/>
          <p:nvPr/>
        </p:nvSpPr>
        <p:spPr>
          <a:xfrm>
            <a:off x="6286500" y="3204058"/>
            <a:ext cx="1511320" cy="365120"/>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Computer vision</a:t>
            </a:r>
            <a:endParaRPr lang="en-US" sz="1150" dirty="0"/>
          </a:p>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and smart city</a:t>
            </a:r>
            <a:endParaRPr lang="en-US" sz="1150" dirty="0"/>
          </a:p>
        </p:txBody>
      </p:sp>
      <p:sp>
        <p:nvSpPr>
          <p:cNvPr id="68" name="Text"/>
          <p:cNvSpPr txBox="1"/>
          <p:nvPr/>
        </p:nvSpPr>
        <p:spPr>
          <a:xfrm>
            <a:off x="6400800" y="3641141"/>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People counting and occupancy</a:t>
            </a:r>
            <a:endParaRPr lang="en-US" sz="950" dirty="0"/>
          </a:p>
        </p:txBody>
      </p:sp>
      <p:sp>
        <p:nvSpPr>
          <p:cNvPr id="69" name="Text"/>
          <p:cNvSpPr txBox="1"/>
          <p:nvPr/>
        </p:nvSpPr>
        <p:spPr>
          <a:xfrm>
            <a:off x="6400800" y="4029669"/>
            <a:ext cx="1339870" cy="168890"/>
          </a:xfrm>
          <a:prstGeom prst="rect">
            <a:avLst/>
          </a:prstGeom>
          <a:noFill/>
          <a:ln/>
        </p:spPr>
        <p:txBody>
          <a:bodyPr wrap="non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Vehicle classification</a:t>
            </a:r>
            <a:endParaRPr lang="en-US" sz="950" dirty="0"/>
          </a:p>
        </p:txBody>
      </p:sp>
      <p:sp>
        <p:nvSpPr>
          <p:cNvPr id="70" name="Text"/>
          <p:cNvSpPr txBox="1"/>
          <p:nvPr/>
        </p:nvSpPr>
        <p:spPr>
          <a:xfrm>
            <a:off x="6400800" y="4249308"/>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Speed detection and flow analysis</a:t>
            </a:r>
            <a:endParaRPr lang="en-US" sz="950" dirty="0"/>
          </a:p>
        </p:txBody>
      </p:sp>
      <p:sp>
        <p:nvSpPr>
          <p:cNvPr id="71" name="Text"/>
          <p:cNvSpPr txBox="1"/>
          <p:nvPr/>
        </p:nvSpPr>
        <p:spPr>
          <a:xfrm>
            <a:off x="6400800" y="4637837"/>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Smart city video analytics</a:t>
            </a:r>
            <a:endParaRPr lang="en-US" sz="950" dirty="0"/>
          </a:p>
        </p:txBody>
      </p:sp>
      <p:sp>
        <p:nvSpPr>
          <p:cNvPr id="72" name="Text"/>
          <p:cNvSpPr txBox="1"/>
          <p:nvPr/>
        </p:nvSpPr>
        <p:spPr>
          <a:xfrm>
            <a:off x="8096280" y="2953146"/>
            <a:ext cx="1447129" cy="167335"/>
          </a:xfrm>
          <a:prstGeom prst="rect">
            <a:avLst/>
          </a:prstGeom>
          <a:noFill/>
          <a:ln/>
        </p:spPr>
        <p:txBody>
          <a:bodyPr wrap="square" lIns="0" tIns="0" rIns="0" bIns="0" rtlCol="0" anchor="t"/>
          <a:lstStyle/>
          <a:p>
            <a:pPr algn="l" indent="0" marL="0">
              <a:lnSpc>
                <a:spcPts val="1318"/>
              </a:lnSpc>
              <a:buNone/>
            </a:pPr>
            <a:r>
              <a:rPr lang="en-US" sz="850" dirty="0">
                <a:solidFill>
                  <a:srgbClr val="044BD9"/>
                </a:solidFill>
                <a:latin typeface="Poppins Medium" pitchFamily="34" charset="0"/>
                <a:ea typeface="Poppins Medium" pitchFamily="34" charset="-122"/>
                <a:cs typeface="Poppins Medium" pitchFamily="34" charset="-120"/>
              </a:rPr>
              <a:t>05</a:t>
            </a:r>
            <a:endParaRPr lang="en-US" sz="850" dirty="0"/>
          </a:p>
        </p:txBody>
      </p:sp>
      <p:sp>
        <p:nvSpPr>
          <p:cNvPr id="73" name="Text"/>
          <p:cNvSpPr txBox="1"/>
          <p:nvPr/>
        </p:nvSpPr>
        <p:spPr>
          <a:xfrm>
            <a:off x="8096280" y="3204058"/>
            <a:ext cx="1511320" cy="365120"/>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Web and</a:t>
            </a:r>
            <a:endParaRPr lang="en-US" sz="1150" dirty="0"/>
          </a:p>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mobile apps</a:t>
            </a:r>
            <a:endParaRPr lang="en-US" sz="1150" dirty="0"/>
          </a:p>
        </p:txBody>
      </p:sp>
      <p:sp>
        <p:nvSpPr>
          <p:cNvPr id="74" name="Text"/>
          <p:cNvSpPr txBox="1"/>
          <p:nvPr/>
        </p:nvSpPr>
        <p:spPr>
          <a:xfrm>
            <a:off x="8210580" y="3641141"/>
            <a:ext cx="1332372" cy="168890"/>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Product strategy</a:t>
            </a:r>
            <a:endParaRPr lang="en-US" sz="950" dirty="0"/>
          </a:p>
        </p:txBody>
      </p:sp>
      <p:sp>
        <p:nvSpPr>
          <p:cNvPr id="75" name="Text"/>
          <p:cNvSpPr txBox="1"/>
          <p:nvPr/>
        </p:nvSpPr>
        <p:spPr>
          <a:xfrm>
            <a:off x="8210580" y="3860780"/>
            <a:ext cx="1332372" cy="168890"/>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UI/UX design</a:t>
            </a:r>
            <a:endParaRPr lang="en-US" sz="950" dirty="0"/>
          </a:p>
        </p:txBody>
      </p:sp>
      <p:sp>
        <p:nvSpPr>
          <p:cNvPr id="76" name="Text"/>
          <p:cNvSpPr txBox="1"/>
          <p:nvPr/>
        </p:nvSpPr>
        <p:spPr>
          <a:xfrm>
            <a:off x="8210580" y="4080419"/>
            <a:ext cx="1332372" cy="168890"/>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Web platforms</a:t>
            </a:r>
            <a:endParaRPr lang="en-US" sz="950" dirty="0"/>
          </a:p>
        </p:txBody>
      </p:sp>
      <p:sp>
        <p:nvSpPr>
          <p:cNvPr id="77" name="Text"/>
          <p:cNvSpPr txBox="1"/>
          <p:nvPr/>
        </p:nvSpPr>
        <p:spPr>
          <a:xfrm>
            <a:off x="8210580" y="4300149"/>
            <a:ext cx="1332372" cy="168890"/>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Mobile apps</a:t>
            </a:r>
            <a:endParaRPr lang="en-US" sz="950" dirty="0"/>
          </a:p>
        </p:txBody>
      </p:sp>
      <p:sp>
        <p:nvSpPr>
          <p:cNvPr id="78" name="Text"/>
          <p:cNvSpPr txBox="1"/>
          <p:nvPr/>
        </p:nvSpPr>
        <p:spPr>
          <a:xfrm>
            <a:off x="9905970" y="2953146"/>
            <a:ext cx="1447129" cy="167335"/>
          </a:xfrm>
          <a:prstGeom prst="rect">
            <a:avLst/>
          </a:prstGeom>
          <a:noFill/>
          <a:ln/>
        </p:spPr>
        <p:txBody>
          <a:bodyPr wrap="square" lIns="0" tIns="0" rIns="0" bIns="0" rtlCol="0" anchor="t"/>
          <a:lstStyle/>
          <a:p>
            <a:pPr algn="l" indent="0" marL="0">
              <a:lnSpc>
                <a:spcPts val="1318"/>
              </a:lnSpc>
              <a:buNone/>
            </a:pPr>
            <a:r>
              <a:rPr lang="en-US" sz="850" dirty="0">
                <a:solidFill>
                  <a:srgbClr val="044BD9"/>
                </a:solidFill>
                <a:latin typeface="Poppins Medium" pitchFamily="34" charset="0"/>
                <a:ea typeface="Poppins Medium" pitchFamily="34" charset="-122"/>
                <a:cs typeface="Poppins Medium" pitchFamily="34" charset="-120"/>
              </a:rPr>
              <a:t>06</a:t>
            </a:r>
            <a:endParaRPr lang="en-US" sz="850" dirty="0"/>
          </a:p>
        </p:txBody>
      </p:sp>
      <p:sp>
        <p:nvSpPr>
          <p:cNvPr id="79" name="Text"/>
          <p:cNvSpPr txBox="1"/>
          <p:nvPr/>
        </p:nvSpPr>
        <p:spPr>
          <a:xfrm>
            <a:off x="9905970" y="3204058"/>
            <a:ext cx="1511320" cy="365120"/>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Data, RPA</a:t>
            </a:r>
            <a:endParaRPr lang="en-US" sz="1150" dirty="0"/>
          </a:p>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and MLOps</a:t>
            </a:r>
            <a:endParaRPr lang="en-US" sz="1150" dirty="0"/>
          </a:p>
        </p:txBody>
      </p:sp>
      <p:sp>
        <p:nvSpPr>
          <p:cNvPr id="80" name="Text"/>
          <p:cNvSpPr txBox="1"/>
          <p:nvPr/>
        </p:nvSpPr>
        <p:spPr>
          <a:xfrm>
            <a:off x="10020270" y="3641141"/>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Data science and analytics</a:t>
            </a:r>
            <a:endParaRPr lang="en-US" sz="950" dirty="0"/>
          </a:p>
        </p:txBody>
      </p:sp>
      <p:sp>
        <p:nvSpPr>
          <p:cNvPr id="81" name="Text"/>
          <p:cNvSpPr txBox="1"/>
          <p:nvPr/>
        </p:nvSpPr>
        <p:spPr>
          <a:xfrm>
            <a:off x="10020270" y="4029669"/>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Robotic process automation</a:t>
            </a:r>
            <a:endParaRPr lang="en-US" sz="950" dirty="0"/>
          </a:p>
        </p:txBody>
      </p:sp>
      <p:sp>
        <p:nvSpPr>
          <p:cNvPr id="82" name="Text"/>
          <p:cNvSpPr txBox="1"/>
          <p:nvPr/>
        </p:nvSpPr>
        <p:spPr>
          <a:xfrm>
            <a:off x="10020270" y="4418198"/>
            <a:ext cx="1332372" cy="168890"/>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Agentic RPA</a:t>
            </a:r>
            <a:endParaRPr lang="en-US" sz="950" dirty="0"/>
          </a:p>
        </p:txBody>
      </p:sp>
      <p:sp>
        <p:nvSpPr>
          <p:cNvPr id="83" name="Text"/>
          <p:cNvSpPr txBox="1"/>
          <p:nvPr/>
        </p:nvSpPr>
        <p:spPr>
          <a:xfrm>
            <a:off x="10020270" y="4637837"/>
            <a:ext cx="1332372"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DevOps and MLOps pipelines</a:t>
            </a:r>
            <a:endParaRPr lang="en-US" sz="950" dirty="0"/>
          </a:p>
        </p:txBody>
      </p:sp>
      <p:sp>
        <p:nvSpPr>
          <p:cNvPr id="84" name="Text"/>
          <p:cNvSpPr txBox="1"/>
          <p:nvPr/>
        </p:nvSpPr>
        <p:spPr>
          <a:xfrm>
            <a:off x="857250" y="5560649"/>
            <a:ext cx="2355677" cy="162855"/>
          </a:xfrm>
          <a:prstGeom prst="rect">
            <a:avLst/>
          </a:prstGeom>
          <a:noFill/>
          <a:ln/>
        </p:spPr>
        <p:txBody>
          <a:bodyPr wrap="square" lIns="0" tIns="0" rIns="0" bIns="0" rtlCol="0" anchor="t"/>
          <a:lstStyle/>
          <a:p>
            <a:pPr algn="l" indent="0" marL="0">
              <a:lnSpc>
                <a:spcPts val="1282"/>
              </a:lnSpc>
              <a:buNone/>
            </a:pPr>
            <a:r>
              <a:rPr lang="en-US" sz="950" dirty="0">
                <a:solidFill>
                  <a:srgbClr val="000000"/>
                </a:solidFill>
                <a:latin typeface="Poppins Medium" pitchFamily="34" charset="0"/>
                <a:ea typeface="Poppins Medium" pitchFamily="34" charset="-122"/>
                <a:cs typeface="Poppins Medium" pitchFamily="34" charset="-120"/>
              </a:rPr>
              <a:t>Method</a:t>
            </a:r>
            <a:endParaRPr lang="en-US" sz="950" dirty="0"/>
          </a:p>
        </p:txBody>
      </p:sp>
      <p:sp>
        <p:nvSpPr>
          <p:cNvPr id="85" name="Text"/>
          <p:cNvSpPr txBox="1"/>
          <p:nvPr/>
        </p:nvSpPr>
        <p:spPr>
          <a:xfrm>
            <a:off x="857250" y="5747187"/>
            <a:ext cx="2359061" cy="154259"/>
          </a:xfrm>
          <a:prstGeom prst="rect">
            <a:avLst/>
          </a:prstGeom>
          <a:noFill/>
          <a:ln/>
        </p:spPr>
        <p:txBody>
          <a:bodyPr wrap="none" lIns="0" tIns="0" rIns="0" bIns="0" rtlCol="0" anchor="t"/>
          <a:lstStyle/>
          <a:p>
            <a:pPr algn="l" indent="0" marL="0">
              <a:lnSpc>
                <a:spcPts val="1215"/>
              </a:lnSpc>
              <a:buNone/>
            </a:pPr>
            <a:r>
              <a:rPr lang="en-US" sz="900" dirty="0">
                <a:solidFill>
                  <a:srgbClr val="1F2937"/>
                </a:solidFill>
                <a:latin typeface="Poppins Light" pitchFamily="34" charset="0"/>
                <a:ea typeface="Poppins Light" pitchFamily="34" charset="-122"/>
                <a:cs typeface="Poppins Light" pitchFamily="34" charset="-120"/>
              </a:rPr>
              <a:t>Discover · Design · Implement · Improve</a:t>
            </a:r>
            <a:endParaRPr lang="en-US" sz="900" dirty="0"/>
          </a:p>
        </p:txBody>
      </p:sp>
      <p:sp>
        <p:nvSpPr>
          <p:cNvPr id="86" name="Text"/>
          <p:cNvSpPr txBox="1"/>
          <p:nvPr/>
        </p:nvSpPr>
        <p:spPr>
          <a:xfrm>
            <a:off x="3571921" y="5560649"/>
            <a:ext cx="2355677" cy="162855"/>
          </a:xfrm>
          <a:prstGeom prst="rect">
            <a:avLst/>
          </a:prstGeom>
          <a:noFill/>
          <a:ln/>
        </p:spPr>
        <p:txBody>
          <a:bodyPr wrap="square" lIns="0" tIns="0" rIns="0" bIns="0" rtlCol="0" anchor="t"/>
          <a:lstStyle/>
          <a:p>
            <a:pPr algn="l" indent="0" marL="0">
              <a:lnSpc>
                <a:spcPts val="1282"/>
              </a:lnSpc>
              <a:buNone/>
            </a:pPr>
            <a:r>
              <a:rPr lang="en-US" sz="950" dirty="0">
                <a:solidFill>
                  <a:srgbClr val="000000"/>
                </a:solidFill>
                <a:latin typeface="Poppins Medium" pitchFamily="34" charset="0"/>
                <a:ea typeface="Poppins Medium" pitchFamily="34" charset="-122"/>
                <a:cs typeface="Poppins Medium" pitchFamily="34" charset="-120"/>
              </a:rPr>
              <a:t>Architecture</a:t>
            </a:r>
            <a:endParaRPr lang="en-US" sz="950" dirty="0"/>
          </a:p>
        </p:txBody>
      </p:sp>
      <p:sp>
        <p:nvSpPr>
          <p:cNvPr id="87" name="Text"/>
          <p:cNvSpPr txBox="1"/>
          <p:nvPr/>
        </p:nvSpPr>
        <p:spPr>
          <a:xfrm>
            <a:off x="3571921" y="5747187"/>
            <a:ext cx="2355677" cy="154259"/>
          </a:xfrm>
          <a:prstGeom prst="rect">
            <a:avLst/>
          </a:prstGeom>
          <a:noFill/>
          <a:ln/>
        </p:spPr>
        <p:txBody>
          <a:bodyPr wrap="square" lIns="0" tIns="0" rIns="0" bIns="0" rtlCol="0" anchor="t"/>
          <a:lstStyle/>
          <a:p>
            <a:pPr algn="l" indent="0" marL="0">
              <a:lnSpc>
                <a:spcPts val="1215"/>
              </a:lnSpc>
              <a:buNone/>
            </a:pPr>
            <a:r>
              <a:rPr lang="en-US" sz="900" dirty="0">
                <a:solidFill>
                  <a:srgbClr val="1F2937"/>
                </a:solidFill>
                <a:latin typeface="Poppins Light" pitchFamily="34" charset="0"/>
                <a:ea typeface="Poppins Light" pitchFamily="34" charset="-122"/>
                <a:cs typeface="Poppins Light" pitchFamily="34" charset="-120"/>
              </a:rPr>
              <a:t>A brain, an action layer and guardrails</a:t>
            </a:r>
            <a:endParaRPr lang="en-US" sz="900" dirty="0"/>
          </a:p>
        </p:txBody>
      </p:sp>
      <p:sp>
        <p:nvSpPr>
          <p:cNvPr id="88" name="Text"/>
          <p:cNvSpPr txBox="1"/>
          <p:nvPr/>
        </p:nvSpPr>
        <p:spPr>
          <a:xfrm>
            <a:off x="6286500" y="5560649"/>
            <a:ext cx="2355677" cy="162855"/>
          </a:xfrm>
          <a:prstGeom prst="rect">
            <a:avLst/>
          </a:prstGeom>
          <a:noFill/>
          <a:ln/>
        </p:spPr>
        <p:txBody>
          <a:bodyPr wrap="square" lIns="0" tIns="0" rIns="0" bIns="0" rtlCol="0" anchor="t"/>
          <a:lstStyle/>
          <a:p>
            <a:pPr algn="l" indent="0" marL="0">
              <a:lnSpc>
                <a:spcPts val="1282"/>
              </a:lnSpc>
              <a:buNone/>
            </a:pPr>
            <a:r>
              <a:rPr lang="en-US" sz="950" dirty="0">
                <a:solidFill>
                  <a:srgbClr val="000000"/>
                </a:solidFill>
                <a:latin typeface="Poppins Medium" pitchFamily="34" charset="0"/>
                <a:ea typeface="Poppins Medium" pitchFamily="34" charset="-122"/>
                <a:cs typeface="Poppins Medium" pitchFamily="34" charset="-120"/>
              </a:rPr>
              <a:t>Platforms</a:t>
            </a:r>
            <a:endParaRPr lang="en-US" sz="950" dirty="0"/>
          </a:p>
        </p:txBody>
      </p:sp>
      <p:sp>
        <p:nvSpPr>
          <p:cNvPr id="89" name="Text"/>
          <p:cNvSpPr txBox="1"/>
          <p:nvPr/>
        </p:nvSpPr>
        <p:spPr>
          <a:xfrm>
            <a:off x="6286500" y="5747187"/>
            <a:ext cx="2359061" cy="154259"/>
          </a:xfrm>
          <a:prstGeom prst="rect">
            <a:avLst/>
          </a:prstGeom>
          <a:noFill/>
          <a:ln/>
        </p:spPr>
        <p:txBody>
          <a:bodyPr wrap="none" lIns="0" tIns="0" rIns="0" bIns="0" rtlCol="0" anchor="t"/>
          <a:lstStyle/>
          <a:p>
            <a:pPr algn="l" indent="0" marL="0">
              <a:lnSpc>
                <a:spcPts val="1215"/>
              </a:lnSpc>
              <a:buNone/>
            </a:pPr>
            <a:r>
              <a:rPr lang="en-US" sz="900" dirty="0">
                <a:solidFill>
                  <a:srgbClr val="1F2937"/>
                </a:solidFill>
                <a:latin typeface="Poppins Light" pitchFamily="34" charset="0"/>
                <a:ea typeface="Poppins Light" pitchFamily="34" charset="-122"/>
                <a:cs typeface="Poppins Light" pitchFamily="34" charset="-120"/>
              </a:rPr>
              <a:t>Models, compute and cloud per project</a:t>
            </a:r>
            <a:endParaRPr lang="en-US" sz="900" dirty="0"/>
          </a:p>
        </p:txBody>
      </p:sp>
      <p:sp>
        <p:nvSpPr>
          <p:cNvPr id="90" name="Text"/>
          <p:cNvSpPr txBox="1"/>
          <p:nvPr/>
        </p:nvSpPr>
        <p:spPr>
          <a:xfrm>
            <a:off x="9001171" y="5560649"/>
            <a:ext cx="2355677" cy="162855"/>
          </a:xfrm>
          <a:prstGeom prst="rect">
            <a:avLst/>
          </a:prstGeom>
          <a:noFill/>
          <a:ln/>
        </p:spPr>
        <p:txBody>
          <a:bodyPr wrap="square" lIns="0" tIns="0" rIns="0" bIns="0" rtlCol="0" anchor="t"/>
          <a:lstStyle/>
          <a:p>
            <a:pPr algn="l" indent="0" marL="0">
              <a:lnSpc>
                <a:spcPts val="1282"/>
              </a:lnSpc>
              <a:buNone/>
            </a:pPr>
            <a:r>
              <a:rPr lang="en-US" sz="950" dirty="0">
                <a:solidFill>
                  <a:srgbClr val="000000"/>
                </a:solidFill>
                <a:latin typeface="Poppins Medium" pitchFamily="34" charset="0"/>
                <a:ea typeface="Poppins Medium" pitchFamily="34" charset="-122"/>
                <a:cs typeface="Poppins Medium" pitchFamily="34" charset="-120"/>
              </a:rPr>
              <a:t>Products</a:t>
            </a:r>
            <a:endParaRPr lang="en-US" sz="950" dirty="0"/>
          </a:p>
        </p:txBody>
      </p:sp>
      <p:sp>
        <p:nvSpPr>
          <p:cNvPr id="91" name="Text"/>
          <p:cNvSpPr txBox="1"/>
          <p:nvPr/>
        </p:nvSpPr>
        <p:spPr>
          <a:xfrm>
            <a:off x="9001171" y="5747187"/>
            <a:ext cx="2355677" cy="154259"/>
          </a:xfrm>
          <a:prstGeom prst="rect">
            <a:avLst/>
          </a:prstGeom>
          <a:noFill/>
          <a:ln/>
        </p:spPr>
        <p:txBody>
          <a:bodyPr wrap="square" lIns="0" tIns="0" rIns="0" bIns="0" rtlCol="0" anchor="t"/>
          <a:lstStyle/>
          <a:p>
            <a:pPr algn="l" indent="0" marL="0">
              <a:lnSpc>
                <a:spcPts val="1215"/>
              </a:lnSpc>
              <a:buNone/>
            </a:pPr>
            <a:r>
              <a:rPr lang="en-US" sz="900" dirty="0">
                <a:solidFill>
                  <a:srgbClr val="1F2937"/>
                </a:solidFill>
                <a:latin typeface="Poppins Light" pitchFamily="34" charset="0"/>
                <a:ea typeface="Poppins Light" pitchFamily="34" charset="-122"/>
                <a:cs typeface="Poppins Light" pitchFamily="34" charset="-120"/>
              </a:rPr>
              <a:t>Kiralytics and avatars, ready to deploy</a:t>
            </a:r>
            <a:endParaRPr lang="en-US" sz="900" dirty="0"/>
          </a:p>
        </p:txBody>
      </p:sp>
      <p:sp>
        <p:nvSpPr>
          <p:cNvPr id="92"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93"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94"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What we do</a:t>
            </a:r>
            <a:endParaRPr lang="en-US" sz="850" dirty="0"/>
          </a:p>
        </p:txBody>
      </p:sp>
      <p:sp>
        <p:nvSpPr>
          <p:cNvPr id="95"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96"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97"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98"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alphv.com/services and its six service pages; alphv.com/how-we-work; alphv.com/products (October 2026).</a:t>
            </a:r>
            <a:endParaRPr lang="en-US" sz="850" dirty="0"/>
          </a:p>
        </p:txBody>
      </p:sp>
      <p:sp>
        <p:nvSpPr>
          <p:cNvPr id="99" name="Text"/>
          <p:cNvSpPr txBox="1"/>
          <p:nvPr/>
        </p:nvSpPr>
        <p:spPr>
          <a:xfrm>
            <a:off x="9381195"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100" name="Text"/>
          <p:cNvSpPr txBox="1"/>
          <p:nvPr/>
        </p:nvSpPr>
        <p:spPr>
          <a:xfrm>
            <a:off x="988923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101" name="Text"/>
          <p:cNvSpPr txBox="1"/>
          <p:nvPr/>
        </p:nvSpPr>
        <p:spPr>
          <a:xfrm>
            <a:off x="11380714" y="6401532"/>
            <a:ext cx="125547"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1766987" cy="254020"/>
          </a:xfrm>
          <a:prstGeom prst="roundRect">
            <a:avLst>
              <a:gd name="adj" fmla="val 50000"/>
            </a:avLst>
          </a:prstGeom>
          <a:ln w="6350">
            <a:solidFill>
              <a:srgbClr val="155DFC"/>
            </a:solidFill>
            <a:prstDash val="solid"/>
          </a:ln>
        </p:spPr>
      </p:sp>
      <p:sp>
        <p:nvSpPr>
          <p:cNvPr id="3" name="card"/>
          <p:cNvSpPr/>
          <p:nvPr/>
        </p:nvSpPr>
        <p:spPr>
          <a:xfrm>
            <a:off x="714421" y="2333183"/>
            <a:ext cx="6355354" cy="902787"/>
          </a:xfrm>
          <a:prstGeom prst="roundRect">
            <a:avLst>
              <a:gd name="adj" fmla="val 16530"/>
            </a:avLst>
          </a:prstGeom>
          <a:solidFill>
            <a:srgbClr val="FFFFFF"/>
          </a:solidFill>
          <a:ln w="6350">
            <a:solidFill>
              <a:srgbClr val="F0F0F0"/>
            </a:solidFill>
            <a:prstDash val="solid"/>
          </a:ln>
        </p:spPr>
      </p:sp>
      <p:sp>
        <p:nvSpPr>
          <p:cNvPr id="4" name="tile"/>
          <p:cNvSpPr/>
          <p:nvPr/>
        </p:nvSpPr>
        <p:spPr>
          <a:xfrm>
            <a:off x="908091" y="2594061"/>
            <a:ext cx="381030" cy="381030"/>
          </a:xfrm>
          <a:prstGeom prst="roundRect">
            <a:avLst>
              <a:gd name="adj" fmla="val 29998"/>
            </a:avLst>
          </a:prstGeom>
          <a:solidFill>
            <a:srgbClr val="044BD9"/>
          </a:solidFill>
          <a:ln/>
        </p:spPr>
      </p:sp>
      <p:pic>
        <p:nvPicPr>
          <p:cNvPr id="5" name="Icon" descr="/tmp/deck-pptx-VwALqa/icon-40.png">    </p:cNvPr>
          <p:cNvPicPr>
            <a:picLocks noChangeAspect="1"/>
          </p:cNvPicPr>
          <p:nvPr/>
        </p:nvPicPr>
        <p:blipFill>
          <a:blip r:embed="rId1"/>
          <a:stretch>
            <a:fillRect/>
          </a:stretch>
        </p:blipFill>
        <p:spPr>
          <a:xfrm>
            <a:off x="1009680" y="2695651"/>
            <a:ext cx="177759" cy="177759"/>
          </a:xfrm>
          <a:prstGeom prst="rect">
            <a:avLst/>
          </a:prstGeom>
        </p:spPr>
      </p:pic>
      <p:sp>
        <p:nvSpPr>
          <p:cNvPr id="6" name="li::before"/>
          <p:cNvSpPr/>
          <p:nvPr/>
        </p:nvSpPr>
        <p:spPr>
          <a:xfrm>
            <a:off x="2965491" y="2552182"/>
            <a:ext cx="57150" cy="57150"/>
          </a:xfrm>
          <a:prstGeom prst="rect">
            <a:avLst/>
          </a:prstGeom>
          <a:solidFill>
            <a:srgbClr val="044BD9"/>
          </a:solidFill>
          <a:ln/>
        </p:spPr>
      </p:sp>
      <p:sp>
        <p:nvSpPr>
          <p:cNvPr id="7" name="li::before"/>
          <p:cNvSpPr/>
          <p:nvPr/>
        </p:nvSpPr>
        <p:spPr>
          <a:xfrm>
            <a:off x="2965491" y="2768072"/>
            <a:ext cx="57150" cy="57150"/>
          </a:xfrm>
          <a:prstGeom prst="rect">
            <a:avLst/>
          </a:prstGeom>
          <a:solidFill>
            <a:srgbClr val="044BD9"/>
          </a:solidFill>
          <a:ln/>
        </p:spPr>
      </p:sp>
      <p:sp>
        <p:nvSpPr>
          <p:cNvPr id="8" name="li::before"/>
          <p:cNvSpPr/>
          <p:nvPr/>
        </p:nvSpPr>
        <p:spPr>
          <a:xfrm>
            <a:off x="2965491" y="2983962"/>
            <a:ext cx="57150" cy="57150"/>
          </a:xfrm>
          <a:prstGeom prst="rect">
            <a:avLst/>
          </a:prstGeom>
          <a:solidFill>
            <a:srgbClr val="044BD9"/>
          </a:solidFill>
          <a:ln/>
        </p:spPr>
      </p:sp>
      <p:pic>
        <p:nvPicPr>
          <p:cNvPr id="9" name="Icon" descr="/tmp/deck-pptx-VwALqa/icon-41.png">    </p:cNvPr>
          <p:cNvPicPr>
            <a:picLocks noChangeAspect="1"/>
          </p:cNvPicPr>
          <p:nvPr/>
        </p:nvPicPr>
        <p:blipFill>
          <a:blip r:embed="rId2"/>
          <a:stretch>
            <a:fillRect/>
          </a:stretch>
        </p:blipFill>
        <p:spPr>
          <a:xfrm>
            <a:off x="7206295" y="2702052"/>
            <a:ext cx="165141" cy="165141"/>
          </a:xfrm>
          <a:prstGeom prst="rect">
            <a:avLst/>
          </a:prstGeom>
        </p:spPr>
      </p:pic>
      <p:sp>
        <p:nvSpPr>
          <p:cNvPr id="10" name="card"/>
          <p:cNvSpPr/>
          <p:nvPr/>
        </p:nvSpPr>
        <p:spPr>
          <a:xfrm>
            <a:off x="7507864" y="2333183"/>
            <a:ext cx="3969776" cy="902787"/>
          </a:xfrm>
          <a:prstGeom prst="roundRect">
            <a:avLst>
              <a:gd name="adj" fmla="val 16530"/>
            </a:avLst>
          </a:prstGeom>
          <a:solidFill>
            <a:srgbClr val="FFFFFF"/>
          </a:solidFill>
          <a:ln w="6350">
            <a:solidFill>
              <a:srgbClr val="F0F0F0"/>
            </a:solidFill>
            <a:prstDash val="solid"/>
          </a:ln>
        </p:spPr>
      </p:sp>
      <p:sp>
        <p:nvSpPr>
          <p:cNvPr id="11" name="card"/>
          <p:cNvSpPr/>
          <p:nvPr/>
        </p:nvSpPr>
        <p:spPr>
          <a:xfrm>
            <a:off x="714421" y="3331251"/>
            <a:ext cx="6355354" cy="902787"/>
          </a:xfrm>
          <a:prstGeom prst="roundRect">
            <a:avLst>
              <a:gd name="adj" fmla="val 16530"/>
            </a:avLst>
          </a:prstGeom>
          <a:solidFill>
            <a:srgbClr val="FFFFFF"/>
          </a:solidFill>
          <a:ln w="6350">
            <a:solidFill>
              <a:srgbClr val="F0F0F0"/>
            </a:solidFill>
            <a:prstDash val="solid"/>
          </a:ln>
        </p:spPr>
      </p:sp>
      <p:sp>
        <p:nvSpPr>
          <p:cNvPr id="12" name="tile"/>
          <p:cNvSpPr/>
          <p:nvPr/>
        </p:nvSpPr>
        <p:spPr>
          <a:xfrm>
            <a:off x="908091" y="3592129"/>
            <a:ext cx="381030" cy="381030"/>
          </a:xfrm>
          <a:prstGeom prst="roundRect">
            <a:avLst>
              <a:gd name="adj" fmla="val 29998"/>
            </a:avLst>
          </a:prstGeom>
          <a:solidFill>
            <a:srgbClr val="044BD9"/>
          </a:solidFill>
          <a:ln/>
        </p:spPr>
      </p:sp>
      <p:pic>
        <p:nvPicPr>
          <p:cNvPr id="13" name="Icon" descr="/tmp/deck-pptx-VwALqa/icon-42.png">    </p:cNvPr>
          <p:cNvPicPr>
            <a:picLocks noChangeAspect="1"/>
          </p:cNvPicPr>
          <p:nvPr/>
        </p:nvPicPr>
        <p:blipFill>
          <a:blip r:embed="rId3"/>
          <a:stretch>
            <a:fillRect/>
          </a:stretch>
        </p:blipFill>
        <p:spPr>
          <a:xfrm>
            <a:off x="1009680" y="3693719"/>
            <a:ext cx="177759" cy="177759"/>
          </a:xfrm>
          <a:prstGeom prst="rect">
            <a:avLst/>
          </a:prstGeom>
        </p:spPr>
      </p:pic>
      <p:sp>
        <p:nvSpPr>
          <p:cNvPr id="14" name="li::before"/>
          <p:cNvSpPr/>
          <p:nvPr/>
        </p:nvSpPr>
        <p:spPr>
          <a:xfrm>
            <a:off x="2965491" y="3550249"/>
            <a:ext cx="57150" cy="57150"/>
          </a:xfrm>
          <a:prstGeom prst="rect">
            <a:avLst/>
          </a:prstGeom>
          <a:solidFill>
            <a:srgbClr val="044BD9"/>
          </a:solidFill>
          <a:ln/>
        </p:spPr>
      </p:sp>
      <p:sp>
        <p:nvSpPr>
          <p:cNvPr id="15" name="li::before"/>
          <p:cNvSpPr/>
          <p:nvPr/>
        </p:nvSpPr>
        <p:spPr>
          <a:xfrm>
            <a:off x="2965491" y="3766139"/>
            <a:ext cx="57150" cy="57150"/>
          </a:xfrm>
          <a:prstGeom prst="rect">
            <a:avLst/>
          </a:prstGeom>
          <a:solidFill>
            <a:srgbClr val="044BD9"/>
          </a:solidFill>
          <a:ln/>
        </p:spPr>
      </p:sp>
      <p:sp>
        <p:nvSpPr>
          <p:cNvPr id="16" name="li::before"/>
          <p:cNvSpPr/>
          <p:nvPr/>
        </p:nvSpPr>
        <p:spPr>
          <a:xfrm>
            <a:off x="2965491" y="3982029"/>
            <a:ext cx="57150" cy="57150"/>
          </a:xfrm>
          <a:prstGeom prst="rect">
            <a:avLst/>
          </a:prstGeom>
          <a:solidFill>
            <a:srgbClr val="044BD9"/>
          </a:solidFill>
          <a:ln/>
        </p:spPr>
      </p:sp>
      <p:pic>
        <p:nvPicPr>
          <p:cNvPr id="17" name="Icon" descr="/tmp/deck-pptx-VwALqa/icon-43.png">    </p:cNvPr>
          <p:cNvPicPr>
            <a:picLocks noChangeAspect="1"/>
          </p:cNvPicPr>
          <p:nvPr/>
        </p:nvPicPr>
        <p:blipFill>
          <a:blip r:embed="rId4"/>
          <a:stretch>
            <a:fillRect/>
          </a:stretch>
        </p:blipFill>
        <p:spPr>
          <a:xfrm>
            <a:off x="7206295" y="3700028"/>
            <a:ext cx="165141" cy="165141"/>
          </a:xfrm>
          <a:prstGeom prst="rect">
            <a:avLst/>
          </a:prstGeom>
        </p:spPr>
      </p:pic>
      <p:sp>
        <p:nvSpPr>
          <p:cNvPr id="18" name="card"/>
          <p:cNvSpPr/>
          <p:nvPr/>
        </p:nvSpPr>
        <p:spPr>
          <a:xfrm>
            <a:off x="7507864" y="3331251"/>
            <a:ext cx="3969776" cy="902787"/>
          </a:xfrm>
          <a:prstGeom prst="roundRect">
            <a:avLst>
              <a:gd name="adj" fmla="val 16530"/>
            </a:avLst>
          </a:prstGeom>
          <a:solidFill>
            <a:srgbClr val="FFFFFF"/>
          </a:solidFill>
          <a:ln w="6350">
            <a:solidFill>
              <a:srgbClr val="F0F0F0"/>
            </a:solidFill>
            <a:prstDash val="solid"/>
          </a:ln>
        </p:spPr>
      </p:sp>
      <p:sp>
        <p:nvSpPr>
          <p:cNvPr id="19" name="card"/>
          <p:cNvSpPr/>
          <p:nvPr/>
        </p:nvSpPr>
        <p:spPr>
          <a:xfrm>
            <a:off x="714421" y="4329318"/>
            <a:ext cx="6355354" cy="902787"/>
          </a:xfrm>
          <a:prstGeom prst="roundRect">
            <a:avLst>
              <a:gd name="adj" fmla="val 16530"/>
            </a:avLst>
          </a:prstGeom>
          <a:solidFill>
            <a:srgbClr val="FFFFFF"/>
          </a:solidFill>
          <a:ln w="6350">
            <a:solidFill>
              <a:srgbClr val="F0F0F0"/>
            </a:solidFill>
            <a:prstDash val="solid"/>
          </a:ln>
        </p:spPr>
      </p:sp>
      <p:sp>
        <p:nvSpPr>
          <p:cNvPr id="20" name="tile"/>
          <p:cNvSpPr/>
          <p:nvPr/>
        </p:nvSpPr>
        <p:spPr>
          <a:xfrm>
            <a:off x="908091" y="4590197"/>
            <a:ext cx="381030" cy="381030"/>
          </a:xfrm>
          <a:prstGeom prst="roundRect">
            <a:avLst>
              <a:gd name="adj" fmla="val 29998"/>
            </a:avLst>
          </a:prstGeom>
          <a:solidFill>
            <a:srgbClr val="044BD9"/>
          </a:solidFill>
          <a:ln/>
        </p:spPr>
      </p:sp>
      <p:pic>
        <p:nvPicPr>
          <p:cNvPr id="21" name="Icon" descr="/tmp/deck-pptx-VwALqa/icon-44.png">    </p:cNvPr>
          <p:cNvPicPr>
            <a:picLocks noChangeAspect="1"/>
          </p:cNvPicPr>
          <p:nvPr/>
        </p:nvPicPr>
        <p:blipFill>
          <a:blip r:embed="rId5"/>
          <a:stretch>
            <a:fillRect/>
          </a:stretch>
        </p:blipFill>
        <p:spPr>
          <a:xfrm>
            <a:off x="1009680" y="4691786"/>
            <a:ext cx="177759" cy="177759"/>
          </a:xfrm>
          <a:prstGeom prst="rect">
            <a:avLst/>
          </a:prstGeom>
        </p:spPr>
      </p:pic>
      <p:sp>
        <p:nvSpPr>
          <p:cNvPr id="22" name="li::before"/>
          <p:cNvSpPr/>
          <p:nvPr/>
        </p:nvSpPr>
        <p:spPr>
          <a:xfrm>
            <a:off x="2965491" y="4548226"/>
            <a:ext cx="57150" cy="57150"/>
          </a:xfrm>
          <a:prstGeom prst="rect">
            <a:avLst/>
          </a:prstGeom>
          <a:solidFill>
            <a:srgbClr val="044BD9"/>
          </a:solidFill>
          <a:ln/>
        </p:spPr>
      </p:sp>
      <p:sp>
        <p:nvSpPr>
          <p:cNvPr id="23" name="li::before"/>
          <p:cNvSpPr/>
          <p:nvPr/>
        </p:nvSpPr>
        <p:spPr>
          <a:xfrm>
            <a:off x="2965491" y="4764115"/>
            <a:ext cx="57150" cy="57150"/>
          </a:xfrm>
          <a:prstGeom prst="rect">
            <a:avLst/>
          </a:prstGeom>
          <a:solidFill>
            <a:srgbClr val="044BD9"/>
          </a:solidFill>
          <a:ln/>
        </p:spPr>
      </p:sp>
      <p:sp>
        <p:nvSpPr>
          <p:cNvPr id="24" name="li::before"/>
          <p:cNvSpPr/>
          <p:nvPr/>
        </p:nvSpPr>
        <p:spPr>
          <a:xfrm>
            <a:off x="2965491" y="4980005"/>
            <a:ext cx="57150" cy="57150"/>
          </a:xfrm>
          <a:prstGeom prst="rect">
            <a:avLst/>
          </a:prstGeom>
          <a:solidFill>
            <a:srgbClr val="044BD9"/>
          </a:solidFill>
          <a:ln/>
        </p:spPr>
      </p:sp>
      <p:pic>
        <p:nvPicPr>
          <p:cNvPr id="25" name="Icon" descr="/tmp/deck-pptx-VwALqa/icon-45.png">    </p:cNvPr>
          <p:cNvPicPr>
            <a:picLocks noChangeAspect="1"/>
          </p:cNvPicPr>
          <p:nvPr/>
        </p:nvPicPr>
        <p:blipFill>
          <a:blip r:embed="rId6"/>
          <a:stretch>
            <a:fillRect/>
          </a:stretch>
        </p:blipFill>
        <p:spPr>
          <a:xfrm>
            <a:off x="7206295" y="4698096"/>
            <a:ext cx="165141" cy="165141"/>
          </a:xfrm>
          <a:prstGeom prst="rect">
            <a:avLst/>
          </a:prstGeom>
        </p:spPr>
      </p:pic>
      <p:sp>
        <p:nvSpPr>
          <p:cNvPr id="26" name="card"/>
          <p:cNvSpPr/>
          <p:nvPr/>
        </p:nvSpPr>
        <p:spPr>
          <a:xfrm>
            <a:off x="7507864" y="4329318"/>
            <a:ext cx="3969776" cy="902787"/>
          </a:xfrm>
          <a:prstGeom prst="roundRect">
            <a:avLst>
              <a:gd name="adj" fmla="val 16530"/>
            </a:avLst>
          </a:prstGeom>
          <a:solidFill>
            <a:srgbClr val="FFFFFF"/>
          </a:solidFill>
          <a:ln w="6350">
            <a:solidFill>
              <a:srgbClr val="F0F0F0"/>
            </a:solidFill>
            <a:prstDash val="solid"/>
          </a:ln>
        </p:spPr>
      </p:sp>
      <p:sp>
        <p:nvSpPr>
          <p:cNvPr id="27" name="div"/>
          <p:cNvSpPr/>
          <p:nvPr/>
        </p:nvSpPr>
        <p:spPr>
          <a:xfrm>
            <a:off x="714421" y="5327386"/>
            <a:ext cx="6355354" cy="689275"/>
          </a:xfrm>
          <a:prstGeom prst="roundRect">
            <a:avLst>
              <a:gd name="adj" fmla="val 14274"/>
            </a:avLst>
          </a:prstGeom>
          <a:solidFill>
            <a:srgbClr val="044BD9">
              <a:alpha val="8000"/>
            </a:srgbClr>
          </a:solidFill>
          <a:ln w="6350">
            <a:solidFill>
              <a:srgbClr val="044BD9">
                <a:alpha val="20000"/>
              </a:srgbClr>
            </a:solidFill>
            <a:prstDash val="solid"/>
          </a:ln>
        </p:spPr>
      </p:sp>
      <p:sp>
        <p:nvSpPr>
          <p:cNvPr id="28" name="tile"/>
          <p:cNvSpPr/>
          <p:nvPr/>
        </p:nvSpPr>
        <p:spPr>
          <a:xfrm>
            <a:off x="908091" y="5481462"/>
            <a:ext cx="381030" cy="381030"/>
          </a:xfrm>
          <a:prstGeom prst="roundRect">
            <a:avLst>
              <a:gd name="adj" fmla="val 29998"/>
            </a:avLst>
          </a:prstGeom>
          <a:solidFill>
            <a:srgbClr val="FFFFFF"/>
          </a:solidFill>
          <a:ln/>
        </p:spPr>
      </p:sp>
      <p:pic>
        <p:nvPicPr>
          <p:cNvPr id="29" name="Icon" descr="/tmp/deck-pptx-VwALqa/icon-46.png">    </p:cNvPr>
          <p:cNvPicPr>
            <a:picLocks noChangeAspect="1"/>
          </p:cNvPicPr>
          <p:nvPr/>
        </p:nvPicPr>
        <p:blipFill>
          <a:blip r:embed="rId7"/>
          <a:stretch>
            <a:fillRect/>
          </a:stretch>
        </p:blipFill>
        <p:spPr>
          <a:xfrm>
            <a:off x="1009680" y="5583052"/>
            <a:ext cx="177759" cy="177759"/>
          </a:xfrm>
          <a:prstGeom prst="rect">
            <a:avLst/>
          </a:prstGeom>
        </p:spPr>
      </p:pic>
      <p:pic>
        <p:nvPicPr>
          <p:cNvPr id="30" name="Icon" descr="/tmp/deck-pptx-VwALqa/icon-47.png">    </p:cNvPr>
          <p:cNvPicPr>
            <a:picLocks noChangeAspect="1"/>
          </p:cNvPicPr>
          <p:nvPr/>
        </p:nvPicPr>
        <p:blipFill>
          <a:blip r:embed="rId8"/>
          <a:stretch>
            <a:fillRect/>
          </a:stretch>
        </p:blipFill>
        <p:spPr>
          <a:xfrm>
            <a:off x="7206295" y="5589361"/>
            <a:ext cx="165141" cy="165141"/>
          </a:xfrm>
          <a:prstGeom prst="rect">
            <a:avLst/>
          </a:prstGeom>
        </p:spPr>
      </p:pic>
      <p:sp>
        <p:nvSpPr>
          <p:cNvPr id="31" name="div"/>
          <p:cNvSpPr/>
          <p:nvPr/>
        </p:nvSpPr>
        <p:spPr>
          <a:xfrm>
            <a:off x="7507864" y="5327386"/>
            <a:ext cx="3969776" cy="689275"/>
          </a:xfrm>
          <a:prstGeom prst="roundRect">
            <a:avLst>
              <a:gd name="adj" fmla="val 14274"/>
            </a:avLst>
          </a:prstGeom>
          <a:solidFill>
            <a:srgbClr val="044BD9">
              <a:alpha val="8000"/>
            </a:srgbClr>
          </a:solidFill>
          <a:ln w="6350">
            <a:solidFill>
              <a:srgbClr val="044BD9">
                <a:alpha val="20000"/>
              </a:srgbClr>
            </a:solidFill>
            <a:prstDash val="solid"/>
          </a:ln>
        </p:spPr>
      </p:sp>
      <p:sp>
        <p:nvSpPr>
          <p:cNvPr id="32" name="span::before"/>
          <p:cNvSpPr/>
          <p:nvPr/>
        </p:nvSpPr>
        <p:spPr>
          <a:xfrm>
            <a:off x="6191860" y="311170"/>
            <a:ext cx="44440" cy="44440"/>
          </a:xfrm>
          <a:prstGeom prst="rect">
            <a:avLst/>
          </a:prstGeom>
          <a:solidFill>
            <a:srgbClr val="A0A6AF">
              <a:alpha val="55000"/>
            </a:srgbClr>
          </a:solidFill>
          <a:ln/>
        </p:spPr>
      </p:sp>
      <p:sp>
        <p:nvSpPr>
          <p:cNvPr id="33" name="span::before"/>
          <p:cNvSpPr/>
          <p:nvPr/>
        </p:nvSpPr>
        <p:spPr>
          <a:xfrm>
            <a:off x="7145213" y="311170"/>
            <a:ext cx="44440" cy="44440"/>
          </a:xfrm>
          <a:prstGeom prst="rect">
            <a:avLst/>
          </a:prstGeom>
          <a:solidFill>
            <a:srgbClr val="A0A6AF">
              <a:alpha val="55000"/>
            </a:srgbClr>
          </a:solidFill>
          <a:ln/>
        </p:spPr>
      </p:sp>
      <p:sp>
        <p:nvSpPr>
          <p:cNvPr id="34" name="on::before"/>
          <p:cNvSpPr/>
          <p:nvPr/>
        </p:nvSpPr>
        <p:spPr>
          <a:xfrm>
            <a:off x="8056230" y="311170"/>
            <a:ext cx="44440" cy="44440"/>
          </a:xfrm>
          <a:prstGeom prst="rect">
            <a:avLst/>
          </a:prstGeom>
          <a:solidFill>
            <a:srgbClr val="044BD9"/>
          </a:solidFill>
          <a:ln/>
        </p:spPr>
      </p:sp>
      <p:sp>
        <p:nvSpPr>
          <p:cNvPr id="35" name="span::before"/>
          <p:cNvSpPr/>
          <p:nvPr/>
        </p:nvSpPr>
        <p:spPr>
          <a:xfrm>
            <a:off x="8972550" y="311170"/>
            <a:ext cx="44440" cy="44440"/>
          </a:xfrm>
          <a:prstGeom prst="rect">
            <a:avLst/>
          </a:prstGeom>
          <a:solidFill>
            <a:srgbClr val="A0A6AF">
              <a:alpha val="55000"/>
            </a:srgbClr>
          </a:solidFill>
          <a:ln/>
        </p:spPr>
      </p:sp>
      <p:sp>
        <p:nvSpPr>
          <p:cNvPr id="36" name="span::before"/>
          <p:cNvSpPr/>
          <p:nvPr/>
        </p:nvSpPr>
        <p:spPr>
          <a:xfrm>
            <a:off x="10421142" y="311170"/>
            <a:ext cx="44440" cy="44440"/>
          </a:xfrm>
          <a:prstGeom prst="rect">
            <a:avLst/>
          </a:prstGeom>
          <a:solidFill>
            <a:srgbClr val="A0A6AF">
              <a:alpha val="55000"/>
            </a:srgbClr>
          </a:solidFill>
          <a:ln/>
        </p:spPr>
      </p:sp>
      <p:sp>
        <p:nvSpPr>
          <p:cNvPr id="37" name="span::before"/>
          <p:cNvSpPr/>
          <p:nvPr/>
        </p:nvSpPr>
        <p:spPr>
          <a:xfrm>
            <a:off x="10966216" y="311170"/>
            <a:ext cx="44440" cy="44440"/>
          </a:xfrm>
          <a:prstGeom prst="rect">
            <a:avLst/>
          </a:prstGeom>
          <a:solidFill>
            <a:srgbClr val="A0A6AF">
              <a:alpha val="55000"/>
            </a:srgbClr>
          </a:solidFill>
          <a:ln/>
        </p:spPr>
      </p:sp>
      <p:sp>
        <p:nvSpPr>
          <p:cNvPr id="38" name="Text"/>
          <p:cNvSpPr txBox="1"/>
          <p:nvPr/>
        </p:nvSpPr>
        <p:spPr>
          <a:xfrm>
            <a:off x="844540" y="609265"/>
            <a:ext cx="1532077"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Full stack AI engineering</a:t>
            </a:r>
            <a:endParaRPr lang="en-US" sz="950" dirty="0"/>
          </a:p>
        </p:txBody>
      </p:sp>
      <p:sp>
        <p:nvSpPr>
          <p:cNvPr id="39"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Every system combines a brain,</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an action layer and guardrails</a:t>
            </a:r>
            <a:endParaRPr lang="en-US" sz="3000" dirty="0"/>
          </a:p>
        </p:txBody>
      </p:sp>
      <p:sp>
        <p:nvSpPr>
          <p:cNvPr id="40" name="Text"/>
          <p:cNvSpPr txBox="1"/>
          <p:nvPr/>
        </p:nvSpPr>
        <p:spPr>
          <a:xfrm>
            <a:off x="711220" y="2060326"/>
            <a:ext cx="6399886" cy="167335"/>
          </a:xfrm>
          <a:prstGeom prst="rect">
            <a:avLst/>
          </a:prstGeom>
          <a:noFill/>
          <a:ln/>
        </p:spPr>
        <p:txBody>
          <a:bodyPr wrap="square" lIns="0" tIns="0" rIns="0" bIns="0" rtlCol="0" anchor="t"/>
          <a:lstStyle/>
          <a:p>
            <a:pPr algn="l" indent="0" marL="0">
              <a:lnSpc>
                <a:spcPts val="1318"/>
              </a:lnSpc>
              <a:buNone/>
            </a:pPr>
            <a:r>
              <a:rPr lang="en-US" sz="850" spc="34" kern="0" dirty="0">
                <a:solidFill>
                  <a:srgbClr val="6B6B6B"/>
                </a:solidFill>
                <a:latin typeface="Poppins Medium" pitchFamily="34" charset="0"/>
                <a:ea typeface="Poppins Medium" pitchFamily="34" charset="-122"/>
                <a:cs typeface="Poppins Medium" pitchFamily="34" charset="-120"/>
              </a:rPr>
              <a:t>Three layers in every ALPHV system</a:t>
            </a:r>
            <a:endParaRPr lang="en-US" sz="850" dirty="0"/>
          </a:p>
        </p:txBody>
      </p:sp>
      <p:sp>
        <p:nvSpPr>
          <p:cNvPr id="41" name="Text"/>
          <p:cNvSpPr txBox="1"/>
          <p:nvPr/>
        </p:nvSpPr>
        <p:spPr>
          <a:xfrm>
            <a:off x="7504664" y="2060326"/>
            <a:ext cx="4004706" cy="167335"/>
          </a:xfrm>
          <a:prstGeom prst="rect">
            <a:avLst/>
          </a:prstGeom>
          <a:noFill/>
          <a:ln/>
        </p:spPr>
        <p:txBody>
          <a:bodyPr wrap="square" lIns="0" tIns="0" rIns="0" bIns="0" rtlCol="0" anchor="t"/>
          <a:lstStyle/>
          <a:p>
            <a:pPr algn="l" indent="0" marL="0">
              <a:lnSpc>
                <a:spcPts val="1318"/>
              </a:lnSpc>
              <a:buNone/>
            </a:pPr>
            <a:r>
              <a:rPr lang="en-US" sz="850" spc="34" kern="0" dirty="0">
                <a:solidFill>
                  <a:srgbClr val="044BD9"/>
                </a:solidFill>
                <a:latin typeface="Poppins Medium" pitchFamily="34" charset="0"/>
                <a:ea typeface="Poppins Medium" pitchFamily="34" charset="-122"/>
                <a:cs typeface="Poppins Medium" pitchFamily="34" charset="-120"/>
              </a:rPr>
              <a:t>In practice: a 36-year-old law firm</a:t>
            </a:r>
            <a:endParaRPr lang="en-US" sz="850" dirty="0"/>
          </a:p>
        </p:txBody>
      </p:sp>
      <p:sp>
        <p:nvSpPr>
          <p:cNvPr id="42" name="Text"/>
          <p:cNvSpPr txBox="1"/>
          <p:nvPr/>
        </p:nvSpPr>
        <p:spPr>
          <a:xfrm>
            <a:off x="1403330" y="2574585"/>
            <a:ext cx="1181313" cy="203180"/>
          </a:xfrm>
          <a:prstGeom prst="rect">
            <a:avLst/>
          </a:prstGeom>
          <a:noFill/>
          <a:ln/>
        </p:spPr>
        <p:txBody>
          <a:bodyPr wrap="non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The guardrails</a:t>
            </a:r>
            <a:endParaRPr lang="en-US" sz="1250" dirty="0"/>
          </a:p>
        </p:txBody>
      </p:sp>
      <p:sp>
        <p:nvSpPr>
          <p:cNvPr id="43" name="Text"/>
          <p:cNvSpPr txBox="1"/>
          <p:nvPr/>
        </p:nvSpPr>
        <p:spPr>
          <a:xfrm>
            <a:off x="1403330" y="2783799"/>
            <a:ext cx="117326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AI governance</a:t>
            </a:r>
            <a:endParaRPr lang="en-US" sz="950" dirty="0"/>
          </a:p>
        </p:txBody>
      </p:sp>
      <p:sp>
        <p:nvSpPr>
          <p:cNvPr id="44" name="Text"/>
          <p:cNvSpPr txBox="1"/>
          <p:nvPr/>
        </p:nvSpPr>
        <p:spPr>
          <a:xfrm>
            <a:off x="3130540" y="2460742"/>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AI safety and alignment</a:t>
            </a:r>
            <a:endParaRPr lang="en-US" sz="1000" dirty="0"/>
          </a:p>
        </p:txBody>
      </p:sp>
      <p:sp>
        <p:nvSpPr>
          <p:cNvPr id="45" name="Text"/>
          <p:cNvSpPr txBox="1"/>
          <p:nvPr/>
        </p:nvSpPr>
        <p:spPr>
          <a:xfrm>
            <a:off x="3130540" y="2676632"/>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Governance guardrails</a:t>
            </a:r>
            <a:endParaRPr lang="en-US" sz="1000" dirty="0"/>
          </a:p>
        </p:txBody>
      </p:sp>
      <p:sp>
        <p:nvSpPr>
          <p:cNvPr id="46" name="Text"/>
          <p:cNvSpPr txBox="1"/>
          <p:nvPr/>
        </p:nvSpPr>
        <p:spPr>
          <a:xfrm>
            <a:off x="3130540" y="2892522"/>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Locally hosted models where data must stay in-house</a:t>
            </a:r>
            <a:endParaRPr lang="en-US" sz="1000" dirty="0"/>
          </a:p>
        </p:txBody>
      </p:sp>
      <p:sp>
        <p:nvSpPr>
          <p:cNvPr id="47" name="Text"/>
          <p:cNvSpPr txBox="1"/>
          <p:nvPr/>
        </p:nvSpPr>
        <p:spPr>
          <a:xfrm>
            <a:off x="7701534" y="2531974"/>
            <a:ext cx="3609411" cy="226405"/>
          </a:xfrm>
          <a:prstGeom prst="rect">
            <a:avLst/>
          </a:prstGeom>
          <a:noFill/>
          <a:ln/>
        </p:spPr>
        <p:txBody>
          <a:bodyPr wrap="square" lIns="0" tIns="0" rIns="0" bIns="0" rtlCol="0" anchor="t"/>
          <a:lstStyle/>
          <a:p>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A locally hosted NVIDIA GPU workstation</a:t>
            </a:r>
            <a:endParaRPr lang="en-US" sz="1150" dirty="0"/>
          </a:p>
        </p:txBody>
      </p:sp>
      <p:sp>
        <p:nvSpPr>
          <p:cNvPr id="48" name="Text"/>
          <p:cNvSpPr txBox="1"/>
          <p:nvPr/>
        </p:nvSpPr>
        <p:spPr>
          <a:xfrm>
            <a:off x="7701534" y="2800624"/>
            <a:ext cx="3607765" cy="196870"/>
          </a:xfrm>
          <a:prstGeom prst="rect">
            <a:avLst/>
          </a:prstGeom>
          <a:noFill/>
          <a:ln/>
        </p:spPr>
        <p:txBody>
          <a:bodyPr wrap="non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The models run here, so client data stays inside the firm.</a:t>
            </a:r>
            <a:endParaRPr lang="en-US" sz="1000" dirty="0"/>
          </a:p>
        </p:txBody>
      </p:sp>
      <p:sp>
        <p:nvSpPr>
          <p:cNvPr id="49" name="Text"/>
          <p:cNvSpPr txBox="1"/>
          <p:nvPr/>
        </p:nvSpPr>
        <p:spPr>
          <a:xfrm>
            <a:off x="1403330" y="3479201"/>
            <a:ext cx="1428018"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The action</a:t>
            </a:r>
            <a:endParaRPr lang="en-US" sz="1250" dirty="0"/>
          </a:p>
        </p:txBody>
      </p:sp>
      <p:sp>
        <p:nvSpPr>
          <p:cNvPr id="50" name="Text"/>
          <p:cNvSpPr txBox="1"/>
          <p:nvPr/>
        </p:nvSpPr>
        <p:spPr>
          <a:xfrm>
            <a:off x="1403330" y="3688324"/>
            <a:ext cx="1428018" cy="373990"/>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Agentic and autonomous solutions</a:t>
            </a:r>
            <a:endParaRPr lang="en-US" sz="950" dirty="0"/>
          </a:p>
        </p:txBody>
      </p:sp>
      <p:sp>
        <p:nvSpPr>
          <p:cNvPr id="51" name="Text"/>
          <p:cNvSpPr txBox="1"/>
          <p:nvPr/>
        </p:nvSpPr>
        <p:spPr>
          <a:xfrm>
            <a:off x="3130540" y="3458809"/>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Agentic process automation</a:t>
            </a:r>
            <a:endParaRPr lang="en-US" sz="1000" dirty="0"/>
          </a:p>
        </p:txBody>
      </p:sp>
      <p:sp>
        <p:nvSpPr>
          <p:cNvPr id="52" name="Text"/>
          <p:cNvSpPr txBox="1"/>
          <p:nvPr/>
        </p:nvSpPr>
        <p:spPr>
          <a:xfrm>
            <a:off x="3130540" y="3674699"/>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Custom tool, MCP and API development for agents</a:t>
            </a:r>
            <a:endParaRPr lang="en-US" sz="1000" dirty="0"/>
          </a:p>
        </p:txBody>
      </p:sp>
      <p:sp>
        <p:nvSpPr>
          <p:cNvPr id="53" name="Text"/>
          <p:cNvSpPr txBox="1"/>
          <p:nvPr/>
        </p:nvSpPr>
        <p:spPr>
          <a:xfrm>
            <a:off x="3130540" y="3890589"/>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Multi-agent systems</a:t>
            </a:r>
            <a:endParaRPr lang="en-US" sz="1000" dirty="0"/>
          </a:p>
        </p:txBody>
      </p:sp>
      <p:sp>
        <p:nvSpPr>
          <p:cNvPr id="54" name="Text"/>
          <p:cNvSpPr txBox="1"/>
          <p:nvPr/>
        </p:nvSpPr>
        <p:spPr>
          <a:xfrm>
            <a:off x="7701534" y="3431560"/>
            <a:ext cx="3609411" cy="226405"/>
          </a:xfrm>
          <a:prstGeom prst="rect">
            <a:avLst/>
          </a:prstGeom>
          <a:noFill/>
          <a:ln/>
        </p:spPr>
        <p:txBody>
          <a:bodyPr wrap="square" lIns="0" tIns="0" rIns="0" bIns="0" rtlCol="0" anchor="t"/>
          <a:lstStyle/>
          <a:p>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Agentic RPA across</a:t>
            </a:r>
            <a:pPr algn="l" indent="0" marL="0">
              <a:lnSpc>
                <a:spcPts val="1782"/>
              </a:lnSpc>
              <a:buNone/>
            </a:pPr>
            <a:r>
              <a:rPr lang="en-US" sz="1150" dirty="0">
                <a:solidFill>
                  <a:srgbClr val="044BD9"/>
                </a:solidFill>
                <a:latin typeface="Poppins Medium" pitchFamily="34" charset="0"/>
                <a:ea typeface="Poppins Medium" pitchFamily="34" charset="-122"/>
                <a:cs typeface="Poppins Medium" pitchFamily="34" charset="-120"/>
              </a:rPr>
              <a:t> 90+</a:t>
            </a:r>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 portals</a:t>
            </a:r>
            <a:endParaRPr lang="en-US" sz="1150" dirty="0"/>
          </a:p>
        </p:txBody>
      </p:sp>
      <p:sp>
        <p:nvSpPr>
          <p:cNvPr id="55" name="Text"/>
          <p:cNvSpPr txBox="1"/>
          <p:nvPr/>
        </p:nvSpPr>
        <p:spPr>
          <a:xfrm>
            <a:off x="7701534" y="3700211"/>
            <a:ext cx="3609411" cy="393741"/>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Automations across bank, government, SSM and CTOS portals, with workflow, email and WhatsApp.</a:t>
            </a:r>
            <a:endParaRPr lang="en-US" sz="1000" dirty="0"/>
          </a:p>
        </p:txBody>
      </p:sp>
      <p:sp>
        <p:nvSpPr>
          <p:cNvPr id="56" name="Text"/>
          <p:cNvSpPr txBox="1"/>
          <p:nvPr/>
        </p:nvSpPr>
        <p:spPr>
          <a:xfrm>
            <a:off x="1403330" y="4477177"/>
            <a:ext cx="1428018"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The brain</a:t>
            </a:r>
            <a:endParaRPr lang="en-US" sz="1250" dirty="0"/>
          </a:p>
        </p:txBody>
      </p:sp>
      <p:sp>
        <p:nvSpPr>
          <p:cNvPr id="57" name="Text"/>
          <p:cNvSpPr txBox="1"/>
          <p:nvPr/>
        </p:nvSpPr>
        <p:spPr>
          <a:xfrm>
            <a:off x="1403330" y="4686391"/>
            <a:ext cx="1428018" cy="373990"/>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Foundational intelligence core</a:t>
            </a:r>
            <a:endParaRPr lang="en-US" sz="950" dirty="0"/>
          </a:p>
        </p:txBody>
      </p:sp>
      <p:sp>
        <p:nvSpPr>
          <p:cNvPr id="58" name="Text"/>
          <p:cNvSpPr txBox="1"/>
          <p:nvPr/>
        </p:nvSpPr>
        <p:spPr>
          <a:xfrm>
            <a:off x="3130540" y="4456786"/>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Custom knowledge integration, RAG and beyond</a:t>
            </a:r>
            <a:endParaRPr lang="en-US" sz="1000" dirty="0"/>
          </a:p>
        </p:txBody>
      </p:sp>
      <p:sp>
        <p:nvSpPr>
          <p:cNvPr id="59" name="Text"/>
          <p:cNvSpPr txBox="1"/>
          <p:nvPr/>
        </p:nvSpPr>
        <p:spPr>
          <a:xfrm>
            <a:off x="3130540" y="4672675"/>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Specialised model fine-tuning</a:t>
            </a:r>
            <a:endParaRPr lang="en-US" sz="1000" dirty="0"/>
          </a:p>
        </p:txBody>
      </p:sp>
      <p:sp>
        <p:nvSpPr>
          <p:cNvPr id="60" name="Text"/>
          <p:cNvSpPr txBox="1"/>
          <p:nvPr/>
        </p:nvSpPr>
        <p:spPr>
          <a:xfrm>
            <a:off x="3130540" y="4888565"/>
            <a:ext cx="3773180"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Multimodal intelligence across vision and language</a:t>
            </a:r>
            <a:endParaRPr lang="en-US" sz="1000" dirty="0"/>
          </a:p>
        </p:txBody>
      </p:sp>
      <p:sp>
        <p:nvSpPr>
          <p:cNvPr id="61" name="Text"/>
          <p:cNvSpPr txBox="1"/>
          <p:nvPr/>
        </p:nvSpPr>
        <p:spPr>
          <a:xfrm>
            <a:off x="7701534" y="4528017"/>
            <a:ext cx="3609411" cy="226405"/>
          </a:xfrm>
          <a:prstGeom prst="rect">
            <a:avLst/>
          </a:prstGeom>
          <a:noFill/>
          <a:ln/>
        </p:spPr>
        <p:txBody>
          <a:bodyPr wrap="square" lIns="0" tIns="0" rIns="0" bIns="0" rtlCol="0" anchor="t"/>
          <a:lstStyle/>
          <a:p>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Qwen with GenAI-RAG</a:t>
            </a:r>
            <a:endParaRPr lang="en-US" sz="1150" dirty="0"/>
          </a:p>
        </p:txBody>
      </p:sp>
      <p:sp>
        <p:nvSpPr>
          <p:cNvPr id="62" name="Text"/>
          <p:cNvSpPr txBox="1"/>
          <p:nvPr/>
        </p:nvSpPr>
        <p:spPr>
          <a:xfrm>
            <a:off x="7701534" y="4796668"/>
            <a:ext cx="3607765" cy="196870"/>
          </a:xfrm>
          <a:prstGeom prst="rect">
            <a:avLst/>
          </a:prstGeom>
          <a:noFill/>
          <a:ln/>
        </p:spPr>
        <p:txBody>
          <a:bodyPr wrap="non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Retrieval grounds answers in the firm’s own documents.</a:t>
            </a:r>
            <a:endParaRPr lang="en-US" sz="1000" dirty="0"/>
          </a:p>
        </p:txBody>
      </p:sp>
      <p:sp>
        <p:nvSpPr>
          <p:cNvPr id="63" name="Text"/>
          <p:cNvSpPr txBox="1"/>
          <p:nvPr/>
        </p:nvSpPr>
        <p:spPr>
          <a:xfrm>
            <a:off x="1403330" y="5536692"/>
            <a:ext cx="1375989" cy="226405"/>
          </a:xfrm>
          <a:prstGeom prst="rect">
            <a:avLst/>
          </a:prstGeom>
          <a:noFill/>
          <a:ln/>
        </p:spPr>
        <p:txBody>
          <a:bodyPr wrap="none" lIns="0" tIns="0" rIns="0" bIns="0" rtlCol="0" anchor="t"/>
          <a:lstStyle/>
          <a:p>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Your core systems</a:t>
            </a:r>
            <a:endParaRPr lang="en-US" sz="1150" dirty="0"/>
          </a:p>
        </p:txBody>
      </p:sp>
      <p:sp>
        <p:nvSpPr>
          <p:cNvPr id="64" name="Text"/>
          <p:cNvSpPr txBox="1"/>
          <p:nvPr/>
        </p:nvSpPr>
        <p:spPr>
          <a:xfrm>
            <a:off x="2965491" y="5457322"/>
            <a:ext cx="3938961" cy="393741"/>
          </a:xfrm>
          <a:prstGeom prst="rect">
            <a:avLst/>
          </a:prstGeom>
          <a:noFill/>
          <a:ln/>
        </p:spPr>
        <p:txBody>
          <a:bodyPr wrap="square" lIns="0" tIns="0" rIns="0" bIns="0" rtlCol="0" anchor="t"/>
          <a:lstStyle/>
          <a:p>
            <a:pPr algn="l" indent="0" marL="0">
              <a:lnSpc>
                <a:spcPts val="1550"/>
              </a:lnSpc>
              <a:buNone/>
            </a:pPr>
            <a:r>
              <a:rPr lang="en-US" sz="1000" dirty="0">
                <a:solidFill>
                  <a:srgbClr val="000000"/>
                </a:solidFill>
                <a:latin typeface="Poppins Light" pitchFamily="34" charset="0"/>
                <a:ea typeface="Poppins Light" pitchFamily="34" charset="-122"/>
                <a:cs typeface="Poppins Light" pitchFamily="34" charset="-120"/>
              </a:rPr>
              <a:t>ERP · CRM · case management · bank, government, SSM and CTOS portals · email · WhatsApp</a:t>
            </a:r>
            <a:endParaRPr lang="en-US" sz="1000" dirty="0"/>
          </a:p>
        </p:txBody>
      </p:sp>
      <p:sp>
        <p:nvSpPr>
          <p:cNvPr id="65" name="Text"/>
          <p:cNvSpPr txBox="1"/>
          <p:nvPr/>
        </p:nvSpPr>
        <p:spPr>
          <a:xfrm>
            <a:off x="7701534" y="5437297"/>
            <a:ext cx="3609411" cy="206654"/>
          </a:xfrm>
          <a:prstGeom prst="rect">
            <a:avLst/>
          </a:prstGeom>
          <a:noFill/>
          <a:ln/>
        </p:spPr>
        <p:txBody>
          <a:bodyPr wrap="square" lIns="0" tIns="0" rIns="0" bIns="0" rtlCol="0" anchor="t"/>
          <a:lstStyle/>
          <a:p>
            <a:pPr algn="l" indent="0" marL="0">
              <a:lnSpc>
                <a:spcPts val="1627"/>
              </a:lnSpc>
              <a:buNone/>
            </a:pPr>
            <a:r>
              <a:rPr lang="en-US" sz="1050" dirty="0">
                <a:solidFill>
                  <a:srgbClr val="000000"/>
                </a:solidFill>
                <a:latin typeface="Poppins Medium" pitchFamily="34" charset="0"/>
                <a:ea typeface="Poppins Medium" pitchFamily="34" charset="-122"/>
                <a:cs typeface="Poppins Medium" pitchFamily="34" charset="-120"/>
              </a:rPr>
              <a:t>One ALPHV platform, in place of legacy</a:t>
            </a:r>
            <a:endParaRPr lang="en-US" sz="1050" dirty="0"/>
          </a:p>
        </p:txBody>
      </p:sp>
      <p:sp>
        <p:nvSpPr>
          <p:cNvPr id="66" name="Text"/>
          <p:cNvSpPr txBox="1"/>
          <p:nvPr/>
        </p:nvSpPr>
        <p:spPr>
          <a:xfrm>
            <a:off x="7701534" y="5671840"/>
            <a:ext cx="3609411" cy="196870"/>
          </a:xfrm>
          <a:prstGeom prst="rect">
            <a:avLst/>
          </a:prstGeom>
          <a:noFill/>
          <a:ln/>
        </p:spPr>
        <p:txBody>
          <a:bodyPr wrap="square" lIns="0" tIns="0" rIns="0" bIns="0" rtlCol="0" anchor="t"/>
          <a:lstStyle/>
          <a:p>
            <a:pPr algn="l" indent="0" marL="0">
              <a:lnSpc>
                <a:spcPts val="1550"/>
              </a:lnSpc>
              <a:buNone/>
            </a:pPr>
            <a:r>
              <a:rPr lang="en-US" sz="1000" dirty="0">
                <a:solidFill>
                  <a:srgbClr val="000000"/>
                </a:solidFill>
                <a:latin typeface="Poppins Light" pitchFamily="34" charset="0"/>
                <a:ea typeface="Poppins Light" pitchFamily="34" charset="-122"/>
                <a:cs typeface="Poppins Light" pitchFamily="34" charset="-120"/>
              </a:rPr>
              <a:t>Case management, back office and accounting</a:t>
            </a:r>
            <a:endParaRPr lang="en-US" sz="1000" dirty="0"/>
          </a:p>
        </p:txBody>
      </p:sp>
      <p:sp>
        <p:nvSpPr>
          <p:cNvPr id="67"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68"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69"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What we do</a:t>
            </a:r>
            <a:endParaRPr lang="en-US" sz="850" dirty="0"/>
          </a:p>
        </p:txBody>
      </p:sp>
      <p:sp>
        <p:nvSpPr>
          <p:cNvPr id="70"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71"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72"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73" name="Source"/>
          <p:cNvSpPr txBox="1"/>
          <p:nvPr/>
        </p:nvSpPr>
        <p:spPr>
          <a:xfrm>
            <a:off x="711220" y="6401532"/>
            <a:ext cx="8280441"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alphv.com/services/ai-engineering; alphv.com/services; alphv.com/insights/sovereign-ai-case-management-law-firm (October 2026).</a:t>
            </a:r>
            <a:endParaRPr lang="en-US" sz="850" dirty="0"/>
          </a:p>
        </p:txBody>
      </p:sp>
      <p:sp>
        <p:nvSpPr>
          <p:cNvPr id="74" name="Text"/>
          <p:cNvSpPr txBox="1"/>
          <p:nvPr/>
        </p:nvSpPr>
        <p:spPr>
          <a:xfrm>
            <a:off x="9379367"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75" name="Text"/>
          <p:cNvSpPr txBox="1"/>
          <p:nvPr/>
        </p:nvSpPr>
        <p:spPr>
          <a:xfrm>
            <a:off x="988731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76" name="Text"/>
          <p:cNvSpPr txBox="1"/>
          <p:nvPr/>
        </p:nvSpPr>
        <p:spPr>
          <a:xfrm>
            <a:off x="11378794" y="6401532"/>
            <a:ext cx="127376"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011875" cy="254020"/>
          </a:xfrm>
          <a:prstGeom prst="roundRect">
            <a:avLst>
              <a:gd name="adj" fmla="val 50000"/>
            </a:avLst>
          </a:prstGeom>
          <a:ln w="6350">
            <a:solidFill>
              <a:srgbClr val="155DFC"/>
            </a:solidFill>
            <a:prstDash val="solid"/>
          </a:ln>
        </p:spPr>
      </p:sp>
      <p:sp>
        <p:nvSpPr>
          <p:cNvPr id="3" name="card"/>
          <p:cNvSpPr/>
          <p:nvPr/>
        </p:nvSpPr>
        <p:spPr>
          <a:xfrm>
            <a:off x="714421" y="2077060"/>
            <a:ext cx="3481852" cy="3939601"/>
          </a:xfrm>
          <a:prstGeom prst="roundRect">
            <a:avLst>
              <a:gd name="adj" fmla="val 4286"/>
            </a:avLst>
          </a:prstGeom>
          <a:solidFill>
            <a:srgbClr val="FBFBFB"/>
          </a:solidFill>
          <a:ln w="6350">
            <a:solidFill>
              <a:srgbClr val="F0F0F0"/>
            </a:solidFill>
            <a:prstDash val="solid"/>
          </a:ln>
        </p:spPr>
      </p:sp>
      <p:sp>
        <p:nvSpPr>
          <p:cNvPr id="4" name="tile"/>
          <p:cNvSpPr/>
          <p:nvPr/>
        </p:nvSpPr>
        <p:spPr>
          <a:xfrm>
            <a:off x="946130" y="2353300"/>
            <a:ext cx="381030" cy="381030"/>
          </a:xfrm>
          <a:prstGeom prst="roundRect">
            <a:avLst>
              <a:gd name="adj" fmla="val 29998"/>
            </a:avLst>
          </a:prstGeom>
          <a:solidFill>
            <a:srgbClr val="044BD9"/>
          </a:solidFill>
          <a:ln/>
        </p:spPr>
      </p:sp>
      <p:pic>
        <p:nvPicPr>
          <p:cNvPr id="5" name="Icon" descr="/tmp/deck-pptx-VwALqa/icon-48.png">    </p:cNvPr>
          <p:cNvPicPr>
            <a:picLocks noChangeAspect="1"/>
          </p:cNvPicPr>
          <p:nvPr/>
        </p:nvPicPr>
        <p:blipFill>
          <a:blip r:embed="rId1"/>
          <a:stretch>
            <a:fillRect/>
          </a:stretch>
        </p:blipFill>
        <p:spPr>
          <a:xfrm>
            <a:off x="1047720" y="2454890"/>
            <a:ext cx="177759" cy="177759"/>
          </a:xfrm>
          <a:prstGeom prst="rect">
            <a:avLst/>
          </a:prstGeom>
        </p:spPr>
      </p:pic>
      <p:sp>
        <p:nvSpPr>
          <p:cNvPr id="6" name="Rule"/>
          <p:cNvSpPr/>
          <p:nvPr/>
        </p:nvSpPr>
        <p:spPr>
          <a:xfrm>
            <a:off x="946130" y="3391510"/>
            <a:ext cx="3018343" cy="0"/>
          </a:xfrm>
          <a:prstGeom prst="line">
            <a:avLst/>
          </a:prstGeom>
          <a:noFill/>
          <a:ln w="6350">
            <a:solidFill>
              <a:srgbClr val="F0F0F0"/>
            </a:solidFill>
            <a:prstDash val="solid"/>
          </a:ln>
        </p:spPr>
      </p:sp>
      <p:sp>
        <p:nvSpPr>
          <p:cNvPr id="7" name="li::before"/>
          <p:cNvSpPr/>
          <p:nvPr/>
        </p:nvSpPr>
        <p:spPr>
          <a:xfrm>
            <a:off x="946130" y="3595604"/>
            <a:ext cx="57150" cy="57150"/>
          </a:xfrm>
          <a:prstGeom prst="rect">
            <a:avLst/>
          </a:prstGeom>
          <a:solidFill>
            <a:srgbClr val="044BD9"/>
          </a:solidFill>
          <a:ln/>
        </p:spPr>
      </p:sp>
      <p:sp>
        <p:nvSpPr>
          <p:cNvPr id="8" name="li::before"/>
          <p:cNvSpPr/>
          <p:nvPr/>
        </p:nvSpPr>
        <p:spPr>
          <a:xfrm>
            <a:off x="946130" y="4090843"/>
            <a:ext cx="57150" cy="57150"/>
          </a:xfrm>
          <a:prstGeom prst="rect">
            <a:avLst/>
          </a:prstGeom>
          <a:solidFill>
            <a:srgbClr val="044BD9"/>
          </a:solidFill>
          <a:ln/>
        </p:spPr>
      </p:sp>
      <p:sp>
        <p:nvSpPr>
          <p:cNvPr id="9" name="li::before"/>
          <p:cNvSpPr/>
          <p:nvPr/>
        </p:nvSpPr>
        <p:spPr>
          <a:xfrm>
            <a:off x="946130" y="4586173"/>
            <a:ext cx="57150" cy="57150"/>
          </a:xfrm>
          <a:prstGeom prst="rect">
            <a:avLst/>
          </a:prstGeom>
          <a:solidFill>
            <a:srgbClr val="044BD9"/>
          </a:solidFill>
          <a:ln/>
        </p:spPr>
      </p:sp>
      <p:sp>
        <p:nvSpPr>
          <p:cNvPr id="10" name="Rule"/>
          <p:cNvSpPr/>
          <p:nvPr/>
        </p:nvSpPr>
        <p:spPr>
          <a:xfrm>
            <a:off x="946130" y="5100798"/>
            <a:ext cx="3018343" cy="0"/>
          </a:xfrm>
          <a:prstGeom prst="line">
            <a:avLst/>
          </a:prstGeom>
          <a:noFill/>
          <a:ln w="6350">
            <a:solidFill>
              <a:srgbClr val="F0F0F0"/>
            </a:solidFill>
            <a:prstDash val="solid"/>
          </a:ln>
        </p:spPr>
      </p:sp>
      <p:sp>
        <p:nvSpPr>
          <p:cNvPr id="11" name="card"/>
          <p:cNvSpPr/>
          <p:nvPr/>
        </p:nvSpPr>
        <p:spPr>
          <a:xfrm>
            <a:off x="4355013" y="2077060"/>
            <a:ext cx="3481852" cy="3939601"/>
          </a:xfrm>
          <a:prstGeom prst="roundRect">
            <a:avLst>
              <a:gd name="adj" fmla="val 4286"/>
            </a:avLst>
          </a:prstGeom>
          <a:solidFill>
            <a:srgbClr val="FBFBFB"/>
          </a:solidFill>
          <a:ln w="6350">
            <a:solidFill>
              <a:srgbClr val="F0F0F0"/>
            </a:solidFill>
            <a:prstDash val="solid"/>
          </a:ln>
        </p:spPr>
      </p:sp>
      <p:sp>
        <p:nvSpPr>
          <p:cNvPr id="12" name="tile"/>
          <p:cNvSpPr/>
          <p:nvPr/>
        </p:nvSpPr>
        <p:spPr>
          <a:xfrm>
            <a:off x="4586813" y="2353300"/>
            <a:ext cx="381030" cy="381030"/>
          </a:xfrm>
          <a:prstGeom prst="roundRect">
            <a:avLst>
              <a:gd name="adj" fmla="val 29998"/>
            </a:avLst>
          </a:prstGeom>
          <a:solidFill>
            <a:srgbClr val="044BD9"/>
          </a:solidFill>
          <a:ln/>
        </p:spPr>
      </p:sp>
      <p:pic>
        <p:nvPicPr>
          <p:cNvPr id="13" name="Icon" descr="/tmp/deck-pptx-VwALqa/icon-49.png">    </p:cNvPr>
          <p:cNvPicPr>
            <a:picLocks noChangeAspect="1"/>
          </p:cNvPicPr>
          <p:nvPr/>
        </p:nvPicPr>
        <p:blipFill>
          <a:blip r:embed="rId2"/>
          <a:stretch>
            <a:fillRect/>
          </a:stretch>
        </p:blipFill>
        <p:spPr>
          <a:xfrm>
            <a:off x="4688403" y="2454890"/>
            <a:ext cx="177759" cy="177759"/>
          </a:xfrm>
          <a:prstGeom prst="rect">
            <a:avLst/>
          </a:prstGeom>
        </p:spPr>
      </p:pic>
      <p:sp>
        <p:nvSpPr>
          <p:cNvPr id="14" name="Rule"/>
          <p:cNvSpPr/>
          <p:nvPr/>
        </p:nvSpPr>
        <p:spPr>
          <a:xfrm>
            <a:off x="4586813" y="3391510"/>
            <a:ext cx="3018343" cy="0"/>
          </a:xfrm>
          <a:prstGeom prst="line">
            <a:avLst/>
          </a:prstGeom>
          <a:noFill/>
          <a:ln w="6350">
            <a:solidFill>
              <a:srgbClr val="F0F0F0"/>
            </a:solidFill>
            <a:prstDash val="solid"/>
          </a:ln>
        </p:spPr>
      </p:sp>
      <p:sp>
        <p:nvSpPr>
          <p:cNvPr id="15" name="li::before"/>
          <p:cNvSpPr/>
          <p:nvPr/>
        </p:nvSpPr>
        <p:spPr>
          <a:xfrm>
            <a:off x="4586813" y="3595604"/>
            <a:ext cx="57150" cy="57150"/>
          </a:xfrm>
          <a:prstGeom prst="rect">
            <a:avLst/>
          </a:prstGeom>
          <a:solidFill>
            <a:srgbClr val="044BD9"/>
          </a:solidFill>
          <a:ln/>
        </p:spPr>
      </p:sp>
      <p:sp>
        <p:nvSpPr>
          <p:cNvPr id="16" name="li::before"/>
          <p:cNvSpPr/>
          <p:nvPr/>
        </p:nvSpPr>
        <p:spPr>
          <a:xfrm>
            <a:off x="4586813" y="4090843"/>
            <a:ext cx="57150" cy="57150"/>
          </a:xfrm>
          <a:prstGeom prst="rect">
            <a:avLst/>
          </a:prstGeom>
          <a:solidFill>
            <a:srgbClr val="044BD9"/>
          </a:solidFill>
          <a:ln/>
        </p:spPr>
      </p:sp>
      <p:sp>
        <p:nvSpPr>
          <p:cNvPr id="17" name="li::before"/>
          <p:cNvSpPr/>
          <p:nvPr/>
        </p:nvSpPr>
        <p:spPr>
          <a:xfrm>
            <a:off x="4586813" y="4586173"/>
            <a:ext cx="57150" cy="57150"/>
          </a:xfrm>
          <a:prstGeom prst="rect">
            <a:avLst/>
          </a:prstGeom>
          <a:solidFill>
            <a:srgbClr val="044BD9"/>
          </a:solidFill>
          <a:ln/>
        </p:spPr>
      </p:sp>
      <p:sp>
        <p:nvSpPr>
          <p:cNvPr id="18" name="Rule"/>
          <p:cNvSpPr/>
          <p:nvPr/>
        </p:nvSpPr>
        <p:spPr>
          <a:xfrm>
            <a:off x="4586813" y="5100798"/>
            <a:ext cx="3018343" cy="0"/>
          </a:xfrm>
          <a:prstGeom prst="line">
            <a:avLst/>
          </a:prstGeom>
          <a:noFill/>
          <a:ln w="6350">
            <a:solidFill>
              <a:srgbClr val="F0F0F0"/>
            </a:solidFill>
            <a:prstDash val="solid"/>
          </a:ln>
        </p:spPr>
      </p:sp>
      <p:sp>
        <p:nvSpPr>
          <p:cNvPr id="19" name="card"/>
          <p:cNvSpPr/>
          <p:nvPr/>
        </p:nvSpPr>
        <p:spPr>
          <a:xfrm>
            <a:off x="7995605" y="2077060"/>
            <a:ext cx="3481852" cy="3939601"/>
          </a:xfrm>
          <a:prstGeom prst="roundRect">
            <a:avLst>
              <a:gd name="adj" fmla="val 4286"/>
            </a:avLst>
          </a:prstGeom>
          <a:solidFill>
            <a:srgbClr val="FBFBFB"/>
          </a:solidFill>
          <a:ln w="6350">
            <a:solidFill>
              <a:srgbClr val="F0F0F0"/>
            </a:solidFill>
            <a:prstDash val="solid"/>
          </a:ln>
        </p:spPr>
      </p:sp>
      <p:sp>
        <p:nvSpPr>
          <p:cNvPr id="20" name="tile"/>
          <p:cNvSpPr/>
          <p:nvPr/>
        </p:nvSpPr>
        <p:spPr>
          <a:xfrm>
            <a:off x="8227405" y="2353300"/>
            <a:ext cx="381030" cy="381030"/>
          </a:xfrm>
          <a:prstGeom prst="roundRect">
            <a:avLst>
              <a:gd name="adj" fmla="val 29998"/>
            </a:avLst>
          </a:prstGeom>
          <a:solidFill>
            <a:srgbClr val="044BD9"/>
          </a:solidFill>
          <a:ln/>
        </p:spPr>
      </p:sp>
      <p:pic>
        <p:nvPicPr>
          <p:cNvPr id="21" name="Icon" descr="/tmp/deck-pptx-VwALqa/icon-50.png">    </p:cNvPr>
          <p:cNvPicPr>
            <a:picLocks noChangeAspect="1"/>
          </p:cNvPicPr>
          <p:nvPr/>
        </p:nvPicPr>
        <p:blipFill>
          <a:blip r:embed="rId3"/>
          <a:stretch>
            <a:fillRect/>
          </a:stretch>
        </p:blipFill>
        <p:spPr>
          <a:xfrm>
            <a:off x="8328995" y="2454890"/>
            <a:ext cx="177759" cy="177759"/>
          </a:xfrm>
          <a:prstGeom prst="rect">
            <a:avLst/>
          </a:prstGeom>
        </p:spPr>
      </p:pic>
      <p:sp>
        <p:nvSpPr>
          <p:cNvPr id="22" name="Rule"/>
          <p:cNvSpPr/>
          <p:nvPr/>
        </p:nvSpPr>
        <p:spPr>
          <a:xfrm>
            <a:off x="8227405" y="3391510"/>
            <a:ext cx="3018343" cy="0"/>
          </a:xfrm>
          <a:prstGeom prst="line">
            <a:avLst/>
          </a:prstGeom>
          <a:noFill/>
          <a:ln w="6350">
            <a:solidFill>
              <a:srgbClr val="F0F0F0"/>
            </a:solidFill>
            <a:prstDash val="solid"/>
          </a:ln>
        </p:spPr>
      </p:sp>
      <p:sp>
        <p:nvSpPr>
          <p:cNvPr id="23" name="li::before"/>
          <p:cNvSpPr/>
          <p:nvPr/>
        </p:nvSpPr>
        <p:spPr>
          <a:xfrm>
            <a:off x="8227405" y="3595604"/>
            <a:ext cx="57150" cy="57150"/>
          </a:xfrm>
          <a:prstGeom prst="rect">
            <a:avLst/>
          </a:prstGeom>
          <a:solidFill>
            <a:srgbClr val="044BD9"/>
          </a:solidFill>
          <a:ln/>
        </p:spPr>
      </p:sp>
      <p:sp>
        <p:nvSpPr>
          <p:cNvPr id="24" name="li::before"/>
          <p:cNvSpPr/>
          <p:nvPr/>
        </p:nvSpPr>
        <p:spPr>
          <a:xfrm>
            <a:off x="8227405" y="4090843"/>
            <a:ext cx="57150" cy="57150"/>
          </a:xfrm>
          <a:prstGeom prst="rect">
            <a:avLst/>
          </a:prstGeom>
          <a:solidFill>
            <a:srgbClr val="044BD9"/>
          </a:solidFill>
          <a:ln/>
        </p:spPr>
      </p:sp>
      <p:sp>
        <p:nvSpPr>
          <p:cNvPr id="25" name="li::before"/>
          <p:cNvSpPr/>
          <p:nvPr/>
        </p:nvSpPr>
        <p:spPr>
          <a:xfrm>
            <a:off x="8227405" y="4586173"/>
            <a:ext cx="57150" cy="57150"/>
          </a:xfrm>
          <a:prstGeom prst="rect">
            <a:avLst/>
          </a:prstGeom>
          <a:solidFill>
            <a:srgbClr val="044BD9"/>
          </a:solidFill>
          <a:ln/>
        </p:spPr>
      </p:sp>
      <p:sp>
        <p:nvSpPr>
          <p:cNvPr id="26" name="Rule"/>
          <p:cNvSpPr/>
          <p:nvPr/>
        </p:nvSpPr>
        <p:spPr>
          <a:xfrm>
            <a:off x="8227405" y="5100798"/>
            <a:ext cx="3018343" cy="0"/>
          </a:xfrm>
          <a:prstGeom prst="line">
            <a:avLst/>
          </a:prstGeom>
          <a:noFill/>
          <a:ln w="6350">
            <a:solidFill>
              <a:srgbClr val="F0F0F0"/>
            </a:solidFill>
            <a:prstDash val="solid"/>
          </a:ln>
        </p:spPr>
      </p:sp>
      <p:sp>
        <p:nvSpPr>
          <p:cNvPr id="27" name="span::before"/>
          <p:cNvSpPr/>
          <p:nvPr/>
        </p:nvSpPr>
        <p:spPr>
          <a:xfrm>
            <a:off x="6191860" y="311170"/>
            <a:ext cx="44440" cy="44440"/>
          </a:xfrm>
          <a:prstGeom prst="rect">
            <a:avLst/>
          </a:prstGeom>
          <a:solidFill>
            <a:srgbClr val="A0A6AF">
              <a:alpha val="55000"/>
            </a:srgbClr>
          </a:solidFill>
          <a:ln/>
        </p:spPr>
      </p:sp>
      <p:sp>
        <p:nvSpPr>
          <p:cNvPr id="28" name="span::before"/>
          <p:cNvSpPr/>
          <p:nvPr/>
        </p:nvSpPr>
        <p:spPr>
          <a:xfrm>
            <a:off x="7145213" y="311170"/>
            <a:ext cx="44440" cy="44440"/>
          </a:xfrm>
          <a:prstGeom prst="rect">
            <a:avLst/>
          </a:prstGeom>
          <a:solidFill>
            <a:srgbClr val="A0A6AF">
              <a:alpha val="55000"/>
            </a:srgbClr>
          </a:solidFill>
          <a:ln/>
        </p:spPr>
      </p:sp>
      <p:sp>
        <p:nvSpPr>
          <p:cNvPr id="29" name="on::before"/>
          <p:cNvSpPr/>
          <p:nvPr/>
        </p:nvSpPr>
        <p:spPr>
          <a:xfrm>
            <a:off x="8056230" y="311170"/>
            <a:ext cx="44440" cy="44440"/>
          </a:xfrm>
          <a:prstGeom prst="rect">
            <a:avLst/>
          </a:prstGeom>
          <a:solidFill>
            <a:srgbClr val="044BD9"/>
          </a:solidFill>
          <a:ln/>
        </p:spPr>
      </p:sp>
      <p:sp>
        <p:nvSpPr>
          <p:cNvPr id="30" name="span::before"/>
          <p:cNvSpPr/>
          <p:nvPr/>
        </p:nvSpPr>
        <p:spPr>
          <a:xfrm>
            <a:off x="8972550" y="311170"/>
            <a:ext cx="44440" cy="44440"/>
          </a:xfrm>
          <a:prstGeom prst="rect">
            <a:avLst/>
          </a:prstGeom>
          <a:solidFill>
            <a:srgbClr val="A0A6AF">
              <a:alpha val="55000"/>
            </a:srgbClr>
          </a:solidFill>
          <a:ln/>
        </p:spPr>
      </p:sp>
      <p:sp>
        <p:nvSpPr>
          <p:cNvPr id="31" name="span::before"/>
          <p:cNvSpPr/>
          <p:nvPr/>
        </p:nvSpPr>
        <p:spPr>
          <a:xfrm>
            <a:off x="10421142" y="311170"/>
            <a:ext cx="44440" cy="44440"/>
          </a:xfrm>
          <a:prstGeom prst="rect">
            <a:avLst/>
          </a:prstGeom>
          <a:solidFill>
            <a:srgbClr val="A0A6AF">
              <a:alpha val="55000"/>
            </a:srgbClr>
          </a:solidFill>
          <a:ln/>
        </p:spPr>
      </p:sp>
      <p:sp>
        <p:nvSpPr>
          <p:cNvPr id="32" name="span::before"/>
          <p:cNvSpPr/>
          <p:nvPr/>
        </p:nvSpPr>
        <p:spPr>
          <a:xfrm>
            <a:off x="10966216" y="311170"/>
            <a:ext cx="44440" cy="44440"/>
          </a:xfrm>
          <a:prstGeom prst="rect">
            <a:avLst/>
          </a:prstGeom>
          <a:solidFill>
            <a:srgbClr val="A0A6AF">
              <a:alpha val="55000"/>
            </a:srgbClr>
          </a:solidFill>
          <a:ln/>
        </p:spPr>
      </p:sp>
      <p:sp>
        <p:nvSpPr>
          <p:cNvPr id="33" name="Text"/>
          <p:cNvSpPr txBox="1"/>
          <p:nvPr/>
        </p:nvSpPr>
        <p:spPr>
          <a:xfrm>
            <a:off x="844540" y="609265"/>
            <a:ext cx="776874"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Services 1–3</a:t>
            </a:r>
            <a:endParaRPr lang="en-US" sz="950" dirty="0"/>
          </a:p>
        </p:txBody>
      </p:sp>
      <p:sp>
        <p:nvSpPr>
          <p:cNvPr id="34"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AI engineering, agents and integration</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turn business cases into working systems</a:t>
            </a:r>
            <a:endParaRPr lang="en-US" sz="3000" dirty="0"/>
          </a:p>
        </p:txBody>
      </p:sp>
      <p:sp>
        <p:nvSpPr>
          <p:cNvPr id="35" name="Text"/>
          <p:cNvSpPr txBox="1"/>
          <p:nvPr/>
        </p:nvSpPr>
        <p:spPr>
          <a:xfrm>
            <a:off x="1454170" y="2419502"/>
            <a:ext cx="1413662" cy="232440"/>
          </a:xfrm>
          <a:prstGeom prst="rect">
            <a:avLst/>
          </a:prstGeom>
          <a:noFill/>
          <a:ln/>
        </p:spPr>
        <p:txBody>
          <a:bodyPr wrap="non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AI engineering</a:t>
            </a:r>
            <a:endParaRPr lang="en-US" sz="1500" dirty="0"/>
          </a:p>
        </p:txBody>
      </p:sp>
      <p:sp>
        <p:nvSpPr>
          <p:cNvPr id="36" name="Text"/>
          <p:cNvSpPr txBox="1"/>
          <p:nvPr/>
        </p:nvSpPr>
        <p:spPr>
          <a:xfrm>
            <a:off x="946130" y="2865547"/>
            <a:ext cx="3043123" cy="202540"/>
          </a:xfrm>
          <a:prstGeom prst="rect">
            <a:avLst/>
          </a:prstGeom>
          <a:noFill/>
          <a:ln/>
        </p:spPr>
        <p:txBody>
          <a:bodyPr wrap="square" lIns="0" tIns="0" rIns="0" bIns="0" rtlCol="0" anchor="t"/>
          <a:lstStyle/>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Turn your own data into specialised AI</a:t>
            </a:r>
            <a:endParaRPr lang="en-US" sz="1100" dirty="0"/>
          </a:p>
        </p:txBody>
      </p:sp>
      <p:sp>
        <p:nvSpPr>
          <p:cNvPr id="37" name="Text"/>
          <p:cNvSpPr txBox="1"/>
          <p:nvPr/>
        </p:nvSpPr>
        <p:spPr>
          <a:xfrm>
            <a:off x="1111270" y="3495020"/>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Knowledge integration and RAG over</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your documents and records</a:t>
            </a:r>
            <a:endParaRPr lang="en-US" sz="1100" dirty="0"/>
          </a:p>
        </p:txBody>
      </p:sp>
      <p:sp>
        <p:nvSpPr>
          <p:cNvPr id="38" name="Text"/>
          <p:cNvSpPr txBox="1"/>
          <p:nvPr/>
        </p:nvSpPr>
        <p:spPr>
          <a:xfrm>
            <a:off x="1111270" y="3990259"/>
            <a:ext cx="2877342"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Specialised fine-tuning, including Qwen2.5-14B on H100 SXM</a:t>
            </a:r>
            <a:endParaRPr lang="en-US" sz="1100" dirty="0"/>
          </a:p>
        </p:txBody>
      </p:sp>
      <p:sp>
        <p:nvSpPr>
          <p:cNvPr id="39" name="Text"/>
          <p:cNvSpPr txBox="1"/>
          <p:nvPr/>
        </p:nvSpPr>
        <p:spPr>
          <a:xfrm>
            <a:off x="1111270" y="4485589"/>
            <a:ext cx="2877342"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Multimodal models and document AI</a:t>
            </a:r>
            <a:endParaRPr lang="en-US" sz="1100" dirty="0"/>
          </a:p>
        </p:txBody>
      </p:sp>
      <p:sp>
        <p:nvSpPr>
          <p:cNvPr id="40" name="Text"/>
          <p:cNvSpPr txBox="1"/>
          <p:nvPr/>
        </p:nvSpPr>
        <p:spPr>
          <a:xfrm>
            <a:off x="946130" y="5192055"/>
            <a:ext cx="304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41" name="Text"/>
          <p:cNvSpPr txBox="1"/>
          <p:nvPr/>
        </p:nvSpPr>
        <p:spPr>
          <a:xfrm>
            <a:off x="946130" y="5395692"/>
            <a:ext cx="3043123" cy="373990"/>
          </a:xfrm>
          <a:prstGeom prst="rect">
            <a:avLst/>
          </a:prstGeom>
          <a:noFill/>
          <a:ln/>
        </p:spPr>
        <p:txBody>
          <a:bodyPr wrap="square" lIns="0" tIns="0" rIns="0" bIns="0" rtlCol="0" anchor="t"/>
          <a:lstStyle/>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Clinicians at a leading healthcare group review a drafted report instead of writing from scratch</a:t>
            </a:r>
            <a:endParaRPr lang="en-US" sz="950" dirty="0"/>
          </a:p>
        </p:txBody>
      </p:sp>
      <p:sp>
        <p:nvSpPr>
          <p:cNvPr id="42" name="Text"/>
          <p:cNvSpPr txBox="1"/>
          <p:nvPr/>
        </p:nvSpPr>
        <p:spPr>
          <a:xfrm>
            <a:off x="5094762" y="2419502"/>
            <a:ext cx="1952153" cy="232440"/>
          </a:xfrm>
          <a:prstGeom prst="rect">
            <a:avLst/>
          </a:prstGeom>
          <a:noFill/>
          <a:ln/>
        </p:spPr>
        <p:txBody>
          <a:bodyPr wrap="non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Agentic automation</a:t>
            </a:r>
            <a:endParaRPr lang="en-US" sz="1500" dirty="0"/>
          </a:p>
        </p:txBody>
      </p:sp>
      <p:sp>
        <p:nvSpPr>
          <p:cNvPr id="43" name="Text"/>
          <p:cNvSpPr txBox="1"/>
          <p:nvPr/>
        </p:nvSpPr>
        <p:spPr>
          <a:xfrm>
            <a:off x="4586813" y="2865547"/>
            <a:ext cx="3043763" cy="202540"/>
          </a:xfrm>
          <a:prstGeom prst="rect">
            <a:avLst/>
          </a:prstGeom>
          <a:noFill/>
          <a:ln/>
        </p:spPr>
        <p:txBody>
          <a:bodyPr wrap="none" lIns="0" tIns="0" rIns="0" bIns="0" rtlCol="0" anchor="t"/>
          <a:lstStyle/>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Put AI agents to work across your systems</a:t>
            </a:r>
            <a:endParaRPr lang="en-US" sz="1100" dirty="0"/>
          </a:p>
        </p:txBody>
      </p:sp>
      <p:sp>
        <p:nvSpPr>
          <p:cNvPr id="44" name="Text"/>
          <p:cNvSpPr txBox="1"/>
          <p:nvPr/>
        </p:nvSpPr>
        <p:spPr>
          <a:xfrm>
            <a:off x="4751862" y="3495020"/>
            <a:ext cx="2877342"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Agentic process automation for documents and claims</a:t>
            </a:r>
            <a:endParaRPr lang="en-US" sz="1100" dirty="0"/>
          </a:p>
        </p:txBody>
      </p:sp>
      <p:sp>
        <p:nvSpPr>
          <p:cNvPr id="45" name="Text"/>
          <p:cNvSpPr txBox="1"/>
          <p:nvPr/>
        </p:nvSpPr>
        <p:spPr>
          <a:xfrm>
            <a:off x="4751862" y="3990259"/>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Custom tool, MCP and API development</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for agents</a:t>
            </a:r>
            <a:endParaRPr lang="en-US" sz="1100" dirty="0"/>
          </a:p>
        </p:txBody>
      </p:sp>
      <p:sp>
        <p:nvSpPr>
          <p:cNvPr id="46" name="Text"/>
          <p:cNvSpPr txBox="1"/>
          <p:nvPr/>
        </p:nvSpPr>
        <p:spPr>
          <a:xfrm>
            <a:off x="4751862" y="4485589"/>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WhatsApp sales agents that sync leads</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to your CRM</a:t>
            </a:r>
            <a:endParaRPr lang="en-US" sz="1100" dirty="0"/>
          </a:p>
        </p:txBody>
      </p:sp>
      <p:sp>
        <p:nvSpPr>
          <p:cNvPr id="47" name="Text"/>
          <p:cNvSpPr txBox="1"/>
          <p:nvPr/>
        </p:nvSpPr>
        <p:spPr>
          <a:xfrm>
            <a:off x="4586813" y="5192055"/>
            <a:ext cx="304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48" name="Text"/>
          <p:cNvSpPr txBox="1"/>
          <p:nvPr/>
        </p:nvSpPr>
        <p:spPr>
          <a:xfrm>
            <a:off x="4586813" y="5395692"/>
            <a:ext cx="3164464" cy="373990"/>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80%</a:t>
            </a:r>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 less manual data entry time with WhatsApp</a:t>
            </a:r>
            <a:endParaRPr lang="en-US" sz="950" dirty="0"/>
          </a:p>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AI agents for a Singapore hospitality group</a:t>
            </a:r>
            <a:endParaRPr lang="en-US" sz="950" dirty="0"/>
          </a:p>
        </p:txBody>
      </p:sp>
      <p:sp>
        <p:nvSpPr>
          <p:cNvPr id="49" name="Text"/>
          <p:cNvSpPr txBox="1"/>
          <p:nvPr/>
        </p:nvSpPr>
        <p:spPr>
          <a:xfrm>
            <a:off x="8735446" y="2303282"/>
            <a:ext cx="2636124"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System integration</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and consulting</a:t>
            </a:r>
            <a:endParaRPr lang="en-US" sz="1500" dirty="0"/>
          </a:p>
        </p:txBody>
      </p:sp>
      <p:sp>
        <p:nvSpPr>
          <p:cNvPr id="50" name="Text"/>
          <p:cNvSpPr txBox="1"/>
          <p:nvPr/>
        </p:nvSpPr>
        <p:spPr>
          <a:xfrm>
            <a:off x="8227405" y="2865547"/>
            <a:ext cx="3164464" cy="405171"/>
          </a:xfrm>
          <a:prstGeom prst="rect">
            <a:avLst/>
          </a:prstGeom>
          <a:noFill/>
          <a:ln/>
        </p:spPr>
        <p:txBody>
          <a:bodyPr wrap="square" lIns="0" tIns="0" rIns="0" bIns="0" rtlCol="0" anchor="t"/>
          <a:lstStyle/>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Replace and connect legacy systems, from</a:t>
            </a:r>
            <a:endParaRPr lang="en-US" sz="1100" dirty="0"/>
          </a:p>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strategy to go-live</a:t>
            </a:r>
            <a:endParaRPr lang="en-US" sz="1100" dirty="0"/>
          </a:p>
        </p:txBody>
      </p:sp>
      <p:sp>
        <p:nvSpPr>
          <p:cNvPr id="51" name="Text"/>
          <p:cNvSpPr txBox="1"/>
          <p:nvPr/>
        </p:nvSpPr>
        <p:spPr>
          <a:xfrm>
            <a:off x="8392546" y="3495020"/>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Tech advisory, a data audit and AI</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strategy research</a:t>
            </a:r>
            <a:endParaRPr lang="en-US" sz="1100" dirty="0"/>
          </a:p>
        </p:txBody>
      </p:sp>
      <p:sp>
        <p:nvSpPr>
          <p:cNvPr id="52" name="Text"/>
          <p:cNvSpPr txBox="1"/>
          <p:nvPr/>
        </p:nvSpPr>
        <p:spPr>
          <a:xfrm>
            <a:off x="8392546" y="3990259"/>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Legacy systems replaced and</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third-party portals connected</a:t>
            </a:r>
            <a:endParaRPr lang="en-US" sz="1100" dirty="0"/>
          </a:p>
        </p:txBody>
      </p:sp>
      <p:sp>
        <p:nvSpPr>
          <p:cNvPr id="53" name="Text"/>
          <p:cNvSpPr txBox="1"/>
          <p:nvPr/>
        </p:nvSpPr>
        <p:spPr>
          <a:xfrm>
            <a:off x="8392546" y="4485589"/>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Projects taken over midway and</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delivered</a:t>
            </a:r>
            <a:endParaRPr lang="en-US" sz="1100" dirty="0"/>
          </a:p>
        </p:txBody>
      </p:sp>
      <p:sp>
        <p:nvSpPr>
          <p:cNvPr id="54" name="Text"/>
          <p:cNvSpPr txBox="1"/>
          <p:nvPr/>
        </p:nvSpPr>
        <p:spPr>
          <a:xfrm>
            <a:off x="8227405" y="5192055"/>
            <a:ext cx="304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5" name="Text"/>
          <p:cNvSpPr txBox="1"/>
          <p:nvPr/>
        </p:nvSpPr>
        <p:spPr>
          <a:xfrm>
            <a:off x="8227405" y="5395692"/>
            <a:ext cx="3164464" cy="373990"/>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90+</a:t>
            </a:r>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 portal automations for a 36-year-old law</a:t>
            </a:r>
            <a:endParaRPr lang="en-US" sz="950" dirty="0"/>
          </a:p>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firm; iPajak Group’s six branches on one system</a:t>
            </a:r>
            <a:endParaRPr lang="en-US" sz="950" dirty="0"/>
          </a:p>
        </p:txBody>
      </p:sp>
      <p:sp>
        <p:nvSpPr>
          <p:cNvPr id="56"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7"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8"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What we do</a:t>
            </a:r>
            <a:endParaRPr lang="en-US" sz="850" dirty="0"/>
          </a:p>
        </p:txBody>
      </p:sp>
      <p:sp>
        <p:nvSpPr>
          <p:cNvPr id="59"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0"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1"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2"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alphv.com/services and its six service pages (October 2026).</a:t>
            </a:r>
            <a:endParaRPr lang="en-US" sz="850" dirty="0"/>
          </a:p>
        </p:txBody>
      </p:sp>
      <p:sp>
        <p:nvSpPr>
          <p:cNvPr id="63" name="Text"/>
          <p:cNvSpPr txBox="1"/>
          <p:nvPr/>
        </p:nvSpPr>
        <p:spPr>
          <a:xfrm>
            <a:off x="9373697"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4" name="Text"/>
          <p:cNvSpPr txBox="1"/>
          <p:nvPr/>
        </p:nvSpPr>
        <p:spPr>
          <a:xfrm>
            <a:off x="988164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5" name="Text"/>
          <p:cNvSpPr txBox="1"/>
          <p:nvPr/>
        </p:nvSpPr>
        <p:spPr>
          <a:xfrm>
            <a:off x="11373124" y="6401532"/>
            <a:ext cx="133045"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1053389" cy="254020"/>
          </a:xfrm>
          <a:prstGeom prst="roundRect">
            <a:avLst>
              <a:gd name="adj" fmla="val 50000"/>
            </a:avLst>
          </a:prstGeom>
          <a:ln w="6350">
            <a:solidFill>
              <a:srgbClr val="155DFC"/>
            </a:solidFill>
            <a:prstDash val="solid"/>
          </a:ln>
        </p:spPr>
      </p:sp>
      <p:sp>
        <p:nvSpPr>
          <p:cNvPr id="3" name="card"/>
          <p:cNvSpPr/>
          <p:nvPr/>
        </p:nvSpPr>
        <p:spPr>
          <a:xfrm>
            <a:off x="714421" y="2077060"/>
            <a:ext cx="3481852" cy="3939601"/>
          </a:xfrm>
          <a:prstGeom prst="roundRect">
            <a:avLst>
              <a:gd name="adj" fmla="val 4286"/>
            </a:avLst>
          </a:prstGeom>
          <a:solidFill>
            <a:srgbClr val="FFFFFF"/>
          </a:solidFill>
          <a:ln w="6350">
            <a:solidFill>
              <a:srgbClr val="F0F0F0"/>
            </a:solidFill>
            <a:prstDash val="solid"/>
          </a:ln>
        </p:spPr>
      </p:sp>
      <p:sp>
        <p:nvSpPr>
          <p:cNvPr id="4" name="tile"/>
          <p:cNvSpPr/>
          <p:nvPr/>
        </p:nvSpPr>
        <p:spPr>
          <a:xfrm>
            <a:off x="946130" y="2353300"/>
            <a:ext cx="381030" cy="381030"/>
          </a:xfrm>
          <a:prstGeom prst="roundRect">
            <a:avLst>
              <a:gd name="adj" fmla="val 29998"/>
            </a:avLst>
          </a:prstGeom>
          <a:solidFill>
            <a:srgbClr val="044BD9"/>
          </a:solidFill>
          <a:ln/>
        </p:spPr>
      </p:sp>
      <p:pic>
        <p:nvPicPr>
          <p:cNvPr id="5" name="Icon" descr="/tmp/deck-pptx-VwALqa/icon-51.png">    </p:cNvPr>
          <p:cNvPicPr>
            <a:picLocks noChangeAspect="1"/>
          </p:cNvPicPr>
          <p:nvPr/>
        </p:nvPicPr>
        <p:blipFill>
          <a:blip r:embed="rId1"/>
          <a:stretch>
            <a:fillRect/>
          </a:stretch>
        </p:blipFill>
        <p:spPr>
          <a:xfrm>
            <a:off x="1047720" y="2454890"/>
            <a:ext cx="177759" cy="177759"/>
          </a:xfrm>
          <a:prstGeom prst="rect">
            <a:avLst/>
          </a:prstGeom>
        </p:spPr>
      </p:pic>
      <p:sp>
        <p:nvSpPr>
          <p:cNvPr id="6" name="Rule"/>
          <p:cNvSpPr/>
          <p:nvPr/>
        </p:nvSpPr>
        <p:spPr>
          <a:xfrm>
            <a:off x="946130" y="3391510"/>
            <a:ext cx="3018343" cy="0"/>
          </a:xfrm>
          <a:prstGeom prst="line">
            <a:avLst/>
          </a:prstGeom>
          <a:noFill/>
          <a:ln w="6350">
            <a:solidFill>
              <a:srgbClr val="F0F0F0"/>
            </a:solidFill>
            <a:prstDash val="solid"/>
          </a:ln>
        </p:spPr>
      </p:sp>
      <p:sp>
        <p:nvSpPr>
          <p:cNvPr id="7" name="li::before"/>
          <p:cNvSpPr/>
          <p:nvPr/>
        </p:nvSpPr>
        <p:spPr>
          <a:xfrm>
            <a:off x="946130" y="3595604"/>
            <a:ext cx="57150" cy="57150"/>
          </a:xfrm>
          <a:prstGeom prst="rect">
            <a:avLst/>
          </a:prstGeom>
          <a:solidFill>
            <a:srgbClr val="044BD9"/>
          </a:solidFill>
          <a:ln/>
        </p:spPr>
      </p:sp>
      <p:sp>
        <p:nvSpPr>
          <p:cNvPr id="8" name="li::before"/>
          <p:cNvSpPr/>
          <p:nvPr/>
        </p:nvSpPr>
        <p:spPr>
          <a:xfrm>
            <a:off x="946130" y="4090843"/>
            <a:ext cx="57150" cy="57150"/>
          </a:xfrm>
          <a:prstGeom prst="rect">
            <a:avLst/>
          </a:prstGeom>
          <a:solidFill>
            <a:srgbClr val="044BD9"/>
          </a:solidFill>
          <a:ln/>
        </p:spPr>
      </p:sp>
      <p:sp>
        <p:nvSpPr>
          <p:cNvPr id="9" name="li::before"/>
          <p:cNvSpPr/>
          <p:nvPr/>
        </p:nvSpPr>
        <p:spPr>
          <a:xfrm>
            <a:off x="946130" y="4586173"/>
            <a:ext cx="57150" cy="57150"/>
          </a:xfrm>
          <a:prstGeom prst="rect">
            <a:avLst/>
          </a:prstGeom>
          <a:solidFill>
            <a:srgbClr val="044BD9"/>
          </a:solidFill>
          <a:ln/>
        </p:spPr>
      </p:sp>
      <p:sp>
        <p:nvSpPr>
          <p:cNvPr id="10" name="Rule"/>
          <p:cNvSpPr/>
          <p:nvPr/>
        </p:nvSpPr>
        <p:spPr>
          <a:xfrm>
            <a:off x="946130" y="5100798"/>
            <a:ext cx="3018343" cy="0"/>
          </a:xfrm>
          <a:prstGeom prst="line">
            <a:avLst/>
          </a:prstGeom>
          <a:noFill/>
          <a:ln w="6350">
            <a:solidFill>
              <a:srgbClr val="F0F0F0"/>
            </a:solidFill>
            <a:prstDash val="solid"/>
          </a:ln>
        </p:spPr>
      </p:sp>
      <p:sp>
        <p:nvSpPr>
          <p:cNvPr id="11" name="card"/>
          <p:cNvSpPr/>
          <p:nvPr/>
        </p:nvSpPr>
        <p:spPr>
          <a:xfrm>
            <a:off x="4355013" y="2077060"/>
            <a:ext cx="3481852" cy="3939601"/>
          </a:xfrm>
          <a:prstGeom prst="roundRect">
            <a:avLst>
              <a:gd name="adj" fmla="val 4286"/>
            </a:avLst>
          </a:prstGeom>
          <a:solidFill>
            <a:srgbClr val="FFFFFF"/>
          </a:solidFill>
          <a:ln w="6350">
            <a:solidFill>
              <a:srgbClr val="F0F0F0"/>
            </a:solidFill>
            <a:prstDash val="solid"/>
          </a:ln>
        </p:spPr>
      </p:sp>
      <p:sp>
        <p:nvSpPr>
          <p:cNvPr id="12" name="tile"/>
          <p:cNvSpPr/>
          <p:nvPr/>
        </p:nvSpPr>
        <p:spPr>
          <a:xfrm>
            <a:off x="4586813" y="2353300"/>
            <a:ext cx="381030" cy="381030"/>
          </a:xfrm>
          <a:prstGeom prst="roundRect">
            <a:avLst>
              <a:gd name="adj" fmla="val 29998"/>
            </a:avLst>
          </a:prstGeom>
          <a:solidFill>
            <a:srgbClr val="044BD9"/>
          </a:solidFill>
          <a:ln/>
        </p:spPr>
      </p:sp>
      <p:pic>
        <p:nvPicPr>
          <p:cNvPr id="13" name="Icon" descr="/tmp/deck-pptx-VwALqa/icon-52.png">    </p:cNvPr>
          <p:cNvPicPr>
            <a:picLocks noChangeAspect="1"/>
          </p:cNvPicPr>
          <p:nvPr/>
        </p:nvPicPr>
        <p:blipFill>
          <a:blip r:embed="rId2"/>
          <a:stretch>
            <a:fillRect/>
          </a:stretch>
        </p:blipFill>
        <p:spPr>
          <a:xfrm>
            <a:off x="4688403" y="2454890"/>
            <a:ext cx="177759" cy="177759"/>
          </a:xfrm>
          <a:prstGeom prst="rect">
            <a:avLst/>
          </a:prstGeom>
        </p:spPr>
      </p:pic>
      <p:sp>
        <p:nvSpPr>
          <p:cNvPr id="14" name="Rule"/>
          <p:cNvSpPr/>
          <p:nvPr/>
        </p:nvSpPr>
        <p:spPr>
          <a:xfrm>
            <a:off x="4586813" y="3391510"/>
            <a:ext cx="3018343" cy="0"/>
          </a:xfrm>
          <a:prstGeom prst="line">
            <a:avLst/>
          </a:prstGeom>
          <a:noFill/>
          <a:ln w="6350">
            <a:solidFill>
              <a:srgbClr val="F0F0F0"/>
            </a:solidFill>
            <a:prstDash val="solid"/>
          </a:ln>
        </p:spPr>
      </p:sp>
      <p:sp>
        <p:nvSpPr>
          <p:cNvPr id="15" name="li::before"/>
          <p:cNvSpPr/>
          <p:nvPr/>
        </p:nvSpPr>
        <p:spPr>
          <a:xfrm>
            <a:off x="4586813" y="3595604"/>
            <a:ext cx="57150" cy="57150"/>
          </a:xfrm>
          <a:prstGeom prst="rect">
            <a:avLst/>
          </a:prstGeom>
          <a:solidFill>
            <a:srgbClr val="044BD9"/>
          </a:solidFill>
          <a:ln/>
        </p:spPr>
      </p:sp>
      <p:sp>
        <p:nvSpPr>
          <p:cNvPr id="16" name="li::before"/>
          <p:cNvSpPr/>
          <p:nvPr/>
        </p:nvSpPr>
        <p:spPr>
          <a:xfrm>
            <a:off x="4586813" y="3881354"/>
            <a:ext cx="57150" cy="57150"/>
          </a:xfrm>
          <a:prstGeom prst="rect">
            <a:avLst/>
          </a:prstGeom>
          <a:solidFill>
            <a:srgbClr val="044BD9"/>
          </a:solidFill>
          <a:ln/>
        </p:spPr>
      </p:sp>
      <p:sp>
        <p:nvSpPr>
          <p:cNvPr id="17" name="li::before"/>
          <p:cNvSpPr/>
          <p:nvPr/>
        </p:nvSpPr>
        <p:spPr>
          <a:xfrm>
            <a:off x="4586813" y="4376593"/>
            <a:ext cx="57150" cy="57150"/>
          </a:xfrm>
          <a:prstGeom prst="rect">
            <a:avLst/>
          </a:prstGeom>
          <a:solidFill>
            <a:srgbClr val="044BD9"/>
          </a:solidFill>
          <a:ln/>
        </p:spPr>
      </p:sp>
      <p:sp>
        <p:nvSpPr>
          <p:cNvPr id="18" name="Rule"/>
          <p:cNvSpPr/>
          <p:nvPr/>
        </p:nvSpPr>
        <p:spPr>
          <a:xfrm>
            <a:off x="4586813" y="5100798"/>
            <a:ext cx="3018343" cy="0"/>
          </a:xfrm>
          <a:prstGeom prst="line">
            <a:avLst/>
          </a:prstGeom>
          <a:noFill/>
          <a:ln w="6350">
            <a:solidFill>
              <a:srgbClr val="F0F0F0"/>
            </a:solidFill>
            <a:prstDash val="solid"/>
          </a:ln>
        </p:spPr>
      </p:sp>
      <p:sp>
        <p:nvSpPr>
          <p:cNvPr id="19" name="card"/>
          <p:cNvSpPr/>
          <p:nvPr/>
        </p:nvSpPr>
        <p:spPr>
          <a:xfrm>
            <a:off x="7995605" y="2077060"/>
            <a:ext cx="3481852" cy="3939601"/>
          </a:xfrm>
          <a:prstGeom prst="roundRect">
            <a:avLst>
              <a:gd name="adj" fmla="val 4286"/>
            </a:avLst>
          </a:prstGeom>
          <a:solidFill>
            <a:srgbClr val="FFFFFF"/>
          </a:solidFill>
          <a:ln w="6350">
            <a:solidFill>
              <a:srgbClr val="F0F0F0"/>
            </a:solidFill>
            <a:prstDash val="solid"/>
          </a:ln>
        </p:spPr>
      </p:sp>
      <p:sp>
        <p:nvSpPr>
          <p:cNvPr id="20" name="tile"/>
          <p:cNvSpPr/>
          <p:nvPr/>
        </p:nvSpPr>
        <p:spPr>
          <a:xfrm>
            <a:off x="8227405" y="2353300"/>
            <a:ext cx="381030" cy="381030"/>
          </a:xfrm>
          <a:prstGeom prst="roundRect">
            <a:avLst>
              <a:gd name="adj" fmla="val 29998"/>
            </a:avLst>
          </a:prstGeom>
          <a:solidFill>
            <a:srgbClr val="044BD9"/>
          </a:solidFill>
          <a:ln/>
        </p:spPr>
      </p:sp>
      <p:pic>
        <p:nvPicPr>
          <p:cNvPr id="21" name="Icon" descr="/tmp/deck-pptx-VwALqa/icon-53.png">    </p:cNvPr>
          <p:cNvPicPr>
            <a:picLocks noChangeAspect="1"/>
          </p:cNvPicPr>
          <p:nvPr/>
        </p:nvPicPr>
        <p:blipFill>
          <a:blip r:embed="rId3"/>
          <a:stretch>
            <a:fillRect/>
          </a:stretch>
        </p:blipFill>
        <p:spPr>
          <a:xfrm>
            <a:off x="8328995" y="2454890"/>
            <a:ext cx="177759" cy="177759"/>
          </a:xfrm>
          <a:prstGeom prst="rect">
            <a:avLst/>
          </a:prstGeom>
        </p:spPr>
      </p:pic>
      <p:sp>
        <p:nvSpPr>
          <p:cNvPr id="22" name="Rule"/>
          <p:cNvSpPr/>
          <p:nvPr/>
        </p:nvSpPr>
        <p:spPr>
          <a:xfrm>
            <a:off x="8227405" y="3391510"/>
            <a:ext cx="3018343" cy="0"/>
          </a:xfrm>
          <a:prstGeom prst="line">
            <a:avLst/>
          </a:prstGeom>
          <a:noFill/>
          <a:ln w="6350">
            <a:solidFill>
              <a:srgbClr val="F0F0F0"/>
            </a:solidFill>
            <a:prstDash val="solid"/>
          </a:ln>
        </p:spPr>
      </p:sp>
      <p:sp>
        <p:nvSpPr>
          <p:cNvPr id="23" name="li::before"/>
          <p:cNvSpPr/>
          <p:nvPr/>
        </p:nvSpPr>
        <p:spPr>
          <a:xfrm>
            <a:off x="8227405" y="3595604"/>
            <a:ext cx="57150" cy="57150"/>
          </a:xfrm>
          <a:prstGeom prst="rect">
            <a:avLst/>
          </a:prstGeom>
          <a:solidFill>
            <a:srgbClr val="044BD9"/>
          </a:solidFill>
          <a:ln/>
        </p:spPr>
      </p:sp>
      <p:sp>
        <p:nvSpPr>
          <p:cNvPr id="24" name="li::before"/>
          <p:cNvSpPr/>
          <p:nvPr/>
        </p:nvSpPr>
        <p:spPr>
          <a:xfrm>
            <a:off x="8227405" y="3881354"/>
            <a:ext cx="57150" cy="57150"/>
          </a:xfrm>
          <a:prstGeom prst="rect">
            <a:avLst/>
          </a:prstGeom>
          <a:solidFill>
            <a:srgbClr val="044BD9"/>
          </a:solidFill>
          <a:ln/>
        </p:spPr>
      </p:sp>
      <p:sp>
        <p:nvSpPr>
          <p:cNvPr id="25" name="li::before"/>
          <p:cNvSpPr/>
          <p:nvPr/>
        </p:nvSpPr>
        <p:spPr>
          <a:xfrm>
            <a:off x="8227405" y="4376593"/>
            <a:ext cx="57150" cy="57150"/>
          </a:xfrm>
          <a:prstGeom prst="rect">
            <a:avLst/>
          </a:prstGeom>
          <a:solidFill>
            <a:srgbClr val="044BD9"/>
          </a:solidFill>
          <a:ln/>
        </p:spPr>
      </p:sp>
      <p:sp>
        <p:nvSpPr>
          <p:cNvPr id="26" name="Rule"/>
          <p:cNvSpPr/>
          <p:nvPr/>
        </p:nvSpPr>
        <p:spPr>
          <a:xfrm>
            <a:off x="8227405" y="5100798"/>
            <a:ext cx="3018343" cy="0"/>
          </a:xfrm>
          <a:prstGeom prst="line">
            <a:avLst/>
          </a:prstGeom>
          <a:noFill/>
          <a:ln w="6350">
            <a:solidFill>
              <a:srgbClr val="F0F0F0"/>
            </a:solidFill>
            <a:prstDash val="solid"/>
          </a:ln>
        </p:spPr>
      </p:sp>
      <p:sp>
        <p:nvSpPr>
          <p:cNvPr id="27" name="span::before"/>
          <p:cNvSpPr/>
          <p:nvPr/>
        </p:nvSpPr>
        <p:spPr>
          <a:xfrm>
            <a:off x="6191860" y="311170"/>
            <a:ext cx="44440" cy="44440"/>
          </a:xfrm>
          <a:prstGeom prst="rect">
            <a:avLst/>
          </a:prstGeom>
          <a:solidFill>
            <a:srgbClr val="A0A6AF">
              <a:alpha val="55000"/>
            </a:srgbClr>
          </a:solidFill>
          <a:ln/>
        </p:spPr>
      </p:sp>
      <p:sp>
        <p:nvSpPr>
          <p:cNvPr id="28" name="span::before"/>
          <p:cNvSpPr/>
          <p:nvPr/>
        </p:nvSpPr>
        <p:spPr>
          <a:xfrm>
            <a:off x="7145213" y="311170"/>
            <a:ext cx="44440" cy="44440"/>
          </a:xfrm>
          <a:prstGeom prst="rect">
            <a:avLst/>
          </a:prstGeom>
          <a:solidFill>
            <a:srgbClr val="A0A6AF">
              <a:alpha val="55000"/>
            </a:srgbClr>
          </a:solidFill>
          <a:ln/>
        </p:spPr>
      </p:sp>
      <p:sp>
        <p:nvSpPr>
          <p:cNvPr id="29" name="on::before"/>
          <p:cNvSpPr/>
          <p:nvPr/>
        </p:nvSpPr>
        <p:spPr>
          <a:xfrm>
            <a:off x="8056230" y="311170"/>
            <a:ext cx="44440" cy="44440"/>
          </a:xfrm>
          <a:prstGeom prst="rect">
            <a:avLst/>
          </a:prstGeom>
          <a:solidFill>
            <a:srgbClr val="044BD9"/>
          </a:solidFill>
          <a:ln/>
        </p:spPr>
      </p:sp>
      <p:sp>
        <p:nvSpPr>
          <p:cNvPr id="30" name="span::before"/>
          <p:cNvSpPr/>
          <p:nvPr/>
        </p:nvSpPr>
        <p:spPr>
          <a:xfrm>
            <a:off x="8972550" y="311170"/>
            <a:ext cx="44440" cy="44440"/>
          </a:xfrm>
          <a:prstGeom prst="rect">
            <a:avLst/>
          </a:prstGeom>
          <a:solidFill>
            <a:srgbClr val="A0A6AF">
              <a:alpha val="55000"/>
            </a:srgbClr>
          </a:solidFill>
          <a:ln/>
        </p:spPr>
      </p:sp>
      <p:sp>
        <p:nvSpPr>
          <p:cNvPr id="31" name="span::before"/>
          <p:cNvSpPr/>
          <p:nvPr/>
        </p:nvSpPr>
        <p:spPr>
          <a:xfrm>
            <a:off x="10421142" y="311170"/>
            <a:ext cx="44440" cy="44440"/>
          </a:xfrm>
          <a:prstGeom prst="rect">
            <a:avLst/>
          </a:prstGeom>
          <a:solidFill>
            <a:srgbClr val="A0A6AF">
              <a:alpha val="55000"/>
            </a:srgbClr>
          </a:solidFill>
          <a:ln/>
        </p:spPr>
      </p:sp>
      <p:sp>
        <p:nvSpPr>
          <p:cNvPr id="32" name="span::before"/>
          <p:cNvSpPr/>
          <p:nvPr/>
        </p:nvSpPr>
        <p:spPr>
          <a:xfrm>
            <a:off x="10966216" y="311170"/>
            <a:ext cx="44440" cy="44440"/>
          </a:xfrm>
          <a:prstGeom prst="rect">
            <a:avLst/>
          </a:prstGeom>
          <a:solidFill>
            <a:srgbClr val="A0A6AF">
              <a:alpha val="55000"/>
            </a:srgbClr>
          </a:solidFill>
          <a:ln/>
        </p:spPr>
      </p:sp>
      <p:sp>
        <p:nvSpPr>
          <p:cNvPr id="33" name="Text"/>
          <p:cNvSpPr txBox="1"/>
          <p:nvPr/>
        </p:nvSpPr>
        <p:spPr>
          <a:xfrm>
            <a:off x="844540" y="609265"/>
            <a:ext cx="818479"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Services 4–6</a:t>
            </a:r>
            <a:endParaRPr lang="en-US" sz="950" dirty="0"/>
          </a:p>
        </p:txBody>
      </p:sp>
      <p:sp>
        <p:nvSpPr>
          <p:cNvPr id="34"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Vision, platforms and MLOps carry AI to</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cameras, users and production pipelines</a:t>
            </a:r>
            <a:endParaRPr lang="en-US" sz="3000" dirty="0"/>
          </a:p>
        </p:txBody>
      </p:sp>
      <p:sp>
        <p:nvSpPr>
          <p:cNvPr id="35" name="Text"/>
          <p:cNvSpPr txBox="1"/>
          <p:nvPr/>
        </p:nvSpPr>
        <p:spPr>
          <a:xfrm>
            <a:off x="1454170" y="2303282"/>
            <a:ext cx="2636124"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Computer vision</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and smart city</a:t>
            </a:r>
            <a:endParaRPr lang="en-US" sz="1500" dirty="0"/>
          </a:p>
        </p:txBody>
      </p:sp>
      <p:sp>
        <p:nvSpPr>
          <p:cNvPr id="36" name="Text"/>
          <p:cNvSpPr txBox="1"/>
          <p:nvPr/>
        </p:nvSpPr>
        <p:spPr>
          <a:xfrm>
            <a:off x="946130" y="2865547"/>
            <a:ext cx="3164464" cy="405171"/>
          </a:xfrm>
          <a:prstGeom prst="rect">
            <a:avLst/>
          </a:prstGeom>
          <a:noFill/>
          <a:ln/>
        </p:spPr>
        <p:txBody>
          <a:bodyPr wrap="square" lIns="0" tIns="0" rIns="0" bIns="0" rtlCol="0" anchor="t"/>
          <a:lstStyle/>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Count, classify and track with</a:t>
            </a:r>
            <a:endParaRPr lang="en-US" sz="1100" dirty="0"/>
          </a:p>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video analytics</a:t>
            </a:r>
            <a:endParaRPr lang="en-US" sz="1100" dirty="0"/>
          </a:p>
        </p:txBody>
      </p:sp>
      <p:sp>
        <p:nvSpPr>
          <p:cNvPr id="37" name="Text"/>
          <p:cNvSpPr txBox="1"/>
          <p:nvPr/>
        </p:nvSpPr>
        <p:spPr>
          <a:xfrm>
            <a:off x="1111270" y="3495020"/>
            <a:ext cx="2877342"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People counting and occupancy with Kiralytics MATA</a:t>
            </a:r>
            <a:endParaRPr lang="en-US" sz="1100" dirty="0"/>
          </a:p>
        </p:txBody>
      </p:sp>
      <p:sp>
        <p:nvSpPr>
          <p:cNvPr id="38" name="Text"/>
          <p:cNvSpPr txBox="1"/>
          <p:nvPr/>
        </p:nvSpPr>
        <p:spPr>
          <a:xfrm>
            <a:off x="1111270" y="3990259"/>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Traffic counting and speed detection</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with Kiralytics TRAFFIK</a:t>
            </a:r>
            <a:endParaRPr lang="en-US" sz="1100" dirty="0"/>
          </a:p>
        </p:txBody>
      </p:sp>
      <p:sp>
        <p:nvSpPr>
          <p:cNvPr id="39" name="Text"/>
          <p:cNvSpPr txBox="1"/>
          <p:nvPr/>
        </p:nvSpPr>
        <p:spPr>
          <a:xfrm>
            <a:off x="1111270" y="4485589"/>
            <a:ext cx="2877342"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Smart city video analytics</a:t>
            </a:r>
            <a:endParaRPr lang="en-US" sz="1100" dirty="0"/>
          </a:p>
        </p:txBody>
      </p:sp>
      <p:sp>
        <p:nvSpPr>
          <p:cNvPr id="40" name="Text"/>
          <p:cNvSpPr txBox="1"/>
          <p:nvPr/>
        </p:nvSpPr>
        <p:spPr>
          <a:xfrm>
            <a:off x="946130" y="5192055"/>
            <a:ext cx="304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41" name="Text"/>
          <p:cNvSpPr txBox="1"/>
          <p:nvPr/>
        </p:nvSpPr>
        <p:spPr>
          <a:xfrm>
            <a:off x="946130" y="5395692"/>
            <a:ext cx="3043123" cy="373990"/>
          </a:xfrm>
          <a:prstGeom prst="rect">
            <a:avLst/>
          </a:prstGeom>
          <a:noFill/>
          <a:ln/>
        </p:spPr>
        <p:txBody>
          <a:bodyPr wrap="square" lIns="0" tIns="0" rIns="0" bIns="0" rtlCol="0" anchor="t"/>
          <a:lstStyle/>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Productised as Kiralytics MATA and TRAFFIK, on live CCTV or with AI hardware from FootfallCam</a:t>
            </a:r>
            <a:endParaRPr lang="en-US" sz="950" dirty="0"/>
          </a:p>
        </p:txBody>
      </p:sp>
      <p:sp>
        <p:nvSpPr>
          <p:cNvPr id="42" name="Text"/>
          <p:cNvSpPr txBox="1"/>
          <p:nvPr/>
        </p:nvSpPr>
        <p:spPr>
          <a:xfrm>
            <a:off x="5094762" y="2419502"/>
            <a:ext cx="2149023" cy="232440"/>
          </a:xfrm>
          <a:prstGeom prst="rect">
            <a:avLst/>
          </a:prstGeom>
          <a:noFill/>
          <a:ln/>
        </p:spPr>
        <p:txBody>
          <a:bodyPr wrap="non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Web and mobile apps</a:t>
            </a:r>
            <a:endParaRPr lang="en-US" sz="1500" dirty="0"/>
          </a:p>
        </p:txBody>
      </p:sp>
      <p:sp>
        <p:nvSpPr>
          <p:cNvPr id="43" name="Text"/>
          <p:cNvSpPr txBox="1"/>
          <p:nvPr/>
        </p:nvSpPr>
        <p:spPr>
          <a:xfrm>
            <a:off x="4586813" y="2865547"/>
            <a:ext cx="3043123" cy="405171"/>
          </a:xfrm>
          <a:prstGeom prst="rect">
            <a:avLst/>
          </a:prstGeom>
          <a:noFill/>
          <a:ln/>
        </p:spPr>
        <p:txBody>
          <a:bodyPr wrap="square" lIns="0" tIns="0" rIns="0" bIns="0" rtlCol="0" anchor="t"/>
          <a:lstStyle/>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Web and mobile platforms used by thousands of people</a:t>
            </a:r>
            <a:endParaRPr lang="en-US" sz="1100" dirty="0"/>
          </a:p>
        </p:txBody>
      </p:sp>
      <p:sp>
        <p:nvSpPr>
          <p:cNvPr id="44" name="Text"/>
          <p:cNvSpPr txBox="1"/>
          <p:nvPr/>
        </p:nvSpPr>
        <p:spPr>
          <a:xfrm>
            <a:off x="4751862" y="3495020"/>
            <a:ext cx="2877342"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Product strategy and UI/UX design</a:t>
            </a:r>
            <a:endParaRPr lang="en-US" sz="1100" dirty="0"/>
          </a:p>
        </p:txBody>
      </p:sp>
      <p:sp>
        <p:nvSpPr>
          <p:cNvPr id="45" name="Text"/>
          <p:cNvSpPr txBox="1"/>
          <p:nvPr/>
        </p:nvSpPr>
        <p:spPr>
          <a:xfrm>
            <a:off x="4751862" y="3780770"/>
            <a:ext cx="2877342"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Web platforms and mobile apps, engineered through to delivery</a:t>
            </a:r>
            <a:endParaRPr lang="en-US" sz="1100" dirty="0"/>
          </a:p>
        </p:txBody>
      </p:sp>
      <p:sp>
        <p:nvSpPr>
          <p:cNvPr id="46" name="Text"/>
          <p:cNvSpPr txBox="1"/>
          <p:nvPr/>
        </p:nvSpPr>
        <p:spPr>
          <a:xfrm>
            <a:off x="4751862" y="4276009"/>
            <a:ext cx="2877342"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AI inside the product, from agents to digital avatars</a:t>
            </a:r>
            <a:endParaRPr lang="en-US" sz="1100" dirty="0"/>
          </a:p>
        </p:txBody>
      </p:sp>
      <p:sp>
        <p:nvSpPr>
          <p:cNvPr id="47" name="Text"/>
          <p:cNvSpPr txBox="1"/>
          <p:nvPr/>
        </p:nvSpPr>
        <p:spPr>
          <a:xfrm>
            <a:off x="4586813" y="5192055"/>
            <a:ext cx="304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48" name="Text"/>
          <p:cNvSpPr txBox="1"/>
          <p:nvPr/>
        </p:nvSpPr>
        <p:spPr>
          <a:xfrm>
            <a:off x="4586813" y="5395692"/>
            <a:ext cx="3043123" cy="373990"/>
          </a:xfrm>
          <a:prstGeom prst="rect">
            <a:avLst/>
          </a:prstGeom>
          <a:noFill/>
          <a:ln/>
        </p:spPr>
        <p:txBody>
          <a:bodyPr wrap="square" lIns="0" tIns="0" rIns="0" bIns="0" rtlCol="0" anchor="t"/>
          <a:lstStyle/>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LocumLah:</a:t>
            </a:r>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 3,000</a:t>
            </a:r>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 doctors and</a:t>
            </a:r>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 600</a:t>
            </a:r>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 clinics onboarded; Politikus by Caprice:</a:t>
            </a:r>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 32,000</a:t>
            </a:r>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 swipes</a:t>
            </a:r>
            <a:endParaRPr lang="en-US" sz="950" dirty="0"/>
          </a:p>
        </p:txBody>
      </p:sp>
      <p:sp>
        <p:nvSpPr>
          <p:cNvPr id="49" name="Text"/>
          <p:cNvSpPr txBox="1"/>
          <p:nvPr/>
        </p:nvSpPr>
        <p:spPr>
          <a:xfrm>
            <a:off x="8735446" y="2419502"/>
            <a:ext cx="2062429" cy="232440"/>
          </a:xfrm>
          <a:prstGeom prst="rect">
            <a:avLst/>
          </a:prstGeom>
          <a:noFill/>
          <a:ln/>
        </p:spPr>
        <p:txBody>
          <a:bodyPr wrap="non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Data, RPA and MLOps</a:t>
            </a:r>
            <a:endParaRPr lang="en-US" sz="1500" dirty="0"/>
          </a:p>
        </p:txBody>
      </p:sp>
      <p:sp>
        <p:nvSpPr>
          <p:cNvPr id="50" name="Text"/>
          <p:cNvSpPr txBox="1"/>
          <p:nvPr/>
        </p:nvSpPr>
        <p:spPr>
          <a:xfrm>
            <a:off x="8227405" y="2865547"/>
            <a:ext cx="3043123" cy="202540"/>
          </a:xfrm>
          <a:prstGeom prst="rect">
            <a:avLst/>
          </a:prstGeom>
          <a:noFill/>
          <a:ln/>
        </p:spPr>
        <p:txBody>
          <a:bodyPr wrap="square" lIns="0" tIns="0" rIns="0" bIns="0" rtlCol="0" anchor="t"/>
          <a:lstStyle/>
          <a:p>
            <a:pPr algn="l" indent="0" marL="0">
              <a:lnSpc>
                <a:spcPts val="1595"/>
              </a:lnSpc>
              <a:buNone/>
            </a:pPr>
            <a:r>
              <a:rPr lang="en-US" sz="1100" dirty="0">
                <a:solidFill>
                  <a:srgbClr val="000000"/>
                </a:solidFill>
                <a:latin typeface="Poppins Light" pitchFamily="34" charset="0"/>
                <a:ea typeface="Poppins Light" pitchFamily="34" charset="-122"/>
                <a:cs typeface="Poppins Light" pitchFamily="34" charset="-120"/>
              </a:rPr>
              <a:t>Keep models accurate in production</a:t>
            </a:r>
            <a:endParaRPr lang="en-US" sz="1100" dirty="0"/>
          </a:p>
        </p:txBody>
      </p:sp>
      <p:sp>
        <p:nvSpPr>
          <p:cNvPr id="51" name="Text"/>
          <p:cNvSpPr txBox="1"/>
          <p:nvPr/>
        </p:nvSpPr>
        <p:spPr>
          <a:xfrm>
            <a:off x="8392546" y="3495020"/>
            <a:ext cx="2878623" cy="209580"/>
          </a:xfrm>
          <a:prstGeom prst="rect">
            <a:avLst/>
          </a:prstGeom>
          <a:noFill/>
          <a:ln/>
        </p:spPr>
        <p:txBody>
          <a:bodyPr wrap="non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Data science, analytics and dashboards</a:t>
            </a:r>
            <a:endParaRPr lang="en-US" sz="1100" dirty="0"/>
          </a:p>
        </p:txBody>
      </p:sp>
      <p:sp>
        <p:nvSpPr>
          <p:cNvPr id="52" name="Text"/>
          <p:cNvSpPr txBox="1"/>
          <p:nvPr/>
        </p:nvSpPr>
        <p:spPr>
          <a:xfrm>
            <a:off x="8392546" y="3780770"/>
            <a:ext cx="2877342"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RPA, and agentic RPA for document work that needs judgement</a:t>
            </a:r>
            <a:endParaRPr lang="en-US" sz="1100" dirty="0"/>
          </a:p>
        </p:txBody>
      </p:sp>
      <p:sp>
        <p:nvSpPr>
          <p:cNvPr id="53" name="Text"/>
          <p:cNvSpPr txBox="1"/>
          <p:nvPr/>
        </p:nvSpPr>
        <p:spPr>
          <a:xfrm>
            <a:off x="8392546" y="4276009"/>
            <a:ext cx="2992740"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DevOps and MLOps pipelines that retrain,</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evaluate and redeploy</a:t>
            </a:r>
            <a:endParaRPr lang="en-US" sz="1100" dirty="0"/>
          </a:p>
        </p:txBody>
      </p:sp>
      <p:sp>
        <p:nvSpPr>
          <p:cNvPr id="54" name="Text"/>
          <p:cNvSpPr txBox="1"/>
          <p:nvPr/>
        </p:nvSpPr>
        <p:spPr>
          <a:xfrm>
            <a:off x="8227405" y="5192055"/>
            <a:ext cx="304312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5" name="Text"/>
          <p:cNvSpPr txBox="1"/>
          <p:nvPr/>
        </p:nvSpPr>
        <p:spPr>
          <a:xfrm>
            <a:off x="8227405" y="5395692"/>
            <a:ext cx="3164464" cy="373990"/>
          </a:xfrm>
          <a:prstGeom prst="rect">
            <a:avLst/>
          </a:prstGeom>
          <a:noFill/>
          <a:ln/>
        </p:spPr>
        <p:txBody>
          <a:bodyPr wrap="square" lIns="0" tIns="0" rIns="0" bIns="0" rtlCol="0" anchor="t"/>
          <a:lstStyle/>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RPA for PowerDNA’s genetic test report generation,</a:t>
            </a:r>
            <a:endParaRPr lang="en-US" sz="950" dirty="0"/>
          </a:p>
          <a:p>
            <a:pPr algn="l" indent="0" marL="0">
              <a:lnSpc>
                <a:spcPts val="1472"/>
              </a:lnSpc>
              <a:buNone/>
            </a:pPr>
            <a:r>
              <a:rPr lang="en-US" sz="950" dirty="0">
                <a:solidFill>
                  <a:srgbClr val="1F2937"/>
                </a:solidFill>
                <a:latin typeface="Poppins Light" pitchFamily="34" charset="0"/>
                <a:ea typeface="Poppins Light" pitchFamily="34" charset="-122"/>
                <a:cs typeface="Poppins Light" pitchFamily="34" charset="-120"/>
              </a:rPr>
              <a:t>in Malaysia and China</a:t>
            </a:r>
            <a:endParaRPr lang="en-US" sz="950" dirty="0"/>
          </a:p>
        </p:txBody>
      </p:sp>
      <p:sp>
        <p:nvSpPr>
          <p:cNvPr id="56"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7"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8"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What we do</a:t>
            </a:r>
            <a:endParaRPr lang="en-US" sz="850" dirty="0"/>
          </a:p>
        </p:txBody>
      </p:sp>
      <p:sp>
        <p:nvSpPr>
          <p:cNvPr id="59"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0"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1"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2"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alphv.com/services and its six service pages (October 2026).</a:t>
            </a:r>
            <a:endParaRPr lang="en-US" sz="850" dirty="0"/>
          </a:p>
        </p:txBody>
      </p:sp>
      <p:sp>
        <p:nvSpPr>
          <p:cNvPr id="63" name="Text"/>
          <p:cNvSpPr txBox="1"/>
          <p:nvPr/>
        </p:nvSpPr>
        <p:spPr>
          <a:xfrm>
            <a:off x="9374520"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4" name="Text"/>
          <p:cNvSpPr txBox="1"/>
          <p:nvPr/>
        </p:nvSpPr>
        <p:spPr>
          <a:xfrm>
            <a:off x="9882469"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5" name="Text"/>
          <p:cNvSpPr txBox="1"/>
          <p:nvPr/>
        </p:nvSpPr>
        <p:spPr>
          <a:xfrm>
            <a:off x="11373947" y="6401532"/>
            <a:ext cx="132222"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061618" cy="254020"/>
          </a:xfrm>
          <a:prstGeom prst="roundRect">
            <a:avLst>
              <a:gd name="adj" fmla="val 50000"/>
            </a:avLst>
          </a:prstGeom>
          <a:ln w="6350">
            <a:solidFill>
              <a:srgbClr val="155DFC"/>
            </a:solidFill>
            <a:prstDash val="solid"/>
          </a:ln>
        </p:spPr>
      </p:sp>
      <p:sp>
        <p:nvSpPr>
          <p:cNvPr id="3" name="Connector"/>
          <p:cNvSpPr/>
          <p:nvPr/>
        </p:nvSpPr>
        <p:spPr>
          <a:xfrm>
            <a:off x="914400" y="2277039"/>
            <a:ext cx="10363170" cy="0"/>
          </a:xfrm>
          <a:prstGeom prst="line">
            <a:avLst/>
          </a:prstGeom>
          <a:noFill/>
          <a:ln w="12700">
            <a:solidFill>
              <a:srgbClr val="044BD9">
                <a:alpha val="20000"/>
              </a:srgbClr>
            </a:solidFill>
            <a:prstDash val="dash"/>
          </a:ln>
        </p:spPr>
      </p:sp>
      <p:sp>
        <p:nvSpPr>
          <p:cNvPr id="4" name="num"/>
          <p:cNvSpPr/>
          <p:nvPr/>
        </p:nvSpPr>
        <p:spPr>
          <a:xfrm>
            <a:off x="711220" y="2073859"/>
            <a:ext cx="406359" cy="406359"/>
          </a:xfrm>
          <a:prstGeom prst="ellipse">
            <a:avLst/>
          </a:prstGeom>
          <a:solidFill>
            <a:srgbClr val="044BD9"/>
          </a:solidFill>
          <a:ln/>
        </p:spPr>
      </p:sp>
      <p:sp>
        <p:nvSpPr>
          <p:cNvPr id="5" name="Rule"/>
          <p:cNvSpPr/>
          <p:nvPr/>
        </p:nvSpPr>
        <p:spPr>
          <a:xfrm>
            <a:off x="711220" y="4298869"/>
            <a:ext cx="2501890" cy="0"/>
          </a:xfrm>
          <a:prstGeom prst="line">
            <a:avLst/>
          </a:prstGeom>
          <a:noFill/>
          <a:ln w="6350">
            <a:solidFill>
              <a:srgbClr val="E3E6EC"/>
            </a:solidFill>
            <a:prstDash val="solid"/>
          </a:ln>
        </p:spPr>
      </p:sp>
      <p:sp>
        <p:nvSpPr>
          <p:cNvPr id="6" name="li::before"/>
          <p:cNvSpPr/>
          <p:nvPr/>
        </p:nvSpPr>
        <p:spPr>
          <a:xfrm>
            <a:off x="711220" y="4482389"/>
            <a:ext cx="57150" cy="57150"/>
          </a:xfrm>
          <a:prstGeom prst="rect">
            <a:avLst/>
          </a:prstGeom>
          <a:solidFill>
            <a:srgbClr val="044BD9"/>
          </a:solidFill>
          <a:ln/>
        </p:spPr>
      </p:sp>
      <p:sp>
        <p:nvSpPr>
          <p:cNvPr id="7" name="li::before"/>
          <p:cNvSpPr/>
          <p:nvPr/>
        </p:nvSpPr>
        <p:spPr>
          <a:xfrm>
            <a:off x="711220" y="4914168"/>
            <a:ext cx="57150" cy="57150"/>
          </a:xfrm>
          <a:prstGeom prst="rect">
            <a:avLst/>
          </a:prstGeom>
          <a:solidFill>
            <a:srgbClr val="044BD9"/>
          </a:solidFill>
          <a:ln/>
        </p:spPr>
      </p:sp>
      <p:sp>
        <p:nvSpPr>
          <p:cNvPr id="8" name="num"/>
          <p:cNvSpPr/>
          <p:nvPr/>
        </p:nvSpPr>
        <p:spPr>
          <a:xfrm>
            <a:off x="3467130" y="2073859"/>
            <a:ext cx="406359" cy="406359"/>
          </a:xfrm>
          <a:prstGeom prst="ellipse">
            <a:avLst/>
          </a:prstGeom>
          <a:solidFill>
            <a:srgbClr val="044BD9"/>
          </a:solidFill>
          <a:ln/>
        </p:spPr>
      </p:sp>
      <p:sp>
        <p:nvSpPr>
          <p:cNvPr id="9" name="Rule"/>
          <p:cNvSpPr/>
          <p:nvPr/>
        </p:nvSpPr>
        <p:spPr>
          <a:xfrm>
            <a:off x="3467130" y="4298869"/>
            <a:ext cx="2501890" cy="0"/>
          </a:xfrm>
          <a:prstGeom prst="line">
            <a:avLst/>
          </a:prstGeom>
          <a:noFill/>
          <a:ln w="6350">
            <a:solidFill>
              <a:srgbClr val="E3E6EC"/>
            </a:solidFill>
            <a:prstDash val="solid"/>
          </a:ln>
        </p:spPr>
      </p:sp>
      <p:sp>
        <p:nvSpPr>
          <p:cNvPr id="10" name="li::before"/>
          <p:cNvSpPr/>
          <p:nvPr/>
        </p:nvSpPr>
        <p:spPr>
          <a:xfrm>
            <a:off x="3467130" y="4482389"/>
            <a:ext cx="57150" cy="57150"/>
          </a:xfrm>
          <a:prstGeom prst="rect">
            <a:avLst/>
          </a:prstGeom>
          <a:solidFill>
            <a:srgbClr val="044BD9"/>
          </a:solidFill>
          <a:ln/>
        </p:spPr>
      </p:sp>
      <p:sp>
        <p:nvSpPr>
          <p:cNvPr id="11" name="li::before"/>
          <p:cNvSpPr/>
          <p:nvPr/>
        </p:nvSpPr>
        <p:spPr>
          <a:xfrm>
            <a:off x="3467130" y="4723699"/>
            <a:ext cx="57150" cy="57150"/>
          </a:xfrm>
          <a:prstGeom prst="rect">
            <a:avLst/>
          </a:prstGeom>
          <a:solidFill>
            <a:srgbClr val="044BD9"/>
          </a:solidFill>
          <a:ln/>
        </p:spPr>
      </p:sp>
      <p:sp>
        <p:nvSpPr>
          <p:cNvPr id="12" name="num"/>
          <p:cNvSpPr/>
          <p:nvPr/>
        </p:nvSpPr>
        <p:spPr>
          <a:xfrm>
            <a:off x="6223041" y="2073859"/>
            <a:ext cx="406359" cy="406359"/>
          </a:xfrm>
          <a:prstGeom prst="ellipse">
            <a:avLst/>
          </a:prstGeom>
          <a:solidFill>
            <a:srgbClr val="044BD9"/>
          </a:solidFill>
          <a:ln/>
        </p:spPr>
      </p:sp>
      <p:sp>
        <p:nvSpPr>
          <p:cNvPr id="13" name="Rule"/>
          <p:cNvSpPr/>
          <p:nvPr/>
        </p:nvSpPr>
        <p:spPr>
          <a:xfrm>
            <a:off x="6223041" y="4298869"/>
            <a:ext cx="2501890" cy="0"/>
          </a:xfrm>
          <a:prstGeom prst="line">
            <a:avLst/>
          </a:prstGeom>
          <a:noFill/>
          <a:ln w="6350">
            <a:solidFill>
              <a:srgbClr val="E3E6EC"/>
            </a:solidFill>
            <a:prstDash val="solid"/>
          </a:ln>
        </p:spPr>
      </p:sp>
      <p:sp>
        <p:nvSpPr>
          <p:cNvPr id="14" name="li::before"/>
          <p:cNvSpPr/>
          <p:nvPr/>
        </p:nvSpPr>
        <p:spPr>
          <a:xfrm>
            <a:off x="6223041" y="4482389"/>
            <a:ext cx="57150" cy="57150"/>
          </a:xfrm>
          <a:prstGeom prst="rect">
            <a:avLst/>
          </a:prstGeom>
          <a:solidFill>
            <a:srgbClr val="044BD9"/>
          </a:solidFill>
          <a:ln/>
        </p:spPr>
      </p:sp>
      <p:sp>
        <p:nvSpPr>
          <p:cNvPr id="15" name="li::before"/>
          <p:cNvSpPr/>
          <p:nvPr/>
        </p:nvSpPr>
        <p:spPr>
          <a:xfrm>
            <a:off x="6223041" y="4914168"/>
            <a:ext cx="57150" cy="57150"/>
          </a:xfrm>
          <a:prstGeom prst="rect">
            <a:avLst/>
          </a:prstGeom>
          <a:solidFill>
            <a:srgbClr val="044BD9"/>
          </a:solidFill>
          <a:ln/>
        </p:spPr>
      </p:sp>
      <p:sp>
        <p:nvSpPr>
          <p:cNvPr id="16" name="num"/>
          <p:cNvSpPr/>
          <p:nvPr/>
        </p:nvSpPr>
        <p:spPr>
          <a:xfrm>
            <a:off x="8978859" y="2073859"/>
            <a:ext cx="406359" cy="406359"/>
          </a:xfrm>
          <a:prstGeom prst="ellipse">
            <a:avLst/>
          </a:prstGeom>
          <a:solidFill>
            <a:srgbClr val="044BD9"/>
          </a:solidFill>
          <a:ln/>
        </p:spPr>
      </p:sp>
      <p:sp>
        <p:nvSpPr>
          <p:cNvPr id="17" name="Rule"/>
          <p:cNvSpPr/>
          <p:nvPr/>
        </p:nvSpPr>
        <p:spPr>
          <a:xfrm>
            <a:off x="8978859" y="4298869"/>
            <a:ext cx="2501890" cy="0"/>
          </a:xfrm>
          <a:prstGeom prst="line">
            <a:avLst/>
          </a:prstGeom>
          <a:noFill/>
          <a:ln w="6350">
            <a:solidFill>
              <a:srgbClr val="E3E6EC"/>
            </a:solidFill>
            <a:prstDash val="solid"/>
          </a:ln>
        </p:spPr>
      </p:sp>
      <p:sp>
        <p:nvSpPr>
          <p:cNvPr id="18" name="li::before"/>
          <p:cNvSpPr/>
          <p:nvPr/>
        </p:nvSpPr>
        <p:spPr>
          <a:xfrm>
            <a:off x="8978859" y="4482389"/>
            <a:ext cx="57150" cy="57150"/>
          </a:xfrm>
          <a:prstGeom prst="rect">
            <a:avLst/>
          </a:prstGeom>
          <a:solidFill>
            <a:srgbClr val="044BD9"/>
          </a:solidFill>
          <a:ln/>
        </p:spPr>
      </p:sp>
      <p:sp>
        <p:nvSpPr>
          <p:cNvPr id="19" name="li::before"/>
          <p:cNvSpPr/>
          <p:nvPr/>
        </p:nvSpPr>
        <p:spPr>
          <a:xfrm>
            <a:off x="8978859" y="4914168"/>
            <a:ext cx="57150" cy="57150"/>
          </a:xfrm>
          <a:prstGeom prst="rect">
            <a:avLst/>
          </a:prstGeom>
          <a:solidFill>
            <a:srgbClr val="044BD9"/>
          </a:solidFill>
          <a:ln/>
        </p:spPr>
      </p:sp>
      <p:sp>
        <p:nvSpPr>
          <p:cNvPr id="20" name="sowhat"/>
          <p:cNvSpPr/>
          <p:nvPr/>
        </p:nvSpPr>
        <p:spPr>
          <a:xfrm>
            <a:off x="711220" y="5419649"/>
            <a:ext cx="10769620" cy="626364"/>
          </a:xfrm>
          <a:prstGeom prst="roundRect">
            <a:avLst>
              <a:gd name="adj" fmla="val 24336"/>
            </a:avLst>
          </a:prstGeom>
          <a:solidFill>
            <a:srgbClr val="044BD9"/>
          </a:solidFill>
          <a:ln/>
        </p:spPr>
      </p:sp>
      <p:sp>
        <p:nvSpPr>
          <p:cNvPr id="21" name="lbl"/>
          <p:cNvSpPr/>
          <p:nvPr/>
        </p:nvSpPr>
        <p:spPr>
          <a:xfrm>
            <a:off x="943021" y="5600609"/>
            <a:ext cx="674370" cy="264444"/>
          </a:xfrm>
          <a:prstGeom prst="roundRect">
            <a:avLst>
              <a:gd name="adj" fmla="val 50000"/>
            </a:avLst>
          </a:prstGeom>
          <a:ln w="6350">
            <a:solidFill>
              <a:srgbClr val="FFFFFF">
                <a:alpha val="55000"/>
              </a:srgbClr>
            </a:solidFill>
            <a:prstDash val="solid"/>
          </a:ln>
        </p:spPr>
      </p:sp>
      <p:sp>
        <p:nvSpPr>
          <p:cNvPr id="22" name="span::before"/>
          <p:cNvSpPr/>
          <p:nvPr/>
        </p:nvSpPr>
        <p:spPr>
          <a:xfrm>
            <a:off x="6191860" y="311170"/>
            <a:ext cx="44440" cy="44440"/>
          </a:xfrm>
          <a:prstGeom prst="rect">
            <a:avLst/>
          </a:prstGeom>
          <a:solidFill>
            <a:srgbClr val="A0A6AF">
              <a:alpha val="55000"/>
            </a:srgbClr>
          </a:solidFill>
          <a:ln/>
        </p:spPr>
      </p:sp>
      <p:sp>
        <p:nvSpPr>
          <p:cNvPr id="23" name="span::before"/>
          <p:cNvSpPr/>
          <p:nvPr/>
        </p:nvSpPr>
        <p:spPr>
          <a:xfrm>
            <a:off x="7145213" y="311170"/>
            <a:ext cx="44440" cy="44440"/>
          </a:xfrm>
          <a:prstGeom prst="rect">
            <a:avLst/>
          </a:prstGeom>
          <a:solidFill>
            <a:srgbClr val="A0A6AF">
              <a:alpha val="55000"/>
            </a:srgbClr>
          </a:solidFill>
          <a:ln/>
        </p:spPr>
      </p:sp>
      <p:sp>
        <p:nvSpPr>
          <p:cNvPr id="24" name="on::before"/>
          <p:cNvSpPr/>
          <p:nvPr/>
        </p:nvSpPr>
        <p:spPr>
          <a:xfrm>
            <a:off x="8056230" y="311170"/>
            <a:ext cx="44440" cy="44440"/>
          </a:xfrm>
          <a:prstGeom prst="rect">
            <a:avLst/>
          </a:prstGeom>
          <a:solidFill>
            <a:srgbClr val="044BD9"/>
          </a:solidFill>
          <a:ln/>
        </p:spPr>
      </p:sp>
      <p:sp>
        <p:nvSpPr>
          <p:cNvPr id="25" name="span::before"/>
          <p:cNvSpPr/>
          <p:nvPr/>
        </p:nvSpPr>
        <p:spPr>
          <a:xfrm>
            <a:off x="8972550" y="311170"/>
            <a:ext cx="44440" cy="44440"/>
          </a:xfrm>
          <a:prstGeom prst="rect">
            <a:avLst/>
          </a:prstGeom>
          <a:solidFill>
            <a:srgbClr val="A0A6AF">
              <a:alpha val="55000"/>
            </a:srgbClr>
          </a:solidFill>
          <a:ln/>
        </p:spPr>
      </p:sp>
      <p:sp>
        <p:nvSpPr>
          <p:cNvPr id="26" name="span::before"/>
          <p:cNvSpPr/>
          <p:nvPr/>
        </p:nvSpPr>
        <p:spPr>
          <a:xfrm>
            <a:off x="10421142" y="311170"/>
            <a:ext cx="44440" cy="44440"/>
          </a:xfrm>
          <a:prstGeom prst="rect">
            <a:avLst/>
          </a:prstGeom>
          <a:solidFill>
            <a:srgbClr val="A0A6AF">
              <a:alpha val="55000"/>
            </a:srgbClr>
          </a:solidFill>
          <a:ln/>
        </p:spPr>
      </p:sp>
      <p:sp>
        <p:nvSpPr>
          <p:cNvPr id="27" name="span::before"/>
          <p:cNvSpPr/>
          <p:nvPr/>
        </p:nvSpPr>
        <p:spPr>
          <a:xfrm>
            <a:off x="10966216" y="311170"/>
            <a:ext cx="44440" cy="44440"/>
          </a:xfrm>
          <a:prstGeom prst="rect">
            <a:avLst/>
          </a:prstGeom>
          <a:solidFill>
            <a:srgbClr val="A0A6AF">
              <a:alpha val="55000"/>
            </a:srgbClr>
          </a:solidFill>
          <a:ln/>
        </p:spPr>
      </p:sp>
      <p:sp>
        <p:nvSpPr>
          <p:cNvPr id="28" name="Text"/>
          <p:cNvSpPr txBox="1"/>
          <p:nvPr/>
        </p:nvSpPr>
        <p:spPr>
          <a:xfrm>
            <a:off x="844540" y="609265"/>
            <a:ext cx="826709"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How we work</a:t>
            </a:r>
            <a:endParaRPr lang="en-US" sz="950" dirty="0"/>
          </a:p>
        </p:txBody>
      </p:sp>
      <p:sp>
        <p:nvSpPr>
          <p:cNvPr id="29"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Every engagement moves through four</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steps, run by one accountable team</a:t>
            </a:r>
            <a:endParaRPr lang="en-US" sz="3000" dirty="0"/>
          </a:p>
        </p:txBody>
      </p:sp>
      <p:sp>
        <p:nvSpPr>
          <p:cNvPr id="30" name="Text"/>
          <p:cNvSpPr txBox="1"/>
          <p:nvPr/>
        </p:nvSpPr>
        <p:spPr>
          <a:xfrm>
            <a:off x="837499" y="2140885"/>
            <a:ext cx="293888"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01</a:t>
            </a:r>
            <a:endParaRPr lang="en-US" sz="1200" dirty="0"/>
          </a:p>
        </p:txBody>
      </p:sp>
      <p:sp>
        <p:nvSpPr>
          <p:cNvPr id="31" name="Text"/>
          <p:cNvSpPr txBox="1"/>
          <p:nvPr/>
        </p:nvSpPr>
        <p:spPr>
          <a:xfrm>
            <a:off x="711220" y="2553188"/>
            <a:ext cx="2524567"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Discover</a:t>
            </a:r>
            <a:endParaRPr lang="en-US" sz="900" dirty="0"/>
          </a:p>
        </p:txBody>
      </p:sp>
      <p:sp>
        <p:nvSpPr>
          <p:cNvPr id="32" name="Text"/>
          <p:cNvSpPr txBox="1"/>
          <p:nvPr/>
        </p:nvSpPr>
        <p:spPr>
          <a:xfrm>
            <a:off x="711220" y="2829794"/>
            <a:ext cx="2627346" cy="460400"/>
          </a:xfrm>
          <a:prstGeom prst="rect">
            <a:avLst/>
          </a:prstGeom>
          <a:noFill/>
          <a:ln/>
        </p:spPr>
        <p:txBody>
          <a:bodyPr wrap="square" lIns="0" tIns="0" rIns="0" bIns="0" rtlCol="0" anchor="t"/>
          <a:lstStyle/>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Start from the</a:t>
            </a:r>
            <a:endParaRPr lang="en-US" sz="1450" dirty="0"/>
          </a:p>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business case</a:t>
            </a:r>
            <a:endParaRPr lang="en-US" sz="1450" dirty="0"/>
          </a:p>
        </p:txBody>
      </p:sp>
      <p:sp>
        <p:nvSpPr>
          <p:cNvPr id="33" name="Text"/>
          <p:cNvSpPr txBox="1"/>
          <p:nvPr/>
        </p:nvSpPr>
        <p:spPr>
          <a:xfrm>
            <a:off x="711220" y="3379074"/>
            <a:ext cx="2627346" cy="600121"/>
          </a:xfrm>
          <a:prstGeom prst="rect">
            <a:avLst/>
          </a:prstGeom>
          <a:noFill/>
          <a:ln/>
        </p:spPr>
        <p:txBody>
          <a:bodyPr wrap="square" lIns="0" tIns="0" rIns="0" bIns="0" rtlCol="0" anchor="t"/>
          <a:lstStyle/>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Run tech advisory, a data audit and</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AI strategy research to find where AI</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pays back, before any build starts.</a:t>
            </a:r>
            <a:endParaRPr lang="en-US" sz="1050" dirty="0"/>
          </a:p>
        </p:txBody>
      </p:sp>
      <p:sp>
        <p:nvSpPr>
          <p:cNvPr id="34" name="Text"/>
          <p:cNvSpPr txBox="1"/>
          <p:nvPr/>
        </p:nvSpPr>
        <p:spPr>
          <a:xfrm>
            <a:off x="876270" y="4390949"/>
            <a:ext cx="2358878"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Tech advisory on the systems and processes AI must fit</a:t>
            </a:r>
            <a:endParaRPr lang="en-US" sz="1000" dirty="0"/>
          </a:p>
        </p:txBody>
      </p:sp>
      <p:sp>
        <p:nvSpPr>
          <p:cNvPr id="35" name="Text"/>
          <p:cNvSpPr txBox="1"/>
          <p:nvPr/>
        </p:nvSpPr>
        <p:spPr>
          <a:xfrm>
            <a:off x="876270" y="4822728"/>
            <a:ext cx="2358878"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A data audit of what you hold and where it sits</a:t>
            </a:r>
            <a:endParaRPr lang="en-US" sz="1000" dirty="0"/>
          </a:p>
        </p:txBody>
      </p:sp>
      <p:sp>
        <p:nvSpPr>
          <p:cNvPr id="36" name="Text"/>
          <p:cNvSpPr txBox="1"/>
          <p:nvPr/>
        </p:nvSpPr>
        <p:spPr>
          <a:xfrm>
            <a:off x="3577316" y="2140885"/>
            <a:ext cx="310073"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02</a:t>
            </a:r>
            <a:endParaRPr lang="en-US" sz="1200" dirty="0"/>
          </a:p>
        </p:txBody>
      </p:sp>
      <p:sp>
        <p:nvSpPr>
          <p:cNvPr id="37" name="Text"/>
          <p:cNvSpPr txBox="1"/>
          <p:nvPr/>
        </p:nvSpPr>
        <p:spPr>
          <a:xfrm>
            <a:off x="3467130" y="2553188"/>
            <a:ext cx="2524567"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Design</a:t>
            </a:r>
            <a:endParaRPr lang="en-US" sz="900" dirty="0"/>
          </a:p>
        </p:txBody>
      </p:sp>
      <p:sp>
        <p:nvSpPr>
          <p:cNvPr id="38" name="Text"/>
          <p:cNvSpPr txBox="1"/>
          <p:nvPr/>
        </p:nvSpPr>
        <p:spPr>
          <a:xfrm>
            <a:off x="3467130" y="2829794"/>
            <a:ext cx="2627346" cy="460400"/>
          </a:xfrm>
          <a:prstGeom prst="rect">
            <a:avLst/>
          </a:prstGeom>
          <a:noFill/>
          <a:ln/>
        </p:spPr>
        <p:txBody>
          <a:bodyPr wrap="square" lIns="0" tIns="0" rIns="0" bIns="0" rtlCol="0" anchor="t"/>
          <a:lstStyle/>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Design an architecture</a:t>
            </a:r>
            <a:endParaRPr lang="en-US" sz="1450" dirty="0"/>
          </a:p>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that fits your stack</a:t>
            </a:r>
            <a:endParaRPr lang="en-US" sz="1450" dirty="0"/>
          </a:p>
        </p:txBody>
      </p:sp>
      <p:sp>
        <p:nvSpPr>
          <p:cNvPr id="39" name="Text"/>
          <p:cNvSpPr txBox="1"/>
          <p:nvPr/>
        </p:nvSpPr>
        <p:spPr>
          <a:xfrm>
            <a:off x="3467130" y="3379074"/>
            <a:ext cx="2627346" cy="800100"/>
          </a:xfrm>
          <a:prstGeom prst="rect">
            <a:avLst/>
          </a:prstGeom>
          <a:noFill/>
          <a:ln/>
        </p:spPr>
        <p:txBody>
          <a:bodyPr wrap="square" lIns="0" tIns="0" rIns="0" bIns="0" rtlCol="0" anchor="t"/>
          <a:lstStyle/>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Choose models, hosting</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and guardrails around your</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existing systems, your data and</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your regulator.</a:t>
            </a:r>
            <a:endParaRPr lang="en-US" sz="1050" dirty="0"/>
          </a:p>
        </p:txBody>
      </p:sp>
      <p:sp>
        <p:nvSpPr>
          <p:cNvPr id="40" name="Text"/>
          <p:cNvSpPr txBox="1"/>
          <p:nvPr/>
        </p:nvSpPr>
        <p:spPr>
          <a:xfrm>
            <a:off x="3632180" y="4390949"/>
            <a:ext cx="2358878"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Models chosen per project</a:t>
            </a:r>
            <a:endParaRPr lang="en-US" sz="1000" dirty="0"/>
          </a:p>
        </p:txBody>
      </p:sp>
      <p:sp>
        <p:nvSpPr>
          <p:cNvPr id="41" name="Text"/>
          <p:cNvSpPr txBox="1"/>
          <p:nvPr/>
        </p:nvSpPr>
        <p:spPr>
          <a:xfrm>
            <a:off x="3632180" y="4632259"/>
            <a:ext cx="2358878"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Locally hosted models where data must stay in-house</a:t>
            </a:r>
            <a:endParaRPr lang="en-US" sz="1000" dirty="0"/>
          </a:p>
        </p:txBody>
      </p:sp>
      <p:sp>
        <p:nvSpPr>
          <p:cNvPr id="42" name="Text"/>
          <p:cNvSpPr txBox="1"/>
          <p:nvPr/>
        </p:nvSpPr>
        <p:spPr>
          <a:xfrm>
            <a:off x="6331214" y="2140885"/>
            <a:ext cx="312085"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03</a:t>
            </a:r>
            <a:endParaRPr lang="en-US" sz="1200" dirty="0"/>
          </a:p>
        </p:txBody>
      </p:sp>
      <p:sp>
        <p:nvSpPr>
          <p:cNvPr id="43" name="Text"/>
          <p:cNvSpPr txBox="1"/>
          <p:nvPr/>
        </p:nvSpPr>
        <p:spPr>
          <a:xfrm>
            <a:off x="6223041" y="2553188"/>
            <a:ext cx="2524567"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Implement</a:t>
            </a:r>
            <a:endParaRPr lang="en-US" sz="900" dirty="0"/>
          </a:p>
        </p:txBody>
      </p:sp>
      <p:sp>
        <p:nvSpPr>
          <p:cNvPr id="44" name="Text"/>
          <p:cNvSpPr txBox="1"/>
          <p:nvPr/>
        </p:nvSpPr>
        <p:spPr>
          <a:xfrm>
            <a:off x="6223041" y="2829794"/>
            <a:ext cx="2524567" cy="230154"/>
          </a:xfrm>
          <a:prstGeom prst="rect">
            <a:avLst/>
          </a:prstGeom>
          <a:noFill/>
          <a:ln/>
        </p:spPr>
        <p:txBody>
          <a:bodyPr wrap="square" lIns="0" tIns="0" rIns="0" bIns="0" rtlCol="0" anchor="t"/>
          <a:lstStyle/>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Build AI into production</a:t>
            </a:r>
            <a:endParaRPr lang="en-US" sz="1450" dirty="0"/>
          </a:p>
        </p:txBody>
      </p:sp>
      <p:sp>
        <p:nvSpPr>
          <p:cNvPr id="45" name="Text"/>
          <p:cNvSpPr txBox="1"/>
          <p:nvPr/>
        </p:nvSpPr>
        <p:spPr>
          <a:xfrm>
            <a:off x="6223041" y="3379074"/>
            <a:ext cx="2627346" cy="800100"/>
          </a:xfrm>
          <a:prstGeom prst="rect">
            <a:avLst/>
          </a:prstGeom>
          <a:noFill/>
          <a:ln/>
        </p:spPr>
        <p:txBody>
          <a:bodyPr wrap="square" lIns="0" tIns="0" rIns="0" bIns="0" rtlCol="0" anchor="t"/>
          <a:lstStyle/>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Integrate retrieval, agents and</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automation across your core</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systems, including bank, government</a:t>
            </a:r>
            <a:endParaRPr lang="en-US" sz="1050" dirty="0"/>
          </a:p>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and SSM portals.</a:t>
            </a:r>
            <a:endParaRPr lang="en-US" sz="1050" dirty="0"/>
          </a:p>
        </p:txBody>
      </p:sp>
      <p:sp>
        <p:nvSpPr>
          <p:cNvPr id="46" name="Text"/>
          <p:cNvSpPr txBox="1"/>
          <p:nvPr/>
        </p:nvSpPr>
        <p:spPr>
          <a:xfrm>
            <a:off x="6388090" y="4390949"/>
            <a:ext cx="2455713"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Agents with the tools, MCP servers</a:t>
            </a:r>
            <a:endParaRPr lang="en-US" sz="1000" dirty="0"/>
          </a:p>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and APIs they need to act safely</a:t>
            </a:r>
            <a:endParaRPr lang="en-US" sz="1000" dirty="0"/>
          </a:p>
        </p:txBody>
      </p:sp>
      <p:sp>
        <p:nvSpPr>
          <p:cNvPr id="47" name="Text"/>
          <p:cNvSpPr txBox="1"/>
          <p:nvPr/>
        </p:nvSpPr>
        <p:spPr>
          <a:xfrm>
            <a:off x="6388090" y="4822728"/>
            <a:ext cx="2455713"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Integration with ERP, CRM and</a:t>
            </a:r>
            <a:endParaRPr lang="en-US" sz="1000" dirty="0"/>
          </a:p>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third-party portals</a:t>
            </a:r>
            <a:endParaRPr lang="en-US" sz="1000" dirty="0"/>
          </a:p>
        </p:txBody>
      </p:sp>
      <p:sp>
        <p:nvSpPr>
          <p:cNvPr id="48" name="Text"/>
          <p:cNvSpPr txBox="1"/>
          <p:nvPr/>
        </p:nvSpPr>
        <p:spPr>
          <a:xfrm>
            <a:off x="9082461" y="2140885"/>
            <a:ext cx="316748"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04</a:t>
            </a:r>
            <a:endParaRPr lang="en-US" sz="1200" dirty="0"/>
          </a:p>
        </p:txBody>
      </p:sp>
      <p:sp>
        <p:nvSpPr>
          <p:cNvPr id="49" name="Text"/>
          <p:cNvSpPr txBox="1"/>
          <p:nvPr/>
        </p:nvSpPr>
        <p:spPr>
          <a:xfrm>
            <a:off x="8978859" y="2553188"/>
            <a:ext cx="2524567" cy="177119"/>
          </a:xfrm>
          <a:prstGeom prst="rect">
            <a:avLst/>
          </a:prstGeom>
          <a:noFill/>
          <a:ln/>
        </p:spPr>
        <p:txBody>
          <a:bodyPr wrap="square" lIns="0" tIns="0" rIns="0" bIns="0" rtlCol="0" anchor="t"/>
          <a:lstStyle/>
          <a:p>
            <a:pPr algn="l" indent="0" marL="0">
              <a:lnSpc>
                <a:spcPts val="1395"/>
              </a:lnSpc>
              <a:buNone/>
            </a:pPr>
            <a:r>
              <a:rPr lang="en-US" sz="900" spc="18" kern="0" dirty="0">
                <a:solidFill>
                  <a:srgbClr val="044BD9"/>
                </a:solidFill>
                <a:latin typeface="Poppins Medium" pitchFamily="34" charset="0"/>
                <a:ea typeface="Poppins Medium" pitchFamily="34" charset="-122"/>
                <a:cs typeface="Poppins Medium" pitchFamily="34" charset="-120"/>
              </a:rPr>
              <a:t>Improve</a:t>
            </a:r>
            <a:endParaRPr lang="en-US" sz="900" dirty="0"/>
          </a:p>
        </p:txBody>
      </p:sp>
      <p:sp>
        <p:nvSpPr>
          <p:cNvPr id="50" name="Text"/>
          <p:cNvSpPr txBox="1"/>
          <p:nvPr/>
        </p:nvSpPr>
        <p:spPr>
          <a:xfrm>
            <a:off x="8978859" y="2829794"/>
            <a:ext cx="2627346" cy="460400"/>
          </a:xfrm>
          <a:prstGeom prst="rect">
            <a:avLst/>
          </a:prstGeom>
          <a:noFill/>
          <a:ln/>
        </p:spPr>
        <p:txBody>
          <a:bodyPr wrap="square" lIns="0" tIns="0" rIns="0" bIns="0" rtlCol="0" anchor="t"/>
          <a:lstStyle/>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Improve continuously</a:t>
            </a:r>
            <a:endParaRPr lang="en-US" sz="1450" dirty="0"/>
          </a:p>
          <a:p>
            <a:pPr algn="l" indent="0" marL="0">
              <a:lnSpc>
                <a:spcPts val="1813"/>
              </a:lnSpc>
              <a:buNone/>
            </a:pPr>
            <a:r>
              <a:rPr lang="en-US" sz="1450" dirty="0">
                <a:solidFill>
                  <a:srgbClr val="000000"/>
                </a:solidFill>
                <a:latin typeface="Poppins Medium" pitchFamily="34" charset="0"/>
                <a:ea typeface="Poppins Medium" pitchFamily="34" charset="-122"/>
                <a:cs typeface="Poppins Medium" pitchFamily="34" charset="-120"/>
              </a:rPr>
              <a:t>after go-live</a:t>
            </a:r>
            <a:endParaRPr lang="en-US" sz="1450" dirty="0"/>
          </a:p>
        </p:txBody>
      </p:sp>
      <p:sp>
        <p:nvSpPr>
          <p:cNvPr id="51" name="Text"/>
          <p:cNvSpPr txBox="1"/>
          <p:nvPr/>
        </p:nvSpPr>
        <p:spPr>
          <a:xfrm>
            <a:off x="8978859" y="3379074"/>
            <a:ext cx="2524567" cy="800100"/>
          </a:xfrm>
          <a:prstGeom prst="rect">
            <a:avLst/>
          </a:prstGeom>
          <a:noFill/>
          <a:ln/>
        </p:spPr>
        <p:txBody>
          <a:bodyPr wrap="square" lIns="0" tIns="0" rIns="0" bIns="0" rtlCol="0" anchor="t"/>
          <a:lstStyle/>
          <a:p>
            <a:pPr algn="l" indent="0" marL="0">
              <a:lnSpc>
                <a:spcPts val="1575"/>
              </a:lnSpc>
              <a:buNone/>
            </a:pPr>
            <a:r>
              <a:rPr lang="en-US" sz="1050" dirty="0">
                <a:solidFill>
                  <a:srgbClr val="1F2937"/>
                </a:solidFill>
                <a:latin typeface="Poppins Light" pitchFamily="34" charset="0"/>
                <a:ea typeface="Poppins Light" pitchFamily="34" charset="-122"/>
                <a:cs typeface="Poppins Light" pitchFamily="34" charset="-120"/>
              </a:rPr>
              <a:t>Monitor adoption, review model performance and iterate, with improvement scoped into the build from day one.</a:t>
            </a:r>
            <a:endParaRPr lang="en-US" sz="1050" dirty="0"/>
          </a:p>
        </p:txBody>
      </p:sp>
      <p:sp>
        <p:nvSpPr>
          <p:cNvPr id="52" name="Text"/>
          <p:cNvSpPr txBox="1"/>
          <p:nvPr/>
        </p:nvSpPr>
        <p:spPr>
          <a:xfrm>
            <a:off x="9144000" y="4390949"/>
            <a:ext cx="2358878"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Model performance reviews, with MLOps to keep models accurate</a:t>
            </a:r>
            <a:endParaRPr lang="en-US" sz="1000" dirty="0"/>
          </a:p>
        </p:txBody>
      </p:sp>
      <p:sp>
        <p:nvSpPr>
          <p:cNvPr id="53" name="Text"/>
          <p:cNvSpPr txBox="1"/>
          <p:nvPr/>
        </p:nvSpPr>
        <p:spPr>
          <a:xfrm>
            <a:off x="9144000" y="4822728"/>
            <a:ext cx="2358878"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Iterations planned from day one, not bolted on later</a:t>
            </a:r>
            <a:endParaRPr lang="en-US" sz="1000" dirty="0"/>
          </a:p>
        </p:txBody>
      </p:sp>
      <p:sp>
        <p:nvSpPr>
          <p:cNvPr id="54" name="Text"/>
          <p:cNvSpPr txBox="1"/>
          <p:nvPr/>
        </p:nvSpPr>
        <p:spPr>
          <a:xfrm>
            <a:off x="1047720" y="5643311"/>
            <a:ext cx="490210" cy="156545"/>
          </a:xfrm>
          <a:prstGeom prst="rect">
            <a:avLst/>
          </a:prstGeom>
          <a:noFill/>
          <a:ln/>
        </p:spPr>
        <p:txBody>
          <a:bodyPr wrap="none" lIns="0" tIns="0" rIns="0" bIns="0" rtlCol="0" anchor="t"/>
          <a:lstStyle/>
          <a:p>
            <a:pPr algn="l" indent="0" marL="0">
              <a:lnSpc>
                <a:spcPts val="1232"/>
              </a:lnSpc>
              <a:buNone/>
            </a:pPr>
            <a:r>
              <a:rPr lang="en-US" sz="850" spc="34" kern="0" dirty="0">
                <a:solidFill>
                  <a:srgbClr val="FFFFFF"/>
                </a:solidFill>
                <a:latin typeface="Poppins Medium" pitchFamily="34" charset="0"/>
                <a:ea typeface="Poppins Medium" pitchFamily="34" charset="-122"/>
                <a:cs typeface="Poppins Medium" pitchFamily="34" charset="-120"/>
              </a:rPr>
              <a:t>So what</a:t>
            </a:r>
            <a:endParaRPr lang="en-US" sz="850" dirty="0"/>
          </a:p>
        </p:txBody>
      </p:sp>
      <p:sp>
        <p:nvSpPr>
          <p:cNvPr id="55" name="Text"/>
          <p:cNvSpPr txBox="1"/>
          <p:nvPr/>
        </p:nvSpPr>
        <p:spPr>
          <a:xfrm>
            <a:off x="1798350" y="5600243"/>
            <a:ext cx="8311439" cy="230154"/>
          </a:xfrm>
          <a:prstGeom prst="rect">
            <a:avLst/>
          </a:prstGeom>
          <a:noFill/>
          <a:ln/>
        </p:spPr>
        <p:txBody>
          <a:bodyPr wrap="none" lIns="0" tIns="0" rIns="0" bIns="0" rtlCol="0" anchor="t"/>
          <a:lstStyle/>
          <a:p>
            <a:pPr algn="l" indent="0" marL="0">
              <a:lnSpc>
                <a:spcPts val="1813"/>
              </a:lnSpc>
              <a:buNone/>
            </a:pPr>
            <a:r>
              <a:rPr lang="en-US" sz="1250" dirty="0">
                <a:solidFill>
                  <a:srgbClr val="FFFFFF"/>
                </a:solidFill>
                <a:latin typeface="Poppins Medium" pitchFamily="34" charset="0"/>
                <a:ea typeface="Poppins Medium" pitchFamily="34" charset="-122"/>
                <a:cs typeface="Poppins Medium" pitchFamily="34" charset="-120"/>
              </a:rPr>
              <a:t>Already mid-build? We can take it over,</a:t>
            </a:r>
            <a:pPr algn="l" indent="0" marL="0">
              <a:lnSpc>
                <a:spcPts val="1813"/>
              </a:lnSpc>
              <a:buNone/>
            </a:pPr>
            <a:r>
              <a:rPr lang="en-US" sz="1250" dirty="0">
                <a:solidFill>
                  <a:srgbClr val="FFFFFF"/>
                </a:solidFill>
                <a:latin typeface="Poppins" pitchFamily="34" charset="0"/>
                <a:ea typeface="Poppins" pitchFamily="34" charset="-122"/>
                <a:cs typeface="Poppins" pitchFamily="34" charset="-120"/>
              </a:rPr>
              <a:t> as we did for iPajak Group’s six-branch pawn brokerage system.</a:t>
            </a:r>
            <a:endParaRPr lang="en-US" sz="1250" dirty="0"/>
          </a:p>
        </p:txBody>
      </p:sp>
      <p:sp>
        <p:nvSpPr>
          <p:cNvPr id="56"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7"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8"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What we do</a:t>
            </a:r>
            <a:endParaRPr lang="en-US" sz="850" dirty="0"/>
          </a:p>
        </p:txBody>
      </p:sp>
      <p:sp>
        <p:nvSpPr>
          <p:cNvPr id="59"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0"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1"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2"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alphv.com/how-we-work (October 2026).</a:t>
            </a:r>
            <a:endParaRPr lang="en-US" sz="850" dirty="0"/>
          </a:p>
        </p:txBody>
      </p:sp>
      <p:sp>
        <p:nvSpPr>
          <p:cNvPr id="63" name="Text"/>
          <p:cNvSpPr txBox="1"/>
          <p:nvPr/>
        </p:nvSpPr>
        <p:spPr>
          <a:xfrm>
            <a:off x="9374154"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4" name="Text"/>
          <p:cNvSpPr txBox="1"/>
          <p:nvPr/>
        </p:nvSpPr>
        <p:spPr>
          <a:xfrm>
            <a:off x="9882195"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5" name="Text"/>
          <p:cNvSpPr txBox="1"/>
          <p:nvPr/>
        </p:nvSpPr>
        <p:spPr>
          <a:xfrm>
            <a:off x="11373673" y="6401532"/>
            <a:ext cx="132588"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1381750" cy="254020"/>
          </a:xfrm>
          <a:prstGeom prst="roundRect">
            <a:avLst>
              <a:gd name="adj" fmla="val 50000"/>
            </a:avLst>
          </a:prstGeom>
          <a:ln w="6350">
            <a:solidFill>
              <a:srgbClr val="155DFC"/>
            </a:solidFill>
            <a:prstDash val="solid"/>
          </a:ln>
        </p:spPr>
      </p:sp>
      <p:sp>
        <p:nvSpPr>
          <p:cNvPr id="3" name="card"/>
          <p:cNvSpPr/>
          <p:nvPr/>
        </p:nvSpPr>
        <p:spPr>
          <a:xfrm>
            <a:off x="714421" y="2077060"/>
            <a:ext cx="3481852" cy="2950677"/>
          </a:xfrm>
          <a:prstGeom prst="roundRect">
            <a:avLst>
              <a:gd name="adj" fmla="val 5057"/>
            </a:avLst>
          </a:prstGeom>
          <a:solidFill>
            <a:srgbClr val="FFFFFF"/>
          </a:solidFill>
          <a:ln w="6350">
            <a:solidFill>
              <a:srgbClr val="F0F0F0"/>
            </a:solidFill>
            <a:prstDash val="solid"/>
          </a:ln>
        </p:spPr>
      </p:sp>
      <p:sp>
        <p:nvSpPr>
          <p:cNvPr id="4" name="tile"/>
          <p:cNvSpPr/>
          <p:nvPr/>
        </p:nvSpPr>
        <p:spPr>
          <a:xfrm>
            <a:off x="920709" y="2315169"/>
            <a:ext cx="381030" cy="381030"/>
          </a:xfrm>
          <a:prstGeom prst="roundRect">
            <a:avLst>
              <a:gd name="adj" fmla="val 29998"/>
            </a:avLst>
          </a:prstGeom>
          <a:solidFill>
            <a:srgbClr val="044BD9"/>
          </a:solidFill>
          <a:ln/>
        </p:spPr>
      </p:sp>
      <p:pic>
        <p:nvPicPr>
          <p:cNvPr id="5" name="Icon" descr="/tmp/deck-pptx-VwALqa/icon-54.png">    </p:cNvPr>
          <p:cNvPicPr>
            <a:picLocks noChangeAspect="1"/>
          </p:cNvPicPr>
          <p:nvPr/>
        </p:nvPicPr>
        <p:blipFill>
          <a:blip r:embed="rId1"/>
          <a:stretch>
            <a:fillRect/>
          </a:stretch>
        </p:blipFill>
        <p:spPr>
          <a:xfrm>
            <a:off x="1022391" y="2416759"/>
            <a:ext cx="177759" cy="177759"/>
          </a:xfrm>
          <a:prstGeom prst="rect">
            <a:avLst/>
          </a:prstGeom>
        </p:spPr>
      </p:pic>
      <p:sp>
        <p:nvSpPr>
          <p:cNvPr id="6" name="Rule"/>
          <p:cNvSpPr/>
          <p:nvPr/>
        </p:nvSpPr>
        <p:spPr>
          <a:xfrm>
            <a:off x="920709" y="3512119"/>
            <a:ext cx="3069092" cy="0"/>
          </a:xfrm>
          <a:prstGeom prst="line">
            <a:avLst/>
          </a:prstGeom>
          <a:noFill/>
          <a:ln w="6350">
            <a:solidFill>
              <a:srgbClr val="F0F0F0"/>
            </a:solidFill>
            <a:prstDash val="solid"/>
          </a:ln>
        </p:spPr>
      </p:sp>
      <p:sp>
        <p:nvSpPr>
          <p:cNvPr id="7" name="li::before"/>
          <p:cNvSpPr/>
          <p:nvPr/>
        </p:nvSpPr>
        <p:spPr>
          <a:xfrm>
            <a:off x="920709" y="3695639"/>
            <a:ext cx="57150" cy="57150"/>
          </a:xfrm>
          <a:prstGeom prst="rect">
            <a:avLst/>
          </a:prstGeom>
          <a:solidFill>
            <a:srgbClr val="044BD9"/>
          </a:solidFill>
          <a:ln/>
        </p:spPr>
      </p:sp>
      <p:sp>
        <p:nvSpPr>
          <p:cNvPr id="8" name="li::before"/>
          <p:cNvSpPr/>
          <p:nvPr/>
        </p:nvSpPr>
        <p:spPr>
          <a:xfrm>
            <a:off x="920709" y="4127419"/>
            <a:ext cx="57150" cy="57150"/>
          </a:xfrm>
          <a:prstGeom prst="rect">
            <a:avLst/>
          </a:prstGeom>
          <a:solidFill>
            <a:srgbClr val="044BD9"/>
          </a:solidFill>
          <a:ln/>
        </p:spPr>
      </p:sp>
      <p:sp>
        <p:nvSpPr>
          <p:cNvPr id="9" name="card"/>
          <p:cNvSpPr/>
          <p:nvPr/>
        </p:nvSpPr>
        <p:spPr>
          <a:xfrm>
            <a:off x="4355013" y="2077060"/>
            <a:ext cx="3481852" cy="2950677"/>
          </a:xfrm>
          <a:prstGeom prst="roundRect">
            <a:avLst>
              <a:gd name="adj" fmla="val 5057"/>
            </a:avLst>
          </a:prstGeom>
          <a:solidFill>
            <a:srgbClr val="FFFFFF"/>
          </a:solidFill>
          <a:ln w="6350">
            <a:solidFill>
              <a:srgbClr val="F0F0F0"/>
            </a:solidFill>
            <a:prstDash val="solid"/>
          </a:ln>
        </p:spPr>
      </p:sp>
      <p:sp>
        <p:nvSpPr>
          <p:cNvPr id="10" name="tile"/>
          <p:cNvSpPr/>
          <p:nvPr/>
        </p:nvSpPr>
        <p:spPr>
          <a:xfrm>
            <a:off x="4561393" y="2315169"/>
            <a:ext cx="381030" cy="381030"/>
          </a:xfrm>
          <a:prstGeom prst="roundRect">
            <a:avLst>
              <a:gd name="adj" fmla="val 29998"/>
            </a:avLst>
          </a:prstGeom>
          <a:solidFill>
            <a:srgbClr val="044BD9"/>
          </a:solidFill>
          <a:ln/>
        </p:spPr>
      </p:sp>
      <p:pic>
        <p:nvPicPr>
          <p:cNvPr id="11" name="Icon" descr="/tmp/deck-pptx-VwALqa/icon-55.png">    </p:cNvPr>
          <p:cNvPicPr>
            <a:picLocks noChangeAspect="1"/>
          </p:cNvPicPr>
          <p:nvPr/>
        </p:nvPicPr>
        <p:blipFill>
          <a:blip r:embed="rId2"/>
          <a:stretch>
            <a:fillRect/>
          </a:stretch>
        </p:blipFill>
        <p:spPr>
          <a:xfrm>
            <a:off x="4662983" y="2416759"/>
            <a:ext cx="177759" cy="177759"/>
          </a:xfrm>
          <a:prstGeom prst="rect">
            <a:avLst/>
          </a:prstGeom>
        </p:spPr>
      </p:pic>
      <p:sp>
        <p:nvSpPr>
          <p:cNvPr id="12" name="Rule"/>
          <p:cNvSpPr/>
          <p:nvPr/>
        </p:nvSpPr>
        <p:spPr>
          <a:xfrm>
            <a:off x="4561393" y="3512119"/>
            <a:ext cx="3069092" cy="0"/>
          </a:xfrm>
          <a:prstGeom prst="line">
            <a:avLst/>
          </a:prstGeom>
          <a:noFill/>
          <a:ln w="6350">
            <a:solidFill>
              <a:srgbClr val="F0F0F0"/>
            </a:solidFill>
            <a:prstDash val="solid"/>
          </a:ln>
        </p:spPr>
      </p:sp>
      <p:sp>
        <p:nvSpPr>
          <p:cNvPr id="13" name="li::before"/>
          <p:cNvSpPr/>
          <p:nvPr/>
        </p:nvSpPr>
        <p:spPr>
          <a:xfrm>
            <a:off x="4561393" y="3695639"/>
            <a:ext cx="57150" cy="57150"/>
          </a:xfrm>
          <a:prstGeom prst="rect">
            <a:avLst/>
          </a:prstGeom>
          <a:solidFill>
            <a:srgbClr val="044BD9"/>
          </a:solidFill>
          <a:ln/>
        </p:spPr>
      </p:sp>
      <p:sp>
        <p:nvSpPr>
          <p:cNvPr id="14" name="li::before"/>
          <p:cNvSpPr/>
          <p:nvPr/>
        </p:nvSpPr>
        <p:spPr>
          <a:xfrm>
            <a:off x="4561393" y="4127419"/>
            <a:ext cx="57150" cy="57150"/>
          </a:xfrm>
          <a:prstGeom prst="rect">
            <a:avLst/>
          </a:prstGeom>
          <a:solidFill>
            <a:srgbClr val="044BD9"/>
          </a:solidFill>
          <a:ln/>
        </p:spPr>
      </p:sp>
      <p:sp>
        <p:nvSpPr>
          <p:cNvPr id="15" name="card"/>
          <p:cNvSpPr/>
          <p:nvPr/>
        </p:nvSpPr>
        <p:spPr>
          <a:xfrm>
            <a:off x="7995605" y="2077060"/>
            <a:ext cx="3481852" cy="2950677"/>
          </a:xfrm>
          <a:prstGeom prst="roundRect">
            <a:avLst>
              <a:gd name="adj" fmla="val 5057"/>
            </a:avLst>
          </a:prstGeom>
          <a:solidFill>
            <a:srgbClr val="FFFFFF"/>
          </a:solidFill>
          <a:ln w="6350">
            <a:solidFill>
              <a:srgbClr val="F0F0F0"/>
            </a:solidFill>
            <a:prstDash val="solid"/>
          </a:ln>
        </p:spPr>
      </p:sp>
      <p:sp>
        <p:nvSpPr>
          <p:cNvPr id="16" name="tile"/>
          <p:cNvSpPr/>
          <p:nvPr/>
        </p:nvSpPr>
        <p:spPr>
          <a:xfrm>
            <a:off x="8201985" y="2315169"/>
            <a:ext cx="381030" cy="381030"/>
          </a:xfrm>
          <a:prstGeom prst="roundRect">
            <a:avLst>
              <a:gd name="adj" fmla="val 29998"/>
            </a:avLst>
          </a:prstGeom>
          <a:solidFill>
            <a:srgbClr val="044BD9"/>
          </a:solidFill>
          <a:ln/>
        </p:spPr>
      </p:sp>
      <p:pic>
        <p:nvPicPr>
          <p:cNvPr id="17" name="Icon" descr="/tmp/deck-pptx-VwALqa/icon-56.png">    </p:cNvPr>
          <p:cNvPicPr>
            <a:picLocks noChangeAspect="1"/>
          </p:cNvPicPr>
          <p:nvPr/>
        </p:nvPicPr>
        <p:blipFill>
          <a:blip r:embed="rId3"/>
          <a:stretch>
            <a:fillRect/>
          </a:stretch>
        </p:blipFill>
        <p:spPr>
          <a:xfrm>
            <a:off x="8303575" y="2416759"/>
            <a:ext cx="177759" cy="177759"/>
          </a:xfrm>
          <a:prstGeom prst="rect">
            <a:avLst/>
          </a:prstGeom>
        </p:spPr>
      </p:pic>
      <p:sp>
        <p:nvSpPr>
          <p:cNvPr id="18" name="Rule"/>
          <p:cNvSpPr/>
          <p:nvPr/>
        </p:nvSpPr>
        <p:spPr>
          <a:xfrm>
            <a:off x="8201985" y="3512119"/>
            <a:ext cx="3069092" cy="0"/>
          </a:xfrm>
          <a:prstGeom prst="line">
            <a:avLst/>
          </a:prstGeom>
          <a:noFill/>
          <a:ln w="6350">
            <a:solidFill>
              <a:srgbClr val="F0F0F0"/>
            </a:solidFill>
            <a:prstDash val="solid"/>
          </a:ln>
        </p:spPr>
      </p:sp>
      <p:sp>
        <p:nvSpPr>
          <p:cNvPr id="19" name="li::before"/>
          <p:cNvSpPr/>
          <p:nvPr/>
        </p:nvSpPr>
        <p:spPr>
          <a:xfrm>
            <a:off x="8201985" y="3695639"/>
            <a:ext cx="57150" cy="57150"/>
          </a:xfrm>
          <a:prstGeom prst="rect">
            <a:avLst/>
          </a:prstGeom>
          <a:solidFill>
            <a:srgbClr val="044BD9"/>
          </a:solidFill>
          <a:ln/>
        </p:spPr>
      </p:sp>
      <p:sp>
        <p:nvSpPr>
          <p:cNvPr id="20" name="li::before"/>
          <p:cNvSpPr/>
          <p:nvPr/>
        </p:nvSpPr>
        <p:spPr>
          <a:xfrm>
            <a:off x="8201985" y="3936949"/>
            <a:ext cx="57150" cy="57150"/>
          </a:xfrm>
          <a:prstGeom prst="rect">
            <a:avLst/>
          </a:prstGeom>
          <a:solidFill>
            <a:srgbClr val="044BD9"/>
          </a:solidFill>
          <a:ln/>
        </p:spPr>
      </p:sp>
      <p:sp>
        <p:nvSpPr>
          <p:cNvPr id="21" name="li::before"/>
          <p:cNvSpPr/>
          <p:nvPr/>
        </p:nvSpPr>
        <p:spPr>
          <a:xfrm>
            <a:off x="8201985" y="4368729"/>
            <a:ext cx="57150" cy="57150"/>
          </a:xfrm>
          <a:prstGeom prst="rect">
            <a:avLst/>
          </a:prstGeom>
          <a:solidFill>
            <a:srgbClr val="044BD9"/>
          </a:solidFill>
          <a:ln/>
        </p:spPr>
      </p:sp>
      <p:sp>
        <p:nvSpPr>
          <p:cNvPr id="22" name="div"/>
          <p:cNvSpPr/>
          <p:nvPr/>
        </p:nvSpPr>
        <p:spPr>
          <a:xfrm>
            <a:off x="714421" y="5186477"/>
            <a:ext cx="10763220" cy="830184"/>
          </a:xfrm>
          <a:prstGeom prst="roundRect">
            <a:avLst>
              <a:gd name="adj" fmla="val 17976"/>
            </a:avLst>
          </a:prstGeom>
          <a:solidFill>
            <a:srgbClr val="044BD9">
              <a:alpha val="8000"/>
            </a:srgbClr>
          </a:solidFill>
          <a:ln w="6350">
            <a:solidFill>
              <a:srgbClr val="044BD9">
                <a:alpha val="20000"/>
              </a:srgbClr>
            </a:solidFill>
            <a:prstDash val="solid"/>
          </a:ln>
        </p:spPr>
      </p:sp>
      <p:sp>
        <p:nvSpPr>
          <p:cNvPr id="23" name="tile"/>
          <p:cNvSpPr/>
          <p:nvPr/>
        </p:nvSpPr>
        <p:spPr>
          <a:xfrm>
            <a:off x="2457450" y="5410962"/>
            <a:ext cx="381030" cy="381030"/>
          </a:xfrm>
          <a:prstGeom prst="roundRect">
            <a:avLst>
              <a:gd name="adj" fmla="val 29998"/>
            </a:avLst>
          </a:prstGeom>
          <a:solidFill>
            <a:srgbClr val="044BD9"/>
          </a:solidFill>
          <a:ln/>
        </p:spPr>
      </p:sp>
      <p:pic>
        <p:nvPicPr>
          <p:cNvPr id="24" name="Icon" descr="/tmp/deck-pptx-VwALqa/icon-57.png">    </p:cNvPr>
          <p:cNvPicPr>
            <a:picLocks noChangeAspect="1"/>
          </p:cNvPicPr>
          <p:nvPr/>
        </p:nvPicPr>
        <p:blipFill>
          <a:blip r:embed="rId4"/>
          <a:stretch>
            <a:fillRect/>
          </a:stretch>
        </p:blipFill>
        <p:spPr>
          <a:xfrm>
            <a:off x="2559040" y="5512552"/>
            <a:ext cx="177759" cy="177759"/>
          </a:xfrm>
          <a:prstGeom prst="rect">
            <a:avLst/>
          </a:prstGeom>
        </p:spPr>
      </p:pic>
      <p:sp>
        <p:nvSpPr>
          <p:cNvPr id="25" name="tile"/>
          <p:cNvSpPr/>
          <p:nvPr/>
        </p:nvSpPr>
        <p:spPr>
          <a:xfrm>
            <a:off x="5463083" y="5410962"/>
            <a:ext cx="381030" cy="381030"/>
          </a:xfrm>
          <a:prstGeom prst="roundRect">
            <a:avLst>
              <a:gd name="adj" fmla="val 29998"/>
            </a:avLst>
          </a:prstGeom>
          <a:solidFill>
            <a:srgbClr val="044BD9"/>
          </a:solidFill>
          <a:ln/>
        </p:spPr>
      </p:sp>
      <p:pic>
        <p:nvPicPr>
          <p:cNvPr id="26" name="Icon" descr="/tmp/deck-pptx-VwALqa/icon-58.png">    </p:cNvPr>
          <p:cNvPicPr>
            <a:picLocks noChangeAspect="1"/>
          </p:cNvPicPr>
          <p:nvPr/>
        </p:nvPicPr>
        <p:blipFill>
          <a:blip r:embed="rId5"/>
          <a:stretch>
            <a:fillRect/>
          </a:stretch>
        </p:blipFill>
        <p:spPr>
          <a:xfrm>
            <a:off x="5564673" y="5512552"/>
            <a:ext cx="177759" cy="177759"/>
          </a:xfrm>
          <a:prstGeom prst="rect">
            <a:avLst/>
          </a:prstGeom>
        </p:spPr>
      </p:pic>
      <p:sp>
        <p:nvSpPr>
          <p:cNvPr id="27" name="tile"/>
          <p:cNvSpPr/>
          <p:nvPr/>
        </p:nvSpPr>
        <p:spPr>
          <a:xfrm>
            <a:off x="8468716" y="5410962"/>
            <a:ext cx="381030" cy="381030"/>
          </a:xfrm>
          <a:prstGeom prst="roundRect">
            <a:avLst>
              <a:gd name="adj" fmla="val 29998"/>
            </a:avLst>
          </a:prstGeom>
          <a:solidFill>
            <a:srgbClr val="044BD9"/>
          </a:solidFill>
          <a:ln/>
        </p:spPr>
      </p:sp>
      <p:pic>
        <p:nvPicPr>
          <p:cNvPr id="28" name="Icon" descr="/tmp/deck-pptx-VwALqa/icon-59.png">    </p:cNvPr>
          <p:cNvPicPr>
            <a:picLocks noChangeAspect="1"/>
          </p:cNvPicPr>
          <p:nvPr/>
        </p:nvPicPr>
        <p:blipFill>
          <a:blip r:embed="rId6"/>
          <a:stretch>
            <a:fillRect/>
          </a:stretch>
        </p:blipFill>
        <p:spPr>
          <a:xfrm>
            <a:off x="8570305" y="5512552"/>
            <a:ext cx="177759" cy="177759"/>
          </a:xfrm>
          <a:prstGeom prst="rect">
            <a:avLst/>
          </a:prstGeom>
        </p:spPr>
      </p:pic>
      <p:sp>
        <p:nvSpPr>
          <p:cNvPr id="29" name="span::before"/>
          <p:cNvSpPr/>
          <p:nvPr/>
        </p:nvSpPr>
        <p:spPr>
          <a:xfrm>
            <a:off x="6191860" y="311170"/>
            <a:ext cx="44440" cy="44440"/>
          </a:xfrm>
          <a:prstGeom prst="rect">
            <a:avLst/>
          </a:prstGeom>
          <a:solidFill>
            <a:srgbClr val="A0A6AF">
              <a:alpha val="55000"/>
            </a:srgbClr>
          </a:solidFill>
          <a:ln/>
        </p:spPr>
      </p:sp>
      <p:sp>
        <p:nvSpPr>
          <p:cNvPr id="30" name="span::before"/>
          <p:cNvSpPr/>
          <p:nvPr/>
        </p:nvSpPr>
        <p:spPr>
          <a:xfrm>
            <a:off x="7145213" y="311170"/>
            <a:ext cx="44440" cy="44440"/>
          </a:xfrm>
          <a:prstGeom prst="rect">
            <a:avLst/>
          </a:prstGeom>
          <a:solidFill>
            <a:srgbClr val="A0A6AF">
              <a:alpha val="55000"/>
            </a:srgbClr>
          </a:solidFill>
          <a:ln/>
        </p:spPr>
      </p:sp>
      <p:sp>
        <p:nvSpPr>
          <p:cNvPr id="31" name="on::before"/>
          <p:cNvSpPr/>
          <p:nvPr/>
        </p:nvSpPr>
        <p:spPr>
          <a:xfrm>
            <a:off x="8056230" y="311170"/>
            <a:ext cx="44440" cy="44440"/>
          </a:xfrm>
          <a:prstGeom prst="rect">
            <a:avLst/>
          </a:prstGeom>
          <a:solidFill>
            <a:srgbClr val="044BD9"/>
          </a:solidFill>
          <a:ln/>
        </p:spPr>
      </p:sp>
      <p:sp>
        <p:nvSpPr>
          <p:cNvPr id="32" name="span::before"/>
          <p:cNvSpPr/>
          <p:nvPr/>
        </p:nvSpPr>
        <p:spPr>
          <a:xfrm>
            <a:off x="8972550" y="311170"/>
            <a:ext cx="44440" cy="44440"/>
          </a:xfrm>
          <a:prstGeom prst="rect">
            <a:avLst/>
          </a:prstGeom>
          <a:solidFill>
            <a:srgbClr val="A0A6AF">
              <a:alpha val="55000"/>
            </a:srgbClr>
          </a:solidFill>
          <a:ln/>
        </p:spPr>
      </p:sp>
      <p:sp>
        <p:nvSpPr>
          <p:cNvPr id="33" name="span::before"/>
          <p:cNvSpPr/>
          <p:nvPr/>
        </p:nvSpPr>
        <p:spPr>
          <a:xfrm>
            <a:off x="10421142" y="311170"/>
            <a:ext cx="44440" cy="44440"/>
          </a:xfrm>
          <a:prstGeom prst="rect">
            <a:avLst/>
          </a:prstGeom>
          <a:solidFill>
            <a:srgbClr val="A0A6AF">
              <a:alpha val="55000"/>
            </a:srgbClr>
          </a:solidFill>
          <a:ln/>
        </p:spPr>
      </p:sp>
      <p:sp>
        <p:nvSpPr>
          <p:cNvPr id="34" name="span::before"/>
          <p:cNvSpPr/>
          <p:nvPr/>
        </p:nvSpPr>
        <p:spPr>
          <a:xfrm>
            <a:off x="10966216" y="311170"/>
            <a:ext cx="44440" cy="44440"/>
          </a:xfrm>
          <a:prstGeom prst="rect">
            <a:avLst/>
          </a:prstGeom>
          <a:solidFill>
            <a:srgbClr val="A0A6AF">
              <a:alpha val="55000"/>
            </a:srgbClr>
          </a:solidFill>
          <a:ln/>
        </p:spPr>
      </p:sp>
      <p:sp>
        <p:nvSpPr>
          <p:cNvPr id="35" name="Text"/>
          <p:cNvSpPr txBox="1"/>
          <p:nvPr/>
        </p:nvSpPr>
        <p:spPr>
          <a:xfrm>
            <a:off x="844540" y="609265"/>
            <a:ext cx="1146749"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Regulated sectors</a:t>
            </a:r>
            <a:endParaRPr lang="en-US" sz="950" dirty="0"/>
          </a:p>
        </p:txBody>
      </p:sp>
      <p:sp>
        <p:nvSpPr>
          <p:cNvPr id="36"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Regulated teams keep data in-house,</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reach portals and act within guardrails</a:t>
            </a:r>
            <a:endParaRPr lang="en-US" sz="3000" dirty="0"/>
          </a:p>
        </p:txBody>
      </p:sp>
      <p:sp>
        <p:nvSpPr>
          <p:cNvPr id="37" name="Text"/>
          <p:cNvSpPr txBox="1"/>
          <p:nvPr/>
        </p:nvSpPr>
        <p:spPr>
          <a:xfrm>
            <a:off x="1428750" y="2381372"/>
            <a:ext cx="2420600" cy="232440"/>
          </a:xfrm>
          <a:prstGeom prst="rect">
            <a:avLst/>
          </a:prstGeom>
          <a:noFill/>
          <a:ln/>
        </p:spPr>
        <p:txBody>
          <a:bodyPr wrap="non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Data that stays in-house</a:t>
            </a:r>
            <a:endParaRPr lang="en-US" sz="1500" dirty="0"/>
          </a:p>
        </p:txBody>
      </p:sp>
      <p:sp>
        <p:nvSpPr>
          <p:cNvPr id="38" name="Text"/>
          <p:cNvSpPr txBox="1"/>
          <p:nvPr/>
        </p:nvSpPr>
        <p:spPr>
          <a:xfrm>
            <a:off x="920709" y="2811780"/>
            <a:ext cx="3217316" cy="59052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Where data must stay inside your organisation,</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we deploy locally hosted models, for example on</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your own NVIDIA GPU workstation.</a:t>
            </a:r>
            <a:endParaRPr lang="en-US" sz="1000" dirty="0"/>
          </a:p>
        </p:txBody>
      </p:sp>
      <p:sp>
        <p:nvSpPr>
          <p:cNvPr id="39" name="Text"/>
          <p:cNvSpPr txBox="1"/>
          <p:nvPr/>
        </p:nvSpPr>
        <p:spPr>
          <a:xfrm>
            <a:off x="1085850" y="3604199"/>
            <a:ext cx="3045592"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Client data stays inside the firm for a</a:t>
            </a:r>
            <a:endParaRPr lang="en-US" sz="1000" dirty="0"/>
          </a:p>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36-year-old law firm</a:t>
            </a:r>
            <a:endParaRPr lang="en-US" sz="1000" dirty="0"/>
          </a:p>
        </p:txBody>
      </p:sp>
      <p:sp>
        <p:nvSpPr>
          <p:cNvPr id="40" name="Text"/>
          <p:cNvSpPr txBox="1"/>
          <p:nvPr/>
        </p:nvSpPr>
        <p:spPr>
          <a:xfrm>
            <a:off x="1085850" y="4035979"/>
            <a:ext cx="3045592"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Models, hosting and guardrails chosen</a:t>
            </a:r>
            <a:endParaRPr lang="en-US" sz="1000" dirty="0"/>
          </a:p>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around your regulator</a:t>
            </a:r>
            <a:endParaRPr lang="en-US" sz="1000" dirty="0"/>
          </a:p>
        </p:txBody>
      </p:sp>
      <p:sp>
        <p:nvSpPr>
          <p:cNvPr id="41" name="Text"/>
          <p:cNvSpPr txBox="1"/>
          <p:nvPr/>
        </p:nvSpPr>
        <p:spPr>
          <a:xfrm>
            <a:off x="5069342" y="2265152"/>
            <a:ext cx="2688976"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Integration with the</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systems you run</a:t>
            </a:r>
            <a:endParaRPr lang="en-US" sz="1500" dirty="0"/>
          </a:p>
        </p:txBody>
      </p:sp>
      <p:sp>
        <p:nvSpPr>
          <p:cNvPr id="42" name="Text"/>
          <p:cNvSpPr txBox="1"/>
          <p:nvPr/>
        </p:nvSpPr>
        <p:spPr>
          <a:xfrm>
            <a:off x="4561393" y="2811780"/>
            <a:ext cx="3217316" cy="59052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Most of our work connects AI to legacy and</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third-party systems, including bank,</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government, SSM and CTOS portals.</a:t>
            </a:r>
            <a:endParaRPr lang="en-US" sz="1000" dirty="0"/>
          </a:p>
        </p:txBody>
      </p:sp>
      <p:sp>
        <p:nvSpPr>
          <p:cNvPr id="43" name="Text"/>
          <p:cNvSpPr txBox="1"/>
          <p:nvPr/>
        </p:nvSpPr>
        <p:spPr>
          <a:xfrm>
            <a:off x="4726442" y="3604199"/>
            <a:ext cx="3045592" cy="381030"/>
          </a:xfrm>
          <a:prstGeom prst="rect">
            <a:avLst/>
          </a:prstGeom>
          <a:noFill/>
          <a:ln/>
        </p:spPr>
        <p:txBody>
          <a:bodyPr wrap="square" lIns="0" tIns="0" rIns="0" bIns="0" rtlCol="0" anchor="t"/>
          <a:lstStyle/>
          <a:p>
            <a:pPr algn="l" indent="0" marL="0">
              <a:lnSpc>
                <a:spcPts val="1500"/>
              </a:lnSpc>
              <a:buNone/>
            </a:pPr>
            <a:r>
              <a:rPr lang="en-US" sz="1000" dirty="0">
                <a:solidFill>
                  <a:srgbClr val="044BD9"/>
                </a:solidFill>
                <a:latin typeface="Poppins Medium" pitchFamily="34" charset="0"/>
                <a:ea typeface="Poppins Medium" pitchFamily="34" charset="-122"/>
                <a:cs typeface="Poppins Medium" pitchFamily="34" charset="-120"/>
              </a:rPr>
              <a:t>90+</a:t>
            </a:r>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 third-party portal automations for one</a:t>
            </a:r>
            <a:endParaRPr lang="en-US" sz="1000" dirty="0"/>
          </a:p>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law firm</a:t>
            </a:r>
            <a:endParaRPr lang="en-US" sz="1000" dirty="0"/>
          </a:p>
        </p:txBody>
      </p:sp>
      <p:sp>
        <p:nvSpPr>
          <p:cNvPr id="44" name="Text"/>
          <p:cNvSpPr txBox="1"/>
          <p:nvPr/>
        </p:nvSpPr>
        <p:spPr>
          <a:xfrm>
            <a:off x="4726442" y="4035979"/>
            <a:ext cx="2928366"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Projects taken over midway and delivered, as for iPajak Group</a:t>
            </a:r>
            <a:endParaRPr lang="en-US" sz="1000" dirty="0"/>
          </a:p>
        </p:txBody>
      </p:sp>
      <p:sp>
        <p:nvSpPr>
          <p:cNvPr id="45" name="Text"/>
          <p:cNvSpPr txBox="1"/>
          <p:nvPr/>
        </p:nvSpPr>
        <p:spPr>
          <a:xfrm>
            <a:off x="8710026" y="2265152"/>
            <a:ext cx="2688976" cy="464790"/>
          </a:xfrm>
          <a:prstGeom prst="rect">
            <a:avLst/>
          </a:prstGeom>
          <a:noFill/>
          <a:ln/>
        </p:spPr>
        <p:txBody>
          <a:bodyPr wrap="square" lIns="0" tIns="0" rIns="0" bIns="0" rtlCol="0" anchor="t"/>
          <a:lstStyle/>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Guardrails and</a:t>
            </a:r>
            <a:endParaRPr lang="en-US" sz="1500" dirty="0"/>
          </a:p>
          <a:p>
            <a:pPr algn="l" indent="0" marL="0">
              <a:lnSpc>
                <a:spcPts val="1830"/>
              </a:lnSpc>
              <a:buNone/>
            </a:pPr>
            <a:r>
              <a:rPr lang="en-US" sz="1500" dirty="0">
                <a:solidFill>
                  <a:srgbClr val="000000"/>
                </a:solidFill>
                <a:latin typeface="Poppins Medium" pitchFamily="34" charset="0"/>
                <a:ea typeface="Poppins Medium" pitchFamily="34" charset="-122"/>
                <a:cs typeface="Poppins Medium" pitchFamily="34" charset="-120"/>
              </a:rPr>
              <a:t>governance</a:t>
            </a:r>
            <a:endParaRPr lang="en-US" sz="1500" dirty="0"/>
          </a:p>
        </p:txBody>
      </p:sp>
      <p:sp>
        <p:nvSpPr>
          <p:cNvPr id="46" name="Text"/>
          <p:cNvSpPr txBox="1"/>
          <p:nvPr/>
        </p:nvSpPr>
        <p:spPr>
          <a:xfrm>
            <a:off x="8201985" y="2811780"/>
            <a:ext cx="3094147" cy="590520"/>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AI safety and alignment and governance guardrails keep each system accountable, from customer conversations to claims.</a:t>
            </a:r>
            <a:endParaRPr lang="en-US" sz="1000" dirty="0"/>
          </a:p>
        </p:txBody>
      </p:sp>
      <p:sp>
        <p:nvSpPr>
          <p:cNvPr id="47" name="Text"/>
          <p:cNvSpPr txBox="1"/>
          <p:nvPr/>
        </p:nvSpPr>
        <p:spPr>
          <a:xfrm>
            <a:off x="8367126" y="3604199"/>
            <a:ext cx="2929463" cy="190470"/>
          </a:xfrm>
          <a:prstGeom prst="rect">
            <a:avLst/>
          </a:prstGeom>
          <a:noFill/>
          <a:ln/>
        </p:spPr>
        <p:txBody>
          <a:bodyPr wrap="non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Intelligent conversation flows with guardrails</a:t>
            </a:r>
            <a:endParaRPr lang="en-US" sz="1000" dirty="0"/>
          </a:p>
        </p:txBody>
      </p:sp>
      <p:sp>
        <p:nvSpPr>
          <p:cNvPr id="48" name="Text"/>
          <p:cNvSpPr txBox="1"/>
          <p:nvPr/>
        </p:nvSpPr>
        <p:spPr>
          <a:xfrm>
            <a:off x="8367126" y="3845509"/>
            <a:ext cx="2928366" cy="38103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Duplicate claims from the same person identified automatically</a:t>
            </a:r>
            <a:endParaRPr lang="en-US" sz="1000" dirty="0"/>
          </a:p>
        </p:txBody>
      </p:sp>
      <p:sp>
        <p:nvSpPr>
          <p:cNvPr id="49" name="Text"/>
          <p:cNvSpPr txBox="1"/>
          <p:nvPr/>
        </p:nvSpPr>
        <p:spPr>
          <a:xfrm>
            <a:off x="8367126" y="4277289"/>
            <a:ext cx="2928366" cy="190470"/>
          </a:xfrm>
          <a:prstGeom prst="rect">
            <a:avLst/>
          </a:prstGeom>
          <a:noFill/>
          <a:ln/>
        </p:spPr>
        <p:txBody>
          <a:bodyPr wrap="square" lIns="0" tIns="0" rIns="0" bIns="0" rtlCol="0" anchor="t"/>
          <a:lstStyle/>
          <a:p>
            <a:pPr algn="l" indent="0" marL="0">
              <a:lnSpc>
                <a:spcPts val="1500"/>
              </a:lnSpc>
              <a:buNone/>
            </a:pPr>
            <a:r>
              <a:rPr lang="en-US" sz="1000" dirty="0">
                <a:solidFill>
                  <a:srgbClr val="1F2937"/>
                </a:solidFill>
                <a:latin typeface="Poppins Light" pitchFamily="34" charset="0"/>
                <a:ea typeface="Poppins Light" pitchFamily="34" charset="-122"/>
                <a:cs typeface="Poppins Light" pitchFamily="34" charset="-120"/>
              </a:rPr>
              <a:t>CRM features by user access level</a:t>
            </a:r>
            <a:endParaRPr lang="en-US" sz="1000" dirty="0"/>
          </a:p>
        </p:txBody>
      </p:sp>
      <p:sp>
        <p:nvSpPr>
          <p:cNvPr id="50" name="Text"/>
          <p:cNvSpPr txBox="1"/>
          <p:nvPr/>
        </p:nvSpPr>
        <p:spPr>
          <a:xfrm>
            <a:off x="920709" y="5409225"/>
            <a:ext cx="1412199" cy="363200"/>
          </a:xfrm>
          <a:prstGeom prst="rect">
            <a:avLst/>
          </a:prstGeom>
          <a:noFill/>
          <a:ln/>
        </p:spPr>
        <p:txBody>
          <a:bodyPr wrap="square" lIns="0" tIns="0" rIns="0" bIns="0" rtlCol="0" anchor="t"/>
          <a:lstStyle/>
          <a:p>
            <a:pPr algn="l" indent="0" marL="0">
              <a:lnSpc>
                <a:spcPts val="1430"/>
              </a:lnSpc>
              <a:buNone/>
            </a:pPr>
            <a:r>
              <a:rPr lang="en-US" sz="1100" dirty="0">
                <a:solidFill>
                  <a:srgbClr val="000000"/>
                </a:solidFill>
                <a:latin typeface="Poppins Medium" pitchFamily="34" charset="0"/>
                <a:ea typeface="Poppins Medium" pitchFamily="34" charset="-122"/>
                <a:cs typeface="Poppins Medium" pitchFamily="34" charset="-120"/>
              </a:rPr>
              <a:t>Where models run,</a:t>
            </a:r>
            <a:endParaRPr lang="en-US" sz="1100" dirty="0"/>
          </a:p>
          <a:p>
            <a:pPr algn="l" indent="0" marL="0">
              <a:lnSpc>
                <a:spcPts val="1430"/>
              </a:lnSpc>
              <a:buNone/>
            </a:pPr>
            <a:r>
              <a:rPr lang="en-US" sz="1100" dirty="0">
                <a:solidFill>
                  <a:srgbClr val="000000"/>
                </a:solidFill>
                <a:latin typeface="Poppins Medium" pitchFamily="34" charset="0"/>
                <a:ea typeface="Poppins Medium" pitchFamily="34" charset="-122"/>
                <a:cs typeface="Poppins Medium" pitchFamily="34" charset="-120"/>
              </a:rPr>
              <a:t>chosen per project</a:t>
            </a:r>
            <a:endParaRPr lang="en-US" sz="1100" dirty="0"/>
          </a:p>
        </p:txBody>
      </p:sp>
      <p:sp>
        <p:nvSpPr>
          <p:cNvPr id="51" name="Text"/>
          <p:cNvSpPr txBox="1"/>
          <p:nvPr/>
        </p:nvSpPr>
        <p:spPr>
          <a:xfrm>
            <a:off x="2940070" y="5309098"/>
            <a:ext cx="2341778" cy="206654"/>
          </a:xfrm>
          <a:prstGeom prst="rect">
            <a:avLst/>
          </a:prstGeom>
          <a:noFill/>
          <a:ln/>
        </p:spPr>
        <p:txBody>
          <a:bodyPr wrap="square" lIns="0" tIns="0" rIns="0" bIns="0" rtlCol="0" anchor="t"/>
          <a:lstStyle/>
          <a:p>
            <a:pPr algn="l" indent="0" marL="0">
              <a:lnSpc>
                <a:spcPts val="1627"/>
              </a:lnSpc>
              <a:buNone/>
            </a:pPr>
            <a:r>
              <a:rPr lang="en-US" sz="1050" dirty="0">
                <a:solidFill>
                  <a:srgbClr val="000000"/>
                </a:solidFill>
                <a:latin typeface="Poppins Medium" pitchFamily="34" charset="0"/>
                <a:ea typeface="Poppins Medium" pitchFamily="34" charset="-122"/>
                <a:cs typeface="Poppins Medium" pitchFamily="34" charset="-120"/>
              </a:rPr>
              <a:t>Inside your organisation</a:t>
            </a:r>
            <a:endParaRPr lang="en-US" sz="1050" dirty="0"/>
          </a:p>
        </p:txBody>
      </p:sp>
      <p:sp>
        <p:nvSpPr>
          <p:cNvPr id="52" name="Text"/>
          <p:cNvSpPr txBox="1"/>
          <p:nvPr/>
        </p:nvSpPr>
        <p:spPr>
          <a:xfrm>
            <a:off x="2940070" y="5522519"/>
            <a:ext cx="2341778"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Locally hosted models on your own NVIDIA GPU workstation</a:t>
            </a:r>
            <a:endParaRPr lang="en-US" sz="950" dirty="0"/>
          </a:p>
        </p:txBody>
      </p:sp>
      <p:sp>
        <p:nvSpPr>
          <p:cNvPr id="53" name="Text"/>
          <p:cNvSpPr txBox="1"/>
          <p:nvPr/>
        </p:nvSpPr>
        <p:spPr>
          <a:xfrm>
            <a:off x="5945703" y="5309098"/>
            <a:ext cx="2341778" cy="206654"/>
          </a:xfrm>
          <a:prstGeom prst="rect">
            <a:avLst/>
          </a:prstGeom>
          <a:noFill/>
          <a:ln/>
        </p:spPr>
        <p:txBody>
          <a:bodyPr wrap="square" lIns="0" tIns="0" rIns="0" bIns="0" rtlCol="0" anchor="t"/>
          <a:lstStyle/>
          <a:p>
            <a:pPr algn="l" indent="0" marL="0">
              <a:lnSpc>
                <a:spcPts val="1627"/>
              </a:lnSpc>
              <a:buNone/>
            </a:pPr>
            <a:r>
              <a:rPr lang="en-US" sz="1050" dirty="0">
                <a:solidFill>
                  <a:srgbClr val="000000"/>
                </a:solidFill>
                <a:latin typeface="Poppins Medium" pitchFamily="34" charset="0"/>
                <a:ea typeface="Poppins Medium" pitchFamily="34" charset="-122"/>
                <a:cs typeface="Poppins Medium" pitchFamily="34" charset="-120"/>
              </a:rPr>
              <a:t>Partner GPU cloud</a:t>
            </a:r>
            <a:endParaRPr lang="en-US" sz="1050" dirty="0"/>
          </a:p>
        </p:txBody>
      </p:sp>
      <p:sp>
        <p:nvSpPr>
          <p:cNvPr id="54" name="Text"/>
          <p:cNvSpPr txBox="1"/>
          <p:nvPr/>
        </p:nvSpPr>
        <p:spPr>
          <a:xfrm>
            <a:off x="5945703" y="5522519"/>
            <a:ext cx="2341778"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H100 SXM through FPT AI Factory, for training and fine-tuning</a:t>
            </a:r>
            <a:endParaRPr lang="en-US" sz="950" dirty="0"/>
          </a:p>
        </p:txBody>
      </p:sp>
      <p:sp>
        <p:nvSpPr>
          <p:cNvPr id="55" name="Text"/>
          <p:cNvSpPr txBox="1"/>
          <p:nvPr/>
        </p:nvSpPr>
        <p:spPr>
          <a:xfrm>
            <a:off x="8951336" y="5309098"/>
            <a:ext cx="2341870" cy="206654"/>
          </a:xfrm>
          <a:prstGeom prst="rect">
            <a:avLst/>
          </a:prstGeom>
          <a:noFill/>
          <a:ln/>
        </p:spPr>
        <p:txBody>
          <a:bodyPr wrap="square" lIns="0" tIns="0" rIns="0" bIns="0" rtlCol="0" anchor="t"/>
          <a:lstStyle/>
          <a:p>
            <a:pPr algn="l" indent="0" marL="0">
              <a:lnSpc>
                <a:spcPts val="1627"/>
              </a:lnSpc>
              <a:buNone/>
            </a:pPr>
            <a:r>
              <a:rPr lang="en-US" sz="1050" dirty="0">
                <a:solidFill>
                  <a:srgbClr val="000000"/>
                </a:solidFill>
                <a:latin typeface="Poppins Medium" pitchFamily="34" charset="0"/>
                <a:ea typeface="Poppins Medium" pitchFamily="34" charset="-122"/>
                <a:cs typeface="Poppins Medium" pitchFamily="34" charset="-120"/>
              </a:rPr>
              <a:t>Public cloud</a:t>
            </a:r>
            <a:endParaRPr lang="en-US" sz="1050" dirty="0"/>
          </a:p>
        </p:txBody>
      </p:sp>
      <p:sp>
        <p:nvSpPr>
          <p:cNvPr id="56" name="Text"/>
          <p:cNvSpPr txBox="1"/>
          <p:nvPr/>
        </p:nvSpPr>
        <p:spPr>
          <a:xfrm>
            <a:off x="8951336" y="5522519"/>
            <a:ext cx="2341870" cy="337779"/>
          </a:xfrm>
          <a:prstGeom prst="rect">
            <a:avLst/>
          </a:prstGeom>
          <a:noFill/>
          <a:ln/>
        </p:spPr>
        <p:txBody>
          <a:bodyPr wrap="square" lIns="0" tIns="0" rIns="0" bIns="0" rtlCol="0" anchor="t"/>
          <a:lstStyle/>
          <a:p>
            <a:pPr algn="l" indent="0" marL="0">
              <a:lnSpc>
                <a:spcPts val="1330"/>
              </a:lnSpc>
              <a:buNone/>
            </a:pPr>
            <a:r>
              <a:rPr lang="en-US" sz="950" dirty="0">
                <a:solidFill>
                  <a:srgbClr val="1F2937"/>
                </a:solidFill>
                <a:latin typeface="Poppins Light" pitchFamily="34" charset="0"/>
                <a:ea typeface="Poppins Light" pitchFamily="34" charset="-122"/>
                <a:cs typeface="Poppins Light" pitchFamily="34" charset="-120"/>
              </a:rPr>
              <a:t>Alibaba Cloud and Google Cloud, chosen for data, cost and residency</a:t>
            </a:r>
            <a:endParaRPr lang="en-US" sz="950" dirty="0"/>
          </a:p>
        </p:txBody>
      </p:sp>
      <p:sp>
        <p:nvSpPr>
          <p:cNvPr id="57"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8"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9"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What we do</a:t>
            </a:r>
            <a:endParaRPr lang="en-US" sz="850" dirty="0"/>
          </a:p>
        </p:txBody>
      </p:sp>
      <p:sp>
        <p:nvSpPr>
          <p:cNvPr id="60"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1"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2"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3"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alphv.com/industries; alphv.com/services/ai-engineering; alphv.com/platforms-and-clients (October 2026).</a:t>
            </a:r>
            <a:endParaRPr lang="en-US" sz="850" dirty="0"/>
          </a:p>
        </p:txBody>
      </p:sp>
      <p:sp>
        <p:nvSpPr>
          <p:cNvPr id="64" name="Text"/>
          <p:cNvSpPr txBox="1"/>
          <p:nvPr/>
        </p:nvSpPr>
        <p:spPr>
          <a:xfrm>
            <a:off x="9383024"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5" name="Text"/>
          <p:cNvSpPr txBox="1"/>
          <p:nvPr/>
        </p:nvSpPr>
        <p:spPr>
          <a:xfrm>
            <a:off x="9890973"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6" name="Text"/>
          <p:cNvSpPr txBox="1"/>
          <p:nvPr/>
        </p:nvSpPr>
        <p:spPr>
          <a:xfrm>
            <a:off x="11382451" y="6401532"/>
            <a:ext cx="123718"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p:cNvSpPr txBox="1"/>
          <p:nvPr/>
        </p:nvSpPr>
        <p:spPr>
          <a:xfrm>
            <a:off x="711220" y="2584460"/>
            <a:ext cx="10825399" cy="1257300"/>
          </a:xfrm>
          <a:prstGeom prst="rect">
            <a:avLst/>
          </a:prstGeom>
          <a:noFill/>
          <a:ln/>
        </p:spPr>
        <p:txBody>
          <a:bodyPr wrap="square" lIns="0" tIns="0" rIns="0" bIns="0" rtlCol="0" anchor="t"/>
          <a:lstStyle/>
          <a:p>
            <a:pPr algn="l" indent="0" marL="0">
              <a:lnSpc>
                <a:spcPts val="9900"/>
              </a:lnSpc>
              <a:buNone/>
            </a:pPr>
            <a:r>
              <a:rPr lang="en-US" sz="11000" spc="-440" kern="0" dirty="0">
                <a:solidFill>
                  <a:srgbClr val="F2F6FD"/>
                </a:solidFill>
                <a:latin typeface="Poppins SemiBold" pitchFamily="34" charset="0"/>
                <a:ea typeface="Poppins SemiBold" pitchFamily="34" charset="-122"/>
                <a:cs typeface="Poppins SemiBold" pitchFamily="34" charset="-120"/>
              </a:rPr>
              <a:t>04</a:t>
            </a:r>
            <a:endParaRPr lang="en-US" sz="11000" dirty="0"/>
          </a:p>
        </p:txBody>
      </p:sp>
      <p:sp>
        <p:nvSpPr>
          <p:cNvPr id="3" name="Text"/>
          <p:cNvSpPr txBox="1"/>
          <p:nvPr/>
        </p:nvSpPr>
        <p:spPr>
          <a:xfrm>
            <a:off x="711220" y="3974257"/>
            <a:ext cx="9271010" cy="1280160"/>
          </a:xfrm>
          <a:prstGeom prst="rect">
            <a:avLst/>
          </a:prstGeom>
          <a:noFill/>
          <a:ln/>
        </p:spPr>
        <p:txBody>
          <a:bodyPr wrap="square" lIns="0" tIns="0" rIns="0" bIns="0" rtlCol="0" anchor="t"/>
          <a:lstStyle/>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Work shaped</a:t>
            </a:r>
            <a:endParaRPr lang="en-US" sz="4800" dirty="0"/>
          </a:p>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around your sector</a:t>
            </a:r>
            <a:endParaRPr lang="en-US" sz="4800" dirty="0"/>
          </a:p>
        </p:txBody>
      </p:sp>
      <p:sp>
        <p:nvSpPr>
          <p:cNvPr id="4" name="Text"/>
          <p:cNvSpPr txBox="1"/>
          <p:nvPr/>
        </p:nvSpPr>
        <p:spPr>
          <a:xfrm>
            <a:off x="711220" y="5444155"/>
            <a:ext cx="7421910" cy="552480"/>
          </a:xfrm>
          <a:prstGeom prst="rect">
            <a:avLst/>
          </a:prstGeom>
          <a:noFill/>
          <a:ln/>
        </p:spPr>
        <p:txBody>
          <a:bodyPr wrap="squar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Six sectors with work to show, and five products that package</a:t>
            </a:r>
            <a:endParaRPr lang="en-US" sz="1450" dirty="0"/>
          </a:p>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proven solutions.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869046" cy="254020"/>
          </a:xfrm>
          <a:prstGeom prst="roundRect">
            <a:avLst>
              <a:gd name="adj" fmla="val 50000"/>
            </a:avLst>
          </a:prstGeom>
          <a:ln w="6350">
            <a:solidFill>
              <a:srgbClr val="155DFC"/>
            </a:solidFill>
            <a:prstDash val="solid"/>
          </a:ln>
        </p:spPr>
      </p:sp>
      <p:sp>
        <p:nvSpPr>
          <p:cNvPr id="3" name="Rule"/>
          <p:cNvSpPr/>
          <p:nvPr/>
        </p:nvSpPr>
        <p:spPr>
          <a:xfrm>
            <a:off x="711220" y="2319193"/>
            <a:ext cx="1270010" cy="0"/>
          </a:xfrm>
          <a:prstGeom prst="line">
            <a:avLst/>
          </a:prstGeom>
          <a:noFill/>
          <a:ln w="6350">
            <a:solidFill>
              <a:srgbClr val="E3E6EC"/>
            </a:solidFill>
            <a:prstDash val="solid"/>
          </a:ln>
        </p:spPr>
      </p:sp>
      <p:sp>
        <p:nvSpPr>
          <p:cNvPr id="4" name="Rule"/>
          <p:cNvSpPr/>
          <p:nvPr/>
        </p:nvSpPr>
        <p:spPr>
          <a:xfrm>
            <a:off x="1981230" y="2319193"/>
            <a:ext cx="1524030" cy="0"/>
          </a:xfrm>
          <a:prstGeom prst="line">
            <a:avLst/>
          </a:prstGeom>
          <a:noFill/>
          <a:ln w="6350">
            <a:solidFill>
              <a:srgbClr val="E3E6EC"/>
            </a:solidFill>
            <a:prstDash val="solid"/>
          </a:ln>
        </p:spPr>
      </p:sp>
      <p:sp>
        <p:nvSpPr>
          <p:cNvPr id="5" name="Rule"/>
          <p:cNvSpPr/>
          <p:nvPr/>
        </p:nvSpPr>
        <p:spPr>
          <a:xfrm>
            <a:off x="3505170" y="2319193"/>
            <a:ext cx="3301990" cy="0"/>
          </a:xfrm>
          <a:prstGeom prst="line">
            <a:avLst/>
          </a:prstGeom>
          <a:noFill/>
          <a:ln w="6350">
            <a:solidFill>
              <a:srgbClr val="E3E6EC"/>
            </a:solidFill>
            <a:prstDash val="solid"/>
          </a:ln>
        </p:spPr>
      </p:sp>
      <p:sp>
        <p:nvSpPr>
          <p:cNvPr id="6" name="Rule"/>
          <p:cNvSpPr/>
          <p:nvPr/>
        </p:nvSpPr>
        <p:spPr>
          <a:xfrm>
            <a:off x="6807159" y="2319193"/>
            <a:ext cx="2095530" cy="0"/>
          </a:xfrm>
          <a:prstGeom prst="line">
            <a:avLst/>
          </a:prstGeom>
          <a:noFill/>
          <a:ln w="6350">
            <a:solidFill>
              <a:srgbClr val="E3E6EC"/>
            </a:solidFill>
            <a:prstDash val="solid"/>
          </a:ln>
        </p:spPr>
      </p:sp>
      <p:sp>
        <p:nvSpPr>
          <p:cNvPr id="7" name="Rule"/>
          <p:cNvSpPr/>
          <p:nvPr/>
        </p:nvSpPr>
        <p:spPr>
          <a:xfrm>
            <a:off x="8902690" y="2319193"/>
            <a:ext cx="2578059" cy="0"/>
          </a:xfrm>
          <a:prstGeom prst="line">
            <a:avLst/>
          </a:prstGeom>
          <a:noFill/>
          <a:ln w="6350">
            <a:solidFill>
              <a:srgbClr val="E3E6EC"/>
            </a:solidFill>
            <a:prstDash val="solid"/>
          </a:ln>
        </p:spPr>
      </p:sp>
      <p:sp>
        <p:nvSpPr>
          <p:cNvPr id="8" name="Rule"/>
          <p:cNvSpPr/>
          <p:nvPr/>
        </p:nvSpPr>
        <p:spPr>
          <a:xfrm>
            <a:off x="711220" y="2897094"/>
            <a:ext cx="1270010" cy="0"/>
          </a:xfrm>
          <a:prstGeom prst="line">
            <a:avLst/>
          </a:prstGeom>
          <a:noFill/>
          <a:ln w="6350">
            <a:solidFill>
              <a:srgbClr val="E3E6EC"/>
            </a:solidFill>
            <a:prstDash val="solid"/>
          </a:ln>
        </p:spPr>
      </p:sp>
      <p:sp>
        <p:nvSpPr>
          <p:cNvPr id="9" name="Rule"/>
          <p:cNvSpPr/>
          <p:nvPr/>
        </p:nvSpPr>
        <p:spPr>
          <a:xfrm>
            <a:off x="1981230" y="2897094"/>
            <a:ext cx="1524030" cy="0"/>
          </a:xfrm>
          <a:prstGeom prst="line">
            <a:avLst/>
          </a:prstGeom>
          <a:noFill/>
          <a:ln w="6350">
            <a:solidFill>
              <a:srgbClr val="E3E6EC"/>
            </a:solidFill>
            <a:prstDash val="solid"/>
          </a:ln>
        </p:spPr>
      </p:sp>
      <p:sp>
        <p:nvSpPr>
          <p:cNvPr id="10" name="Rule"/>
          <p:cNvSpPr/>
          <p:nvPr/>
        </p:nvSpPr>
        <p:spPr>
          <a:xfrm>
            <a:off x="3505170" y="2897094"/>
            <a:ext cx="3301990" cy="0"/>
          </a:xfrm>
          <a:prstGeom prst="line">
            <a:avLst/>
          </a:prstGeom>
          <a:noFill/>
          <a:ln w="6350">
            <a:solidFill>
              <a:srgbClr val="E3E6EC"/>
            </a:solidFill>
            <a:prstDash val="solid"/>
          </a:ln>
        </p:spPr>
      </p:sp>
      <p:sp>
        <p:nvSpPr>
          <p:cNvPr id="11" name="Rule"/>
          <p:cNvSpPr/>
          <p:nvPr/>
        </p:nvSpPr>
        <p:spPr>
          <a:xfrm>
            <a:off x="6807159" y="2897094"/>
            <a:ext cx="2095530" cy="0"/>
          </a:xfrm>
          <a:prstGeom prst="line">
            <a:avLst/>
          </a:prstGeom>
          <a:noFill/>
          <a:ln w="6350">
            <a:solidFill>
              <a:srgbClr val="E3E6EC"/>
            </a:solidFill>
            <a:prstDash val="solid"/>
          </a:ln>
        </p:spPr>
      </p:sp>
      <p:sp>
        <p:nvSpPr>
          <p:cNvPr id="12" name="tag"/>
          <p:cNvSpPr/>
          <p:nvPr/>
        </p:nvSpPr>
        <p:spPr>
          <a:xfrm>
            <a:off x="6810360" y="2411273"/>
            <a:ext cx="456834" cy="177759"/>
          </a:xfrm>
          <a:prstGeom prst="roundRect">
            <a:avLst>
              <a:gd name="adj" fmla="val 50000"/>
            </a:avLst>
          </a:prstGeom>
          <a:solidFill>
            <a:srgbClr val="FFFFFF"/>
          </a:solidFill>
          <a:ln w="6350">
            <a:solidFill>
              <a:srgbClr val="E3E6EC"/>
            </a:solidFill>
            <a:prstDash val="solid"/>
          </a:ln>
        </p:spPr>
      </p:sp>
      <p:sp>
        <p:nvSpPr>
          <p:cNvPr id="13" name="tag"/>
          <p:cNvSpPr/>
          <p:nvPr/>
        </p:nvSpPr>
        <p:spPr>
          <a:xfrm>
            <a:off x="7311634" y="2411273"/>
            <a:ext cx="760049" cy="177759"/>
          </a:xfrm>
          <a:prstGeom prst="roundRect">
            <a:avLst>
              <a:gd name="adj" fmla="val 50000"/>
            </a:avLst>
          </a:prstGeom>
          <a:solidFill>
            <a:srgbClr val="FFFFFF"/>
          </a:solidFill>
          <a:ln w="6350">
            <a:solidFill>
              <a:srgbClr val="E3E6EC"/>
            </a:solidFill>
            <a:prstDash val="solid"/>
          </a:ln>
        </p:spPr>
      </p:sp>
      <p:sp>
        <p:nvSpPr>
          <p:cNvPr id="14" name="tag"/>
          <p:cNvSpPr/>
          <p:nvPr/>
        </p:nvSpPr>
        <p:spPr>
          <a:xfrm>
            <a:off x="6810360" y="2633563"/>
            <a:ext cx="800374" cy="177759"/>
          </a:xfrm>
          <a:prstGeom prst="roundRect">
            <a:avLst>
              <a:gd name="adj" fmla="val 50000"/>
            </a:avLst>
          </a:prstGeom>
          <a:solidFill>
            <a:srgbClr val="FFFFFF"/>
          </a:solidFill>
          <a:ln w="6350">
            <a:solidFill>
              <a:srgbClr val="E3E6EC"/>
            </a:solidFill>
            <a:prstDash val="solid"/>
          </a:ln>
        </p:spPr>
      </p:sp>
      <p:sp>
        <p:nvSpPr>
          <p:cNvPr id="15" name="tag"/>
          <p:cNvSpPr/>
          <p:nvPr/>
        </p:nvSpPr>
        <p:spPr>
          <a:xfrm>
            <a:off x="7655265" y="2633563"/>
            <a:ext cx="757855" cy="177759"/>
          </a:xfrm>
          <a:prstGeom prst="roundRect">
            <a:avLst>
              <a:gd name="adj" fmla="val 50000"/>
            </a:avLst>
          </a:prstGeom>
          <a:solidFill>
            <a:srgbClr val="FFFFFF"/>
          </a:solidFill>
          <a:ln w="6350">
            <a:solidFill>
              <a:srgbClr val="E3E6EC"/>
            </a:solidFill>
            <a:prstDash val="solid"/>
          </a:ln>
        </p:spPr>
      </p:sp>
      <p:sp>
        <p:nvSpPr>
          <p:cNvPr id="16" name="Rule"/>
          <p:cNvSpPr/>
          <p:nvPr/>
        </p:nvSpPr>
        <p:spPr>
          <a:xfrm>
            <a:off x="8902690" y="2897094"/>
            <a:ext cx="2578059" cy="0"/>
          </a:xfrm>
          <a:prstGeom prst="line">
            <a:avLst/>
          </a:prstGeom>
          <a:noFill/>
          <a:ln w="6350">
            <a:solidFill>
              <a:srgbClr val="E3E6EC"/>
            </a:solidFill>
            <a:prstDash val="solid"/>
          </a:ln>
        </p:spPr>
      </p:sp>
      <p:sp>
        <p:nvSpPr>
          <p:cNvPr id="17" name="Rule"/>
          <p:cNvSpPr/>
          <p:nvPr/>
        </p:nvSpPr>
        <p:spPr>
          <a:xfrm>
            <a:off x="711220" y="3474903"/>
            <a:ext cx="1270010" cy="0"/>
          </a:xfrm>
          <a:prstGeom prst="line">
            <a:avLst/>
          </a:prstGeom>
          <a:noFill/>
          <a:ln w="6350">
            <a:solidFill>
              <a:srgbClr val="E3E6EC"/>
            </a:solidFill>
            <a:prstDash val="solid"/>
          </a:ln>
        </p:spPr>
      </p:sp>
      <p:sp>
        <p:nvSpPr>
          <p:cNvPr id="18" name="Rule"/>
          <p:cNvSpPr/>
          <p:nvPr/>
        </p:nvSpPr>
        <p:spPr>
          <a:xfrm>
            <a:off x="1981230" y="3474903"/>
            <a:ext cx="1524030" cy="0"/>
          </a:xfrm>
          <a:prstGeom prst="line">
            <a:avLst/>
          </a:prstGeom>
          <a:noFill/>
          <a:ln w="6350">
            <a:solidFill>
              <a:srgbClr val="E3E6EC"/>
            </a:solidFill>
            <a:prstDash val="solid"/>
          </a:ln>
        </p:spPr>
      </p:sp>
      <p:sp>
        <p:nvSpPr>
          <p:cNvPr id="19" name="Rule"/>
          <p:cNvSpPr/>
          <p:nvPr/>
        </p:nvSpPr>
        <p:spPr>
          <a:xfrm>
            <a:off x="3505170" y="3474903"/>
            <a:ext cx="3301990" cy="0"/>
          </a:xfrm>
          <a:prstGeom prst="line">
            <a:avLst/>
          </a:prstGeom>
          <a:noFill/>
          <a:ln w="6350">
            <a:solidFill>
              <a:srgbClr val="E3E6EC"/>
            </a:solidFill>
            <a:prstDash val="solid"/>
          </a:ln>
        </p:spPr>
      </p:sp>
      <p:sp>
        <p:nvSpPr>
          <p:cNvPr id="20" name="Rule"/>
          <p:cNvSpPr/>
          <p:nvPr/>
        </p:nvSpPr>
        <p:spPr>
          <a:xfrm>
            <a:off x="6807159" y="3474903"/>
            <a:ext cx="2095530" cy="0"/>
          </a:xfrm>
          <a:prstGeom prst="line">
            <a:avLst/>
          </a:prstGeom>
          <a:noFill/>
          <a:ln w="6350">
            <a:solidFill>
              <a:srgbClr val="E3E6EC"/>
            </a:solidFill>
            <a:prstDash val="solid"/>
          </a:ln>
        </p:spPr>
      </p:sp>
      <p:sp>
        <p:nvSpPr>
          <p:cNvPr id="21" name="tag"/>
          <p:cNvSpPr/>
          <p:nvPr/>
        </p:nvSpPr>
        <p:spPr>
          <a:xfrm>
            <a:off x="6810360" y="2989174"/>
            <a:ext cx="456834" cy="177759"/>
          </a:xfrm>
          <a:prstGeom prst="roundRect">
            <a:avLst>
              <a:gd name="adj" fmla="val 50000"/>
            </a:avLst>
          </a:prstGeom>
          <a:solidFill>
            <a:srgbClr val="FFFFFF"/>
          </a:solidFill>
          <a:ln w="6350">
            <a:solidFill>
              <a:srgbClr val="E3E6EC"/>
            </a:solidFill>
            <a:prstDash val="solid"/>
          </a:ln>
        </p:spPr>
      </p:sp>
      <p:sp>
        <p:nvSpPr>
          <p:cNvPr id="22" name="tag"/>
          <p:cNvSpPr/>
          <p:nvPr/>
        </p:nvSpPr>
        <p:spPr>
          <a:xfrm>
            <a:off x="7311634" y="2989174"/>
            <a:ext cx="896203" cy="177759"/>
          </a:xfrm>
          <a:prstGeom prst="roundRect">
            <a:avLst>
              <a:gd name="adj" fmla="val 50000"/>
            </a:avLst>
          </a:prstGeom>
          <a:solidFill>
            <a:srgbClr val="FFFFFF"/>
          </a:solidFill>
          <a:ln w="6350">
            <a:solidFill>
              <a:srgbClr val="E3E6EC"/>
            </a:solidFill>
            <a:prstDash val="solid"/>
          </a:ln>
        </p:spPr>
      </p:sp>
      <p:sp>
        <p:nvSpPr>
          <p:cNvPr id="23" name="tag"/>
          <p:cNvSpPr/>
          <p:nvPr/>
        </p:nvSpPr>
        <p:spPr>
          <a:xfrm>
            <a:off x="6810360" y="3211373"/>
            <a:ext cx="696407" cy="177759"/>
          </a:xfrm>
          <a:prstGeom prst="roundRect">
            <a:avLst>
              <a:gd name="adj" fmla="val 50000"/>
            </a:avLst>
          </a:prstGeom>
          <a:solidFill>
            <a:srgbClr val="FFFFFF"/>
          </a:solidFill>
          <a:ln w="6350">
            <a:solidFill>
              <a:srgbClr val="E3E6EC"/>
            </a:solidFill>
            <a:prstDash val="solid"/>
          </a:ln>
        </p:spPr>
      </p:sp>
      <p:sp>
        <p:nvSpPr>
          <p:cNvPr id="24" name="Rule"/>
          <p:cNvSpPr/>
          <p:nvPr/>
        </p:nvSpPr>
        <p:spPr>
          <a:xfrm>
            <a:off x="8902690" y="3474903"/>
            <a:ext cx="2578059" cy="0"/>
          </a:xfrm>
          <a:prstGeom prst="line">
            <a:avLst/>
          </a:prstGeom>
          <a:noFill/>
          <a:ln w="6350">
            <a:solidFill>
              <a:srgbClr val="E3E6EC"/>
            </a:solidFill>
            <a:prstDash val="solid"/>
          </a:ln>
        </p:spPr>
      </p:sp>
      <p:sp>
        <p:nvSpPr>
          <p:cNvPr id="25" name="Rule"/>
          <p:cNvSpPr/>
          <p:nvPr/>
        </p:nvSpPr>
        <p:spPr>
          <a:xfrm>
            <a:off x="711220" y="4014673"/>
            <a:ext cx="1270010" cy="0"/>
          </a:xfrm>
          <a:prstGeom prst="line">
            <a:avLst/>
          </a:prstGeom>
          <a:noFill/>
          <a:ln w="6350">
            <a:solidFill>
              <a:srgbClr val="E3E6EC"/>
            </a:solidFill>
            <a:prstDash val="solid"/>
          </a:ln>
        </p:spPr>
      </p:sp>
      <p:sp>
        <p:nvSpPr>
          <p:cNvPr id="26" name="Rule"/>
          <p:cNvSpPr/>
          <p:nvPr/>
        </p:nvSpPr>
        <p:spPr>
          <a:xfrm>
            <a:off x="1981230" y="4014673"/>
            <a:ext cx="1524030" cy="0"/>
          </a:xfrm>
          <a:prstGeom prst="line">
            <a:avLst/>
          </a:prstGeom>
          <a:noFill/>
          <a:ln w="6350">
            <a:solidFill>
              <a:srgbClr val="E3E6EC"/>
            </a:solidFill>
            <a:prstDash val="solid"/>
          </a:ln>
        </p:spPr>
      </p:sp>
      <p:sp>
        <p:nvSpPr>
          <p:cNvPr id="27" name="Rule"/>
          <p:cNvSpPr/>
          <p:nvPr/>
        </p:nvSpPr>
        <p:spPr>
          <a:xfrm>
            <a:off x="3505170" y="4014673"/>
            <a:ext cx="3301990" cy="0"/>
          </a:xfrm>
          <a:prstGeom prst="line">
            <a:avLst/>
          </a:prstGeom>
          <a:noFill/>
          <a:ln w="6350">
            <a:solidFill>
              <a:srgbClr val="E3E6EC"/>
            </a:solidFill>
            <a:prstDash val="solid"/>
          </a:ln>
        </p:spPr>
      </p:sp>
      <p:sp>
        <p:nvSpPr>
          <p:cNvPr id="28" name="Rule"/>
          <p:cNvSpPr/>
          <p:nvPr/>
        </p:nvSpPr>
        <p:spPr>
          <a:xfrm>
            <a:off x="6807159" y="4014673"/>
            <a:ext cx="2095530" cy="0"/>
          </a:xfrm>
          <a:prstGeom prst="line">
            <a:avLst/>
          </a:prstGeom>
          <a:noFill/>
          <a:ln w="6350">
            <a:solidFill>
              <a:srgbClr val="E3E6EC"/>
            </a:solidFill>
            <a:prstDash val="solid"/>
          </a:ln>
        </p:spPr>
      </p:sp>
      <p:sp>
        <p:nvSpPr>
          <p:cNvPr id="29" name="tag"/>
          <p:cNvSpPr/>
          <p:nvPr/>
        </p:nvSpPr>
        <p:spPr>
          <a:xfrm>
            <a:off x="6810360" y="3566983"/>
            <a:ext cx="456834" cy="177759"/>
          </a:xfrm>
          <a:prstGeom prst="roundRect">
            <a:avLst>
              <a:gd name="adj" fmla="val 50000"/>
            </a:avLst>
          </a:prstGeom>
          <a:solidFill>
            <a:srgbClr val="FFFFFF"/>
          </a:solidFill>
          <a:ln w="6350">
            <a:solidFill>
              <a:srgbClr val="E3E6EC"/>
            </a:solidFill>
            <a:prstDash val="solid"/>
          </a:ln>
        </p:spPr>
      </p:sp>
      <p:sp>
        <p:nvSpPr>
          <p:cNvPr id="30" name="tag"/>
          <p:cNvSpPr/>
          <p:nvPr/>
        </p:nvSpPr>
        <p:spPr>
          <a:xfrm>
            <a:off x="7311634" y="3566983"/>
            <a:ext cx="541050" cy="177759"/>
          </a:xfrm>
          <a:prstGeom prst="roundRect">
            <a:avLst>
              <a:gd name="adj" fmla="val 50000"/>
            </a:avLst>
          </a:prstGeom>
          <a:solidFill>
            <a:srgbClr val="FFFFFF"/>
          </a:solidFill>
          <a:ln w="6350">
            <a:solidFill>
              <a:srgbClr val="E3E6EC"/>
            </a:solidFill>
            <a:prstDash val="solid"/>
          </a:ln>
        </p:spPr>
      </p:sp>
      <p:sp>
        <p:nvSpPr>
          <p:cNvPr id="31" name="tag"/>
          <p:cNvSpPr/>
          <p:nvPr/>
        </p:nvSpPr>
        <p:spPr>
          <a:xfrm>
            <a:off x="7897124" y="3566983"/>
            <a:ext cx="353781" cy="177759"/>
          </a:xfrm>
          <a:prstGeom prst="roundRect">
            <a:avLst>
              <a:gd name="adj" fmla="val 50000"/>
            </a:avLst>
          </a:prstGeom>
          <a:solidFill>
            <a:srgbClr val="FFFFFF"/>
          </a:solidFill>
          <a:ln w="6350">
            <a:solidFill>
              <a:srgbClr val="E3E6EC"/>
            </a:solidFill>
            <a:prstDash val="solid"/>
          </a:ln>
        </p:spPr>
      </p:sp>
      <p:sp>
        <p:nvSpPr>
          <p:cNvPr id="32" name="Rule"/>
          <p:cNvSpPr/>
          <p:nvPr/>
        </p:nvSpPr>
        <p:spPr>
          <a:xfrm>
            <a:off x="8902690" y="4014673"/>
            <a:ext cx="2578059" cy="0"/>
          </a:xfrm>
          <a:prstGeom prst="line">
            <a:avLst/>
          </a:prstGeom>
          <a:noFill/>
          <a:ln w="6350">
            <a:solidFill>
              <a:srgbClr val="E3E6EC"/>
            </a:solidFill>
            <a:prstDash val="solid"/>
          </a:ln>
        </p:spPr>
      </p:sp>
      <p:sp>
        <p:nvSpPr>
          <p:cNvPr id="33" name="Rule"/>
          <p:cNvSpPr/>
          <p:nvPr/>
        </p:nvSpPr>
        <p:spPr>
          <a:xfrm>
            <a:off x="711220" y="4554444"/>
            <a:ext cx="1270010" cy="0"/>
          </a:xfrm>
          <a:prstGeom prst="line">
            <a:avLst/>
          </a:prstGeom>
          <a:noFill/>
          <a:ln w="6350">
            <a:solidFill>
              <a:srgbClr val="E3E6EC"/>
            </a:solidFill>
            <a:prstDash val="solid"/>
          </a:ln>
        </p:spPr>
      </p:sp>
      <p:sp>
        <p:nvSpPr>
          <p:cNvPr id="34" name="Rule"/>
          <p:cNvSpPr/>
          <p:nvPr/>
        </p:nvSpPr>
        <p:spPr>
          <a:xfrm>
            <a:off x="1981230" y="4554444"/>
            <a:ext cx="1524030" cy="0"/>
          </a:xfrm>
          <a:prstGeom prst="line">
            <a:avLst/>
          </a:prstGeom>
          <a:noFill/>
          <a:ln w="6350">
            <a:solidFill>
              <a:srgbClr val="E3E6EC"/>
            </a:solidFill>
            <a:prstDash val="solid"/>
          </a:ln>
        </p:spPr>
      </p:sp>
      <p:sp>
        <p:nvSpPr>
          <p:cNvPr id="35" name="Rule"/>
          <p:cNvSpPr/>
          <p:nvPr/>
        </p:nvSpPr>
        <p:spPr>
          <a:xfrm>
            <a:off x="3505170" y="4554444"/>
            <a:ext cx="3301990" cy="0"/>
          </a:xfrm>
          <a:prstGeom prst="line">
            <a:avLst/>
          </a:prstGeom>
          <a:noFill/>
          <a:ln w="6350">
            <a:solidFill>
              <a:srgbClr val="E3E6EC"/>
            </a:solidFill>
            <a:prstDash val="solid"/>
          </a:ln>
        </p:spPr>
      </p:sp>
      <p:sp>
        <p:nvSpPr>
          <p:cNvPr id="36" name="Rule"/>
          <p:cNvSpPr/>
          <p:nvPr/>
        </p:nvSpPr>
        <p:spPr>
          <a:xfrm>
            <a:off x="6807159" y="4554444"/>
            <a:ext cx="2095530" cy="0"/>
          </a:xfrm>
          <a:prstGeom prst="line">
            <a:avLst/>
          </a:prstGeom>
          <a:noFill/>
          <a:ln w="6350">
            <a:solidFill>
              <a:srgbClr val="E3E6EC"/>
            </a:solidFill>
            <a:prstDash val="solid"/>
          </a:ln>
        </p:spPr>
      </p:sp>
      <p:sp>
        <p:nvSpPr>
          <p:cNvPr id="37" name="tag"/>
          <p:cNvSpPr/>
          <p:nvPr/>
        </p:nvSpPr>
        <p:spPr>
          <a:xfrm>
            <a:off x="6810360" y="4106753"/>
            <a:ext cx="456834" cy="177759"/>
          </a:xfrm>
          <a:prstGeom prst="roundRect">
            <a:avLst>
              <a:gd name="adj" fmla="val 50000"/>
            </a:avLst>
          </a:prstGeom>
          <a:solidFill>
            <a:srgbClr val="FFFFFF"/>
          </a:solidFill>
          <a:ln w="6350">
            <a:solidFill>
              <a:srgbClr val="E3E6EC"/>
            </a:solidFill>
            <a:prstDash val="solid"/>
          </a:ln>
        </p:spPr>
      </p:sp>
      <p:sp>
        <p:nvSpPr>
          <p:cNvPr id="38" name="tag"/>
          <p:cNvSpPr/>
          <p:nvPr/>
        </p:nvSpPr>
        <p:spPr>
          <a:xfrm>
            <a:off x="7311634" y="4106753"/>
            <a:ext cx="716615" cy="177759"/>
          </a:xfrm>
          <a:prstGeom prst="roundRect">
            <a:avLst>
              <a:gd name="adj" fmla="val 50000"/>
            </a:avLst>
          </a:prstGeom>
          <a:solidFill>
            <a:srgbClr val="FFFFFF"/>
          </a:solidFill>
          <a:ln w="6350">
            <a:solidFill>
              <a:srgbClr val="E3E6EC"/>
            </a:solidFill>
            <a:prstDash val="solid"/>
          </a:ln>
        </p:spPr>
      </p:sp>
      <p:sp>
        <p:nvSpPr>
          <p:cNvPr id="39" name="tag"/>
          <p:cNvSpPr/>
          <p:nvPr/>
        </p:nvSpPr>
        <p:spPr>
          <a:xfrm>
            <a:off x="8072780" y="4106753"/>
            <a:ext cx="658734" cy="177759"/>
          </a:xfrm>
          <a:prstGeom prst="roundRect">
            <a:avLst>
              <a:gd name="adj" fmla="val 50000"/>
            </a:avLst>
          </a:prstGeom>
          <a:solidFill>
            <a:srgbClr val="FFFFFF"/>
          </a:solidFill>
          <a:ln w="6350">
            <a:solidFill>
              <a:srgbClr val="E3E6EC"/>
            </a:solidFill>
            <a:prstDash val="solid"/>
          </a:ln>
        </p:spPr>
      </p:sp>
      <p:sp>
        <p:nvSpPr>
          <p:cNvPr id="40" name="Rule"/>
          <p:cNvSpPr/>
          <p:nvPr/>
        </p:nvSpPr>
        <p:spPr>
          <a:xfrm>
            <a:off x="8902690" y="4554444"/>
            <a:ext cx="2578059" cy="0"/>
          </a:xfrm>
          <a:prstGeom prst="line">
            <a:avLst/>
          </a:prstGeom>
          <a:noFill/>
          <a:ln w="6350">
            <a:solidFill>
              <a:srgbClr val="E3E6EC"/>
            </a:solidFill>
            <a:prstDash val="solid"/>
          </a:ln>
        </p:spPr>
      </p:sp>
      <p:sp>
        <p:nvSpPr>
          <p:cNvPr id="41" name="Rule"/>
          <p:cNvSpPr/>
          <p:nvPr/>
        </p:nvSpPr>
        <p:spPr>
          <a:xfrm>
            <a:off x="711220" y="5132253"/>
            <a:ext cx="1270010" cy="0"/>
          </a:xfrm>
          <a:prstGeom prst="line">
            <a:avLst/>
          </a:prstGeom>
          <a:noFill/>
          <a:ln w="6350">
            <a:solidFill>
              <a:srgbClr val="E3E6EC"/>
            </a:solidFill>
            <a:prstDash val="solid"/>
          </a:ln>
        </p:spPr>
      </p:sp>
      <p:sp>
        <p:nvSpPr>
          <p:cNvPr id="42" name="Rule"/>
          <p:cNvSpPr/>
          <p:nvPr/>
        </p:nvSpPr>
        <p:spPr>
          <a:xfrm>
            <a:off x="1981230" y="5132253"/>
            <a:ext cx="1524030" cy="0"/>
          </a:xfrm>
          <a:prstGeom prst="line">
            <a:avLst/>
          </a:prstGeom>
          <a:noFill/>
          <a:ln w="6350">
            <a:solidFill>
              <a:srgbClr val="E3E6EC"/>
            </a:solidFill>
            <a:prstDash val="solid"/>
          </a:ln>
        </p:spPr>
      </p:sp>
      <p:sp>
        <p:nvSpPr>
          <p:cNvPr id="43" name="Rule"/>
          <p:cNvSpPr/>
          <p:nvPr/>
        </p:nvSpPr>
        <p:spPr>
          <a:xfrm>
            <a:off x="3505170" y="5132253"/>
            <a:ext cx="3301990" cy="0"/>
          </a:xfrm>
          <a:prstGeom prst="line">
            <a:avLst/>
          </a:prstGeom>
          <a:noFill/>
          <a:ln w="6350">
            <a:solidFill>
              <a:srgbClr val="E3E6EC"/>
            </a:solidFill>
            <a:prstDash val="solid"/>
          </a:ln>
        </p:spPr>
      </p:sp>
      <p:sp>
        <p:nvSpPr>
          <p:cNvPr id="44" name="Rule"/>
          <p:cNvSpPr/>
          <p:nvPr/>
        </p:nvSpPr>
        <p:spPr>
          <a:xfrm>
            <a:off x="6807159" y="5132253"/>
            <a:ext cx="2095530" cy="0"/>
          </a:xfrm>
          <a:prstGeom prst="line">
            <a:avLst/>
          </a:prstGeom>
          <a:noFill/>
          <a:ln w="6350">
            <a:solidFill>
              <a:srgbClr val="E3E6EC"/>
            </a:solidFill>
            <a:prstDash val="solid"/>
          </a:ln>
        </p:spPr>
      </p:sp>
      <p:sp>
        <p:nvSpPr>
          <p:cNvPr id="45" name="tag"/>
          <p:cNvSpPr/>
          <p:nvPr/>
        </p:nvSpPr>
        <p:spPr>
          <a:xfrm>
            <a:off x="6810360" y="4646524"/>
            <a:ext cx="1179485" cy="177759"/>
          </a:xfrm>
          <a:prstGeom prst="roundRect">
            <a:avLst>
              <a:gd name="adj" fmla="val 50000"/>
            </a:avLst>
          </a:prstGeom>
          <a:solidFill>
            <a:srgbClr val="FFFFFF"/>
          </a:solidFill>
          <a:ln w="6350">
            <a:solidFill>
              <a:srgbClr val="E3E6EC"/>
            </a:solidFill>
            <a:prstDash val="solid"/>
          </a:ln>
        </p:spPr>
      </p:sp>
      <p:sp>
        <p:nvSpPr>
          <p:cNvPr id="46" name="tag"/>
          <p:cNvSpPr/>
          <p:nvPr/>
        </p:nvSpPr>
        <p:spPr>
          <a:xfrm>
            <a:off x="8034376" y="4646524"/>
            <a:ext cx="736641" cy="177759"/>
          </a:xfrm>
          <a:prstGeom prst="roundRect">
            <a:avLst>
              <a:gd name="adj" fmla="val 50000"/>
            </a:avLst>
          </a:prstGeom>
          <a:solidFill>
            <a:srgbClr val="FFFFFF"/>
          </a:solidFill>
          <a:ln w="6350">
            <a:solidFill>
              <a:srgbClr val="E3E6EC"/>
            </a:solidFill>
            <a:prstDash val="solid"/>
          </a:ln>
        </p:spPr>
      </p:sp>
      <p:sp>
        <p:nvSpPr>
          <p:cNvPr id="47" name="tag"/>
          <p:cNvSpPr/>
          <p:nvPr/>
        </p:nvSpPr>
        <p:spPr>
          <a:xfrm>
            <a:off x="6810360" y="4868723"/>
            <a:ext cx="450251" cy="177759"/>
          </a:xfrm>
          <a:prstGeom prst="roundRect">
            <a:avLst>
              <a:gd name="adj" fmla="val 50000"/>
            </a:avLst>
          </a:prstGeom>
          <a:solidFill>
            <a:srgbClr val="FFFFFF"/>
          </a:solidFill>
          <a:ln w="6350">
            <a:solidFill>
              <a:srgbClr val="E3E6EC"/>
            </a:solidFill>
            <a:prstDash val="solid"/>
          </a:ln>
        </p:spPr>
      </p:sp>
      <p:sp>
        <p:nvSpPr>
          <p:cNvPr id="48" name="Rule"/>
          <p:cNvSpPr/>
          <p:nvPr/>
        </p:nvSpPr>
        <p:spPr>
          <a:xfrm>
            <a:off x="8902690" y="5132253"/>
            <a:ext cx="2578059" cy="0"/>
          </a:xfrm>
          <a:prstGeom prst="line">
            <a:avLst/>
          </a:prstGeom>
          <a:noFill/>
          <a:ln w="6350">
            <a:solidFill>
              <a:srgbClr val="E3E6EC"/>
            </a:solidFill>
            <a:prstDash val="solid"/>
          </a:ln>
        </p:spPr>
      </p:sp>
      <p:sp>
        <p:nvSpPr>
          <p:cNvPr id="49" name="tag"/>
          <p:cNvSpPr/>
          <p:nvPr/>
        </p:nvSpPr>
        <p:spPr>
          <a:xfrm>
            <a:off x="6810360" y="5224333"/>
            <a:ext cx="535381" cy="177759"/>
          </a:xfrm>
          <a:prstGeom prst="roundRect">
            <a:avLst>
              <a:gd name="adj" fmla="val 50000"/>
            </a:avLst>
          </a:prstGeom>
          <a:solidFill>
            <a:srgbClr val="FFFFFF"/>
          </a:solidFill>
          <a:ln w="6350">
            <a:solidFill>
              <a:srgbClr val="E3E6EC"/>
            </a:solidFill>
            <a:prstDash val="solid"/>
          </a:ln>
        </p:spPr>
      </p:sp>
      <p:sp>
        <p:nvSpPr>
          <p:cNvPr id="50" name="tag"/>
          <p:cNvSpPr/>
          <p:nvPr/>
        </p:nvSpPr>
        <p:spPr>
          <a:xfrm>
            <a:off x="7390181" y="5224333"/>
            <a:ext cx="896203" cy="177759"/>
          </a:xfrm>
          <a:prstGeom prst="roundRect">
            <a:avLst>
              <a:gd name="adj" fmla="val 50000"/>
            </a:avLst>
          </a:prstGeom>
          <a:solidFill>
            <a:srgbClr val="FFFFFF"/>
          </a:solidFill>
          <a:ln w="6350">
            <a:solidFill>
              <a:srgbClr val="E3E6EC"/>
            </a:solidFill>
            <a:prstDash val="solid"/>
          </a:ln>
        </p:spPr>
      </p:sp>
      <p:sp>
        <p:nvSpPr>
          <p:cNvPr id="51" name="tag"/>
          <p:cNvSpPr/>
          <p:nvPr/>
        </p:nvSpPr>
        <p:spPr>
          <a:xfrm>
            <a:off x="6810360" y="5446624"/>
            <a:ext cx="1319571" cy="177759"/>
          </a:xfrm>
          <a:prstGeom prst="roundRect">
            <a:avLst>
              <a:gd name="adj" fmla="val 50000"/>
            </a:avLst>
          </a:prstGeom>
          <a:solidFill>
            <a:srgbClr val="FFFFFF"/>
          </a:solidFill>
          <a:ln w="6350">
            <a:solidFill>
              <a:srgbClr val="E3E6EC"/>
            </a:solidFill>
            <a:prstDash val="solid"/>
          </a:ln>
        </p:spPr>
      </p:sp>
      <p:sp>
        <p:nvSpPr>
          <p:cNvPr id="52" name="span::before"/>
          <p:cNvSpPr/>
          <p:nvPr/>
        </p:nvSpPr>
        <p:spPr>
          <a:xfrm>
            <a:off x="6191860" y="311170"/>
            <a:ext cx="44440" cy="44440"/>
          </a:xfrm>
          <a:prstGeom prst="rect">
            <a:avLst/>
          </a:prstGeom>
          <a:solidFill>
            <a:srgbClr val="A0A6AF">
              <a:alpha val="55000"/>
            </a:srgbClr>
          </a:solidFill>
          <a:ln/>
        </p:spPr>
      </p:sp>
      <p:sp>
        <p:nvSpPr>
          <p:cNvPr id="53" name="span::before"/>
          <p:cNvSpPr/>
          <p:nvPr/>
        </p:nvSpPr>
        <p:spPr>
          <a:xfrm>
            <a:off x="7145213" y="311170"/>
            <a:ext cx="44440" cy="44440"/>
          </a:xfrm>
          <a:prstGeom prst="rect">
            <a:avLst/>
          </a:prstGeom>
          <a:solidFill>
            <a:srgbClr val="A0A6AF">
              <a:alpha val="55000"/>
            </a:srgbClr>
          </a:solidFill>
          <a:ln/>
        </p:spPr>
      </p:sp>
      <p:sp>
        <p:nvSpPr>
          <p:cNvPr id="54" name="span::before"/>
          <p:cNvSpPr/>
          <p:nvPr/>
        </p:nvSpPr>
        <p:spPr>
          <a:xfrm>
            <a:off x="8056230" y="311170"/>
            <a:ext cx="44440" cy="44440"/>
          </a:xfrm>
          <a:prstGeom prst="rect">
            <a:avLst/>
          </a:prstGeom>
          <a:solidFill>
            <a:srgbClr val="A0A6AF">
              <a:alpha val="55000"/>
            </a:srgbClr>
          </a:solidFill>
          <a:ln/>
        </p:spPr>
      </p:sp>
      <p:sp>
        <p:nvSpPr>
          <p:cNvPr id="55" name="on::before"/>
          <p:cNvSpPr/>
          <p:nvPr/>
        </p:nvSpPr>
        <p:spPr>
          <a:xfrm>
            <a:off x="8972550" y="311170"/>
            <a:ext cx="44440" cy="44440"/>
          </a:xfrm>
          <a:prstGeom prst="rect">
            <a:avLst/>
          </a:prstGeom>
          <a:solidFill>
            <a:srgbClr val="044BD9"/>
          </a:solidFill>
          <a:ln/>
        </p:spPr>
      </p:sp>
      <p:sp>
        <p:nvSpPr>
          <p:cNvPr id="56" name="span::before"/>
          <p:cNvSpPr/>
          <p:nvPr/>
        </p:nvSpPr>
        <p:spPr>
          <a:xfrm>
            <a:off x="10421142" y="311170"/>
            <a:ext cx="44440" cy="44440"/>
          </a:xfrm>
          <a:prstGeom prst="rect">
            <a:avLst/>
          </a:prstGeom>
          <a:solidFill>
            <a:srgbClr val="A0A6AF">
              <a:alpha val="55000"/>
            </a:srgbClr>
          </a:solidFill>
          <a:ln/>
        </p:spPr>
      </p:sp>
      <p:sp>
        <p:nvSpPr>
          <p:cNvPr id="57" name="span::before"/>
          <p:cNvSpPr/>
          <p:nvPr/>
        </p:nvSpPr>
        <p:spPr>
          <a:xfrm>
            <a:off x="10966216" y="311170"/>
            <a:ext cx="44440" cy="44440"/>
          </a:xfrm>
          <a:prstGeom prst="rect">
            <a:avLst/>
          </a:prstGeom>
          <a:solidFill>
            <a:srgbClr val="A0A6AF">
              <a:alpha val="55000"/>
            </a:srgbClr>
          </a:solidFill>
          <a:ln/>
        </p:spPr>
      </p:sp>
      <p:sp>
        <p:nvSpPr>
          <p:cNvPr id="58" name="Text"/>
          <p:cNvSpPr txBox="1"/>
          <p:nvPr/>
        </p:nvSpPr>
        <p:spPr>
          <a:xfrm>
            <a:off x="844540" y="609265"/>
            <a:ext cx="634136"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Industries</a:t>
            </a:r>
            <a:endParaRPr lang="en-US" sz="950" dirty="0"/>
          </a:p>
        </p:txBody>
      </p:sp>
      <p:sp>
        <p:nvSpPr>
          <p:cNvPr id="59"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Work to show in six sectors, from a</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36-year-old law firm to a Vietnamese insurer</a:t>
            </a:r>
            <a:endParaRPr lang="en-US" sz="3000" dirty="0"/>
          </a:p>
        </p:txBody>
      </p:sp>
      <p:sp>
        <p:nvSpPr>
          <p:cNvPr id="60" name="Text"/>
          <p:cNvSpPr txBox="1"/>
          <p:nvPr/>
        </p:nvSpPr>
        <p:spPr>
          <a:xfrm>
            <a:off x="711220" y="2062612"/>
            <a:ext cx="1160282"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Sector</a:t>
            </a:r>
            <a:endParaRPr lang="en-US" sz="850" dirty="0"/>
          </a:p>
        </p:txBody>
      </p:sp>
      <p:sp>
        <p:nvSpPr>
          <p:cNvPr id="61" name="Text"/>
          <p:cNvSpPr txBox="1"/>
          <p:nvPr/>
        </p:nvSpPr>
        <p:spPr>
          <a:xfrm>
            <a:off x="1981230" y="2062612"/>
            <a:ext cx="1415308"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Client</a:t>
            </a:r>
            <a:endParaRPr lang="en-US" sz="850" dirty="0"/>
          </a:p>
        </p:txBody>
      </p:sp>
      <p:sp>
        <p:nvSpPr>
          <p:cNvPr id="62" name="Text"/>
          <p:cNvSpPr txBox="1"/>
          <p:nvPr/>
        </p:nvSpPr>
        <p:spPr>
          <a:xfrm>
            <a:off x="3505170" y="2062612"/>
            <a:ext cx="3200400"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What ALPHV built</a:t>
            </a:r>
            <a:endParaRPr lang="en-US" sz="850" dirty="0"/>
          </a:p>
        </p:txBody>
      </p:sp>
      <p:sp>
        <p:nvSpPr>
          <p:cNvPr id="63" name="Text"/>
          <p:cNvSpPr txBox="1"/>
          <p:nvPr/>
        </p:nvSpPr>
        <p:spPr>
          <a:xfrm>
            <a:off x="6807159" y="2062612"/>
            <a:ext cx="1989094"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Models and systems</a:t>
            </a:r>
            <a:endParaRPr lang="en-US" sz="850" dirty="0"/>
          </a:p>
        </p:txBody>
      </p:sp>
      <p:sp>
        <p:nvSpPr>
          <p:cNvPr id="64" name="Text"/>
          <p:cNvSpPr txBox="1"/>
          <p:nvPr/>
        </p:nvSpPr>
        <p:spPr>
          <a:xfrm>
            <a:off x="8902690" y="2062612"/>
            <a:ext cx="2473635"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Proof</a:t>
            </a:r>
            <a:endParaRPr lang="en-US" sz="850" dirty="0"/>
          </a:p>
        </p:txBody>
      </p:sp>
      <p:sp>
        <p:nvSpPr>
          <p:cNvPr id="65" name="Text"/>
          <p:cNvSpPr txBox="1"/>
          <p:nvPr/>
        </p:nvSpPr>
        <p:spPr>
          <a:xfrm>
            <a:off x="711220" y="2394174"/>
            <a:ext cx="1160282"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Legal</a:t>
            </a:r>
            <a:endParaRPr lang="en-US" sz="1000" dirty="0"/>
          </a:p>
        </p:txBody>
      </p:sp>
      <p:sp>
        <p:nvSpPr>
          <p:cNvPr id="66" name="Text"/>
          <p:cNvSpPr txBox="1"/>
          <p:nvPr/>
        </p:nvSpPr>
        <p:spPr>
          <a:xfrm>
            <a:off x="1981230" y="2394174"/>
            <a:ext cx="1415308"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Abraham Ooi &amp; Partners, 2025</a:t>
            </a:r>
            <a:endParaRPr lang="en-US" sz="1000" dirty="0"/>
          </a:p>
        </p:txBody>
      </p:sp>
      <p:sp>
        <p:nvSpPr>
          <p:cNvPr id="67" name="Text"/>
          <p:cNvSpPr txBox="1"/>
          <p:nvPr/>
        </p:nvSpPr>
        <p:spPr>
          <a:xfrm>
            <a:off x="3505170" y="2394174"/>
            <a:ext cx="320040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One platform for case management, back office and accounting, replacing legacy</a:t>
            </a:r>
            <a:endParaRPr lang="en-US" sz="1000" dirty="0"/>
          </a:p>
        </p:txBody>
      </p:sp>
      <p:sp>
        <p:nvSpPr>
          <p:cNvPr id="68" name="Text"/>
          <p:cNvSpPr txBox="1"/>
          <p:nvPr/>
        </p:nvSpPr>
        <p:spPr>
          <a:xfrm>
            <a:off x="6883420" y="2448489"/>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Qwen</a:t>
            </a:r>
            <a:endParaRPr lang="en-US" sz="850" dirty="0"/>
          </a:p>
        </p:txBody>
      </p:sp>
      <p:sp>
        <p:nvSpPr>
          <p:cNvPr id="69" name="Text"/>
          <p:cNvSpPr txBox="1"/>
          <p:nvPr/>
        </p:nvSpPr>
        <p:spPr>
          <a:xfrm>
            <a:off x="7384694" y="2448489"/>
            <a:ext cx="639348"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GenAI-RAG</a:t>
            </a:r>
            <a:endParaRPr lang="en-US" sz="850" dirty="0"/>
          </a:p>
        </p:txBody>
      </p:sp>
      <p:sp>
        <p:nvSpPr>
          <p:cNvPr id="70" name="Text"/>
          <p:cNvSpPr txBox="1"/>
          <p:nvPr/>
        </p:nvSpPr>
        <p:spPr>
          <a:xfrm>
            <a:off x="6883420" y="2670688"/>
            <a:ext cx="679765"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Agentic RPA</a:t>
            </a:r>
            <a:endParaRPr lang="en-US" sz="850" dirty="0"/>
          </a:p>
        </p:txBody>
      </p:sp>
      <p:sp>
        <p:nvSpPr>
          <p:cNvPr id="71" name="Text"/>
          <p:cNvSpPr txBox="1"/>
          <p:nvPr/>
        </p:nvSpPr>
        <p:spPr>
          <a:xfrm>
            <a:off x="7728234" y="2670688"/>
            <a:ext cx="637154"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NVIDIA GPU</a:t>
            </a:r>
            <a:endParaRPr lang="en-US" sz="850" dirty="0"/>
          </a:p>
        </p:txBody>
      </p:sp>
      <p:sp>
        <p:nvSpPr>
          <p:cNvPr id="72" name="Text"/>
          <p:cNvSpPr txBox="1"/>
          <p:nvPr/>
        </p:nvSpPr>
        <p:spPr>
          <a:xfrm>
            <a:off x="8902690" y="2394174"/>
            <a:ext cx="2473635" cy="368320"/>
          </a:xfrm>
          <a:prstGeom prst="rect">
            <a:avLst/>
          </a:prstGeom>
          <a:noFill/>
          <a:ln/>
        </p:spPr>
        <p:txBody>
          <a:bodyPr wrap="square" lIns="0" tIns="0" rIns="0" bIns="0" rtlCol="0" anchor="t"/>
          <a:lstStyle/>
          <a:p>
            <a:pPr algn="l" indent="0" marL="0">
              <a:lnSpc>
                <a:spcPts val="1450"/>
              </a:lnSpc>
              <a:buNone/>
            </a:pPr>
            <a:r>
              <a:rPr lang="en-US" sz="1000" dirty="0">
                <a:solidFill>
                  <a:srgbClr val="044BD9"/>
                </a:solidFill>
                <a:latin typeface="Poppins Medium" pitchFamily="34" charset="0"/>
                <a:ea typeface="Poppins Medium" pitchFamily="34" charset="-122"/>
                <a:cs typeface="Poppins Medium" pitchFamily="34" charset="-120"/>
              </a:rPr>
              <a:t>90+</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third-party portal automations; client data stays inside the firm</a:t>
            </a:r>
            <a:endParaRPr lang="en-US" sz="1000" dirty="0"/>
          </a:p>
        </p:txBody>
      </p:sp>
      <p:sp>
        <p:nvSpPr>
          <p:cNvPr id="73" name="Text"/>
          <p:cNvSpPr txBox="1"/>
          <p:nvPr/>
        </p:nvSpPr>
        <p:spPr>
          <a:xfrm>
            <a:off x="711220" y="2971983"/>
            <a:ext cx="1160282"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Insurance</a:t>
            </a:r>
            <a:endParaRPr lang="en-US" sz="1000" dirty="0"/>
          </a:p>
        </p:txBody>
      </p:sp>
      <p:sp>
        <p:nvSpPr>
          <p:cNvPr id="74" name="Text"/>
          <p:cNvSpPr txBox="1"/>
          <p:nvPr/>
        </p:nvSpPr>
        <p:spPr>
          <a:xfrm>
            <a:off x="1981230" y="2971983"/>
            <a:ext cx="1415308"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Tasco Insurance, Vietnam</a:t>
            </a:r>
            <a:endParaRPr lang="en-US" sz="1000" dirty="0"/>
          </a:p>
        </p:txBody>
      </p:sp>
      <p:sp>
        <p:nvSpPr>
          <p:cNvPr id="75" name="Text"/>
          <p:cNvSpPr txBox="1"/>
          <p:nvPr/>
        </p:nvSpPr>
        <p:spPr>
          <a:xfrm>
            <a:off x="3505170" y="2971983"/>
            <a:ext cx="320040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A multimodal case system that assesses asset damage from images and video</a:t>
            </a:r>
            <a:endParaRPr lang="en-US" sz="1000" dirty="0"/>
          </a:p>
        </p:txBody>
      </p:sp>
      <p:sp>
        <p:nvSpPr>
          <p:cNvPr id="76" name="Text"/>
          <p:cNvSpPr txBox="1"/>
          <p:nvPr/>
        </p:nvSpPr>
        <p:spPr>
          <a:xfrm>
            <a:off x="6883420" y="3026298"/>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Qwen</a:t>
            </a:r>
            <a:endParaRPr lang="en-US" sz="850" dirty="0"/>
          </a:p>
        </p:txBody>
      </p:sp>
      <p:sp>
        <p:nvSpPr>
          <p:cNvPr id="77" name="Text"/>
          <p:cNvSpPr txBox="1"/>
          <p:nvPr/>
        </p:nvSpPr>
        <p:spPr>
          <a:xfrm>
            <a:off x="7384694" y="3026298"/>
            <a:ext cx="775594"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Multimodal AI</a:t>
            </a:r>
            <a:endParaRPr lang="en-US" sz="850" dirty="0"/>
          </a:p>
        </p:txBody>
      </p:sp>
      <p:sp>
        <p:nvSpPr>
          <p:cNvPr id="78" name="Text"/>
          <p:cNvSpPr txBox="1"/>
          <p:nvPr/>
        </p:nvSpPr>
        <p:spPr>
          <a:xfrm>
            <a:off x="6883420" y="3248589"/>
            <a:ext cx="575798"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Agentic AI</a:t>
            </a:r>
            <a:endParaRPr lang="en-US" sz="850" dirty="0"/>
          </a:p>
        </p:txBody>
      </p:sp>
      <p:sp>
        <p:nvSpPr>
          <p:cNvPr id="79" name="Text"/>
          <p:cNvSpPr txBox="1"/>
          <p:nvPr/>
        </p:nvSpPr>
        <p:spPr>
          <a:xfrm>
            <a:off x="8902690" y="2971983"/>
            <a:ext cx="2473635" cy="36832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Proof of concept, 2026:</a:t>
            </a:r>
            <a:pPr algn="l" indent="0" marL="0">
              <a:lnSpc>
                <a:spcPts val="1450"/>
              </a:lnSpc>
              <a:buNone/>
            </a:pPr>
            <a:r>
              <a:rPr lang="en-US" sz="1000" dirty="0">
                <a:solidFill>
                  <a:srgbClr val="044BD9"/>
                </a:solidFill>
                <a:latin typeface="Poppins Medium" pitchFamily="34" charset="0"/>
                <a:ea typeface="Poppins Medium" pitchFamily="34" charset="-122"/>
                <a:cs typeface="Poppins Medium" pitchFamily="34" charset="-120"/>
              </a:rPr>
              <a:t> 24/7</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damage assessment; no production results yet</a:t>
            </a:r>
            <a:endParaRPr lang="en-US" sz="1000" dirty="0"/>
          </a:p>
        </p:txBody>
      </p:sp>
      <p:sp>
        <p:nvSpPr>
          <p:cNvPr id="80" name="Text"/>
          <p:cNvSpPr txBox="1"/>
          <p:nvPr/>
        </p:nvSpPr>
        <p:spPr>
          <a:xfrm>
            <a:off x="711220" y="3549884"/>
            <a:ext cx="1160282"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Healthcare</a:t>
            </a:r>
            <a:endParaRPr lang="en-US" sz="1000" dirty="0"/>
          </a:p>
        </p:txBody>
      </p:sp>
      <p:sp>
        <p:nvSpPr>
          <p:cNvPr id="81" name="Text"/>
          <p:cNvSpPr txBox="1"/>
          <p:nvPr/>
        </p:nvSpPr>
        <p:spPr>
          <a:xfrm>
            <a:off x="1981230" y="3549884"/>
            <a:ext cx="1415308"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Leading healthcare group, 2026</a:t>
            </a:r>
            <a:endParaRPr lang="en-US" sz="1000" dirty="0"/>
          </a:p>
        </p:txBody>
      </p:sp>
      <p:sp>
        <p:nvSpPr>
          <p:cNvPr id="82" name="Text"/>
          <p:cNvSpPr txBox="1"/>
          <p:nvPr/>
        </p:nvSpPr>
        <p:spPr>
          <a:xfrm>
            <a:off x="3505170" y="3549884"/>
            <a:ext cx="332741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An engine that assesses medicolegal and</a:t>
            </a:r>
            <a:endParaRPr lang="en-US" sz="1000" dirty="0"/>
          </a:p>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insurance cases and generates the report</a:t>
            </a:r>
            <a:endParaRPr lang="en-US" sz="1000" dirty="0"/>
          </a:p>
        </p:txBody>
      </p:sp>
      <p:sp>
        <p:nvSpPr>
          <p:cNvPr id="83" name="Text"/>
          <p:cNvSpPr txBox="1"/>
          <p:nvPr/>
        </p:nvSpPr>
        <p:spPr>
          <a:xfrm>
            <a:off x="6883420" y="3604199"/>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Qwen</a:t>
            </a:r>
            <a:endParaRPr lang="en-US" sz="850" dirty="0"/>
          </a:p>
        </p:txBody>
      </p:sp>
      <p:sp>
        <p:nvSpPr>
          <p:cNvPr id="84" name="Text"/>
          <p:cNvSpPr txBox="1"/>
          <p:nvPr/>
        </p:nvSpPr>
        <p:spPr>
          <a:xfrm>
            <a:off x="7384694" y="3604199"/>
            <a:ext cx="420350"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Claude</a:t>
            </a:r>
            <a:endParaRPr lang="en-US" sz="850" dirty="0"/>
          </a:p>
        </p:txBody>
      </p:sp>
      <p:sp>
        <p:nvSpPr>
          <p:cNvPr id="85" name="Text"/>
          <p:cNvSpPr txBox="1"/>
          <p:nvPr/>
        </p:nvSpPr>
        <p:spPr>
          <a:xfrm>
            <a:off x="7970185" y="3604199"/>
            <a:ext cx="233172"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RPA</a:t>
            </a:r>
            <a:endParaRPr lang="en-US" sz="850" dirty="0"/>
          </a:p>
        </p:txBody>
      </p:sp>
      <p:sp>
        <p:nvSpPr>
          <p:cNvPr id="86" name="Text"/>
          <p:cNvSpPr txBox="1"/>
          <p:nvPr/>
        </p:nvSpPr>
        <p:spPr>
          <a:xfrm>
            <a:off x="8902690" y="3549884"/>
            <a:ext cx="2473635"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Clinicians review a draft instead of writing from scratch</a:t>
            </a:r>
            <a:endParaRPr lang="en-US" sz="1000" dirty="0"/>
          </a:p>
        </p:txBody>
      </p:sp>
      <p:sp>
        <p:nvSpPr>
          <p:cNvPr id="87" name="Text"/>
          <p:cNvSpPr txBox="1"/>
          <p:nvPr/>
        </p:nvSpPr>
        <p:spPr>
          <a:xfrm>
            <a:off x="711220" y="4089654"/>
            <a:ext cx="1160282"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Hospitality</a:t>
            </a:r>
            <a:endParaRPr lang="en-US" sz="1000" dirty="0"/>
          </a:p>
        </p:txBody>
      </p:sp>
      <p:sp>
        <p:nvSpPr>
          <p:cNvPr id="88" name="Text"/>
          <p:cNvSpPr txBox="1"/>
          <p:nvPr/>
        </p:nvSpPr>
        <p:spPr>
          <a:xfrm>
            <a:off x="1981230" y="4089654"/>
            <a:ext cx="1415308"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Singapore hospitality group, 2026</a:t>
            </a:r>
            <a:endParaRPr lang="en-US" sz="1000" dirty="0"/>
          </a:p>
        </p:txBody>
      </p:sp>
      <p:sp>
        <p:nvSpPr>
          <p:cNvPr id="89" name="Text"/>
          <p:cNvSpPr txBox="1"/>
          <p:nvPr/>
        </p:nvSpPr>
        <p:spPr>
          <a:xfrm>
            <a:off x="3505170" y="4089654"/>
            <a:ext cx="332741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WhatsApp AI agents that handle conversations</a:t>
            </a:r>
            <a:endParaRPr lang="en-US" sz="1000" dirty="0"/>
          </a:p>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24/7 and sync every lead to the CRM</a:t>
            </a:r>
            <a:endParaRPr lang="en-US" sz="1000" dirty="0"/>
          </a:p>
        </p:txBody>
      </p:sp>
      <p:sp>
        <p:nvSpPr>
          <p:cNvPr id="90" name="Text"/>
          <p:cNvSpPr txBox="1"/>
          <p:nvPr/>
        </p:nvSpPr>
        <p:spPr>
          <a:xfrm>
            <a:off x="6883420" y="4143878"/>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Qwen</a:t>
            </a:r>
            <a:endParaRPr lang="en-US" sz="850" dirty="0"/>
          </a:p>
        </p:txBody>
      </p:sp>
      <p:sp>
        <p:nvSpPr>
          <p:cNvPr id="91" name="Text"/>
          <p:cNvSpPr txBox="1"/>
          <p:nvPr/>
        </p:nvSpPr>
        <p:spPr>
          <a:xfrm>
            <a:off x="7384694" y="4143878"/>
            <a:ext cx="596006"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WhatsApp</a:t>
            </a:r>
            <a:endParaRPr lang="en-US" sz="850" dirty="0"/>
          </a:p>
        </p:txBody>
      </p:sp>
      <p:sp>
        <p:nvSpPr>
          <p:cNvPr id="92" name="Text"/>
          <p:cNvSpPr txBox="1"/>
          <p:nvPr/>
        </p:nvSpPr>
        <p:spPr>
          <a:xfrm>
            <a:off x="8145750" y="4143878"/>
            <a:ext cx="5380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AI agents</a:t>
            </a:r>
            <a:endParaRPr lang="en-US" sz="850" dirty="0"/>
          </a:p>
        </p:txBody>
      </p:sp>
      <p:sp>
        <p:nvSpPr>
          <p:cNvPr id="93" name="Text"/>
          <p:cNvSpPr txBox="1"/>
          <p:nvPr/>
        </p:nvSpPr>
        <p:spPr>
          <a:xfrm>
            <a:off x="8902690" y="4089654"/>
            <a:ext cx="2473635" cy="184160"/>
          </a:xfrm>
          <a:prstGeom prst="rect">
            <a:avLst/>
          </a:prstGeom>
          <a:noFill/>
          <a:ln/>
        </p:spPr>
        <p:txBody>
          <a:bodyPr wrap="square" lIns="0" tIns="0" rIns="0" bIns="0" rtlCol="0" anchor="t"/>
          <a:lstStyle/>
          <a:p>
            <a:pPr algn="l" indent="0" marL="0">
              <a:lnSpc>
                <a:spcPts val="1450"/>
              </a:lnSpc>
              <a:buNone/>
            </a:pPr>
            <a:r>
              <a:rPr lang="en-US" sz="1000" dirty="0">
                <a:solidFill>
                  <a:srgbClr val="044BD9"/>
                </a:solidFill>
                <a:latin typeface="Poppins Medium" pitchFamily="34" charset="0"/>
                <a:ea typeface="Poppins Medium" pitchFamily="34" charset="-122"/>
                <a:cs typeface="Poppins Medium" pitchFamily="34" charset="-120"/>
              </a:rPr>
              <a:t>80%</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less manual data entry time</a:t>
            </a:r>
            <a:endParaRPr lang="en-US" sz="1000" dirty="0"/>
          </a:p>
        </p:txBody>
      </p:sp>
      <p:sp>
        <p:nvSpPr>
          <p:cNvPr id="94" name="Text"/>
          <p:cNvSpPr txBox="1"/>
          <p:nvPr/>
        </p:nvSpPr>
        <p:spPr>
          <a:xfrm>
            <a:off x="711220" y="4629333"/>
            <a:ext cx="1168420" cy="184160"/>
          </a:xfrm>
          <a:prstGeom prst="rect">
            <a:avLst/>
          </a:prstGeom>
          <a:noFill/>
          <a:ln/>
        </p:spPr>
        <p:txBody>
          <a:bodyPr wrap="non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Financial services</a:t>
            </a:r>
            <a:endParaRPr lang="en-US" sz="1000" dirty="0"/>
          </a:p>
        </p:txBody>
      </p:sp>
      <p:sp>
        <p:nvSpPr>
          <p:cNvPr id="95" name="Text"/>
          <p:cNvSpPr txBox="1"/>
          <p:nvPr/>
        </p:nvSpPr>
        <p:spPr>
          <a:xfrm>
            <a:off x="1981230" y="4629333"/>
            <a:ext cx="147831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Fundaztic and</a:t>
            </a:r>
            <a:endParaRPr lang="en-US" sz="1000" dirty="0"/>
          </a:p>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iPajak Group</a:t>
            </a:r>
            <a:endParaRPr lang="en-US" sz="1000" dirty="0"/>
          </a:p>
        </p:txBody>
      </p:sp>
      <p:sp>
        <p:nvSpPr>
          <p:cNvPr id="96" name="Text"/>
          <p:cNvSpPr txBox="1"/>
          <p:nvPr/>
        </p:nvSpPr>
        <p:spPr>
          <a:xfrm>
            <a:off x="3505170" y="4629333"/>
            <a:ext cx="320040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Debt recovery management for Fundaztic; pawn brokerage for iPajak Group, taken over midway</a:t>
            </a:r>
            <a:endParaRPr lang="en-US" sz="1000" dirty="0"/>
          </a:p>
        </p:txBody>
      </p:sp>
      <p:sp>
        <p:nvSpPr>
          <p:cNvPr id="97" name="Text"/>
          <p:cNvSpPr txBox="1"/>
          <p:nvPr/>
        </p:nvSpPr>
        <p:spPr>
          <a:xfrm>
            <a:off x="6883420" y="4683648"/>
            <a:ext cx="1058875"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System integration</a:t>
            </a:r>
            <a:endParaRPr lang="en-US" sz="850" dirty="0"/>
          </a:p>
        </p:txBody>
      </p:sp>
      <p:sp>
        <p:nvSpPr>
          <p:cNvPr id="98" name="Text"/>
          <p:cNvSpPr txBox="1"/>
          <p:nvPr/>
        </p:nvSpPr>
        <p:spPr>
          <a:xfrm>
            <a:off x="8107345" y="4683648"/>
            <a:ext cx="615940"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Consulting</a:t>
            </a:r>
            <a:endParaRPr lang="en-US" sz="850" dirty="0"/>
          </a:p>
        </p:txBody>
      </p:sp>
      <p:sp>
        <p:nvSpPr>
          <p:cNvPr id="99" name="Text"/>
          <p:cNvSpPr txBox="1"/>
          <p:nvPr/>
        </p:nvSpPr>
        <p:spPr>
          <a:xfrm>
            <a:off x="6883420" y="4905939"/>
            <a:ext cx="329641"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UI/UX</a:t>
            </a:r>
            <a:endParaRPr lang="en-US" sz="850" dirty="0"/>
          </a:p>
        </p:txBody>
      </p:sp>
      <p:sp>
        <p:nvSpPr>
          <p:cNvPr id="100" name="Text"/>
          <p:cNvSpPr txBox="1"/>
          <p:nvPr/>
        </p:nvSpPr>
        <p:spPr>
          <a:xfrm>
            <a:off x="8902690" y="4629333"/>
            <a:ext cx="2473635" cy="368320"/>
          </a:xfrm>
          <a:prstGeom prst="rect">
            <a:avLst/>
          </a:prstGeom>
          <a:noFill/>
          <a:ln/>
        </p:spPr>
        <p:txBody>
          <a:bodyPr wrap="square" lIns="0" tIns="0" rIns="0" bIns="0" rtlCol="0" anchor="t"/>
          <a:lstStyle/>
          <a:p>
            <a:pPr algn="l" indent="0" marL="0">
              <a:lnSpc>
                <a:spcPts val="1450"/>
              </a:lnSpc>
              <a:buNone/>
            </a:pPr>
            <a:r>
              <a:rPr lang="en-US" sz="1000" dirty="0">
                <a:solidFill>
                  <a:srgbClr val="044BD9"/>
                </a:solidFill>
                <a:latin typeface="Poppins Medium" pitchFamily="34" charset="0"/>
                <a:ea typeface="Poppins Medium" pitchFamily="34" charset="-122"/>
                <a:cs typeface="Poppins Medium" pitchFamily="34" charset="-120"/>
              </a:rPr>
              <a:t>6</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iPajak branches on one system, across Malaysia</a:t>
            </a:r>
            <a:endParaRPr lang="en-US" sz="1000" dirty="0"/>
          </a:p>
        </p:txBody>
      </p:sp>
      <p:sp>
        <p:nvSpPr>
          <p:cNvPr id="101" name="Text"/>
          <p:cNvSpPr txBox="1"/>
          <p:nvPr/>
        </p:nvSpPr>
        <p:spPr>
          <a:xfrm>
            <a:off x="711220" y="5207234"/>
            <a:ext cx="1160282"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Retail</a:t>
            </a:r>
            <a:endParaRPr lang="en-US" sz="1000" dirty="0"/>
          </a:p>
        </p:txBody>
      </p:sp>
      <p:sp>
        <p:nvSpPr>
          <p:cNvPr id="102" name="Text"/>
          <p:cNvSpPr txBox="1"/>
          <p:nvPr/>
        </p:nvSpPr>
        <p:spPr>
          <a:xfrm>
            <a:off x="1981230" y="5207234"/>
            <a:ext cx="1415308" cy="18416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Eastern Decorator</a:t>
            </a:r>
            <a:endParaRPr lang="en-US" sz="1000" dirty="0"/>
          </a:p>
        </p:txBody>
      </p:sp>
      <p:sp>
        <p:nvSpPr>
          <p:cNvPr id="103" name="Text"/>
          <p:cNvSpPr txBox="1"/>
          <p:nvPr/>
        </p:nvSpPr>
        <p:spPr>
          <a:xfrm>
            <a:off x="3505170" y="5207234"/>
            <a:ext cx="3327410"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An AI content factory that automates</a:t>
            </a:r>
            <a:endParaRPr lang="en-US" sz="1000" dirty="0"/>
          </a:p>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e-commerce product photoshoots</a:t>
            </a:r>
            <a:endParaRPr lang="en-US" sz="1000" dirty="0"/>
          </a:p>
        </p:txBody>
      </p:sp>
      <p:sp>
        <p:nvSpPr>
          <p:cNvPr id="104" name="Text"/>
          <p:cNvSpPr txBox="1"/>
          <p:nvPr/>
        </p:nvSpPr>
        <p:spPr>
          <a:xfrm>
            <a:off x="6883420" y="5261549"/>
            <a:ext cx="414772"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Gemini</a:t>
            </a:r>
            <a:endParaRPr lang="en-US" sz="850" dirty="0"/>
          </a:p>
        </p:txBody>
      </p:sp>
      <p:sp>
        <p:nvSpPr>
          <p:cNvPr id="105" name="Text"/>
          <p:cNvSpPr txBox="1"/>
          <p:nvPr/>
        </p:nvSpPr>
        <p:spPr>
          <a:xfrm>
            <a:off x="7463241" y="5261549"/>
            <a:ext cx="775594"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Multimodal AI</a:t>
            </a:r>
            <a:endParaRPr lang="en-US" sz="850" dirty="0"/>
          </a:p>
        </p:txBody>
      </p:sp>
      <p:sp>
        <p:nvSpPr>
          <p:cNvPr id="106" name="Text"/>
          <p:cNvSpPr txBox="1"/>
          <p:nvPr/>
        </p:nvSpPr>
        <p:spPr>
          <a:xfrm>
            <a:off x="6883420" y="5483748"/>
            <a:ext cx="1198961"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Workflow automation</a:t>
            </a:r>
            <a:endParaRPr lang="en-US" sz="850" dirty="0"/>
          </a:p>
        </p:txBody>
      </p:sp>
      <p:sp>
        <p:nvSpPr>
          <p:cNvPr id="107" name="Text"/>
          <p:cNvSpPr txBox="1"/>
          <p:nvPr/>
        </p:nvSpPr>
        <p:spPr>
          <a:xfrm>
            <a:off x="8902690" y="5207234"/>
            <a:ext cx="2473635" cy="368320"/>
          </a:xfrm>
          <a:prstGeom prst="rect">
            <a:avLst/>
          </a:prstGeom>
          <a:noFill/>
          <a:ln/>
        </p:spPr>
        <p:txBody>
          <a:bodyPr wrap="square" lIns="0" tIns="0" rIns="0" bIns="0" rtlCol="0" anchor="t"/>
          <a:lstStyle/>
          <a:p>
            <a:pPr algn="l" indent="0" marL="0">
              <a:lnSpc>
                <a:spcPts val="1450"/>
              </a:lnSpc>
              <a:buNone/>
            </a:pPr>
            <a:r>
              <a:rPr lang="en-US" sz="1000" dirty="0">
                <a:solidFill>
                  <a:srgbClr val="044BD9"/>
                </a:solidFill>
                <a:latin typeface="Poppins Medium" pitchFamily="34" charset="0"/>
                <a:ea typeface="Poppins Medium" pitchFamily="34" charset="-122"/>
                <a:cs typeface="Poppins Medium" pitchFamily="34" charset="-120"/>
              </a:rPr>
              <a:t>3</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content types per product: imagery, copy and listing variants</a:t>
            </a:r>
            <a:endParaRPr lang="en-US" sz="1000" dirty="0"/>
          </a:p>
        </p:txBody>
      </p:sp>
      <p:sp>
        <p:nvSpPr>
          <p:cNvPr id="108"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109"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110"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111"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Sectors and products</a:t>
            </a:r>
            <a:endParaRPr lang="en-US" sz="850" dirty="0"/>
          </a:p>
        </p:txBody>
      </p:sp>
      <p:sp>
        <p:nvSpPr>
          <p:cNvPr id="112"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113"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114"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alphv.com/industries, its six sector pages and alphv.com/insights (October 2026). Six of the 16 industry verticals ALPHV serves.</a:t>
            </a:r>
            <a:endParaRPr lang="en-US" sz="850" dirty="0"/>
          </a:p>
        </p:txBody>
      </p:sp>
      <p:sp>
        <p:nvSpPr>
          <p:cNvPr id="115" name="Text"/>
          <p:cNvSpPr txBox="1"/>
          <p:nvPr/>
        </p:nvSpPr>
        <p:spPr>
          <a:xfrm>
            <a:off x="9374977"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116" name="Text"/>
          <p:cNvSpPr txBox="1"/>
          <p:nvPr/>
        </p:nvSpPr>
        <p:spPr>
          <a:xfrm>
            <a:off x="9883018"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117" name="Text"/>
          <p:cNvSpPr txBox="1"/>
          <p:nvPr/>
        </p:nvSpPr>
        <p:spPr>
          <a:xfrm>
            <a:off x="11374404" y="6401532"/>
            <a:ext cx="131765"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806958" cy="254020"/>
          </a:xfrm>
          <a:prstGeom prst="roundRect">
            <a:avLst>
              <a:gd name="adj" fmla="val 50000"/>
            </a:avLst>
          </a:prstGeom>
          <a:ln w="6350">
            <a:solidFill>
              <a:srgbClr val="155DFC"/>
            </a:solidFill>
            <a:prstDash val="solid"/>
          </a:ln>
        </p:spPr>
      </p:sp>
      <p:sp>
        <p:nvSpPr>
          <p:cNvPr id="3" name="Rule"/>
          <p:cNvSpPr/>
          <p:nvPr/>
        </p:nvSpPr>
        <p:spPr>
          <a:xfrm>
            <a:off x="711220" y="2080260"/>
            <a:ext cx="1270010" cy="0"/>
          </a:xfrm>
          <a:prstGeom prst="line">
            <a:avLst/>
          </a:prstGeom>
          <a:noFill/>
          <a:ln w="12700">
            <a:solidFill>
              <a:srgbClr val="000000"/>
            </a:solidFill>
            <a:prstDash val="solid"/>
          </a:ln>
        </p:spPr>
      </p:sp>
      <p:sp>
        <p:nvSpPr>
          <p:cNvPr id="4" name="card"/>
          <p:cNvSpPr/>
          <p:nvPr/>
        </p:nvSpPr>
        <p:spPr>
          <a:xfrm>
            <a:off x="2162190" y="2077060"/>
            <a:ext cx="9315450" cy="596097"/>
          </a:xfrm>
          <a:prstGeom prst="roundRect">
            <a:avLst>
              <a:gd name="adj" fmla="val 25035"/>
            </a:avLst>
          </a:prstGeom>
          <a:solidFill>
            <a:srgbClr val="FFFFFF"/>
          </a:solidFill>
          <a:ln w="6350">
            <a:solidFill>
              <a:srgbClr val="F0F0F0"/>
            </a:solidFill>
            <a:prstDash val="solid"/>
          </a:ln>
        </p:spPr>
      </p:sp>
      <p:sp>
        <p:nvSpPr>
          <p:cNvPr id="5" name="tile"/>
          <p:cNvSpPr/>
          <p:nvPr/>
        </p:nvSpPr>
        <p:spPr>
          <a:xfrm>
            <a:off x="2317730" y="2184593"/>
            <a:ext cx="381030" cy="381030"/>
          </a:xfrm>
          <a:prstGeom prst="roundRect">
            <a:avLst>
              <a:gd name="adj" fmla="val 29998"/>
            </a:avLst>
          </a:prstGeom>
          <a:solidFill>
            <a:srgbClr val="044BD9"/>
          </a:solidFill>
          <a:ln/>
        </p:spPr>
      </p:sp>
      <p:pic>
        <p:nvPicPr>
          <p:cNvPr id="6" name="Icon" descr="/tmp/deck-pptx-VwALqa/icon-60.png">    </p:cNvPr>
          <p:cNvPicPr>
            <a:picLocks noChangeAspect="1"/>
          </p:cNvPicPr>
          <p:nvPr/>
        </p:nvPicPr>
        <p:blipFill>
          <a:blip r:embed="rId1"/>
          <a:stretch>
            <a:fillRect/>
          </a:stretch>
        </p:blipFill>
        <p:spPr>
          <a:xfrm>
            <a:off x="2419320" y="2286183"/>
            <a:ext cx="177759" cy="177759"/>
          </a:xfrm>
          <a:prstGeom prst="rect">
            <a:avLst/>
          </a:prstGeom>
        </p:spPr>
      </p:pic>
      <p:sp>
        <p:nvSpPr>
          <p:cNvPr id="7" name="tag"/>
          <p:cNvSpPr/>
          <p:nvPr/>
        </p:nvSpPr>
        <p:spPr>
          <a:xfrm>
            <a:off x="4157045" y="2376160"/>
            <a:ext cx="605973" cy="177759"/>
          </a:xfrm>
          <a:prstGeom prst="roundRect">
            <a:avLst>
              <a:gd name="adj" fmla="val 50000"/>
            </a:avLst>
          </a:prstGeom>
          <a:solidFill>
            <a:srgbClr val="FFFFFF"/>
          </a:solidFill>
          <a:ln w="6350">
            <a:solidFill>
              <a:srgbClr val="155DFC"/>
            </a:solidFill>
            <a:prstDash val="solid"/>
          </a:ln>
        </p:spPr>
      </p:sp>
      <p:sp>
        <p:nvSpPr>
          <p:cNvPr id="8" name="li::before"/>
          <p:cNvSpPr/>
          <p:nvPr/>
        </p:nvSpPr>
        <p:spPr>
          <a:xfrm>
            <a:off x="8337591" y="2256191"/>
            <a:ext cx="57150" cy="57150"/>
          </a:xfrm>
          <a:prstGeom prst="rect">
            <a:avLst/>
          </a:prstGeom>
          <a:solidFill>
            <a:srgbClr val="044BD9"/>
          </a:solidFill>
          <a:ln/>
        </p:spPr>
      </p:sp>
      <p:sp>
        <p:nvSpPr>
          <p:cNvPr id="9" name="li::before"/>
          <p:cNvSpPr/>
          <p:nvPr/>
        </p:nvSpPr>
        <p:spPr>
          <a:xfrm>
            <a:off x="8337591" y="2462571"/>
            <a:ext cx="57150" cy="57150"/>
          </a:xfrm>
          <a:prstGeom prst="rect">
            <a:avLst/>
          </a:prstGeom>
          <a:solidFill>
            <a:srgbClr val="044BD9"/>
          </a:solidFill>
          <a:ln/>
        </p:spPr>
      </p:sp>
      <p:sp>
        <p:nvSpPr>
          <p:cNvPr id="10" name="card"/>
          <p:cNvSpPr/>
          <p:nvPr/>
        </p:nvSpPr>
        <p:spPr>
          <a:xfrm>
            <a:off x="2162190" y="2755727"/>
            <a:ext cx="9315450" cy="596097"/>
          </a:xfrm>
          <a:prstGeom prst="roundRect">
            <a:avLst>
              <a:gd name="adj" fmla="val 25035"/>
            </a:avLst>
          </a:prstGeom>
          <a:solidFill>
            <a:srgbClr val="FFFFFF"/>
          </a:solidFill>
          <a:ln w="6350">
            <a:solidFill>
              <a:srgbClr val="F0F0F0"/>
            </a:solidFill>
            <a:prstDash val="solid"/>
          </a:ln>
        </p:spPr>
      </p:sp>
      <p:sp>
        <p:nvSpPr>
          <p:cNvPr id="11" name="tile"/>
          <p:cNvSpPr/>
          <p:nvPr/>
        </p:nvSpPr>
        <p:spPr>
          <a:xfrm>
            <a:off x="2317730" y="2863261"/>
            <a:ext cx="381030" cy="381030"/>
          </a:xfrm>
          <a:prstGeom prst="roundRect">
            <a:avLst>
              <a:gd name="adj" fmla="val 29998"/>
            </a:avLst>
          </a:prstGeom>
          <a:solidFill>
            <a:srgbClr val="044BD9"/>
          </a:solidFill>
          <a:ln/>
        </p:spPr>
      </p:sp>
      <p:pic>
        <p:nvPicPr>
          <p:cNvPr id="12" name="Icon" descr="/tmp/deck-pptx-VwALqa/icon-61.png">    </p:cNvPr>
          <p:cNvPicPr>
            <a:picLocks noChangeAspect="1"/>
          </p:cNvPicPr>
          <p:nvPr/>
        </p:nvPicPr>
        <p:blipFill>
          <a:blip r:embed="rId2"/>
          <a:stretch>
            <a:fillRect/>
          </a:stretch>
        </p:blipFill>
        <p:spPr>
          <a:xfrm>
            <a:off x="2419320" y="2964851"/>
            <a:ext cx="177759" cy="177759"/>
          </a:xfrm>
          <a:prstGeom prst="rect">
            <a:avLst/>
          </a:prstGeom>
        </p:spPr>
      </p:pic>
      <p:sp>
        <p:nvSpPr>
          <p:cNvPr id="13" name="li::before"/>
          <p:cNvSpPr/>
          <p:nvPr/>
        </p:nvSpPr>
        <p:spPr>
          <a:xfrm>
            <a:off x="8337591" y="2934858"/>
            <a:ext cx="57150" cy="57150"/>
          </a:xfrm>
          <a:prstGeom prst="rect">
            <a:avLst/>
          </a:prstGeom>
          <a:solidFill>
            <a:srgbClr val="044BD9"/>
          </a:solidFill>
          <a:ln/>
        </p:spPr>
      </p:sp>
      <p:sp>
        <p:nvSpPr>
          <p:cNvPr id="14" name="li::before"/>
          <p:cNvSpPr/>
          <p:nvPr/>
        </p:nvSpPr>
        <p:spPr>
          <a:xfrm>
            <a:off x="8337591" y="3141238"/>
            <a:ext cx="57150" cy="57150"/>
          </a:xfrm>
          <a:prstGeom prst="rect">
            <a:avLst/>
          </a:prstGeom>
          <a:solidFill>
            <a:srgbClr val="044BD9"/>
          </a:solidFill>
          <a:ln/>
        </p:spPr>
      </p:sp>
      <p:sp>
        <p:nvSpPr>
          <p:cNvPr id="15" name="card"/>
          <p:cNvSpPr/>
          <p:nvPr/>
        </p:nvSpPr>
        <p:spPr>
          <a:xfrm>
            <a:off x="2162190" y="3434395"/>
            <a:ext cx="9315450" cy="596189"/>
          </a:xfrm>
          <a:prstGeom prst="roundRect">
            <a:avLst>
              <a:gd name="adj" fmla="val 25031"/>
            </a:avLst>
          </a:prstGeom>
          <a:solidFill>
            <a:srgbClr val="FFFFFF"/>
          </a:solidFill>
          <a:ln w="6350">
            <a:solidFill>
              <a:srgbClr val="F0F0F0"/>
            </a:solidFill>
            <a:prstDash val="solid"/>
          </a:ln>
        </p:spPr>
      </p:sp>
      <p:sp>
        <p:nvSpPr>
          <p:cNvPr id="16" name="tile"/>
          <p:cNvSpPr/>
          <p:nvPr/>
        </p:nvSpPr>
        <p:spPr>
          <a:xfrm>
            <a:off x="2317730" y="3541928"/>
            <a:ext cx="381030" cy="381030"/>
          </a:xfrm>
          <a:prstGeom prst="roundRect">
            <a:avLst>
              <a:gd name="adj" fmla="val 29998"/>
            </a:avLst>
          </a:prstGeom>
          <a:solidFill>
            <a:srgbClr val="044BD9"/>
          </a:solidFill>
          <a:ln/>
        </p:spPr>
      </p:sp>
      <p:pic>
        <p:nvPicPr>
          <p:cNvPr id="17" name="Icon" descr="/tmp/deck-pptx-VwALqa/icon-62.png">    </p:cNvPr>
          <p:cNvPicPr>
            <a:picLocks noChangeAspect="1"/>
          </p:cNvPicPr>
          <p:nvPr/>
        </p:nvPicPr>
        <p:blipFill>
          <a:blip r:embed="rId3"/>
          <a:stretch>
            <a:fillRect/>
          </a:stretch>
        </p:blipFill>
        <p:spPr>
          <a:xfrm>
            <a:off x="2419320" y="3643518"/>
            <a:ext cx="177759" cy="177759"/>
          </a:xfrm>
          <a:prstGeom prst="rect">
            <a:avLst/>
          </a:prstGeom>
        </p:spPr>
      </p:pic>
      <p:sp>
        <p:nvSpPr>
          <p:cNvPr id="18" name="li::before"/>
          <p:cNvSpPr/>
          <p:nvPr/>
        </p:nvSpPr>
        <p:spPr>
          <a:xfrm>
            <a:off x="8337591" y="3613526"/>
            <a:ext cx="57150" cy="57150"/>
          </a:xfrm>
          <a:prstGeom prst="rect">
            <a:avLst/>
          </a:prstGeom>
          <a:solidFill>
            <a:srgbClr val="044BD9"/>
          </a:solidFill>
          <a:ln/>
        </p:spPr>
      </p:sp>
      <p:sp>
        <p:nvSpPr>
          <p:cNvPr id="19" name="li::before"/>
          <p:cNvSpPr/>
          <p:nvPr/>
        </p:nvSpPr>
        <p:spPr>
          <a:xfrm>
            <a:off x="8337591" y="3819906"/>
            <a:ext cx="57150" cy="57150"/>
          </a:xfrm>
          <a:prstGeom prst="rect">
            <a:avLst/>
          </a:prstGeom>
          <a:solidFill>
            <a:srgbClr val="044BD9"/>
          </a:solidFill>
          <a:ln/>
        </p:spPr>
      </p:sp>
      <p:sp>
        <p:nvSpPr>
          <p:cNvPr id="20" name="Rule"/>
          <p:cNvSpPr/>
          <p:nvPr/>
        </p:nvSpPr>
        <p:spPr>
          <a:xfrm>
            <a:off x="711220" y="4192524"/>
            <a:ext cx="1270010" cy="0"/>
          </a:xfrm>
          <a:prstGeom prst="line">
            <a:avLst/>
          </a:prstGeom>
          <a:noFill/>
          <a:ln w="12700">
            <a:solidFill>
              <a:srgbClr val="000000"/>
            </a:solidFill>
            <a:prstDash val="solid"/>
          </a:ln>
        </p:spPr>
      </p:sp>
      <p:sp>
        <p:nvSpPr>
          <p:cNvPr id="21" name="card"/>
          <p:cNvSpPr/>
          <p:nvPr/>
        </p:nvSpPr>
        <p:spPr>
          <a:xfrm>
            <a:off x="2162190" y="4189324"/>
            <a:ext cx="9315450" cy="519928"/>
          </a:xfrm>
          <a:prstGeom prst="roundRect">
            <a:avLst>
              <a:gd name="adj" fmla="val 28702"/>
            </a:avLst>
          </a:prstGeom>
          <a:solidFill>
            <a:srgbClr val="FFFFFF"/>
          </a:solidFill>
          <a:ln w="6350">
            <a:solidFill>
              <a:srgbClr val="F0F0F0"/>
            </a:solidFill>
            <a:prstDash val="solid"/>
          </a:ln>
        </p:spPr>
      </p:sp>
      <p:sp>
        <p:nvSpPr>
          <p:cNvPr id="22" name="tile"/>
          <p:cNvSpPr/>
          <p:nvPr/>
        </p:nvSpPr>
        <p:spPr>
          <a:xfrm>
            <a:off x="2317730" y="4287713"/>
            <a:ext cx="381030" cy="381030"/>
          </a:xfrm>
          <a:prstGeom prst="roundRect">
            <a:avLst>
              <a:gd name="adj" fmla="val 29998"/>
            </a:avLst>
          </a:prstGeom>
          <a:solidFill>
            <a:srgbClr val="044BD9"/>
          </a:solidFill>
          <a:ln/>
        </p:spPr>
      </p:sp>
      <p:pic>
        <p:nvPicPr>
          <p:cNvPr id="23" name="Icon" descr="/tmp/deck-pptx-VwALqa/icon-63.png">    </p:cNvPr>
          <p:cNvPicPr>
            <a:picLocks noChangeAspect="1"/>
          </p:cNvPicPr>
          <p:nvPr/>
        </p:nvPicPr>
        <p:blipFill>
          <a:blip r:embed="rId4"/>
          <a:stretch>
            <a:fillRect/>
          </a:stretch>
        </p:blipFill>
        <p:spPr>
          <a:xfrm>
            <a:off x="2419320" y="4389303"/>
            <a:ext cx="177759" cy="177759"/>
          </a:xfrm>
          <a:prstGeom prst="rect">
            <a:avLst/>
          </a:prstGeom>
        </p:spPr>
      </p:pic>
      <p:sp>
        <p:nvSpPr>
          <p:cNvPr id="24" name="tag"/>
          <p:cNvSpPr/>
          <p:nvPr/>
        </p:nvSpPr>
        <p:spPr>
          <a:xfrm>
            <a:off x="4049329" y="4479371"/>
            <a:ext cx="605973" cy="177759"/>
          </a:xfrm>
          <a:prstGeom prst="roundRect">
            <a:avLst>
              <a:gd name="adj" fmla="val 50000"/>
            </a:avLst>
          </a:prstGeom>
          <a:solidFill>
            <a:srgbClr val="FFFFFF"/>
          </a:solidFill>
          <a:ln w="6350">
            <a:solidFill>
              <a:srgbClr val="155DFC"/>
            </a:solidFill>
            <a:prstDash val="solid"/>
          </a:ln>
        </p:spPr>
      </p:sp>
      <p:sp>
        <p:nvSpPr>
          <p:cNvPr id="25" name="li::before"/>
          <p:cNvSpPr/>
          <p:nvPr/>
        </p:nvSpPr>
        <p:spPr>
          <a:xfrm>
            <a:off x="8337591" y="4359402"/>
            <a:ext cx="57150" cy="57150"/>
          </a:xfrm>
          <a:prstGeom prst="rect">
            <a:avLst/>
          </a:prstGeom>
          <a:solidFill>
            <a:srgbClr val="044BD9"/>
          </a:solidFill>
          <a:ln/>
        </p:spPr>
      </p:sp>
      <p:sp>
        <p:nvSpPr>
          <p:cNvPr id="26" name="li::before"/>
          <p:cNvSpPr/>
          <p:nvPr/>
        </p:nvSpPr>
        <p:spPr>
          <a:xfrm>
            <a:off x="8337591" y="4565782"/>
            <a:ext cx="57150" cy="57150"/>
          </a:xfrm>
          <a:prstGeom prst="rect">
            <a:avLst/>
          </a:prstGeom>
          <a:solidFill>
            <a:srgbClr val="044BD9"/>
          </a:solidFill>
          <a:ln/>
        </p:spPr>
      </p:sp>
      <p:sp>
        <p:nvSpPr>
          <p:cNvPr id="27" name="card"/>
          <p:cNvSpPr/>
          <p:nvPr/>
        </p:nvSpPr>
        <p:spPr>
          <a:xfrm>
            <a:off x="2162190" y="4791730"/>
            <a:ext cx="9315450" cy="596097"/>
          </a:xfrm>
          <a:prstGeom prst="roundRect">
            <a:avLst>
              <a:gd name="adj" fmla="val 25035"/>
            </a:avLst>
          </a:prstGeom>
          <a:solidFill>
            <a:srgbClr val="FFFFFF"/>
          </a:solidFill>
          <a:ln w="6350">
            <a:solidFill>
              <a:srgbClr val="F0F0F0"/>
            </a:solidFill>
            <a:prstDash val="solid"/>
          </a:ln>
        </p:spPr>
      </p:sp>
      <p:sp>
        <p:nvSpPr>
          <p:cNvPr id="28" name="tile"/>
          <p:cNvSpPr/>
          <p:nvPr/>
        </p:nvSpPr>
        <p:spPr>
          <a:xfrm>
            <a:off x="2317730" y="4899355"/>
            <a:ext cx="381030" cy="381030"/>
          </a:xfrm>
          <a:prstGeom prst="roundRect">
            <a:avLst>
              <a:gd name="adj" fmla="val 29998"/>
            </a:avLst>
          </a:prstGeom>
          <a:solidFill>
            <a:srgbClr val="044BD9"/>
          </a:solidFill>
          <a:ln/>
        </p:spPr>
      </p:sp>
      <p:pic>
        <p:nvPicPr>
          <p:cNvPr id="29" name="Icon" descr="/tmp/deck-pptx-VwALqa/icon-64.png">    </p:cNvPr>
          <p:cNvPicPr>
            <a:picLocks noChangeAspect="1"/>
          </p:cNvPicPr>
          <p:nvPr/>
        </p:nvPicPr>
        <p:blipFill>
          <a:blip r:embed="rId5"/>
          <a:stretch>
            <a:fillRect/>
          </a:stretch>
        </p:blipFill>
        <p:spPr>
          <a:xfrm>
            <a:off x="2419320" y="5000945"/>
            <a:ext cx="177759" cy="177759"/>
          </a:xfrm>
          <a:prstGeom prst="rect">
            <a:avLst/>
          </a:prstGeom>
        </p:spPr>
      </p:pic>
      <p:sp>
        <p:nvSpPr>
          <p:cNvPr id="30" name="li::before"/>
          <p:cNvSpPr/>
          <p:nvPr/>
        </p:nvSpPr>
        <p:spPr>
          <a:xfrm>
            <a:off x="8337591" y="4970953"/>
            <a:ext cx="57150" cy="57150"/>
          </a:xfrm>
          <a:prstGeom prst="rect">
            <a:avLst/>
          </a:prstGeom>
          <a:solidFill>
            <a:srgbClr val="044BD9"/>
          </a:solidFill>
          <a:ln/>
        </p:spPr>
      </p:sp>
      <p:sp>
        <p:nvSpPr>
          <p:cNvPr id="31" name="li::before"/>
          <p:cNvSpPr/>
          <p:nvPr/>
        </p:nvSpPr>
        <p:spPr>
          <a:xfrm>
            <a:off x="8337591" y="5177333"/>
            <a:ext cx="57150" cy="57150"/>
          </a:xfrm>
          <a:prstGeom prst="rect">
            <a:avLst/>
          </a:prstGeom>
          <a:solidFill>
            <a:srgbClr val="044BD9"/>
          </a:solidFill>
          <a:ln/>
        </p:spPr>
      </p:sp>
      <p:sp>
        <p:nvSpPr>
          <p:cNvPr id="32" name="Rule"/>
          <p:cNvSpPr/>
          <p:nvPr/>
        </p:nvSpPr>
        <p:spPr>
          <a:xfrm>
            <a:off x="711220" y="5546659"/>
            <a:ext cx="1270010" cy="0"/>
          </a:xfrm>
          <a:prstGeom prst="line">
            <a:avLst/>
          </a:prstGeom>
          <a:noFill/>
          <a:ln w="6350">
            <a:solidFill>
              <a:srgbClr val="E3E6EC"/>
            </a:solidFill>
            <a:prstDash val="solid"/>
          </a:ln>
        </p:spPr>
      </p:sp>
      <p:sp>
        <p:nvSpPr>
          <p:cNvPr id="33" name="Rule"/>
          <p:cNvSpPr/>
          <p:nvPr/>
        </p:nvSpPr>
        <p:spPr>
          <a:xfrm>
            <a:off x="2158990" y="5546659"/>
            <a:ext cx="9321759" cy="0"/>
          </a:xfrm>
          <a:prstGeom prst="line">
            <a:avLst/>
          </a:prstGeom>
          <a:noFill/>
          <a:ln w="6350">
            <a:solidFill>
              <a:srgbClr val="E3E6EC"/>
            </a:solidFill>
            <a:prstDash val="solid"/>
          </a:ln>
        </p:spPr>
      </p:sp>
      <p:sp>
        <p:nvSpPr>
          <p:cNvPr id="34" name="span::before"/>
          <p:cNvSpPr/>
          <p:nvPr/>
        </p:nvSpPr>
        <p:spPr>
          <a:xfrm>
            <a:off x="6191860" y="311170"/>
            <a:ext cx="44440" cy="44440"/>
          </a:xfrm>
          <a:prstGeom prst="rect">
            <a:avLst/>
          </a:prstGeom>
          <a:solidFill>
            <a:srgbClr val="A0A6AF">
              <a:alpha val="55000"/>
            </a:srgbClr>
          </a:solidFill>
          <a:ln/>
        </p:spPr>
      </p:sp>
      <p:sp>
        <p:nvSpPr>
          <p:cNvPr id="35" name="span::before"/>
          <p:cNvSpPr/>
          <p:nvPr/>
        </p:nvSpPr>
        <p:spPr>
          <a:xfrm>
            <a:off x="7145213" y="311170"/>
            <a:ext cx="44440" cy="44440"/>
          </a:xfrm>
          <a:prstGeom prst="rect">
            <a:avLst/>
          </a:prstGeom>
          <a:solidFill>
            <a:srgbClr val="A0A6AF">
              <a:alpha val="55000"/>
            </a:srgbClr>
          </a:solidFill>
          <a:ln/>
        </p:spPr>
      </p:sp>
      <p:sp>
        <p:nvSpPr>
          <p:cNvPr id="36" name="span::before"/>
          <p:cNvSpPr/>
          <p:nvPr/>
        </p:nvSpPr>
        <p:spPr>
          <a:xfrm>
            <a:off x="8056230" y="311170"/>
            <a:ext cx="44440" cy="44440"/>
          </a:xfrm>
          <a:prstGeom prst="rect">
            <a:avLst/>
          </a:prstGeom>
          <a:solidFill>
            <a:srgbClr val="A0A6AF">
              <a:alpha val="55000"/>
            </a:srgbClr>
          </a:solidFill>
          <a:ln/>
        </p:spPr>
      </p:sp>
      <p:sp>
        <p:nvSpPr>
          <p:cNvPr id="37" name="on::before"/>
          <p:cNvSpPr/>
          <p:nvPr/>
        </p:nvSpPr>
        <p:spPr>
          <a:xfrm>
            <a:off x="8972550" y="311170"/>
            <a:ext cx="44440" cy="44440"/>
          </a:xfrm>
          <a:prstGeom prst="rect">
            <a:avLst/>
          </a:prstGeom>
          <a:solidFill>
            <a:srgbClr val="044BD9"/>
          </a:solidFill>
          <a:ln/>
        </p:spPr>
      </p:sp>
      <p:sp>
        <p:nvSpPr>
          <p:cNvPr id="38" name="span::before"/>
          <p:cNvSpPr/>
          <p:nvPr/>
        </p:nvSpPr>
        <p:spPr>
          <a:xfrm>
            <a:off x="10421142" y="311170"/>
            <a:ext cx="44440" cy="44440"/>
          </a:xfrm>
          <a:prstGeom prst="rect">
            <a:avLst/>
          </a:prstGeom>
          <a:solidFill>
            <a:srgbClr val="A0A6AF">
              <a:alpha val="55000"/>
            </a:srgbClr>
          </a:solidFill>
          <a:ln/>
        </p:spPr>
      </p:sp>
      <p:sp>
        <p:nvSpPr>
          <p:cNvPr id="39" name="span::before"/>
          <p:cNvSpPr/>
          <p:nvPr/>
        </p:nvSpPr>
        <p:spPr>
          <a:xfrm>
            <a:off x="10966216" y="311170"/>
            <a:ext cx="44440" cy="44440"/>
          </a:xfrm>
          <a:prstGeom prst="rect">
            <a:avLst/>
          </a:prstGeom>
          <a:solidFill>
            <a:srgbClr val="A0A6AF">
              <a:alpha val="55000"/>
            </a:srgbClr>
          </a:solidFill>
          <a:ln/>
        </p:spPr>
      </p:sp>
      <p:sp>
        <p:nvSpPr>
          <p:cNvPr id="40" name="Text"/>
          <p:cNvSpPr txBox="1"/>
          <p:nvPr/>
        </p:nvSpPr>
        <p:spPr>
          <a:xfrm>
            <a:off x="844540" y="609265"/>
            <a:ext cx="571957"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Products</a:t>
            </a:r>
            <a:endParaRPr lang="en-US" sz="950" dirty="0"/>
          </a:p>
        </p:txBody>
      </p:sp>
      <p:sp>
        <p:nvSpPr>
          <p:cNvPr id="41"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Five products give engagements</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 working starting point</a:t>
            </a:r>
            <a:endParaRPr lang="en-US" sz="3000" dirty="0"/>
          </a:p>
        </p:txBody>
      </p:sp>
      <p:sp>
        <p:nvSpPr>
          <p:cNvPr id="42" name="Text"/>
          <p:cNvSpPr txBox="1"/>
          <p:nvPr/>
        </p:nvSpPr>
        <p:spPr>
          <a:xfrm>
            <a:off x="711220" y="2182124"/>
            <a:ext cx="1287750" cy="365120"/>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The Kiralytics family</a:t>
            </a:r>
            <a:endParaRPr lang="en-US" sz="1150" dirty="0"/>
          </a:p>
        </p:txBody>
      </p:sp>
      <p:sp>
        <p:nvSpPr>
          <p:cNvPr id="43" name="Text"/>
          <p:cNvSpPr txBox="1"/>
          <p:nvPr/>
        </p:nvSpPr>
        <p:spPr>
          <a:xfrm>
            <a:off x="711220" y="2577876"/>
            <a:ext cx="1287750" cy="675650"/>
          </a:xfrm>
          <a:prstGeom prst="rect">
            <a:avLst/>
          </a:prstGeom>
          <a:noFill/>
          <a:ln/>
        </p:spPr>
        <p:txBody>
          <a:bodyPr wrap="square" lIns="0" tIns="0" rIns="0" bIns="0" rtlCol="0" anchor="t"/>
          <a:lstStyle/>
          <a:p>
            <a:pPr algn="l" indent="0" marL="0">
              <a:lnSpc>
                <a:spcPts val="1330"/>
              </a:lnSpc>
              <a:buNone/>
            </a:pPr>
            <a:r>
              <a:rPr lang="en-US" sz="950" dirty="0">
                <a:solidFill>
                  <a:srgbClr val="6B6B6B"/>
                </a:solidFill>
                <a:latin typeface="Poppins Light" pitchFamily="34" charset="0"/>
                <a:ea typeface="Poppins Light" pitchFamily="34" charset="-122"/>
                <a:cs typeface="Poppins Light" pitchFamily="34" charset="-120"/>
              </a:rPr>
              <a:t>Analytics for workforces, shop floors, roads and brands</a:t>
            </a:r>
            <a:endParaRPr lang="en-US" sz="950" dirty="0"/>
          </a:p>
        </p:txBody>
      </p:sp>
      <p:sp>
        <p:nvSpPr>
          <p:cNvPr id="44" name="Text"/>
          <p:cNvSpPr txBox="1"/>
          <p:nvPr/>
        </p:nvSpPr>
        <p:spPr>
          <a:xfrm>
            <a:off x="2813060" y="2174077"/>
            <a:ext cx="1973641"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Workforce optimiser</a:t>
            </a:r>
            <a:endParaRPr lang="en-US" sz="850" dirty="0"/>
          </a:p>
        </p:txBody>
      </p:sp>
      <p:sp>
        <p:nvSpPr>
          <p:cNvPr id="45" name="Text"/>
          <p:cNvSpPr txBox="1"/>
          <p:nvPr/>
        </p:nvSpPr>
        <p:spPr>
          <a:xfrm>
            <a:off x="2813060" y="2356957"/>
            <a:ext cx="1290036" cy="195042"/>
          </a:xfrm>
          <a:prstGeom prst="rect">
            <a:avLst/>
          </a:prstGeom>
          <a:noFill/>
          <a:ln/>
        </p:spPr>
        <p:txBody>
          <a:bodyPr wrap="none" lIns="0" tIns="0" rIns="0" bIns="0" rtlCol="0" anchor="t"/>
          <a:lstStyle/>
          <a:p>
            <a:pPr algn="l" indent="0" marL="0">
              <a:lnSpc>
                <a:spcPts val="1536"/>
              </a:lnSpc>
              <a:buNone/>
            </a:pPr>
            <a:r>
              <a:rPr lang="en-US" sz="1200" dirty="0">
                <a:solidFill>
                  <a:srgbClr val="000000"/>
                </a:solidFill>
                <a:latin typeface="Poppins Medium" pitchFamily="34" charset="0"/>
                <a:ea typeface="Poppins Medium" pitchFamily="34" charset="-122"/>
                <a:cs typeface="Poppins Medium" pitchFamily="34" charset="-120"/>
              </a:rPr>
              <a:t>Kiralytics SHIFT™</a:t>
            </a:r>
            <a:endParaRPr lang="en-US" sz="1200" dirty="0"/>
          </a:p>
        </p:txBody>
      </p:sp>
      <p:sp>
        <p:nvSpPr>
          <p:cNvPr id="46" name="Text"/>
          <p:cNvSpPr txBox="1"/>
          <p:nvPr/>
        </p:nvSpPr>
        <p:spPr>
          <a:xfrm>
            <a:off x="4230106" y="2413376"/>
            <a:ext cx="485272"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Flagship</a:t>
            </a:r>
            <a:endParaRPr lang="en-US" sz="850" dirty="0"/>
          </a:p>
        </p:txBody>
      </p:sp>
      <p:sp>
        <p:nvSpPr>
          <p:cNvPr id="47" name="Text"/>
          <p:cNvSpPr txBox="1"/>
          <p:nvPr/>
        </p:nvSpPr>
        <p:spPr>
          <a:xfrm>
            <a:off x="5333970" y="2160453"/>
            <a:ext cx="2837017" cy="393741"/>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Rostering, GPS-verified attendance and workforce analytics for multi-location retail.</a:t>
            </a:r>
            <a:endParaRPr lang="en-US" sz="1000" dirty="0"/>
          </a:p>
        </p:txBody>
      </p:sp>
      <p:sp>
        <p:nvSpPr>
          <p:cNvPr id="48" name="Text"/>
          <p:cNvSpPr txBox="1"/>
          <p:nvPr/>
        </p:nvSpPr>
        <p:spPr>
          <a:xfrm>
            <a:off x="8502640" y="2164568"/>
            <a:ext cx="2844790" cy="180960"/>
          </a:xfrm>
          <a:prstGeom prst="rect">
            <a:avLst/>
          </a:prstGeom>
          <a:noFill/>
          <a:ln/>
        </p:spPr>
        <p:txBody>
          <a:bodyPr wrap="non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GPS-verified clock-in with geofence validation</a:t>
            </a:r>
            <a:endParaRPr lang="en-US" sz="950" dirty="0"/>
          </a:p>
        </p:txBody>
      </p:sp>
      <p:sp>
        <p:nvSpPr>
          <p:cNvPr id="49" name="Text"/>
          <p:cNvSpPr txBox="1"/>
          <p:nvPr/>
        </p:nvSpPr>
        <p:spPr>
          <a:xfrm>
            <a:off x="8502640" y="2370948"/>
            <a:ext cx="2844790" cy="180960"/>
          </a:xfrm>
          <a:prstGeom prst="rect">
            <a:avLst/>
          </a:prstGeom>
          <a:noFill/>
          <a:ln/>
        </p:spPr>
        <p:txBody>
          <a:bodyPr wrap="non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Cross-branch KPIs and unified reporting for HQ</a:t>
            </a:r>
            <a:endParaRPr lang="en-US" sz="950" dirty="0"/>
          </a:p>
        </p:txBody>
      </p:sp>
      <p:sp>
        <p:nvSpPr>
          <p:cNvPr id="50" name="Text"/>
          <p:cNvSpPr txBox="1"/>
          <p:nvPr/>
        </p:nvSpPr>
        <p:spPr>
          <a:xfrm>
            <a:off x="2813060" y="2852745"/>
            <a:ext cx="2157893"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People and traffic counting</a:t>
            </a:r>
            <a:endParaRPr lang="en-US" sz="850" dirty="0"/>
          </a:p>
        </p:txBody>
      </p:sp>
      <p:sp>
        <p:nvSpPr>
          <p:cNvPr id="51" name="Text"/>
          <p:cNvSpPr txBox="1"/>
          <p:nvPr/>
        </p:nvSpPr>
        <p:spPr>
          <a:xfrm>
            <a:off x="2813060" y="3035534"/>
            <a:ext cx="2162099" cy="195042"/>
          </a:xfrm>
          <a:prstGeom prst="rect">
            <a:avLst/>
          </a:prstGeom>
          <a:noFill/>
          <a:ln/>
        </p:spPr>
        <p:txBody>
          <a:bodyPr wrap="none" lIns="0" tIns="0" rIns="0" bIns="0" rtlCol="0" anchor="t"/>
          <a:lstStyle/>
          <a:p>
            <a:pPr algn="l" indent="0" marL="0">
              <a:lnSpc>
                <a:spcPts val="1536"/>
              </a:lnSpc>
              <a:buNone/>
            </a:pPr>
            <a:r>
              <a:rPr lang="en-US" sz="1200" dirty="0">
                <a:solidFill>
                  <a:srgbClr val="000000"/>
                </a:solidFill>
                <a:latin typeface="Poppins Medium" pitchFamily="34" charset="0"/>
                <a:ea typeface="Poppins Medium" pitchFamily="34" charset="-122"/>
                <a:cs typeface="Poppins Medium" pitchFamily="34" charset="-120"/>
              </a:rPr>
              <a:t>Kiralytics MATA and TRAFFIK</a:t>
            </a:r>
            <a:endParaRPr lang="en-US" sz="1200" dirty="0"/>
          </a:p>
        </p:txBody>
      </p:sp>
      <p:sp>
        <p:nvSpPr>
          <p:cNvPr id="52" name="Text"/>
          <p:cNvSpPr txBox="1"/>
          <p:nvPr/>
        </p:nvSpPr>
        <p:spPr>
          <a:xfrm>
            <a:off x="5333970" y="2839121"/>
            <a:ext cx="2837017" cy="393741"/>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People counting for retail floors and traffic analytics for road planning.</a:t>
            </a:r>
            <a:endParaRPr lang="en-US" sz="1000" dirty="0"/>
          </a:p>
        </p:txBody>
      </p:sp>
      <p:sp>
        <p:nvSpPr>
          <p:cNvPr id="53" name="Text"/>
          <p:cNvSpPr txBox="1"/>
          <p:nvPr/>
        </p:nvSpPr>
        <p:spPr>
          <a:xfrm>
            <a:off x="8502640" y="2843235"/>
            <a:ext cx="2844790" cy="180960"/>
          </a:xfrm>
          <a:prstGeom prst="rect">
            <a:avLst/>
          </a:prstGeom>
          <a:noFill/>
          <a:ln/>
        </p:spPr>
        <p:txBody>
          <a:bodyPr wrap="non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Foot traffic, flow and occupancy on live CCTV</a:t>
            </a:r>
            <a:endParaRPr lang="en-US" sz="950" dirty="0"/>
          </a:p>
        </p:txBody>
      </p:sp>
      <p:sp>
        <p:nvSpPr>
          <p:cNvPr id="54" name="Text"/>
          <p:cNvSpPr txBox="1"/>
          <p:nvPr/>
        </p:nvSpPr>
        <p:spPr>
          <a:xfrm>
            <a:off x="8502640" y="3049615"/>
            <a:ext cx="2843418" cy="180960"/>
          </a:xfrm>
          <a:prstGeom prst="rect">
            <a:avLst/>
          </a:prstGeom>
          <a:noFill/>
          <a:ln/>
        </p:spPr>
        <p:txBody>
          <a:bodyPr wrap="squar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Vehicle classification and speed detection</a:t>
            </a:r>
            <a:endParaRPr lang="en-US" sz="950" dirty="0"/>
          </a:p>
        </p:txBody>
      </p:sp>
      <p:sp>
        <p:nvSpPr>
          <p:cNvPr id="55" name="Text"/>
          <p:cNvSpPr txBox="1"/>
          <p:nvPr/>
        </p:nvSpPr>
        <p:spPr>
          <a:xfrm>
            <a:off x="2813060" y="3531321"/>
            <a:ext cx="1258032" cy="167335"/>
          </a:xfrm>
          <a:prstGeom prst="rect">
            <a:avLst/>
          </a:prstGeom>
          <a:noFill/>
          <a:ln/>
        </p:spPr>
        <p:txBody>
          <a:bodyPr wrap="non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Sentiment monitoring</a:t>
            </a:r>
            <a:endParaRPr lang="en-US" sz="850" dirty="0"/>
          </a:p>
        </p:txBody>
      </p:sp>
      <p:sp>
        <p:nvSpPr>
          <p:cNvPr id="56" name="Text"/>
          <p:cNvSpPr txBox="1"/>
          <p:nvPr/>
        </p:nvSpPr>
        <p:spPr>
          <a:xfrm>
            <a:off x="2813060" y="3714201"/>
            <a:ext cx="1258032" cy="195042"/>
          </a:xfrm>
          <a:prstGeom prst="rect">
            <a:avLst/>
          </a:prstGeom>
          <a:noFill/>
          <a:ln/>
        </p:spPr>
        <p:txBody>
          <a:bodyPr wrap="none" lIns="0" tIns="0" rIns="0" bIns="0" rtlCol="0" anchor="t"/>
          <a:lstStyle/>
          <a:p>
            <a:pPr algn="l" indent="0" marL="0">
              <a:lnSpc>
                <a:spcPts val="1536"/>
              </a:lnSpc>
              <a:buNone/>
            </a:pPr>
            <a:r>
              <a:rPr lang="en-US" sz="1200" dirty="0">
                <a:solidFill>
                  <a:srgbClr val="000000"/>
                </a:solidFill>
                <a:latin typeface="Poppins Medium" pitchFamily="34" charset="0"/>
                <a:ea typeface="Poppins Medium" pitchFamily="34" charset="-122"/>
                <a:cs typeface="Poppins Medium" pitchFamily="34" charset="-120"/>
              </a:rPr>
              <a:t>Kiralytics EMOSI</a:t>
            </a:r>
            <a:endParaRPr lang="en-US" sz="1200" dirty="0"/>
          </a:p>
        </p:txBody>
      </p:sp>
      <p:sp>
        <p:nvSpPr>
          <p:cNvPr id="57" name="Text"/>
          <p:cNvSpPr txBox="1"/>
          <p:nvPr/>
        </p:nvSpPr>
        <p:spPr>
          <a:xfrm>
            <a:off x="5333970" y="3517788"/>
            <a:ext cx="2837017" cy="393741"/>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Track brand perception across Facebook, X, Instagram, TikTok and news.</a:t>
            </a:r>
            <a:endParaRPr lang="en-US" sz="1000" dirty="0"/>
          </a:p>
        </p:txBody>
      </p:sp>
      <p:sp>
        <p:nvSpPr>
          <p:cNvPr id="58" name="Text"/>
          <p:cNvSpPr txBox="1"/>
          <p:nvPr/>
        </p:nvSpPr>
        <p:spPr>
          <a:xfrm>
            <a:off x="8502640" y="3521903"/>
            <a:ext cx="2843418" cy="180960"/>
          </a:xfrm>
          <a:prstGeom prst="rect">
            <a:avLst/>
          </a:prstGeom>
          <a:noFill/>
          <a:ln/>
        </p:spPr>
        <p:txBody>
          <a:bodyPr wrap="squar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Social: Facebook, X, Instagram and TikTok</a:t>
            </a:r>
            <a:endParaRPr lang="en-US" sz="950" dirty="0"/>
          </a:p>
        </p:txBody>
      </p:sp>
      <p:sp>
        <p:nvSpPr>
          <p:cNvPr id="59" name="Text"/>
          <p:cNvSpPr txBox="1"/>
          <p:nvPr/>
        </p:nvSpPr>
        <p:spPr>
          <a:xfrm>
            <a:off x="8502640" y="3728283"/>
            <a:ext cx="2843418" cy="180960"/>
          </a:xfrm>
          <a:prstGeom prst="rect">
            <a:avLst/>
          </a:prstGeom>
          <a:noFill/>
          <a:ln/>
        </p:spPr>
        <p:txBody>
          <a:bodyPr wrap="squar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News coverage alongside social channels</a:t>
            </a:r>
            <a:endParaRPr lang="en-US" sz="950" dirty="0"/>
          </a:p>
        </p:txBody>
      </p:sp>
      <p:sp>
        <p:nvSpPr>
          <p:cNvPr id="60" name="Text"/>
          <p:cNvSpPr txBox="1"/>
          <p:nvPr/>
        </p:nvSpPr>
        <p:spPr>
          <a:xfrm>
            <a:off x="711220" y="4294388"/>
            <a:ext cx="1287750" cy="182606"/>
          </a:xfrm>
          <a:prstGeom prst="rect">
            <a:avLst/>
          </a:prstGeom>
          <a:noFill/>
          <a:ln/>
        </p:spPr>
        <p:txBody>
          <a:bodyPr wrap="square" lIns="0" tIns="0" rIns="0" bIns="0" rtlCol="0" anchor="t"/>
          <a:lstStyle/>
          <a:p>
            <a:pPr algn="l" indent="0" marL="0">
              <a:lnSpc>
                <a:spcPts val="1438"/>
              </a:lnSpc>
              <a:buNone/>
            </a:pPr>
            <a:r>
              <a:rPr lang="en-US" sz="1150" dirty="0">
                <a:solidFill>
                  <a:srgbClr val="000000"/>
                </a:solidFill>
                <a:latin typeface="Poppins Medium" pitchFamily="34" charset="0"/>
                <a:ea typeface="Poppins Medium" pitchFamily="34" charset="-122"/>
                <a:cs typeface="Poppins Medium" pitchFamily="34" charset="-120"/>
              </a:rPr>
              <a:t>ALPHV avatars</a:t>
            </a:r>
            <a:endParaRPr lang="en-US" sz="1150" dirty="0"/>
          </a:p>
        </p:txBody>
      </p:sp>
      <p:sp>
        <p:nvSpPr>
          <p:cNvPr id="61" name="Text"/>
          <p:cNvSpPr txBox="1"/>
          <p:nvPr/>
        </p:nvSpPr>
        <p:spPr>
          <a:xfrm>
            <a:off x="711220" y="4507535"/>
            <a:ext cx="1287750" cy="337779"/>
          </a:xfrm>
          <a:prstGeom prst="rect">
            <a:avLst/>
          </a:prstGeom>
          <a:noFill/>
          <a:ln/>
        </p:spPr>
        <p:txBody>
          <a:bodyPr wrap="square" lIns="0" tIns="0" rIns="0" bIns="0" rtlCol="0" anchor="t"/>
          <a:lstStyle/>
          <a:p>
            <a:pPr algn="l" indent="0" marL="0">
              <a:lnSpc>
                <a:spcPts val="1330"/>
              </a:lnSpc>
              <a:buNone/>
            </a:pPr>
            <a:r>
              <a:rPr lang="en-US" sz="950" dirty="0">
                <a:solidFill>
                  <a:srgbClr val="6B6B6B"/>
                </a:solidFill>
                <a:latin typeface="Poppins Light" pitchFamily="34" charset="0"/>
                <a:ea typeface="Poppins Light" pitchFamily="34" charset="-122"/>
                <a:cs typeface="Poppins Light" pitchFamily="34" charset="-120"/>
              </a:rPr>
              <a:t>For orders, answers and interviews</a:t>
            </a:r>
            <a:endParaRPr lang="en-US" sz="950" dirty="0"/>
          </a:p>
        </p:txBody>
      </p:sp>
      <p:sp>
        <p:nvSpPr>
          <p:cNvPr id="62" name="Text"/>
          <p:cNvSpPr txBox="1"/>
          <p:nvPr/>
        </p:nvSpPr>
        <p:spPr>
          <a:xfrm>
            <a:off x="2813060" y="4277197"/>
            <a:ext cx="1865467"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Digital avatars</a:t>
            </a:r>
            <a:endParaRPr lang="en-US" sz="850" dirty="0"/>
          </a:p>
        </p:txBody>
      </p:sp>
      <p:sp>
        <p:nvSpPr>
          <p:cNvPr id="63" name="Text"/>
          <p:cNvSpPr txBox="1"/>
          <p:nvPr/>
        </p:nvSpPr>
        <p:spPr>
          <a:xfrm>
            <a:off x="2813060" y="4460077"/>
            <a:ext cx="1182319" cy="195042"/>
          </a:xfrm>
          <a:prstGeom prst="rect">
            <a:avLst/>
          </a:prstGeom>
          <a:noFill/>
          <a:ln/>
        </p:spPr>
        <p:txBody>
          <a:bodyPr wrap="none" lIns="0" tIns="0" rIns="0" bIns="0" rtlCol="0" anchor="t"/>
          <a:lstStyle/>
          <a:p>
            <a:pPr algn="l" indent="0" marL="0">
              <a:lnSpc>
                <a:spcPts val="1536"/>
              </a:lnSpc>
              <a:buNone/>
            </a:pPr>
            <a:r>
              <a:rPr lang="en-US" sz="1200" dirty="0">
                <a:solidFill>
                  <a:srgbClr val="000000"/>
                </a:solidFill>
                <a:latin typeface="Poppins Medium" pitchFamily="34" charset="0"/>
                <a:ea typeface="Poppins Medium" pitchFamily="34" charset="-122"/>
                <a:cs typeface="Poppins Medium" pitchFamily="34" charset="-120"/>
              </a:rPr>
              <a:t>ALPHV Avatar™</a:t>
            </a:r>
            <a:endParaRPr lang="en-US" sz="1200" dirty="0"/>
          </a:p>
        </p:txBody>
      </p:sp>
      <p:sp>
        <p:nvSpPr>
          <p:cNvPr id="64" name="Text"/>
          <p:cNvSpPr txBox="1"/>
          <p:nvPr/>
        </p:nvSpPr>
        <p:spPr>
          <a:xfrm>
            <a:off x="4122298" y="4516496"/>
            <a:ext cx="485272"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Flagship</a:t>
            </a:r>
            <a:endParaRPr lang="en-US" sz="850" dirty="0"/>
          </a:p>
        </p:txBody>
      </p:sp>
      <p:sp>
        <p:nvSpPr>
          <p:cNvPr id="65" name="Text"/>
          <p:cNvSpPr txBox="1"/>
          <p:nvPr/>
        </p:nvSpPr>
        <p:spPr>
          <a:xfrm>
            <a:off x="5333970" y="4263573"/>
            <a:ext cx="2837017" cy="393741"/>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Digital avatars that take orders, answer questions and screen candidates.</a:t>
            </a:r>
            <a:endParaRPr lang="en-US" sz="1000" dirty="0"/>
          </a:p>
        </p:txBody>
      </p:sp>
      <p:sp>
        <p:nvSpPr>
          <p:cNvPr id="66" name="Text"/>
          <p:cNvSpPr txBox="1"/>
          <p:nvPr/>
        </p:nvSpPr>
        <p:spPr>
          <a:xfrm>
            <a:off x="8502640" y="4267779"/>
            <a:ext cx="2844790" cy="180960"/>
          </a:xfrm>
          <a:prstGeom prst="rect">
            <a:avLst/>
          </a:prstGeom>
          <a:noFill/>
          <a:ln/>
        </p:spPr>
        <p:txBody>
          <a:bodyPr wrap="non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Digital Mamak, Digital Ustaz, Digital Interviewer</a:t>
            </a:r>
            <a:endParaRPr lang="en-US" sz="950" dirty="0"/>
          </a:p>
        </p:txBody>
      </p:sp>
      <p:sp>
        <p:nvSpPr>
          <p:cNvPr id="67" name="Text"/>
          <p:cNvSpPr txBox="1"/>
          <p:nvPr/>
        </p:nvSpPr>
        <p:spPr>
          <a:xfrm>
            <a:off x="8502640" y="4474068"/>
            <a:ext cx="2843418" cy="180960"/>
          </a:xfrm>
          <a:prstGeom prst="rect">
            <a:avLst/>
          </a:prstGeom>
          <a:noFill/>
          <a:ln/>
        </p:spPr>
        <p:txBody>
          <a:bodyPr wrap="squar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Digital Ustaz is live at digitalustaz.com</a:t>
            </a:r>
            <a:endParaRPr lang="en-US" sz="950" dirty="0"/>
          </a:p>
        </p:txBody>
      </p:sp>
      <p:sp>
        <p:nvSpPr>
          <p:cNvPr id="68" name="Text"/>
          <p:cNvSpPr txBox="1"/>
          <p:nvPr/>
        </p:nvSpPr>
        <p:spPr>
          <a:xfrm>
            <a:off x="2813060" y="4888748"/>
            <a:ext cx="1399764" cy="167335"/>
          </a:xfrm>
          <a:prstGeom prst="rect">
            <a:avLst/>
          </a:prstGeom>
          <a:noFill/>
          <a:ln/>
        </p:spPr>
        <p:txBody>
          <a:bodyPr wrap="non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Video and voice avatars</a:t>
            </a:r>
            <a:endParaRPr lang="en-US" sz="850" dirty="0"/>
          </a:p>
        </p:txBody>
      </p:sp>
      <p:sp>
        <p:nvSpPr>
          <p:cNvPr id="69" name="Text"/>
          <p:cNvSpPr txBox="1"/>
          <p:nvPr/>
        </p:nvSpPr>
        <p:spPr>
          <a:xfrm>
            <a:off x="2813060" y="5071628"/>
            <a:ext cx="1399764" cy="195042"/>
          </a:xfrm>
          <a:prstGeom prst="rect">
            <a:avLst/>
          </a:prstGeom>
          <a:noFill/>
          <a:ln/>
        </p:spPr>
        <p:txBody>
          <a:bodyPr wrap="none" lIns="0" tIns="0" rIns="0" bIns="0" rtlCol="0" anchor="t"/>
          <a:lstStyle/>
          <a:p>
            <a:pPr algn="l" indent="0" marL="0">
              <a:lnSpc>
                <a:spcPts val="1536"/>
              </a:lnSpc>
              <a:buNone/>
            </a:pPr>
            <a:r>
              <a:rPr lang="en-US" sz="1200" dirty="0">
                <a:solidFill>
                  <a:srgbClr val="000000"/>
                </a:solidFill>
                <a:latin typeface="Poppins Medium" pitchFamily="34" charset="0"/>
                <a:ea typeface="Poppins Medium" pitchFamily="34" charset="-122"/>
                <a:cs typeface="Poppins Medium" pitchFamily="34" charset="-120"/>
              </a:rPr>
              <a:t>ALPHV HelloGen™</a:t>
            </a:r>
            <a:endParaRPr lang="en-US" sz="1200" dirty="0"/>
          </a:p>
        </p:txBody>
      </p:sp>
      <p:sp>
        <p:nvSpPr>
          <p:cNvPr id="70" name="Text"/>
          <p:cNvSpPr txBox="1"/>
          <p:nvPr/>
        </p:nvSpPr>
        <p:spPr>
          <a:xfrm>
            <a:off x="5333970" y="4875215"/>
            <a:ext cx="2950952" cy="393741"/>
          </a:xfrm>
          <a:prstGeom prst="rect">
            <a:avLst/>
          </a:prstGeom>
          <a:noFill/>
          <a:ln/>
        </p:spPr>
        <p:txBody>
          <a:bodyPr wrap="square" lIns="0" tIns="0" rIns="0" bIns="0" rtlCol="0" anchor="t"/>
          <a:lstStyle/>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Turn a 3-minute clip into a life-like avatar</a:t>
            </a:r>
            <a:endParaRPr lang="en-US" sz="1000" dirty="0"/>
          </a:p>
          <a:p>
            <a:pPr algn="l" indent="0" marL="0">
              <a:lnSpc>
                <a:spcPts val="1550"/>
              </a:lnSpc>
              <a:buNone/>
            </a:pPr>
            <a:r>
              <a:rPr lang="en-US" sz="1000" dirty="0">
                <a:solidFill>
                  <a:srgbClr val="1F2937"/>
                </a:solidFill>
                <a:latin typeface="Poppins Light" pitchFamily="34" charset="0"/>
                <a:ea typeface="Poppins Light" pitchFamily="34" charset="-122"/>
                <a:cs typeface="Poppins Light" pitchFamily="34" charset="-120"/>
              </a:rPr>
              <a:t>with lip-sync and low-latency replies.</a:t>
            </a:r>
            <a:endParaRPr lang="en-US" sz="1000" dirty="0"/>
          </a:p>
        </p:txBody>
      </p:sp>
      <p:sp>
        <p:nvSpPr>
          <p:cNvPr id="71" name="Text"/>
          <p:cNvSpPr txBox="1"/>
          <p:nvPr/>
        </p:nvSpPr>
        <p:spPr>
          <a:xfrm>
            <a:off x="8502640" y="4879330"/>
            <a:ext cx="2843418" cy="180960"/>
          </a:xfrm>
          <a:prstGeom prst="rect">
            <a:avLst/>
          </a:prstGeom>
          <a:noFill/>
          <a:ln/>
        </p:spPr>
        <p:txBody>
          <a:bodyPr wrap="squar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Lip-synced video and voice</a:t>
            </a:r>
            <a:endParaRPr lang="en-US" sz="950" dirty="0"/>
          </a:p>
        </p:txBody>
      </p:sp>
      <p:sp>
        <p:nvSpPr>
          <p:cNvPr id="72" name="Text"/>
          <p:cNvSpPr txBox="1"/>
          <p:nvPr/>
        </p:nvSpPr>
        <p:spPr>
          <a:xfrm>
            <a:off x="8502640" y="5085710"/>
            <a:ext cx="2843418" cy="180960"/>
          </a:xfrm>
          <a:prstGeom prst="rect">
            <a:avLst/>
          </a:prstGeom>
          <a:noFill/>
          <a:ln/>
        </p:spPr>
        <p:txBody>
          <a:bodyPr wrap="square" lIns="0" tIns="0" rIns="0" bIns="0" rtlCol="0" anchor="t"/>
          <a:lstStyle/>
          <a:p>
            <a:pPr algn="l" indent="0" marL="0">
              <a:lnSpc>
                <a:spcPts val="1425"/>
              </a:lnSpc>
              <a:buNone/>
            </a:pPr>
            <a:r>
              <a:rPr lang="en-US" sz="950" dirty="0">
                <a:solidFill>
                  <a:srgbClr val="1F2937"/>
                </a:solidFill>
                <a:latin typeface="Poppins Light" pitchFamily="34" charset="0"/>
                <a:ea typeface="Poppins Light" pitchFamily="34" charset="-122"/>
                <a:cs typeface="Poppins Light" pitchFamily="34" charset="-120"/>
              </a:rPr>
              <a:t>Low-latency replies</a:t>
            </a:r>
            <a:endParaRPr lang="en-US" sz="950" dirty="0"/>
          </a:p>
        </p:txBody>
      </p:sp>
      <p:sp>
        <p:nvSpPr>
          <p:cNvPr id="73" name="Text"/>
          <p:cNvSpPr txBox="1"/>
          <p:nvPr/>
        </p:nvSpPr>
        <p:spPr>
          <a:xfrm>
            <a:off x="711220" y="5632887"/>
            <a:ext cx="1287750" cy="236190"/>
          </a:xfrm>
          <a:prstGeom prst="rect">
            <a:avLst/>
          </a:prstGeom>
          <a:noFill/>
          <a:ln/>
        </p:spPr>
        <p:txBody>
          <a:bodyPr wrap="square" lIns="0" tIns="0" rIns="0" bIns="0" rtlCol="0" anchor="t"/>
          <a:lstStyle/>
          <a:p>
            <a:pPr algn="l" indent="0" marL="0">
              <a:lnSpc>
                <a:spcPts val="1860"/>
              </a:lnSpc>
              <a:buNone/>
            </a:pPr>
            <a:r>
              <a:rPr lang="en-US" sz="1050" dirty="0">
                <a:solidFill>
                  <a:srgbClr val="000000"/>
                </a:solidFill>
                <a:latin typeface="Poppins Medium" pitchFamily="34" charset="0"/>
                <a:ea typeface="Poppins Medium" pitchFamily="34" charset="-122"/>
                <a:cs typeface="Poppins Medium" pitchFamily="34" charset="-120"/>
              </a:rPr>
              <a:t>Also from ALPHV</a:t>
            </a:r>
            <a:endParaRPr lang="en-US" sz="1050" dirty="0"/>
          </a:p>
        </p:txBody>
      </p:sp>
      <p:sp>
        <p:nvSpPr>
          <p:cNvPr id="74" name="Text"/>
          <p:cNvSpPr txBox="1"/>
          <p:nvPr/>
        </p:nvSpPr>
        <p:spPr>
          <a:xfrm>
            <a:off x="2311420" y="5637459"/>
            <a:ext cx="4582150" cy="36832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AI-generated UGC and ads</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for brands, including a client reel with</a:t>
            </a:r>
            <a:endParaRPr lang="en-US" sz="1000" dirty="0"/>
          </a:p>
          <a:p>
            <a:pPr algn="l" indent="0" marL="0">
              <a:lnSpc>
                <a:spcPts val="1450"/>
              </a:lnSpc>
              <a:buNone/>
            </a:pPr>
            <a:r>
              <a:rPr lang="en-US" sz="1000" dirty="0">
                <a:solidFill>
                  <a:srgbClr val="044BD9"/>
                </a:solidFill>
                <a:latin typeface="Poppins Medium" pitchFamily="34" charset="0"/>
                <a:ea typeface="Poppins Medium" pitchFamily="34" charset="-122"/>
                <a:cs typeface="Poppins Medium" pitchFamily="34" charset="-120"/>
              </a:rPr>
              <a:t>50.1K</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views for @richdadwilliam</a:t>
            </a:r>
            <a:endParaRPr lang="en-US" sz="1000" dirty="0"/>
          </a:p>
        </p:txBody>
      </p:sp>
      <p:sp>
        <p:nvSpPr>
          <p:cNvPr id="75" name="Text"/>
          <p:cNvSpPr txBox="1"/>
          <p:nvPr/>
        </p:nvSpPr>
        <p:spPr>
          <a:xfrm>
            <a:off x="6946880" y="5637459"/>
            <a:ext cx="4411706" cy="36832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Kiralytics FIGHT,</a:t>
            </a:r>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 a real-time combat sports analysis prototype for national athletes, in development</a:t>
            </a:r>
            <a:endParaRPr lang="en-US" sz="1000" dirty="0"/>
          </a:p>
        </p:txBody>
      </p:sp>
      <p:sp>
        <p:nvSpPr>
          <p:cNvPr id="76"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77"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78"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79"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Sectors and products</a:t>
            </a:r>
            <a:endParaRPr lang="en-US" sz="850" dirty="0"/>
          </a:p>
        </p:txBody>
      </p:sp>
      <p:sp>
        <p:nvSpPr>
          <p:cNvPr id="80"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81"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82" name="Source"/>
          <p:cNvSpPr txBox="1"/>
          <p:nvPr/>
        </p:nvSpPr>
        <p:spPr>
          <a:xfrm>
            <a:off x="711220" y="6401532"/>
            <a:ext cx="8280441"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alphv.com/products and its product pages (October 2026). The 50.1K views come from a separate AI content service, not from ALPHV HelloGen™.</a:t>
            </a:r>
            <a:endParaRPr lang="en-US" sz="850" dirty="0"/>
          </a:p>
        </p:txBody>
      </p:sp>
      <p:sp>
        <p:nvSpPr>
          <p:cNvPr id="83" name="Text"/>
          <p:cNvSpPr txBox="1"/>
          <p:nvPr/>
        </p:nvSpPr>
        <p:spPr>
          <a:xfrm>
            <a:off x="9349740"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84" name="Text"/>
          <p:cNvSpPr txBox="1"/>
          <p:nvPr/>
        </p:nvSpPr>
        <p:spPr>
          <a:xfrm>
            <a:off x="9857781"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85" name="Text"/>
          <p:cNvSpPr txBox="1"/>
          <p:nvPr/>
        </p:nvSpPr>
        <p:spPr>
          <a:xfrm>
            <a:off x="11349258" y="6401532"/>
            <a:ext cx="157002"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1373154" cy="254020"/>
          </a:xfrm>
          <a:prstGeom prst="roundRect">
            <a:avLst>
              <a:gd name="adj" fmla="val 50000"/>
            </a:avLst>
          </a:prstGeom>
          <a:ln w="6350">
            <a:solidFill>
              <a:srgbClr val="155DFC"/>
            </a:solidFill>
            <a:prstDash val="solid"/>
          </a:ln>
        </p:spPr>
      </p:sp>
      <p:sp>
        <p:nvSpPr>
          <p:cNvPr id="3" name="div"/>
          <p:cNvSpPr/>
          <p:nvPr/>
        </p:nvSpPr>
        <p:spPr>
          <a:xfrm>
            <a:off x="711220" y="2073859"/>
            <a:ext cx="1689080" cy="3945910"/>
          </a:xfrm>
          <a:prstGeom prst="roundRect">
            <a:avLst>
              <a:gd name="adj" fmla="val 9024"/>
            </a:avLst>
          </a:prstGeom>
          <a:solidFill>
            <a:srgbClr val="F8F9FA"/>
          </a:solidFill>
          <a:ln/>
        </p:spPr>
      </p:sp>
      <p:pic>
        <p:nvPicPr>
          <p:cNvPr id="4" name="Picture" descr="Kiralytics SHIFT™ clock-in screen showing a staff member’s location at the branch">    </p:cNvPr>
          <p:cNvPicPr>
            <a:picLocks noChangeAspect="1"/>
          </p:cNvPicPr>
          <p:nvPr/>
        </p:nvPicPr>
        <p:blipFill>
          <a:blip r:embed="rId1"/>
          <a:stretch>
            <a:fillRect/>
          </a:stretch>
        </p:blipFill>
        <p:spPr>
          <a:xfrm>
            <a:off x="816193" y="2495306"/>
            <a:ext cx="1479316" cy="3103291"/>
          </a:xfrm>
          <a:prstGeom prst="roundRect">
            <a:avLst>
              <a:gd name="adj" fmla="val 16312"/>
            </a:avLst>
          </a:prstGeom>
        </p:spPr>
      </p:pic>
      <p:sp>
        <p:nvSpPr>
          <p:cNvPr id="5" name="Rule"/>
          <p:cNvSpPr/>
          <p:nvPr/>
        </p:nvSpPr>
        <p:spPr>
          <a:xfrm>
            <a:off x="2616190" y="3663544"/>
            <a:ext cx="3149559" cy="0"/>
          </a:xfrm>
          <a:prstGeom prst="line">
            <a:avLst/>
          </a:prstGeom>
          <a:noFill/>
          <a:ln w="6350">
            <a:solidFill>
              <a:srgbClr val="E3E6EC"/>
            </a:solidFill>
            <a:prstDash val="solid"/>
          </a:ln>
        </p:spPr>
      </p:sp>
      <p:sp>
        <p:nvSpPr>
          <p:cNvPr id="6" name="Rule"/>
          <p:cNvSpPr/>
          <p:nvPr/>
        </p:nvSpPr>
        <p:spPr>
          <a:xfrm>
            <a:off x="2616190" y="4177894"/>
            <a:ext cx="3149559" cy="0"/>
          </a:xfrm>
          <a:prstGeom prst="line">
            <a:avLst/>
          </a:prstGeom>
          <a:noFill/>
          <a:ln w="6350">
            <a:solidFill>
              <a:srgbClr val="E3E6EC"/>
            </a:solidFill>
            <a:prstDash val="solid"/>
          </a:ln>
        </p:spPr>
      </p:sp>
      <p:sp>
        <p:nvSpPr>
          <p:cNvPr id="7" name="Rule"/>
          <p:cNvSpPr/>
          <p:nvPr/>
        </p:nvSpPr>
        <p:spPr>
          <a:xfrm>
            <a:off x="2616190" y="4508083"/>
            <a:ext cx="3149559" cy="0"/>
          </a:xfrm>
          <a:prstGeom prst="line">
            <a:avLst/>
          </a:prstGeom>
          <a:noFill/>
          <a:ln w="6350">
            <a:solidFill>
              <a:srgbClr val="E3E6EC"/>
            </a:solidFill>
            <a:prstDash val="solid"/>
          </a:ln>
        </p:spPr>
      </p:sp>
      <p:sp>
        <p:nvSpPr>
          <p:cNvPr id="8" name="Rule"/>
          <p:cNvSpPr/>
          <p:nvPr/>
        </p:nvSpPr>
        <p:spPr>
          <a:xfrm>
            <a:off x="2616190" y="4838273"/>
            <a:ext cx="3149559" cy="0"/>
          </a:xfrm>
          <a:prstGeom prst="line">
            <a:avLst/>
          </a:prstGeom>
          <a:noFill/>
          <a:ln w="6350">
            <a:solidFill>
              <a:srgbClr val="E3E6EC"/>
            </a:solidFill>
            <a:prstDash val="solid"/>
          </a:ln>
        </p:spPr>
      </p:sp>
      <p:sp>
        <p:nvSpPr>
          <p:cNvPr id="9" name="Rule"/>
          <p:cNvSpPr/>
          <p:nvPr/>
        </p:nvSpPr>
        <p:spPr>
          <a:xfrm>
            <a:off x="2616190" y="5477713"/>
            <a:ext cx="3149559" cy="0"/>
          </a:xfrm>
          <a:prstGeom prst="line">
            <a:avLst/>
          </a:prstGeom>
          <a:noFill/>
          <a:ln w="6350">
            <a:solidFill>
              <a:srgbClr val="E3E6EC"/>
            </a:solidFill>
            <a:prstDash val="solid"/>
          </a:ln>
        </p:spPr>
      </p:sp>
      <p:pic>
        <p:nvPicPr>
          <p:cNvPr id="10" name="Icon" descr="/tmp/deck-pptx-VwALqa/icon-66.png">    </p:cNvPr>
          <p:cNvPicPr>
            <a:picLocks noChangeAspect="1"/>
          </p:cNvPicPr>
          <p:nvPr/>
        </p:nvPicPr>
        <p:blipFill>
          <a:blip r:embed="rId2"/>
          <a:stretch>
            <a:fillRect/>
          </a:stretch>
        </p:blipFill>
        <p:spPr>
          <a:xfrm>
            <a:off x="2616190" y="5569702"/>
            <a:ext cx="165141" cy="165141"/>
          </a:xfrm>
          <a:prstGeom prst="rect">
            <a:avLst/>
          </a:prstGeom>
        </p:spPr>
      </p:pic>
      <p:pic>
        <p:nvPicPr>
          <p:cNvPr id="11" name="Icon" descr="/tmp/deck-pptx-VwALqa/icon-67.png">    </p:cNvPr>
          <p:cNvPicPr>
            <a:picLocks noChangeAspect="1"/>
          </p:cNvPicPr>
          <p:nvPr/>
        </p:nvPicPr>
        <p:blipFill>
          <a:blip r:embed="rId3"/>
          <a:stretch>
            <a:fillRect/>
          </a:stretch>
        </p:blipFill>
        <p:spPr>
          <a:xfrm>
            <a:off x="4210629" y="5569702"/>
            <a:ext cx="165141" cy="165141"/>
          </a:xfrm>
          <a:prstGeom prst="rect">
            <a:avLst/>
          </a:prstGeom>
        </p:spPr>
      </p:pic>
      <p:pic>
        <p:nvPicPr>
          <p:cNvPr id="12" name="Icon" descr="/tmp/deck-pptx-VwALqa/icon-68.png">    </p:cNvPr>
          <p:cNvPicPr>
            <a:picLocks noChangeAspect="1"/>
          </p:cNvPicPr>
          <p:nvPr/>
        </p:nvPicPr>
        <p:blipFill>
          <a:blip r:embed="rId4"/>
          <a:stretch>
            <a:fillRect/>
          </a:stretch>
        </p:blipFill>
        <p:spPr>
          <a:xfrm>
            <a:off x="2616190" y="5832866"/>
            <a:ext cx="165141" cy="165141"/>
          </a:xfrm>
          <a:prstGeom prst="rect">
            <a:avLst/>
          </a:prstGeom>
        </p:spPr>
      </p:pic>
      <p:pic>
        <p:nvPicPr>
          <p:cNvPr id="13" name="Icon" descr="/tmp/deck-pptx-VwALqa/icon-69.png">    </p:cNvPr>
          <p:cNvPicPr>
            <a:picLocks noChangeAspect="1"/>
          </p:cNvPicPr>
          <p:nvPr/>
        </p:nvPicPr>
        <p:blipFill>
          <a:blip r:embed="rId5"/>
          <a:stretch>
            <a:fillRect/>
          </a:stretch>
        </p:blipFill>
        <p:spPr>
          <a:xfrm>
            <a:off x="4210629" y="5832866"/>
            <a:ext cx="165141" cy="165141"/>
          </a:xfrm>
          <a:prstGeom prst="rect">
            <a:avLst/>
          </a:prstGeom>
        </p:spPr>
      </p:pic>
      <p:sp>
        <p:nvSpPr>
          <p:cNvPr id="14" name="Rule"/>
          <p:cNvSpPr/>
          <p:nvPr/>
        </p:nvSpPr>
        <p:spPr>
          <a:xfrm>
            <a:off x="6099139" y="2073859"/>
            <a:ext cx="0" cy="3945910"/>
          </a:xfrm>
          <a:prstGeom prst="line">
            <a:avLst/>
          </a:prstGeom>
          <a:noFill/>
          <a:ln w="6350">
            <a:solidFill>
              <a:srgbClr val="E3E6EC"/>
            </a:solidFill>
            <a:prstDash val="solid"/>
          </a:ln>
        </p:spPr>
      </p:sp>
      <p:sp>
        <p:nvSpPr>
          <p:cNvPr id="15" name="div"/>
          <p:cNvSpPr/>
          <p:nvPr/>
        </p:nvSpPr>
        <p:spPr>
          <a:xfrm>
            <a:off x="6432530" y="3222894"/>
            <a:ext cx="2656606" cy="2123785"/>
          </a:xfrm>
          <a:prstGeom prst="roundRect">
            <a:avLst>
              <a:gd name="adj" fmla="val 7177"/>
            </a:avLst>
          </a:prstGeom>
          <a:solidFill>
            <a:srgbClr val="F8F9FA"/>
          </a:solidFill>
          <a:ln/>
        </p:spPr>
      </p:sp>
      <p:pic>
        <p:nvPicPr>
          <p:cNvPr id="16" name="Picture" descr="The Digital Ustaz website by ALPHV, with its AI avatar ready to answer questions about Islam">    </p:cNvPr>
          <p:cNvPicPr>
            <a:picLocks noChangeAspect="1"/>
          </p:cNvPicPr>
          <p:nvPr/>
        </p:nvPicPr>
        <p:blipFill>
          <a:blip r:embed="rId6"/>
          <a:stretch>
            <a:fillRect/>
          </a:stretch>
        </p:blipFill>
        <p:spPr>
          <a:xfrm>
            <a:off x="6534120" y="3499683"/>
            <a:ext cx="2453427" cy="1570299"/>
          </a:xfrm>
          <a:prstGeom prst="rect">
            <a:avLst/>
          </a:prstGeom>
        </p:spPr>
      </p:pic>
      <p:sp>
        <p:nvSpPr>
          <p:cNvPr id="17" name="Rule"/>
          <p:cNvSpPr/>
          <p:nvPr/>
        </p:nvSpPr>
        <p:spPr>
          <a:xfrm>
            <a:off x="9266895" y="3825027"/>
            <a:ext cx="2213854" cy="0"/>
          </a:xfrm>
          <a:prstGeom prst="line">
            <a:avLst/>
          </a:prstGeom>
          <a:noFill/>
          <a:ln w="6350">
            <a:solidFill>
              <a:srgbClr val="E3E6EC"/>
            </a:solidFill>
            <a:prstDash val="solid"/>
          </a:ln>
        </p:spPr>
      </p:sp>
      <p:sp>
        <p:nvSpPr>
          <p:cNvPr id="18" name="Rule"/>
          <p:cNvSpPr/>
          <p:nvPr/>
        </p:nvSpPr>
        <p:spPr>
          <a:xfrm>
            <a:off x="9266895" y="4744639"/>
            <a:ext cx="2213854" cy="0"/>
          </a:xfrm>
          <a:prstGeom prst="line">
            <a:avLst/>
          </a:prstGeom>
          <a:noFill/>
          <a:ln w="6350">
            <a:solidFill>
              <a:srgbClr val="E3E6EC"/>
            </a:solidFill>
            <a:prstDash val="solid"/>
          </a:ln>
        </p:spPr>
      </p:sp>
      <p:sp>
        <p:nvSpPr>
          <p:cNvPr id="19" name="row"/>
          <p:cNvSpPr/>
          <p:nvPr/>
        </p:nvSpPr>
        <p:spPr>
          <a:xfrm>
            <a:off x="6432530" y="5435559"/>
            <a:ext cx="5048220" cy="584210"/>
          </a:xfrm>
          <a:prstGeom prst="roundRect">
            <a:avLst>
              <a:gd name="adj" fmla="val 17389"/>
            </a:avLst>
          </a:prstGeom>
          <a:solidFill>
            <a:srgbClr val="044BD9">
              <a:alpha val="8000"/>
            </a:srgbClr>
          </a:solidFill>
          <a:ln/>
        </p:spPr>
      </p:sp>
      <p:sp>
        <p:nvSpPr>
          <p:cNvPr id="20" name="tile"/>
          <p:cNvSpPr/>
          <p:nvPr/>
        </p:nvSpPr>
        <p:spPr>
          <a:xfrm>
            <a:off x="6572250" y="5537241"/>
            <a:ext cx="381030" cy="381030"/>
          </a:xfrm>
          <a:prstGeom prst="roundRect">
            <a:avLst>
              <a:gd name="adj" fmla="val 29998"/>
            </a:avLst>
          </a:prstGeom>
          <a:solidFill>
            <a:srgbClr val="044BD9"/>
          </a:solidFill>
          <a:ln/>
        </p:spPr>
      </p:sp>
      <p:pic>
        <p:nvPicPr>
          <p:cNvPr id="21" name="Icon" descr="/tmp/deck-pptx-VwALqa/icon-71.png">    </p:cNvPr>
          <p:cNvPicPr>
            <a:picLocks noChangeAspect="1"/>
          </p:cNvPicPr>
          <p:nvPr/>
        </p:nvPicPr>
        <p:blipFill>
          <a:blip r:embed="rId7"/>
          <a:stretch>
            <a:fillRect/>
          </a:stretch>
        </p:blipFill>
        <p:spPr>
          <a:xfrm>
            <a:off x="6673840" y="5638830"/>
            <a:ext cx="177759" cy="177759"/>
          </a:xfrm>
          <a:prstGeom prst="rect">
            <a:avLst/>
          </a:prstGeom>
        </p:spPr>
      </p:pic>
      <p:sp>
        <p:nvSpPr>
          <p:cNvPr id="22" name="span::before"/>
          <p:cNvSpPr/>
          <p:nvPr/>
        </p:nvSpPr>
        <p:spPr>
          <a:xfrm>
            <a:off x="6191860" y="311170"/>
            <a:ext cx="44440" cy="44440"/>
          </a:xfrm>
          <a:prstGeom prst="rect">
            <a:avLst/>
          </a:prstGeom>
          <a:solidFill>
            <a:srgbClr val="A0A6AF">
              <a:alpha val="55000"/>
            </a:srgbClr>
          </a:solidFill>
          <a:ln/>
        </p:spPr>
      </p:sp>
      <p:sp>
        <p:nvSpPr>
          <p:cNvPr id="23" name="span::before"/>
          <p:cNvSpPr/>
          <p:nvPr/>
        </p:nvSpPr>
        <p:spPr>
          <a:xfrm>
            <a:off x="7145213" y="311170"/>
            <a:ext cx="44440" cy="44440"/>
          </a:xfrm>
          <a:prstGeom prst="rect">
            <a:avLst/>
          </a:prstGeom>
          <a:solidFill>
            <a:srgbClr val="A0A6AF">
              <a:alpha val="55000"/>
            </a:srgbClr>
          </a:solidFill>
          <a:ln/>
        </p:spPr>
      </p:sp>
      <p:sp>
        <p:nvSpPr>
          <p:cNvPr id="24" name="span::before"/>
          <p:cNvSpPr/>
          <p:nvPr/>
        </p:nvSpPr>
        <p:spPr>
          <a:xfrm>
            <a:off x="8056230" y="311170"/>
            <a:ext cx="44440" cy="44440"/>
          </a:xfrm>
          <a:prstGeom prst="rect">
            <a:avLst/>
          </a:prstGeom>
          <a:solidFill>
            <a:srgbClr val="A0A6AF">
              <a:alpha val="55000"/>
            </a:srgbClr>
          </a:solidFill>
          <a:ln/>
        </p:spPr>
      </p:sp>
      <p:sp>
        <p:nvSpPr>
          <p:cNvPr id="25" name="on::before"/>
          <p:cNvSpPr/>
          <p:nvPr/>
        </p:nvSpPr>
        <p:spPr>
          <a:xfrm>
            <a:off x="8972550" y="311170"/>
            <a:ext cx="44440" cy="44440"/>
          </a:xfrm>
          <a:prstGeom prst="rect">
            <a:avLst/>
          </a:prstGeom>
          <a:solidFill>
            <a:srgbClr val="044BD9"/>
          </a:solidFill>
          <a:ln/>
        </p:spPr>
      </p:sp>
      <p:sp>
        <p:nvSpPr>
          <p:cNvPr id="26" name="span::before"/>
          <p:cNvSpPr/>
          <p:nvPr/>
        </p:nvSpPr>
        <p:spPr>
          <a:xfrm>
            <a:off x="10421142" y="311170"/>
            <a:ext cx="44440" cy="44440"/>
          </a:xfrm>
          <a:prstGeom prst="rect">
            <a:avLst/>
          </a:prstGeom>
          <a:solidFill>
            <a:srgbClr val="A0A6AF">
              <a:alpha val="55000"/>
            </a:srgbClr>
          </a:solidFill>
          <a:ln/>
        </p:spPr>
      </p:sp>
      <p:sp>
        <p:nvSpPr>
          <p:cNvPr id="27" name="span::before"/>
          <p:cNvSpPr/>
          <p:nvPr/>
        </p:nvSpPr>
        <p:spPr>
          <a:xfrm>
            <a:off x="10966216" y="311170"/>
            <a:ext cx="44440" cy="44440"/>
          </a:xfrm>
          <a:prstGeom prst="rect">
            <a:avLst/>
          </a:prstGeom>
          <a:solidFill>
            <a:srgbClr val="A0A6AF">
              <a:alpha val="55000"/>
            </a:srgbClr>
          </a:solidFill>
          <a:ln/>
        </p:spPr>
      </p:sp>
      <p:sp>
        <p:nvSpPr>
          <p:cNvPr id="28" name="Text"/>
          <p:cNvSpPr txBox="1"/>
          <p:nvPr/>
        </p:nvSpPr>
        <p:spPr>
          <a:xfrm>
            <a:off x="844540" y="609265"/>
            <a:ext cx="1138245"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Flagship products</a:t>
            </a:r>
            <a:endParaRPr lang="en-US" sz="950" dirty="0"/>
          </a:p>
        </p:txBody>
      </p:sp>
      <p:sp>
        <p:nvSpPr>
          <p:cNvPr id="29"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Two flagships for day-to-day operations:</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branch rostering and role-based avatars</a:t>
            </a:r>
            <a:endParaRPr lang="en-US" sz="3000" dirty="0"/>
          </a:p>
        </p:txBody>
      </p:sp>
      <p:sp>
        <p:nvSpPr>
          <p:cNvPr id="30" name="Text"/>
          <p:cNvSpPr txBox="1"/>
          <p:nvPr/>
        </p:nvSpPr>
        <p:spPr>
          <a:xfrm>
            <a:off x="2616190" y="2060326"/>
            <a:ext cx="3174888"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Kiralytics · Workforce optimiser</a:t>
            </a:r>
            <a:endParaRPr lang="en-US" sz="850" dirty="0"/>
          </a:p>
        </p:txBody>
      </p:sp>
      <p:sp>
        <p:nvSpPr>
          <p:cNvPr id="31" name="Text"/>
          <p:cNvSpPr txBox="1"/>
          <p:nvPr/>
        </p:nvSpPr>
        <p:spPr>
          <a:xfrm>
            <a:off x="2616190" y="2282525"/>
            <a:ext cx="3174888" cy="276332"/>
          </a:xfrm>
          <a:prstGeom prst="rect">
            <a:avLst/>
          </a:prstGeom>
          <a:noFill/>
          <a:ln/>
        </p:spPr>
        <p:txBody>
          <a:bodyPr wrap="square" lIns="0" tIns="0" rIns="0" bIns="0" rtlCol="0" anchor="t"/>
          <a:lstStyle/>
          <a:p>
            <a:pPr algn="l" indent="0" marL="0">
              <a:lnSpc>
                <a:spcPts val="2176"/>
              </a:lnSpc>
              <a:buNone/>
            </a:pPr>
            <a:r>
              <a:rPr lang="en-US" sz="1400" dirty="0">
                <a:solidFill>
                  <a:srgbClr val="000000"/>
                </a:solidFill>
                <a:latin typeface="Poppins SemiBold" pitchFamily="34" charset="0"/>
                <a:ea typeface="Poppins SemiBold" pitchFamily="34" charset="-122"/>
                <a:cs typeface="Poppins SemiBold" pitchFamily="34" charset="-120"/>
              </a:rPr>
              <a:t>Kiralytics SHIFT™</a:t>
            </a:r>
            <a:endParaRPr lang="en-US" sz="1400" dirty="0"/>
          </a:p>
        </p:txBody>
      </p:sp>
      <p:sp>
        <p:nvSpPr>
          <p:cNvPr id="32" name="Text"/>
          <p:cNvSpPr txBox="1"/>
          <p:nvPr/>
        </p:nvSpPr>
        <p:spPr>
          <a:xfrm>
            <a:off x="2616190" y="2649657"/>
            <a:ext cx="3300984" cy="620055"/>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Cloud-native rostering, GPS-verified</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attendance and workforce analytics for</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multi-location retail.</a:t>
            </a:r>
            <a:endParaRPr lang="en-US" sz="1050" dirty="0"/>
          </a:p>
        </p:txBody>
      </p:sp>
      <p:sp>
        <p:nvSpPr>
          <p:cNvPr id="33" name="Text"/>
          <p:cNvSpPr txBox="1"/>
          <p:nvPr/>
        </p:nvSpPr>
        <p:spPr>
          <a:xfrm>
            <a:off x="2616190" y="3416107"/>
            <a:ext cx="3174888" cy="167335"/>
          </a:xfrm>
          <a:prstGeom prst="rect">
            <a:avLst/>
          </a:prstGeom>
          <a:noFill/>
          <a:ln/>
        </p:spPr>
        <p:txBody>
          <a:bodyPr wrap="square" lIns="0" tIns="0" rIns="0" bIns="0" rtlCol="0" anchor="t"/>
          <a:lstStyle/>
          <a:p>
            <a:pPr algn="l" indent="0" marL="0">
              <a:lnSpc>
                <a:spcPts val="1318"/>
              </a:lnSpc>
              <a:buNone/>
            </a:pPr>
            <a:r>
              <a:rPr lang="en-US" sz="850" spc="34" kern="0" dirty="0">
                <a:solidFill>
                  <a:srgbClr val="6B6B6B"/>
                </a:solidFill>
                <a:latin typeface="Poppins Medium" pitchFamily="34" charset="0"/>
                <a:ea typeface="Poppins Medium" pitchFamily="34" charset="-122"/>
                <a:cs typeface="Poppins Medium" pitchFamily="34" charset="-120"/>
              </a:rPr>
              <a:t>One product, three views</a:t>
            </a:r>
            <a:endParaRPr lang="en-US" sz="850" dirty="0"/>
          </a:p>
        </p:txBody>
      </p:sp>
      <p:sp>
        <p:nvSpPr>
          <p:cNvPr id="34" name="Text"/>
          <p:cNvSpPr txBox="1"/>
          <p:nvPr/>
        </p:nvSpPr>
        <p:spPr>
          <a:xfrm>
            <a:off x="2616190" y="3722614"/>
            <a:ext cx="1092159" cy="184160"/>
          </a:xfrm>
          <a:prstGeom prst="rect">
            <a:avLst/>
          </a:prstGeom>
          <a:noFill/>
          <a:ln/>
        </p:spPr>
        <p:txBody>
          <a:bodyPr wrap="non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Store managers</a:t>
            </a:r>
            <a:endParaRPr lang="en-US" sz="1000" dirty="0"/>
          </a:p>
        </p:txBody>
      </p:sp>
      <p:sp>
        <p:nvSpPr>
          <p:cNvPr id="35" name="Text"/>
          <p:cNvSpPr txBox="1"/>
          <p:nvPr/>
        </p:nvSpPr>
        <p:spPr>
          <a:xfrm>
            <a:off x="3784610" y="3722614"/>
            <a:ext cx="2001804" cy="36832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Plan the roster and approve changes</a:t>
            </a:r>
            <a:endParaRPr lang="en-US" sz="1000" dirty="0"/>
          </a:p>
        </p:txBody>
      </p:sp>
      <p:sp>
        <p:nvSpPr>
          <p:cNvPr id="36" name="Text"/>
          <p:cNvSpPr txBox="1"/>
          <p:nvPr/>
        </p:nvSpPr>
        <p:spPr>
          <a:xfrm>
            <a:off x="2616190" y="4236964"/>
            <a:ext cx="1083747"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Rostered staff</a:t>
            </a:r>
            <a:endParaRPr lang="en-US" sz="1000" dirty="0"/>
          </a:p>
        </p:txBody>
      </p:sp>
      <p:sp>
        <p:nvSpPr>
          <p:cNvPr id="37" name="Text"/>
          <p:cNvSpPr txBox="1"/>
          <p:nvPr/>
        </p:nvSpPr>
        <p:spPr>
          <a:xfrm>
            <a:off x="3784610" y="4236964"/>
            <a:ext cx="2001804" cy="18416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Clock in at the branch</a:t>
            </a:r>
            <a:endParaRPr lang="en-US" sz="1000" dirty="0"/>
          </a:p>
        </p:txBody>
      </p:sp>
      <p:sp>
        <p:nvSpPr>
          <p:cNvPr id="38" name="Text"/>
          <p:cNvSpPr txBox="1"/>
          <p:nvPr/>
        </p:nvSpPr>
        <p:spPr>
          <a:xfrm>
            <a:off x="2616190" y="4567154"/>
            <a:ext cx="1083747" cy="18416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HQ admins</a:t>
            </a:r>
            <a:endParaRPr lang="en-US" sz="1000" dirty="0"/>
          </a:p>
        </p:txBody>
      </p:sp>
      <p:sp>
        <p:nvSpPr>
          <p:cNvPr id="39" name="Text"/>
          <p:cNvSpPr txBox="1"/>
          <p:nvPr/>
        </p:nvSpPr>
        <p:spPr>
          <a:xfrm>
            <a:off x="3784610" y="4567154"/>
            <a:ext cx="2001804" cy="184160"/>
          </a:xfrm>
          <a:prstGeom prst="rect">
            <a:avLst/>
          </a:prstGeom>
          <a:noFill/>
          <a:ln/>
        </p:spPr>
        <p:txBody>
          <a:bodyPr wrap="square" lIns="0" tIns="0" rIns="0" bIns="0" rtlCol="0" anchor="t"/>
          <a:lstStyle/>
          <a:p>
            <a:pPr algn="l" indent="0" marL="0">
              <a:lnSpc>
                <a:spcPts val="1450"/>
              </a:lnSpc>
              <a:buNone/>
            </a:pPr>
            <a:r>
              <a:rPr lang="en-US" sz="1000" dirty="0">
                <a:solidFill>
                  <a:srgbClr val="1F2937"/>
                </a:solidFill>
                <a:latin typeface="Poppins Light" pitchFamily="34" charset="0"/>
                <a:ea typeface="Poppins Light" pitchFamily="34" charset="-122"/>
                <a:cs typeface="Poppins Light" pitchFamily="34" charset="-120"/>
              </a:rPr>
              <a:t>Compare every branch</a:t>
            </a:r>
            <a:endParaRPr lang="en-US" sz="1000" dirty="0"/>
          </a:p>
        </p:txBody>
      </p:sp>
      <p:sp>
        <p:nvSpPr>
          <p:cNvPr id="40" name="Text"/>
          <p:cNvSpPr txBox="1"/>
          <p:nvPr/>
        </p:nvSpPr>
        <p:spPr>
          <a:xfrm>
            <a:off x="2616190" y="5217475"/>
            <a:ext cx="3174888" cy="167335"/>
          </a:xfrm>
          <a:prstGeom prst="rect">
            <a:avLst/>
          </a:prstGeom>
          <a:noFill/>
          <a:ln/>
        </p:spPr>
        <p:txBody>
          <a:bodyPr wrap="square" lIns="0" tIns="0" rIns="0" bIns="0" rtlCol="0" anchor="t"/>
          <a:lstStyle/>
          <a:p>
            <a:pPr algn="l" indent="0" marL="0">
              <a:lnSpc>
                <a:spcPts val="1318"/>
              </a:lnSpc>
              <a:buNone/>
            </a:pPr>
            <a:r>
              <a:rPr lang="en-US" sz="850" spc="34" kern="0" dirty="0">
                <a:solidFill>
                  <a:srgbClr val="6B6B6B"/>
                </a:solidFill>
                <a:latin typeface="Poppins Medium" pitchFamily="34" charset="0"/>
                <a:ea typeface="Poppins Medium" pitchFamily="34" charset="-122"/>
                <a:cs typeface="Poppins Medium" pitchFamily="34" charset="-120"/>
              </a:rPr>
              <a:t>Core features</a:t>
            </a:r>
            <a:endParaRPr lang="en-US" sz="850" dirty="0"/>
          </a:p>
        </p:txBody>
      </p:sp>
      <p:sp>
        <p:nvSpPr>
          <p:cNvPr id="41" name="Text"/>
          <p:cNvSpPr txBox="1"/>
          <p:nvPr/>
        </p:nvSpPr>
        <p:spPr>
          <a:xfrm>
            <a:off x="2844790" y="5554431"/>
            <a:ext cx="1108984"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Light" pitchFamily="34" charset="0"/>
                <a:ea typeface="Poppins Light" pitchFamily="34" charset="-122"/>
                <a:cs typeface="Poppins Light" pitchFamily="34" charset="-120"/>
              </a:rPr>
              <a:t>Roster timeline</a:t>
            </a:r>
            <a:endParaRPr lang="en-US" sz="950" dirty="0"/>
          </a:p>
        </p:txBody>
      </p:sp>
      <p:sp>
        <p:nvSpPr>
          <p:cNvPr id="42" name="Text"/>
          <p:cNvSpPr txBox="1"/>
          <p:nvPr/>
        </p:nvSpPr>
        <p:spPr>
          <a:xfrm>
            <a:off x="4439229" y="5554431"/>
            <a:ext cx="1344534"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Light" pitchFamily="34" charset="0"/>
                <a:ea typeface="Poppins Light" pitchFamily="34" charset="-122"/>
                <a:cs typeface="Poppins Light" pitchFamily="34" charset="-120"/>
              </a:rPr>
              <a:t>GPS-verified clock-in</a:t>
            </a:r>
            <a:endParaRPr lang="en-US" sz="950" dirty="0"/>
          </a:p>
        </p:txBody>
      </p:sp>
      <p:sp>
        <p:nvSpPr>
          <p:cNvPr id="43" name="Text"/>
          <p:cNvSpPr txBox="1"/>
          <p:nvPr/>
        </p:nvSpPr>
        <p:spPr>
          <a:xfrm>
            <a:off x="2844790" y="5817596"/>
            <a:ext cx="1108984"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Light" pitchFamily="34" charset="0"/>
                <a:ea typeface="Poppins Light" pitchFamily="34" charset="-122"/>
                <a:cs typeface="Poppins Light" pitchFamily="34" charset="-120"/>
              </a:rPr>
              <a:t>Cross-branch KPIs</a:t>
            </a:r>
            <a:endParaRPr lang="en-US" sz="950" dirty="0"/>
          </a:p>
        </p:txBody>
      </p:sp>
      <p:sp>
        <p:nvSpPr>
          <p:cNvPr id="44" name="Text"/>
          <p:cNvSpPr txBox="1"/>
          <p:nvPr/>
        </p:nvSpPr>
        <p:spPr>
          <a:xfrm>
            <a:off x="4439229" y="5817596"/>
            <a:ext cx="1344534" cy="186995"/>
          </a:xfrm>
          <a:prstGeom prst="rect">
            <a:avLst/>
          </a:prstGeom>
          <a:noFill/>
          <a:ln/>
        </p:spPr>
        <p:txBody>
          <a:bodyPr wrap="square" lIns="0" tIns="0" rIns="0" bIns="0" rtlCol="0" anchor="t"/>
          <a:lstStyle/>
          <a:p>
            <a:pPr algn="l" indent="0" marL="0">
              <a:lnSpc>
                <a:spcPts val="1472"/>
              </a:lnSpc>
              <a:buNone/>
            </a:pPr>
            <a:r>
              <a:rPr lang="en-US" sz="950" dirty="0">
                <a:solidFill>
                  <a:srgbClr val="000000"/>
                </a:solidFill>
                <a:latin typeface="Poppins Light" pitchFamily="34" charset="0"/>
                <a:ea typeface="Poppins Light" pitchFamily="34" charset="-122"/>
                <a:cs typeface="Poppins Light" pitchFamily="34" charset="-120"/>
              </a:rPr>
              <a:t>Real-time attendance</a:t>
            </a:r>
            <a:endParaRPr lang="en-US" sz="950" dirty="0"/>
          </a:p>
        </p:txBody>
      </p:sp>
      <p:sp>
        <p:nvSpPr>
          <p:cNvPr id="45" name="Text"/>
          <p:cNvSpPr txBox="1"/>
          <p:nvPr/>
        </p:nvSpPr>
        <p:spPr>
          <a:xfrm>
            <a:off x="6432530" y="2060326"/>
            <a:ext cx="5081138"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ALPHV · Digital avatars</a:t>
            </a:r>
            <a:endParaRPr lang="en-US" sz="850" dirty="0"/>
          </a:p>
        </p:txBody>
      </p:sp>
      <p:sp>
        <p:nvSpPr>
          <p:cNvPr id="46" name="Text"/>
          <p:cNvSpPr txBox="1"/>
          <p:nvPr/>
        </p:nvSpPr>
        <p:spPr>
          <a:xfrm>
            <a:off x="6432530" y="2282525"/>
            <a:ext cx="5081138" cy="276332"/>
          </a:xfrm>
          <a:prstGeom prst="rect">
            <a:avLst/>
          </a:prstGeom>
          <a:noFill/>
          <a:ln/>
        </p:spPr>
        <p:txBody>
          <a:bodyPr wrap="square" lIns="0" tIns="0" rIns="0" bIns="0" rtlCol="0" anchor="t"/>
          <a:lstStyle/>
          <a:p>
            <a:pPr algn="l" indent="0" marL="0">
              <a:lnSpc>
                <a:spcPts val="2176"/>
              </a:lnSpc>
              <a:buNone/>
            </a:pPr>
            <a:r>
              <a:rPr lang="en-US" sz="1400" dirty="0">
                <a:solidFill>
                  <a:srgbClr val="000000"/>
                </a:solidFill>
                <a:latin typeface="Poppins SemiBold" pitchFamily="34" charset="0"/>
                <a:ea typeface="Poppins SemiBold" pitchFamily="34" charset="-122"/>
                <a:cs typeface="Poppins SemiBold" pitchFamily="34" charset="-120"/>
              </a:rPr>
              <a:t>ALPHV Avatar™</a:t>
            </a:r>
            <a:endParaRPr lang="en-US" sz="1400" dirty="0"/>
          </a:p>
        </p:txBody>
      </p:sp>
      <p:sp>
        <p:nvSpPr>
          <p:cNvPr id="47" name="Text"/>
          <p:cNvSpPr txBox="1"/>
          <p:nvPr/>
        </p:nvSpPr>
        <p:spPr>
          <a:xfrm>
            <a:off x="6432530" y="2649657"/>
            <a:ext cx="5275539" cy="413400"/>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Digital avatars, each built for one role, from the restaurant counter to the</a:t>
            </a:r>
            <a:endParaRPr lang="en-US" sz="1050" dirty="0"/>
          </a:p>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hiring funnel.</a:t>
            </a:r>
            <a:endParaRPr lang="en-US" sz="1050" dirty="0"/>
          </a:p>
        </p:txBody>
      </p:sp>
      <p:sp>
        <p:nvSpPr>
          <p:cNvPr id="48" name="Text"/>
          <p:cNvSpPr txBox="1"/>
          <p:nvPr/>
        </p:nvSpPr>
        <p:spPr>
          <a:xfrm>
            <a:off x="9266895" y="3316072"/>
            <a:ext cx="2235434" cy="236190"/>
          </a:xfrm>
          <a:prstGeom prst="rect">
            <a:avLst/>
          </a:prstGeom>
          <a:noFill/>
          <a:ln/>
        </p:spPr>
        <p:txBody>
          <a:bodyPr wrap="square" lIns="0" tIns="0" rIns="0" bIns="0" rtlCol="0" anchor="t"/>
          <a:lstStyle/>
          <a:p>
            <a:pPr algn="l" indent="0" marL="0">
              <a:lnSpc>
                <a:spcPts val="1860"/>
              </a:lnSpc>
              <a:buNone/>
            </a:pPr>
            <a:r>
              <a:rPr lang="en-US" sz="1050" dirty="0">
                <a:solidFill>
                  <a:srgbClr val="000000"/>
                </a:solidFill>
                <a:latin typeface="Poppins Medium" pitchFamily="34" charset="0"/>
                <a:ea typeface="Poppins Medium" pitchFamily="34" charset="-122"/>
                <a:cs typeface="Poppins Medium" pitchFamily="34" charset="-120"/>
              </a:rPr>
              <a:t>Digital Mamak</a:t>
            </a:r>
            <a:endParaRPr lang="en-US" sz="1050" dirty="0"/>
          </a:p>
        </p:txBody>
      </p:sp>
      <p:sp>
        <p:nvSpPr>
          <p:cNvPr id="49" name="Text"/>
          <p:cNvSpPr txBox="1"/>
          <p:nvPr/>
        </p:nvSpPr>
        <p:spPr>
          <a:xfrm>
            <a:off x="9266895" y="3558662"/>
            <a:ext cx="2235434" cy="174925"/>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Takes restaurant orders</a:t>
            </a:r>
            <a:endParaRPr lang="en-US" sz="950" dirty="0"/>
          </a:p>
        </p:txBody>
      </p:sp>
      <p:sp>
        <p:nvSpPr>
          <p:cNvPr id="50" name="Text"/>
          <p:cNvSpPr txBox="1"/>
          <p:nvPr/>
        </p:nvSpPr>
        <p:spPr>
          <a:xfrm>
            <a:off x="9266895" y="3885834"/>
            <a:ext cx="2235434" cy="236190"/>
          </a:xfrm>
          <a:prstGeom prst="rect">
            <a:avLst/>
          </a:prstGeom>
          <a:noFill/>
          <a:ln/>
        </p:spPr>
        <p:txBody>
          <a:bodyPr wrap="square" lIns="0" tIns="0" rIns="0" bIns="0" rtlCol="0" anchor="t"/>
          <a:lstStyle/>
          <a:p>
            <a:pPr algn="l" indent="0" marL="0">
              <a:lnSpc>
                <a:spcPts val="1860"/>
              </a:lnSpc>
              <a:buNone/>
            </a:pPr>
            <a:r>
              <a:rPr lang="en-US" sz="1050" dirty="0">
                <a:solidFill>
                  <a:srgbClr val="000000"/>
                </a:solidFill>
                <a:latin typeface="Poppins Medium" pitchFamily="34" charset="0"/>
                <a:ea typeface="Poppins Medium" pitchFamily="34" charset="-122"/>
                <a:cs typeface="Poppins Medium" pitchFamily="34" charset="-120"/>
              </a:rPr>
              <a:t>Digital Ustaz</a:t>
            </a:r>
            <a:endParaRPr lang="en-US" sz="1050" dirty="0"/>
          </a:p>
        </p:txBody>
      </p:sp>
      <p:sp>
        <p:nvSpPr>
          <p:cNvPr id="51" name="Text"/>
          <p:cNvSpPr txBox="1"/>
          <p:nvPr/>
        </p:nvSpPr>
        <p:spPr>
          <a:xfrm>
            <a:off x="9266895" y="4128516"/>
            <a:ext cx="2327788" cy="524866"/>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Answers questions about Islam 24/7</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from the Al-Quran and Hadith; live at</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digitalustaz.com</a:t>
            </a:r>
            <a:endParaRPr lang="en-US" sz="950" dirty="0"/>
          </a:p>
        </p:txBody>
      </p:sp>
      <p:sp>
        <p:nvSpPr>
          <p:cNvPr id="52" name="Text"/>
          <p:cNvSpPr txBox="1"/>
          <p:nvPr/>
        </p:nvSpPr>
        <p:spPr>
          <a:xfrm>
            <a:off x="9266895" y="4805538"/>
            <a:ext cx="2235434" cy="236190"/>
          </a:xfrm>
          <a:prstGeom prst="rect">
            <a:avLst/>
          </a:prstGeom>
          <a:noFill/>
          <a:ln/>
        </p:spPr>
        <p:txBody>
          <a:bodyPr wrap="square" lIns="0" tIns="0" rIns="0" bIns="0" rtlCol="0" anchor="t"/>
          <a:lstStyle/>
          <a:p>
            <a:pPr algn="l" indent="0" marL="0">
              <a:lnSpc>
                <a:spcPts val="1860"/>
              </a:lnSpc>
              <a:buNone/>
            </a:pPr>
            <a:r>
              <a:rPr lang="en-US" sz="1050" dirty="0">
                <a:solidFill>
                  <a:srgbClr val="000000"/>
                </a:solidFill>
                <a:latin typeface="Poppins Medium" pitchFamily="34" charset="0"/>
                <a:ea typeface="Poppins Medium" pitchFamily="34" charset="-122"/>
                <a:cs typeface="Poppins Medium" pitchFamily="34" charset="-120"/>
              </a:rPr>
              <a:t>Digital Interviewer</a:t>
            </a:r>
            <a:endParaRPr lang="en-US" sz="1050" dirty="0"/>
          </a:p>
        </p:txBody>
      </p:sp>
      <p:sp>
        <p:nvSpPr>
          <p:cNvPr id="53" name="Text"/>
          <p:cNvSpPr txBox="1"/>
          <p:nvPr/>
        </p:nvSpPr>
        <p:spPr>
          <a:xfrm>
            <a:off x="9266895" y="5048128"/>
            <a:ext cx="2235434" cy="174925"/>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Screens candidates at scale</a:t>
            </a:r>
            <a:endParaRPr lang="en-US" sz="950" dirty="0"/>
          </a:p>
        </p:txBody>
      </p:sp>
      <p:sp>
        <p:nvSpPr>
          <p:cNvPr id="54" name="Text"/>
          <p:cNvSpPr txBox="1"/>
          <p:nvPr/>
        </p:nvSpPr>
        <p:spPr>
          <a:xfrm>
            <a:off x="7067580" y="5529560"/>
            <a:ext cx="4303349" cy="368320"/>
          </a:xfrm>
          <a:prstGeom prst="rect">
            <a:avLst/>
          </a:prstGeom>
          <a:noFill/>
          <a:ln/>
        </p:spPr>
        <p:txBody>
          <a:bodyPr wrap="square" lIns="0" tIns="0" rIns="0" bIns="0" rtlCol="0" anchor="t"/>
          <a:lstStyle/>
          <a:p>
            <a:pPr algn="l" indent="0" marL="0">
              <a:lnSpc>
                <a:spcPts val="1450"/>
              </a:lnSpc>
              <a:buNone/>
            </a:pPr>
            <a:r>
              <a:rPr lang="en-US" sz="1000" dirty="0">
                <a:solidFill>
                  <a:srgbClr val="000000"/>
                </a:solidFill>
                <a:latin typeface="Poppins Medium" pitchFamily="34" charset="0"/>
                <a:ea typeface="Poppins Medium" pitchFamily="34" charset="-122"/>
                <a:cs typeface="Poppins Medium" pitchFamily="34" charset="-120"/>
              </a:rPr>
              <a:t>ALPHV HelloGen™</a:t>
            </a:r>
            <a:pPr algn="l" indent="0" marL="0">
              <a:lnSpc>
                <a:spcPts val="1450"/>
              </a:lnSpc>
              <a:buNone/>
            </a:pPr>
            <a:r>
              <a:rPr lang="en-US" sz="1000" dirty="0">
                <a:solidFill>
                  <a:srgbClr val="000000"/>
                </a:solidFill>
                <a:latin typeface="Poppins Light" pitchFamily="34" charset="0"/>
                <a:ea typeface="Poppins Light" pitchFamily="34" charset="-122"/>
                <a:cs typeface="Poppins Light" pitchFamily="34" charset="-120"/>
              </a:rPr>
              <a:t> creates a life-like video and voice avatar from a 3-minute clip, with lip-sync and low-latency replies.</a:t>
            </a:r>
            <a:endParaRPr lang="en-US" sz="1000" dirty="0"/>
          </a:p>
        </p:txBody>
      </p:sp>
      <p:sp>
        <p:nvSpPr>
          <p:cNvPr id="55"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6"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7"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8"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Sectors and products</a:t>
            </a:r>
            <a:endParaRPr lang="en-US" sz="850" dirty="0"/>
          </a:p>
        </p:txBody>
      </p:sp>
      <p:sp>
        <p:nvSpPr>
          <p:cNvPr id="59"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60"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1"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alphv.com/products and its product pages (October 2026).</a:t>
            </a:r>
            <a:endParaRPr lang="en-US" sz="850" dirty="0"/>
          </a:p>
        </p:txBody>
      </p:sp>
      <p:sp>
        <p:nvSpPr>
          <p:cNvPr id="62" name="Text"/>
          <p:cNvSpPr txBox="1"/>
          <p:nvPr/>
        </p:nvSpPr>
        <p:spPr>
          <a:xfrm>
            <a:off x="9381195"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3" name="Text"/>
          <p:cNvSpPr txBox="1"/>
          <p:nvPr/>
        </p:nvSpPr>
        <p:spPr>
          <a:xfrm>
            <a:off x="988923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4" name="Text"/>
          <p:cNvSpPr txBox="1"/>
          <p:nvPr/>
        </p:nvSpPr>
        <p:spPr>
          <a:xfrm>
            <a:off x="11380714" y="6401532"/>
            <a:ext cx="125547"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p:cNvSpPr txBox="1"/>
          <p:nvPr/>
        </p:nvSpPr>
        <p:spPr>
          <a:xfrm>
            <a:off x="711220" y="2584460"/>
            <a:ext cx="10825399" cy="1257300"/>
          </a:xfrm>
          <a:prstGeom prst="rect">
            <a:avLst/>
          </a:prstGeom>
          <a:noFill/>
          <a:ln/>
        </p:spPr>
        <p:txBody>
          <a:bodyPr wrap="square" lIns="0" tIns="0" rIns="0" bIns="0" rtlCol="0" anchor="t"/>
          <a:lstStyle/>
          <a:p>
            <a:pPr algn="l" indent="0" marL="0">
              <a:lnSpc>
                <a:spcPts val="9900"/>
              </a:lnSpc>
              <a:buNone/>
            </a:pPr>
            <a:r>
              <a:rPr lang="en-US" sz="11000" spc="-440" kern="0" dirty="0">
                <a:solidFill>
                  <a:srgbClr val="F2F6FD"/>
                </a:solidFill>
                <a:latin typeface="Poppins SemiBold" pitchFamily="34" charset="0"/>
                <a:ea typeface="Poppins SemiBold" pitchFamily="34" charset="-122"/>
                <a:cs typeface="Poppins SemiBold" pitchFamily="34" charset="-120"/>
              </a:rPr>
              <a:t>05</a:t>
            </a:r>
            <a:endParaRPr lang="en-US" sz="11000" dirty="0"/>
          </a:p>
        </p:txBody>
      </p:sp>
      <p:sp>
        <p:nvSpPr>
          <p:cNvPr id="3" name="Text"/>
          <p:cNvSpPr txBox="1"/>
          <p:nvPr/>
        </p:nvSpPr>
        <p:spPr>
          <a:xfrm>
            <a:off x="711220" y="3974257"/>
            <a:ext cx="9271010" cy="1280160"/>
          </a:xfrm>
          <a:prstGeom prst="rect">
            <a:avLst/>
          </a:prstGeom>
          <a:noFill/>
          <a:ln/>
        </p:spPr>
        <p:txBody>
          <a:bodyPr wrap="square" lIns="0" tIns="0" rIns="0" bIns="0" rtlCol="0" anchor="t"/>
          <a:lstStyle/>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Work in the field, and</a:t>
            </a:r>
            <a:endParaRPr lang="en-US" sz="4800" dirty="0"/>
          </a:p>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the people noticing</a:t>
            </a:r>
            <a:endParaRPr lang="en-US" sz="4800" dirty="0"/>
          </a:p>
        </p:txBody>
      </p:sp>
      <p:sp>
        <p:nvSpPr>
          <p:cNvPr id="4" name="Text"/>
          <p:cNvSpPr txBox="1"/>
          <p:nvPr/>
        </p:nvSpPr>
        <p:spPr>
          <a:xfrm>
            <a:off x="711220" y="5444155"/>
            <a:ext cx="7421910" cy="552480"/>
          </a:xfrm>
          <a:prstGeom prst="rect">
            <a:avLst/>
          </a:prstGeom>
          <a:noFill/>
          <a:ln/>
        </p:spPr>
        <p:txBody>
          <a:bodyPr wrap="squar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Nine engagements and a case note across Malaysia, Singapore and Vietnam,</a:t>
            </a:r>
            <a:endParaRPr lang="en-US" sz="1450" dirty="0"/>
          </a:p>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plus the wins, stages and partnerships around them.</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768919" cy="254020"/>
          </a:xfrm>
          <a:prstGeom prst="roundRect">
            <a:avLst>
              <a:gd name="adj" fmla="val 50000"/>
            </a:avLst>
          </a:prstGeom>
          <a:ln w="6350">
            <a:solidFill>
              <a:srgbClr val="155DFC"/>
            </a:solidFill>
            <a:prstDash val="solid"/>
          </a:ln>
        </p:spPr>
      </p:sp>
      <p:sp>
        <p:nvSpPr>
          <p:cNvPr id="3" name="Rule"/>
          <p:cNvSpPr/>
          <p:nvPr/>
        </p:nvSpPr>
        <p:spPr>
          <a:xfrm>
            <a:off x="711220" y="2319193"/>
            <a:ext cx="1841510" cy="0"/>
          </a:xfrm>
          <a:prstGeom prst="line">
            <a:avLst/>
          </a:prstGeom>
          <a:noFill/>
          <a:ln w="6350">
            <a:solidFill>
              <a:srgbClr val="E3E6EC"/>
            </a:solidFill>
            <a:prstDash val="solid"/>
          </a:ln>
        </p:spPr>
      </p:sp>
      <p:sp>
        <p:nvSpPr>
          <p:cNvPr id="4" name="Rule"/>
          <p:cNvSpPr/>
          <p:nvPr/>
        </p:nvSpPr>
        <p:spPr>
          <a:xfrm>
            <a:off x="2552730" y="2319193"/>
            <a:ext cx="1968520" cy="0"/>
          </a:xfrm>
          <a:prstGeom prst="line">
            <a:avLst/>
          </a:prstGeom>
          <a:noFill/>
          <a:ln w="6350">
            <a:solidFill>
              <a:srgbClr val="E3E6EC"/>
            </a:solidFill>
            <a:prstDash val="solid"/>
          </a:ln>
        </p:spPr>
      </p:sp>
      <p:sp>
        <p:nvSpPr>
          <p:cNvPr id="5" name="Rule"/>
          <p:cNvSpPr/>
          <p:nvPr/>
        </p:nvSpPr>
        <p:spPr>
          <a:xfrm>
            <a:off x="4521159" y="2319193"/>
            <a:ext cx="3810030" cy="0"/>
          </a:xfrm>
          <a:prstGeom prst="line">
            <a:avLst/>
          </a:prstGeom>
          <a:noFill/>
          <a:ln w="6350">
            <a:solidFill>
              <a:srgbClr val="E3E6EC"/>
            </a:solidFill>
            <a:prstDash val="solid"/>
          </a:ln>
        </p:spPr>
      </p:sp>
      <p:sp>
        <p:nvSpPr>
          <p:cNvPr id="6" name="Rule"/>
          <p:cNvSpPr/>
          <p:nvPr/>
        </p:nvSpPr>
        <p:spPr>
          <a:xfrm>
            <a:off x="8331190" y="2319193"/>
            <a:ext cx="3149559" cy="0"/>
          </a:xfrm>
          <a:prstGeom prst="line">
            <a:avLst/>
          </a:prstGeom>
          <a:noFill/>
          <a:ln w="6350">
            <a:solidFill>
              <a:srgbClr val="E3E6EC"/>
            </a:solidFill>
            <a:prstDash val="solid"/>
          </a:ln>
        </p:spPr>
      </p:sp>
      <p:sp>
        <p:nvSpPr>
          <p:cNvPr id="7" name="Rule"/>
          <p:cNvSpPr/>
          <p:nvPr/>
        </p:nvSpPr>
        <p:spPr>
          <a:xfrm>
            <a:off x="711220" y="2665567"/>
            <a:ext cx="1841510" cy="0"/>
          </a:xfrm>
          <a:prstGeom prst="line">
            <a:avLst/>
          </a:prstGeom>
          <a:noFill/>
          <a:ln w="6350">
            <a:solidFill>
              <a:srgbClr val="E3E6EC"/>
            </a:solidFill>
            <a:prstDash val="solid"/>
          </a:ln>
        </p:spPr>
      </p:sp>
      <p:sp>
        <p:nvSpPr>
          <p:cNvPr id="8" name="Rule"/>
          <p:cNvSpPr/>
          <p:nvPr/>
        </p:nvSpPr>
        <p:spPr>
          <a:xfrm>
            <a:off x="2552730" y="2665567"/>
            <a:ext cx="1968520" cy="0"/>
          </a:xfrm>
          <a:prstGeom prst="line">
            <a:avLst/>
          </a:prstGeom>
          <a:noFill/>
          <a:ln w="6350">
            <a:solidFill>
              <a:srgbClr val="E3E6EC"/>
            </a:solidFill>
            <a:prstDash val="solid"/>
          </a:ln>
        </p:spPr>
      </p:sp>
      <p:sp>
        <p:nvSpPr>
          <p:cNvPr id="9" name="Rule"/>
          <p:cNvSpPr/>
          <p:nvPr/>
        </p:nvSpPr>
        <p:spPr>
          <a:xfrm>
            <a:off x="4521159" y="2665567"/>
            <a:ext cx="3810030" cy="0"/>
          </a:xfrm>
          <a:prstGeom prst="line">
            <a:avLst/>
          </a:prstGeom>
          <a:noFill/>
          <a:ln w="6350">
            <a:solidFill>
              <a:srgbClr val="E3E6EC"/>
            </a:solidFill>
            <a:prstDash val="solid"/>
          </a:ln>
        </p:spPr>
      </p:sp>
      <p:sp>
        <p:nvSpPr>
          <p:cNvPr id="10" name="Rule"/>
          <p:cNvSpPr/>
          <p:nvPr/>
        </p:nvSpPr>
        <p:spPr>
          <a:xfrm>
            <a:off x="8331190" y="2665567"/>
            <a:ext cx="3149559" cy="0"/>
          </a:xfrm>
          <a:prstGeom prst="line">
            <a:avLst/>
          </a:prstGeom>
          <a:noFill/>
          <a:ln w="6350">
            <a:solidFill>
              <a:srgbClr val="E3E6EC"/>
            </a:solidFill>
            <a:prstDash val="solid"/>
          </a:ln>
        </p:spPr>
      </p:sp>
      <p:sp>
        <p:nvSpPr>
          <p:cNvPr id="11" name="Rule"/>
          <p:cNvSpPr/>
          <p:nvPr/>
        </p:nvSpPr>
        <p:spPr>
          <a:xfrm>
            <a:off x="711220" y="3011942"/>
            <a:ext cx="1841510" cy="0"/>
          </a:xfrm>
          <a:prstGeom prst="line">
            <a:avLst/>
          </a:prstGeom>
          <a:noFill/>
          <a:ln w="6350">
            <a:solidFill>
              <a:srgbClr val="E3E6EC"/>
            </a:solidFill>
            <a:prstDash val="solid"/>
          </a:ln>
        </p:spPr>
      </p:sp>
      <p:sp>
        <p:nvSpPr>
          <p:cNvPr id="12" name="Rule"/>
          <p:cNvSpPr/>
          <p:nvPr/>
        </p:nvSpPr>
        <p:spPr>
          <a:xfrm>
            <a:off x="2552730" y="3011942"/>
            <a:ext cx="1968520" cy="0"/>
          </a:xfrm>
          <a:prstGeom prst="line">
            <a:avLst/>
          </a:prstGeom>
          <a:noFill/>
          <a:ln w="6350">
            <a:solidFill>
              <a:srgbClr val="E3E6EC"/>
            </a:solidFill>
            <a:prstDash val="solid"/>
          </a:ln>
        </p:spPr>
      </p:sp>
      <p:sp>
        <p:nvSpPr>
          <p:cNvPr id="13" name="Rule"/>
          <p:cNvSpPr/>
          <p:nvPr/>
        </p:nvSpPr>
        <p:spPr>
          <a:xfrm>
            <a:off x="4521159" y="3011942"/>
            <a:ext cx="3810030" cy="0"/>
          </a:xfrm>
          <a:prstGeom prst="line">
            <a:avLst/>
          </a:prstGeom>
          <a:noFill/>
          <a:ln w="6350">
            <a:solidFill>
              <a:srgbClr val="E3E6EC"/>
            </a:solidFill>
            <a:prstDash val="solid"/>
          </a:ln>
        </p:spPr>
      </p:sp>
      <p:sp>
        <p:nvSpPr>
          <p:cNvPr id="14" name="Rule"/>
          <p:cNvSpPr/>
          <p:nvPr/>
        </p:nvSpPr>
        <p:spPr>
          <a:xfrm>
            <a:off x="8331190" y="3011942"/>
            <a:ext cx="3149559" cy="0"/>
          </a:xfrm>
          <a:prstGeom prst="line">
            <a:avLst/>
          </a:prstGeom>
          <a:noFill/>
          <a:ln w="6350">
            <a:solidFill>
              <a:srgbClr val="E3E6EC"/>
            </a:solidFill>
            <a:prstDash val="solid"/>
          </a:ln>
        </p:spPr>
      </p:sp>
      <p:sp>
        <p:nvSpPr>
          <p:cNvPr id="15" name="Rule"/>
          <p:cNvSpPr/>
          <p:nvPr/>
        </p:nvSpPr>
        <p:spPr>
          <a:xfrm>
            <a:off x="711220" y="3358317"/>
            <a:ext cx="1841510" cy="0"/>
          </a:xfrm>
          <a:prstGeom prst="line">
            <a:avLst/>
          </a:prstGeom>
          <a:noFill/>
          <a:ln w="6350">
            <a:solidFill>
              <a:srgbClr val="E3E6EC"/>
            </a:solidFill>
            <a:prstDash val="solid"/>
          </a:ln>
        </p:spPr>
      </p:sp>
      <p:sp>
        <p:nvSpPr>
          <p:cNvPr id="16" name="Rule"/>
          <p:cNvSpPr/>
          <p:nvPr/>
        </p:nvSpPr>
        <p:spPr>
          <a:xfrm>
            <a:off x="2552730" y="3358317"/>
            <a:ext cx="1968520" cy="0"/>
          </a:xfrm>
          <a:prstGeom prst="line">
            <a:avLst/>
          </a:prstGeom>
          <a:noFill/>
          <a:ln w="6350">
            <a:solidFill>
              <a:srgbClr val="E3E6EC"/>
            </a:solidFill>
            <a:prstDash val="solid"/>
          </a:ln>
        </p:spPr>
      </p:sp>
      <p:sp>
        <p:nvSpPr>
          <p:cNvPr id="17" name="Rule"/>
          <p:cNvSpPr/>
          <p:nvPr/>
        </p:nvSpPr>
        <p:spPr>
          <a:xfrm>
            <a:off x="4521159" y="3358317"/>
            <a:ext cx="3810030" cy="0"/>
          </a:xfrm>
          <a:prstGeom prst="line">
            <a:avLst/>
          </a:prstGeom>
          <a:noFill/>
          <a:ln w="6350">
            <a:solidFill>
              <a:srgbClr val="E3E6EC"/>
            </a:solidFill>
            <a:prstDash val="solid"/>
          </a:ln>
        </p:spPr>
      </p:sp>
      <p:sp>
        <p:nvSpPr>
          <p:cNvPr id="18" name="Rule"/>
          <p:cNvSpPr/>
          <p:nvPr/>
        </p:nvSpPr>
        <p:spPr>
          <a:xfrm>
            <a:off x="8331190" y="3358317"/>
            <a:ext cx="3149559" cy="0"/>
          </a:xfrm>
          <a:prstGeom prst="line">
            <a:avLst/>
          </a:prstGeom>
          <a:noFill/>
          <a:ln w="6350">
            <a:solidFill>
              <a:srgbClr val="E3E6EC"/>
            </a:solidFill>
            <a:prstDash val="solid"/>
          </a:ln>
        </p:spPr>
      </p:sp>
      <p:sp>
        <p:nvSpPr>
          <p:cNvPr id="19" name="Rule"/>
          <p:cNvSpPr/>
          <p:nvPr/>
        </p:nvSpPr>
        <p:spPr>
          <a:xfrm>
            <a:off x="711220" y="3704692"/>
            <a:ext cx="1841510" cy="0"/>
          </a:xfrm>
          <a:prstGeom prst="line">
            <a:avLst/>
          </a:prstGeom>
          <a:noFill/>
          <a:ln w="6350">
            <a:solidFill>
              <a:srgbClr val="E3E6EC"/>
            </a:solidFill>
            <a:prstDash val="solid"/>
          </a:ln>
        </p:spPr>
      </p:sp>
      <p:sp>
        <p:nvSpPr>
          <p:cNvPr id="20" name="Rule"/>
          <p:cNvSpPr/>
          <p:nvPr/>
        </p:nvSpPr>
        <p:spPr>
          <a:xfrm>
            <a:off x="2552730" y="3704692"/>
            <a:ext cx="1968520" cy="0"/>
          </a:xfrm>
          <a:prstGeom prst="line">
            <a:avLst/>
          </a:prstGeom>
          <a:noFill/>
          <a:ln w="6350">
            <a:solidFill>
              <a:srgbClr val="E3E6EC"/>
            </a:solidFill>
            <a:prstDash val="solid"/>
          </a:ln>
        </p:spPr>
      </p:sp>
      <p:sp>
        <p:nvSpPr>
          <p:cNvPr id="21" name="Rule"/>
          <p:cNvSpPr/>
          <p:nvPr/>
        </p:nvSpPr>
        <p:spPr>
          <a:xfrm>
            <a:off x="4521159" y="3704692"/>
            <a:ext cx="3810030" cy="0"/>
          </a:xfrm>
          <a:prstGeom prst="line">
            <a:avLst/>
          </a:prstGeom>
          <a:noFill/>
          <a:ln w="6350">
            <a:solidFill>
              <a:srgbClr val="E3E6EC"/>
            </a:solidFill>
            <a:prstDash val="solid"/>
          </a:ln>
        </p:spPr>
      </p:sp>
      <p:sp>
        <p:nvSpPr>
          <p:cNvPr id="22" name="Rule"/>
          <p:cNvSpPr/>
          <p:nvPr/>
        </p:nvSpPr>
        <p:spPr>
          <a:xfrm>
            <a:off x="8331190" y="3704692"/>
            <a:ext cx="3149559" cy="0"/>
          </a:xfrm>
          <a:prstGeom prst="line">
            <a:avLst/>
          </a:prstGeom>
          <a:noFill/>
          <a:ln w="6350">
            <a:solidFill>
              <a:srgbClr val="E3E6EC"/>
            </a:solidFill>
            <a:prstDash val="solid"/>
          </a:ln>
        </p:spPr>
      </p:sp>
      <p:sp>
        <p:nvSpPr>
          <p:cNvPr id="23" name="Rule"/>
          <p:cNvSpPr/>
          <p:nvPr/>
        </p:nvSpPr>
        <p:spPr>
          <a:xfrm>
            <a:off x="711220" y="4051066"/>
            <a:ext cx="1841510" cy="0"/>
          </a:xfrm>
          <a:prstGeom prst="line">
            <a:avLst/>
          </a:prstGeom>
          <a:noFill/>
          <a:ln w="6350">
            <a:solidFill>
              <a:srgbClr val="E3E6EC"/>
            </a:solidFill>
            <a:prstDash val="solid"/>
          </a:ln>
        </p:spPr>
      </p:sp>
      <p:sp>
        <p:nvSpPr>
          <p:cNvPr id="24" name="Rule"/>
          <p:cNvSpPr/>
          <p:nvPr/>
        </p:nvSpPr>
        <p:spPr>
          <a:xfrm>
            <a:off x="2552730" y="4051066"/>
            <a:ext cx="1968520" cy="0"/>
          </a:xfrm>
          <a:prstGeom prst="line">
            <a:avLst/>
          </a:prstGeom>
          <a:noFill/>
          <a:ln w="6350">
            <a:solidFill>
              <a:srgbClr val="E3E6EC"/>
            </a:solidFill>
            <a:prstDash val="solid"/>
          </a:ln>
        </p:spPr>
      </p:sp>
      <p:sp>
        <p:nvSpPr>
          <p:cNvPr id="25" name="Rule"/>
          <p:cNvSpPr/>
          <p:nvPr/>
        </p:nvSpPr>
        <p:spPr>
          <a:xfrm>
            <a:off x="4521159" y="4051066"/>
            <a:ext cx="3810030" cy="0"/>
          </a:xfrm>
          <a:prstGeom prst="line">
            <a:avLst/>
          </a:prstGeom>
          <a:noFill/>
          <a:ln w="6350">
            <a:solidFill>
              <a:srgbClr val="E3E6EC"/>
            </a:solidFill>
            <a:prstDash val="solid"/>
          </a:ln>
        </p:spPr>
      </p:sp>
      <p:sp>
        <p:nvSpPr>
          <p:cNvPr id="26" name="Rule"/>
          <p:cNvSpPr/>
          <p:nvPr/>
        </p:nvSpPr>
        <p:spPr>
          <a:xfrm>
            <a:off x="8331190" y="4051066"/>
            <a:ext cx="3149559" cy="0"/>
          </a:xfrm>
          <a:prstGeom prst="line">
            <a:avLst/>
          </a:prstGeom>
          <a:noFill/>
          <a:ln w="6350">
            <a:solidFill>
              <a:srgbClr val="E3E6EC"/>
            </a:solidFill>
            <a:prstDash val="solid"/>
          </a:ln>
        </p:spPr>
      </p:sp>
      <p:sp>
        <p:nvSpPr>
          <p:cNvPr id="27" name="Rule"/>
          <p:cNvSpPr/>
          <p:nvPr/>
        </p:nvSpPr>
        <p:spPr>
          <a:xfrm>
            <a:off x="711220" y="4397441"/>
            <a:ext cx="1841510" cy="0"/>
          </a:xfrm>
          <a:prstGeom prst="line">
            <a:avLst/>
          </a:prstGeom>
          <a:noFill/>
          <a:ln w="6350">
            <a:solidFill>
              <a:srgbClr val="E3E6EC"/>
            </a:solidFill>
            <a:prstDash val="solid"/>
          </a:ln>
        </p:spPr>
      </p:sp>
      <p:sp>
        <p:nvSpPr>
          <p:cNvPr id="28" name="Rule"/>
          <p:cNvSpPr/>
          <p:nvPr/>
        </p:nvSpPr>
        <p:spPr>
          <a:xfrm>
            <a:off x="2552730" y="4397441"/>
            <a:ext cx="1968520" cy="0"/>
          </a:xfrm>
          <a:prstGeom prst="line">
            <a:avLst/>
          </a:prstGeom>
          <a:noFill/>
          <a:ln w="6350">
            <a:solidFill>
              <a:srgbClr val="E3E6EC"/>
            </a:solidFill>
            <a:prstDash val="solid"/>
          </a:ln>
        </p:spPr>
      </p:sp>
      <p:sp>
        <p:nvSpPr>
          <p:cNvPr id="29" name="Rule"/>
          <p:cNvSpPr/>
          <p:nvPr/>
        </p:nvSpPr>
        <p:spPr>
          <a:xfrm>
            <a:off x="4521159" y="4397441"/>
            <a:ext cx="3810030" cy="0"/>
          </a:xfrm>
          <a:prstGeom prst="line">
            <a:avLst/>
          </a:prstGeom>
          <a:noFill/>
          <a:ln w="6350">
            <a:solidFill>
              <a:srgbClr val="E3E6EC"/>
            </a:solidFill>
            <a:prstDash val="solid"/>
          </a:ln>
        </p:spPr>
      </p:sp>
      <p:sp>
        <p:nvSpPr>
          <p:cNvPr id="30" name="Rule"/>
          <p:cNvSpPr/>
          <p:nvPr/>
        </p:nvSpPr>
        <p:spPr>
          <a:xfrm>
            <a:off x="8331190" y="4397441"/>
            <a:ext cx="3149559" cy="0"/>
          </a:xfrm>
          <a:prstGeom prst="line">
            <a:avLst/>
          </a:prstGeom>
          <a:noFill/>
          <a:ln w="6350">
            <a:solidFill>
              <a:srgbClr val="E3E6EC"/>
            </a:solidFill>
            <a:prstDash val="solid"/>
          </a:ln>
        </p:spPr>
      </p:sp>
      <p:sp>
        <p:nvSpPr>
          <p:cNvPr id="31" name="Rule"/>
          <p:cNvSpPr/>
          <p:nvPr/>
        </p:nvSpPr>
        <p:spPr>
          <a:xfrm>
            <a:off x="711220" y="4743816"/>
            <a:ext cx="1841510" cy="0"/>
          </a:xfrm>
          <a:prstGeom prst="line">
            <a:avLst/>
          </a:prstGeom>
          <a:noFill/>
          <a:ln w="6350">
            <a:solidFill>
              <a:srgbClr val="E3E6EC"/>
            </a:solidFill>
            <a:prstDash val="solid"/>
          </a:ln>
        </p:spPr>
      </p:sp>
      <p:sp>
        <p:nvSpPr>
          <p:cNvPr id="32" name="Rule"/>
          <p:cNvSpPr/>
          <p:nvPr/>
        </p:nvSpPr>
        <p:spPr>
          <a:xfrm>
            <a:off x="2552730" y="4743816"/>
            <a:ext cx="1968520" cy="0"/>
          </a:xfrm>
          <a:prstGeom prst="line">
            <a:avLst/>
          </a:prstGeom>
          <a:noFill/>
          <a:ln w="6350">
            <a:solidFill>
              <a:srgbClr val="E3E6EC"/>
            </a:solidFill>
            <a:prstDash val="solid"/>
          </a:ln>
        </p:spPr>
      </p:sp>
      <p:sp>
        <p:nvSpPr>
          <p:cNvPr id="33" name="Rule"/>
          <p:cNvSpPr/>
          <p:nvPr/>
        </p:nvSpPr>
        <p:spPr>
          <a:xfrm>
            <a:off x="4521159" y="4743816"/>
            <a:ext cx="3810030" cy="0"/>
          </a:xfrm>
          <a:prstGeom prst="line">
            <a:avLst/>
          </a:prstGeom>
          <a:noFill/>
          <a:ln w="6350">
            <a:solidFill>
              <a:srgbClr val="E3E6EC"/>
            </a:solidFill>
            <a:prstDash val="solid"/>
          </a:ln>
        </p:spPr>
      </p:sp>
      <p:sp>
        <p:nvSpPr>
          <p:cNvPr id="34" name="Rule"/>
          <p:cNvSpPr/>
          <p:nvPr/>
        </p:nvSpPr>
        <p:spPr>
          <a:xfrm>
            <a:off x="8331190" y="4743816"/>
            <a:ext cx="3149559" cy="0"/>
          </a:xfrm>
          <a:prstGeom prst="line">
            <a:avLst/>
          </a:prstGeom>
          <a:noFill/>
          <a:ln w="6350">
            <a:solidFill>
              <a:srgbClr val="E3E6EC"/>
            </a:solidFill>
            <a:prstDash val="solid"/>
          </a:ln>
        </p:spPr>
      </p:sp>
      <p:sp>
        <p:nvSpPr>
          <p:cNvPr id="35" name="Rule"/>
          <p:cNvSpPr/>
          <p:nvPr/>
        </p:nvSpPr>
        <p:spPr>
          <a:xfrm>
            <a:off x="711220" y="5090190"/>
            <a:ext cx="1841510" cy="0"/>
          </a:xfrm>
          <a:prstGeom prst="line">
            <a:avLst/>
          </a:prstGeom>
          <a:noFill/>
          <a:ln w="6350">
            <a:solidFill>
              <a:srgbClr val="E3E6EC"/>
            </a:solidFill>
            <a:prstDash val="solid"/>
          </a:ln>
        </p:spPr>
      </p:sp>
      <p:sp>
        <p:nvSpPr>
          <p:cNvPr id="36" name="Rule"/>
          <p:cNvSpPr/>
          <p:nvPr/>
        </p:nvSpPr>
        <p:spPr>
          <a:xfrm>
            <a:off x="2552730" y="5090190"/>
            <a:ext cx="1968520" cy="0"/>
          </a:xfrm>
          <a:prstGeom prst="line">
            <a:avLst/>
          </a:prstGeom>
          <a:noFill/>
          <a:ln w="6350">
            <a:solidFill>
              <a:srgbClr val="E3E6EC"/>
            </a:solidFill>
            <a:prstDash val="solid"/>
          </a:ln>
        </p:spPr>
      </p:sp>
      <p:sp>
        <p:nvSpPr>
          <p:cNvPr id="37" name="Rule"/>
          <p:cNvSpPr/>
          <p:nvPr/>
        </p:nvSpPr>
        <p:spPr>
          <a:xfrm>
            <a:off x="4521159" y="5090190"/>
            <a:ext cx="3810030" cy="0"/>
          </a:xfrm>
          <a:prstGeom prst="line">
            <a:avLst/>
          </a:prstGeom>
          <a:noFill/>
          <a:ln w="6350">
            <a:solidFill>
              <a:srgbClr val="E3E6EC"/>
            </a:solidFill>
            <a:prstDash val="solid"/>
          </a:ln>
        </p:spPr>
      </p:sp>
      <p:sp>
        <p:nvSpPr>
          <p:cNvPr id="38" name="Rule"/>
          <p:cNvSpPr/>
          <p:nvPr/>
        </p:nvSpPr>
        <p:spPr>
          <a:xfrm>
            <a:off x="8331190" y="5090190"/>
            <a:ext cx="3149559" cy="0"/>
          </a:xfrm>
          <a:prstGeom prst="line">
            <a:avLst/>
          </a:prstGeom>
          <a:noFill/>
          <a:ln w="6350">
            <a:solidFill>
              <a:srgbClr val="E3E6EC"/>
            </a:solidFill>
            <a:prstDash val="solid"/>
          </a:ln>
        </p:spPr>
      </p:sp>
      <p:sp>
        <p:nvSpPr>
          <p:cNvPr id="39" name="Rule"/>
          <p:cNvSpPr/>
          <p:nvPr/>
        </p:nvSpPr>
        <p:spPr>
          <a:xfrm>
            <a:off x="711220" y="5436565"/>
            <a:ext cx="1841510" cy="0"/>
          </a:xfrm>
          <a:prstGeom prst="line">
            <a:avLst/>
          </a:prstGeom>
          <a:noFill/>
          <a:ln w="6350">
            <a:solidFill>
              <a:srgbClr val="E3E6EC"/>
            </a:solidFill>
            <a:prstDash val="solid"/>
          </a:ln>
        </p:spPr>
      </p:sp>
      <p:sp>
        <p:nvSpPr>
          <p:cNvPr id="40" name="Rule"/>
          <p:cNvSpPr/>
          <p:nvPr/>
        </p:nvSpPr>
        <p:spPr>
          <a:xfrm>
            <a:off x="2552730" y="5436565"/>
            <a:ext cx="1968520" cy="0"/>
          </a:xfrm>
          <a:prstGeom prst="line">
            <a:avLst/>
          </a:prstGeom>
          <a:noFill/>
          <a:ln w="6350">
            <a:solidFill>
              <a:srgbClr val="E3E6EC"/>
            </a:solidFill>
            <a:prstDash val="solid"/>
          </a:ln>
        </p:spPr>
      </p:sp>
      <p:sp>
        <p:nvSpPr>
          <p:cNvPr id="41" name="Rule"/>
          <p:cNvSpPr/>
          <p:nvPr/>
        </p:nvSpPr>
        <p:spPr>
          <a:xfrm>
            <a:off x="4521159" y="5436565"/>
            <a:ext cx="3810030" cy="0"/>
          </a:xfrm>
          <a:prstGeom prst="line">
            <a:avLst/>
          </a:prstGeom>
          <a:noFill/>
          <a:ln w="6350">
            <a:solidFill>
              <a:srgbClr val="E3E6EC"/>
            </a:solidFill>
            <a:prstDash val="solid"/>
          </a:ln>
        </p:spPr>
      </p:sp>
      <p:sp>
        <p:nvSpPr>
          <p:cNvPr id="42" name="Rule"/>
          <p:cNvSpPr/>
          <p:nvPr/>
        </p:nvSpPr>
        <p:spPr>
          <a:xfrm>
            <a:off x="8331190" y="5436565"/>
            <a:ext cx="3149559" cy="0"/>
          </a:xfrm>
          <a:prstGeom prst="line">
            <a:avLst/>
          </a:prstGeom>
          <a:noFill/>
          <a:ln w="6350">
            <a:solidFill>
              <a:srgbClr val="E3E6EC"/>
            </a:solidFill>
            <a:prstDash val="solid"/>
          </a:ln>
        </p:spPr>
      </p:sp>
      <p:sp>
        <p:nvSpPr>
          <p:cNvPr id="43" name="span::before"/>
          <p:cNvSpPr/>
          <p:nvPr/>
        </p:nvSpPr>
        <p:spPr>
          <a:xfrm>
            <a:off x="6191860" y="311170"/>
            <a:ext cx="44440" cy="44440"/>
          </a:xfrm>
          <a:prstGeom prst="rect">
            <a:avLst/>
          </a:prstGeom>
          <a:solidFill>
            <a:srgbClr val="A0A6AF">
              <a:alpha val="55000"/>
            </a:srgbClr>
          </a:solidFill>
          <a:ln/>
        </p:spPr>
      </p:sp>
      <p:sp>
        <p:nvSpPr>
          <p:cNvPr id="44" name="span::before"/>
          <p:cNvSpPr/>
          <p:nvPr/>
        </p:nvSpPr>
        <p:spPr>
          <a:xfrm>
            <a:off x="7145213" y="311170"/>
            <a:ext cx="44440" cy="44440"/>
          </a:xfrm>
          <a:prstGeom prst="rect">
            <a:avLst/>
          </a:prstGeom>
          <a:solidFill>
            <a:srgbClr val="A0A6AF">
              <a:alpha val="55000"/>
            </a:srgbClr>
          </a:solidFill>
          <a:ln/>
        </p:spPr>
      </p:sp>
      <p:sp>
        <p:nvSpPr>
          <p:cNvPr id="45" name="span::before"/>
          <p:cNvSpPr/>
          <p:nvPr/>
        </p:nvSpPr>
        <p:spPr>
          <a:xfrm>
            <a:off x="8056230" y="311170"/>
            <a:ext cx="44440" cy="44440"/>
          </a:xfrm>
          <a:prstGeom prst="rect">
            <a:avLst/>
          </a:prstGeom>
          <a:solidFill>
            <a:srgbClr val="A0A6AF">
              <a:alpha val="55000"/>
            </a:srgbClr>
          </a:solidFill>
          <a:ln/>
        </p:spPr>
      </p:sp>
      <p:sp>
        <p:nvSpPr>
          <p:cNvPr id="46" name="span::before"/>
          <p:cNvSpPr/>
          <p:nvPr/>
        </p:nvSpPr>
        <p:spPr>
          <a:xfrm>
            <a:off x="8972550" y="311170"/>
            <a:ext cx="44440" cy="44440"/>
          </a:xfrm>
          <a:prstGeom prst="rect">
            <a:avLst/>
          </a:prstGeom>
          <a:solidFill>
            <a:srgbClr val="A0A6AF">
              <a:alpha val="55000"/>
            </a:srgbClr>
          </a:solidFill>
          <a:ln/>
        </p:spPr>
      </p:sp>
      <p:sp>
        <p:nvSpPr>
          <p:cNvPr id="47" name="on::before"/>
          <p:cNvSpPr/>
          <p:nvPr/>
        </p:nvSpPr>
        <p:spPr>
          <a:xfrm>
            <a:off x="10421142" y="311170"/>
            <a:ext cx="44440" cy="44440"/>
          </a:xfrm>
          <a:prstGeom prst="rect">
            <a:avLst/>
          </a:prstGeom>
          <a:solidFill>
            <a:srgbClr val="044BD9"/>
          </a:solidFill>
          <a:ln/>
        </p:spPr>
      </p:sp>
      <p:sp>
        <p:nvSpPr>
          <p:cNvPr id="48" name="span::before"/>
          <p:cNvSpPr/>
          <p:nvPr/>
        </p:nvSpPr>
        <p:spPr>
          <a:xfrm>
            <a:off x="10966216" y="311170"/>
            <a:ext cx="44440" cy="44440"/>
          </a:xfrm>
          <a:prstGeom prst="rect">
            <a:avLst/>
          </a:prstGeom>
          <a:solidFill>
            <a:srgbClr val="A0A6AF">
              <a:alpha val="55000"/>
            </a:srgbClr>
          </a:solidFill>
          <a:ln/>
        </p:spPr>
      </p:sp>
      <p:sp>
        <p:nvSpPr>
          <p:cNvPr id="49" name="Text"/>
          <p:cNvSpPr txBox="1"/>
          <p:nvPr/>
        </p:nvSpPr>
        <p:spPr>
          <a:xfrm>
            <a:off x="844540" y="609265"/>
            <a:ext cx="534010"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Portfolio</a:t>
            </a:r>
            <a:endParaRPr lang="en-US" sz="950" dirty="0"/>
          </a:p>
        </p:txBody>
      </p:sp>
      <p:sp>
        <p:nvSpPr>
          <p:cNvPr id="50"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Nine engagements and a case note across eight</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sectors, from proof of concept to production</a:t>
            </a:r>
            <a:endParaRPr lang="en-US" sz="3000" dirty="0"/>
          </a:p>
        </p:txBody>
      </p:sp>
      <p:sp>
        <p:nvSpPr>
          <p:cNvPr id="51" name="Text"/>
          <p:cNvSpPr txBox="1"/>
          <p:nvPr/>
        </p:nvSpPr>
        <p:spPr>
          <a:xfrm>
            <a:off x="711220" y="2062612"/>
            <a:ext cx="1739920" cy="156545"/>
          </a:xfrm>
          <a:prstGeom prst="rect">
            <a:avLst/>
          </a:prstGeom>
          <a:noFill/>
          <a:ln/>
        </p:spPr>
        <p:txBody>
          <a:bodyPr wrap="non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Client</a:t>
            </a:r>
            <a:endParaRPr lang="en-US" sz="850" dirty="0"/>
          </a:p>
        </p:txBody>
      </p:sp>
      <p:sp>
        <p:nvSpPr>
          <p:cNvPr id="52" name="Text"/>
          <p:cNvSpPr txBox="1"/>
          <p:nvPr/>
        </p:nvSpPr>
        <p:spPr>
          <a:xfrm>
            <a:off x="2552730" y="2062612"/>
            <a:ext cx="1866930" cy="156545"/>
          </a:xfrm>
          <a:prstGeom prst="rect">
            <a:avLst/>
          </a:prstGeom>
          <a:noFill/>
          <a:ln/>
        </p:spPr>
        <p:txBody>
          <a:bodyPr wrap="non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Sector · country</a:t>
            </a:r>
            <a:endParaRPr lang="en-US" sz="850" dirty="0"/>
          </a:p>
        </p:txBody>
      </p:sp>
      <p:sp>
        <p:nvSpPr>
          <p:cNvPr id="53" name="Text"/>
          <p:cNvSpPr txBox="1"/>
          <p:nvPr/>
        </p:nvSpPr>
        <p:spPr>
          <a:xfrm>
            <a:off x="4521159" y="2062612"/>
            <a:ext cx="3708441" cy="156545"/>
          </a:xfrm>
          <a:prstGeom prst="rect">
            <a:avLst/>
          </a:prstGeom>
          <a:noFill/>
          <a:ln/>
        </p:spPr>
        <p:txBody>
          <a:bodyPr wrap="non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What ALPHV built</a:t>
            </a:r>
            <a:endParaRPr lang="en-US" sz="850" dirty="0"/>
          </a:p>
        </p:txBody>
      </p:sp>
      <p:sp>
        <p:nvSpPr>
          <p:cNvPr id="54" name="Text"/>
          <p:cNvSpPr txBox="1"/>
          <p:nvPr/>
        </p:nvSpPr>
        <p:spPr>
          <a:xfrm>
            <a:off x="8331190" y="2062612"/>
            <a:ext cx="3047970" cy="156545"/>
          </a:xfrm>
          <a:prstGeom prst="rect">
            <a:avLst/>
          </a:prstGeom>
          <a:noFill/>
          <a:ln/>
        </p:spPr>
        <p:txBody>
          <a:bodyPr wrap="non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Result or status</a:t>
            </a:r>
            <a:endParaRPr lang="en-US" sz="850" dirty="0"/>
          </a:p>
        </p:txBody>
      </p:sp>
      <p:sp>
        <p:nvSpPr>
          <p:cNvPr id="55" name="Text"/>
          <p:cNvSpPr txBox="1"/>
          <p:nvPr/>
        </p:nvSpPr>
        <p:spPr>
          <a:xfrm>
            <a:off x="711220" y="2396094"/>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Abraham Ooi &amp; Partners</a:t>
            </a:r>
            <a:endParaRPr lang="en-US" sz="950" dirty="0"/>
          </a:p>
        </p:txBody>
      </p:sp>
      <p:sp>
        <p:nvSpPr>
          <p:cNvPr id="56" name="Text"/>
          <p:cNvSpPr txBox="1"/>
          <p:nvPr/>
        </p:nvSpPr>
        <p:spPr>
          <a:xfrm>
            <a:off x="2552730" y="2396094"/>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Legal</a:t>
            </a:r>
            <a:endParaRPr lang="en-US" sz="950" dirty="0"/>
          </a:p>
        </p:txBody>
      </p:sp>
      <p:sp>
        <p:nvSpPr>
          <p:cNvPr id="57" name="Text"/>
          <p:cNvSpPr txBox="1"/>
          <p:nvPr/>
        </p:nvSpPr>
        <p:spPr>
          <a:xfrm>
            <a:off x="4521159" y="2396094"/>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Sovereign AI case management, replacing a legacy system</a:t>
            </a:r>
            <a:endParaRPr lang="en-US" sz="950" dirty="0"/>
          </a:p>
        </p:txBody>
      </p:sp>
      <p:sp>
        <p:nvSpPr>
          <p:cNvPr id="58" name="Text"/>
          <p:cNvSpPr txBox="1"/>
          <p:nvPr/>
        </p:nvSpPr>
        <p:spPr>
          <a:xfrm>
            <a:off x="8331190" y="2396094"/>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44BD9"/>
                </a:solidFill>
                <a:latin typeface="Poppins Medium" pitchFamily="34" charset="0"/>
                <a:ea typeface="Poppins Medium" pitchFamily="34" charset="-122"/>
                <a:cs typeface="Poppins Medium" pitchFamily="34" charset="-120"/>
              </a:rPr>
              <a:t>90+</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portal automations; in use since 2025</a:t>
            </a:r>
            <a:endParaRPr lang="en-US" sz="950" dirty="0"/>
          </a:p>
        </p:txBody>
      </p:sp>
      <p:sp>
        <p:nvSpPr>
          <p:cNvPr id="59" name="Text"/>
          <p:cNvSpPr txBox="1"/>
          <p:nvPr/>
        </p:nvSpPr>
        <p:spPr>
          <a:xfrm>
            <a:off x="711220" y="2742468"/>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Tasco Insurance</a:t>
            </a:r>
            <a:endParaRPr lang="en-US" sz="950" dirty="0"/>
          </a:p>
        </p:txBody>
      </p:sp>
      <p:sp>
        <p:nvSpPr>
          <p:cNvPr id="60" name="Text"/>
          <p:cNvSpPr txBox="1"/>
          <p:nvPr/>
        </p:nvSpPr>
        <p:spPr>
          <a:xfrm>
            <a:off x="2552730" y="2742468"/>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Insurance · Vietnam</a:t>
            </a:r>
            <a:endParaRPr lang="en-US" sz="950" dirty="0"/>
          </a:p>
        </p:txBody>
      </p:sp>
      <p:sp>
        <p:nvSpPr>
          <p:cNvPr id="61" name="Text"/>
          <p:cNvSpPr txBox="1"/>
          <p:nvPr/>
        </p:nvSpPr>
        <p:spPr>
          <a:xfrm>
            <a:off x="4521159" y="2742468"/>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Multimodal case system for asset damage claims</a:t>
            </a:r>
            <a:endParaRPr lang="en-US" sz="950" dirty="0"/>
          </a:p>
        </p:txBody>
      </p:sp>
      <p:sp>
        <p:nvSpPr>
          <p:cNvPr id="62" name="Text"/>
          <p:cNvSpPr txBox="1"/>
          <p:nvPr/>
        </p:nvSpPr>
        <p:spPr>
          <a:xfrm>
            <a:off x="8331190" y="2742468"/>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Proof of concept, 2026;</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no production results yet</a:t>
            </a:r>
            <a:endParaRPr lang="en-US" sz="950" dirty="0"/>
          </a:p>
        </p:txBody>
      </p:sp>
      <p:sp>
        <p:nvSpPr>
          <p:cNvPr id="63" name="Text"/>
          <p:cNvSpPr txBox="1"/>
          <p:nvPr/>
        </p:nvSpPr>
        <p:spPr>
          <a:xfrm>
            <a:off x="711220" y="3088843"/>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Leading healthcare group</a:t>
            </a:r>
            <a:endParaRPr lang="en-US" sz="950" dirty="0"/>
          </a:p>
        </p:txBody>
      </p:sp>
      <p:sp>
        <p:nvSpPr>
          <p:cNvPr id="64" name="Text"/>
          <p:cNvSpPr txBox="1"/>
          <p:nvPr/>
        </p:nvSpPr>
        <p:spPr>
          <a:xfrm>
            <a:off x="2552730" y="3088843"/>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Healthcare · Malaysia</a:t>
            </a:r>
            <a:endParaRPr lang="en-US" sz="950" dirty="0"/>
          </a:p>
        </p:txBody>
      </p:sp>
      <p:sp>
        <p:nvSpPr>
          <p:cNvPr id="65" name="Text"/>
          <p:cNvSpPr txBox="1"/>
          <p:nvPr/>
        </p:nvSpPr>
        <p:spPr>
          <a:xfrm>
            <a:off x="4521159" y="3088843"/>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Medicolegal claims processing, intake to adjudication</a:t>
            </a:r>
            <a:endParaRPr lang="en-US" sz="950" dirty="0"/>
          </a:p>
        </p:txBody>
      </p:sp>
      <p:sp>
        <p:nvSpPr>
          <p:cNvPr id="66" name="Text"/>
          <p:cNvSpPr txBox="1"/>
          <p:nvPr/>
        </p:nvSpPr>
        <p:spPr>
          <a:xfrm>
            <a:off x="8331190" y="3088843"/>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44BD9"/>
                </a:solidFill>
                <a:latin typeface="Poppins Medium" pitchFamily="34" charset="0"/>
                <a:ea typeface="Poppins Medium" pitchFamily="34" charset="-122"/>
                <a:cs typeface="Poppins Medium" pitchFamily="34" charset="-120"/>
              </a:rPr>
              <a:t>4</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claim stages in one flow</a:t>
            </a:r>
            <a:endParaRPr lang="en-US" sz="950" dirty="0"/>
          </a:p>
        </p:txBody>
      </p:sp>
      <p:sp>
        <p:nvSpPr>
          <p:cNvPr id="67" name="Text"/>
          <p:cNvSpPr txBox="1"/>
          <p:nvPr/>
        </p:nvSpPr>
        <p:spPr>
          <a:xfrm>
            <a:off x="711220" y="3435218"/>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Leading hospitality group</a:t>
            </a:r>
            <a:endParaRPr lang="en-US" sz="950" dirty="0"/>
          </a:p>
        </p:txBody>
      </p:sp>
      <p:sp>
        <p:nvSpPr>
          <p:cNvPr id="68" name="Text"/>
          <p:cNvSpPr txBox="1"/>
          <p:nvPr/>
        </p:nvSpPr>
        <p:spPr>
          <a:xfrm>
            <a:off x="2552730" y="3435218"/>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Hospitality · Singapore</a:t>
            </a:r>
            <a:endParaRPr lang="en-US" sz="950" dirty="0"/>
          </a:p>
        </p:txBody>
      </p:sp>
      <p:sp>
        <p:nvSpPr>
          <p:cNvPr id="69" name="Text"/>
          <p:cNvSpPr txBox="1"/>
          <p:nvPr/>
        </p:nvSpPr>
        <p:spPr>
          <a:xfrm>
            <a:off x="4521159" y="3435218"/>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AI CRM with WhatsApp sales agents</a:t>
            </a:r>
            <a:endParaRPr lang="en-US" sz="950" dirty="0"/>
          </a:p>
        </p:txBody>
      </p:sp>
      <p:sp>
        <p:nvSpPr>
          <p:cNvPr id="70" name="Text"/>
          <p:cNvSpPr txBox="1"/>
          <p:nvPr/>
        </p:nvSpPr>
        <p:spPr>
          <a:xfrm>
            <a:off x="8331190" y="3435218"/>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44BD9"/>
                </a:solidFill>
                <a:latin typeface="Poppins Medium" pitchFamily="34" charset="0"/>
                <a:ea typeface="Poppins Medium" pitchFamily="34" charset="-122"/>
                <a:cs typeface="Poppins Medium" pitchFamily="34" charset="-120"/>
              </a:rPr>
              <a:t>80%</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less manual data entry time</a:t>
            </a:r>
            <a:endParaRPr lang="en-US" sz="950" dirty="0"/>
          </a:p>
        </p:txBody>
      </p:sp>
      <p:sp>
        <p:nvSpPr>
          <p:cNvPr id="71" name="Text"/>
          <p:cNvSpPr txBox="1"/>
          <p:nvPr/>
        </p:nvSpPr>
        <p:spPr>
          <a:xfrm>
            <a:off x="711220" y="3781593"/>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Fundaztic</a:t>
            </a:r>
            <a:endParaRPr lang="en-US" sz="950" dirty="0"/>
          </a:p>
        </p:txBody>
      </p:sp>
      <p:sp>
        <p:nvSpPr>
          <p:cNvPr id="72" name="Text"/>
          <p:cNvSpPr txBox="1"/>
          <p:nvPr/>
        </p:nvSpPr>
        <p:spPr>
          <a:xfrm>
            <a:off x="2552730" y="3781593"/>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Financial services</a:t>
            </a:r>
            <a:endParaRPr lang="en-US" sz="950" dirty="0"/>
          </a:p>
        </p:txBody>
      </p:sp>
      <p:sp>
        <p:nvSpPr>
          <p:cNvPr id="73" name="Text"/>
          <p:cNvSpPr txBox="1"/>
          <p:nvPr/>
        </p:nvSpPr>
        <p:spPr>
          <a:xfrm>
            <a:off x="4521159" y="3781593"/>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Debt recovery management and a UI/UX overhaul design</a:t>
            </a:r>
            <a:endParaRPr lang="en-US" sz="950" dirty="0"/>
          </a:p>
        </p:txBody>
      </p:sp>
      <p:sp>
        <p:nvSpPr>
          <p:cNvPr id="74" name="Text"/>
          <p:cNvSpPr txBox="1"/>
          <p:nvPr/>
        </p:nvSpPr>
        <p:spPr>
          <a:xfrm>
            <a:off x="8331190" y="3781593"/>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Debt recovery system now running</a:t>
            </a:r>
            <a:endParaRPr lang="en-US" sz="950" dirty="0"/>
          </a:p>
        </p:txBody>
      </p:sp>
      <p:sp>
        <p:nvSpPr>
          <p:cNvPr id="75" name="Text"/>
          <p:cNvSpPr txBox="1"/>
          <p:nvPr/>
        </p:nvSpPr>
        <p:spPr>
          <a:xfrm>
            <a:off x="711220" y="4127967"/>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iPajak Group</a:t>
            </a:r>
            <a:endParaRPr lang="en-US" sz="950" dirty="0"/>
          </a:p>
        </p:txBody>
      </p:sp>
      <p:sp>
        <p:nvSpPr>
          <p:cNvPr id="76" name="Text"/>
          <p:cNvSpPr txBox="1"/>
          <p:nvPr/>
        </p:nvSpPr>
        <p:spPr>
          <a:xfrm>
            <a:off x="2552730" y="4127967"/>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Financial services · Malaysia</a:t>
            </a:r>
            <a:endParaRPr lang="en-US" sz="950" dirty="0"/>
          </a:p>
        </p:txBody>
      </p:sp>
      <p:sp>
        <p:nvSpPr>
          <p:cNvPr id="77" name="Text"/>
          <p:cNvSpPr txBox="1"/>
          <p:nvPr/>
        </p:nvSpPr>
        <p:spPr>
          <a:xfrm>
            <a:off x="4521159" y="4127967"/>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Centralised pawn brokerage system, taken over midway</a:t>
            </a:r>
            <a:endParaRPr lang="en-US" sz="950" dirty="0"/>
          </a:p>
        </p:txBody>
      </p:sp>
      <p:sp>
        <p:nvSpPr>
          <p:cNvPr id="78" name="Text"/>
          <p:cNvSpPr txBox="1"/>
          <p:nvPr/>
        </p:nvSpPr>
        <p:spPr>
          <a:xfrm>
            <a:off x="8331190" y="4127967"/>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44BD9"/>
                </a:solidFill>
                <a:latin typeface="Poppins Medium" pitchFamily="34" charset="0"/>
                <a:ea typeface="Poppins Medium" pitchFamily="34" charset="-122"/>
                <a:cs typeface="Poppins Medium" pitchFamily="34" charset="-120"/>
              </a:rPr>
              <a:t>6</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branches on one system; delivered</a:t>
            </a:r>
            <a:endParaRPr lang="en-US" sz="950" dirty="0"/>
          </a:p>
        </p:txBody>
      </p:sp>
      <p:sp>
        <p:nvSpPr>
          <p:cNvPr id="79" name="Text"/>
          <p:cNvSpPr txBox="1"/>
          <p:nvPr/>
        </p:nvSpPr>
        <p:spPr>
          <a:xfrm>
            <a:off x="711220" y="4474342"/>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Eastern Decorator</a:t>
            </a:r>
            <a:endParaRPr lang="en-US" sz="950" dirty="0"/>
          </a:p>
        </p:txBody>
      </p:sp>
      <p:sp>
        <p:nvSpPr>
          <p:cNvPr id="80" name="Text"/>
          <p:cNvSpPr txBox="1"/>
          <p:nvPr/>
        </p:nvSpPr>
        <p:spPr>
          <a:xfrm>
            <a:off x="2552730" y="4474342"/>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Retail</a:t>
            </a:r>
            <a:endParaRPr lang="en-US" sz="950" dirty="0"/>
          </a:p>
        </p:txBody>
      </p:sp>
      <p:sp>
        <p:nvSpPr>
          <p:cNvPr id="81" name="Text"/>
          <p:cNvSpPr txBox="1"/>
          <p:nvPr/>
        </p:nvSpPr>
        <p:spPr>
          <a:xfrm>
            <a:off x="4521159" y="4474342"/>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AI content factory for e-commerce product content</a:t>
            </a:r>
            <a:endParaRPr lang="en-US" sz="950" dirty="0"/>
          </a:p>
        </p:txBody>
      </p:sp>
      <p:sp>
        <p:nvSpPr>
          <p:cNvPr id="82" name="Text"/>
          <p:cNvSpPr txBox="1"/>
          <p:nvPr/>
        </p:nvSpPr>
        <p:spPr>
          <a:xfrm>
            <a:off x="8331190" y="4474342"/>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44BD9"/>
                </a:solidFill>
                <a:latin typeface="Poppins Medium" pitchFamily="34" charset="0"/>
                <a:ea typeface="Poppins Medium" pitchFamily="34" charset="-122"/>
                <a:cs typeface="Poppins Medium" pitchFamily="34" charset="-120"/>
              </a:rPr>
              <a:t>3</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content types per product</a:t>
            </a:r>
            <a:endParaRPr lang="en-US" sz="950" dirty="0"/>
          </a:p>
        </p:txBody>
      </p:sp>
      <p:sp>
        <p:nvSpPr>
          <p:cNvPr id="83" name="Text"/>
          <p:cNvSpPr txBox="1"/>
          <p:nvPr/>
        </p:nvSpPr>
        <p:spPr>
          <a:xfrm>
            <a:off x="711220" y="4820717"/>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FPT AI Factory case note</a:t>
            </a:r>
            <a:endParaRPr lang="en-US" sz="950" dirty="0"/>
          </a:p>
        </p:txBody>
      </p:sp>
      <p:sp>
        <p:nvSpPr>
          <p:cNvPr id="84" name="Text"/>
          <p:cNvSpPr txBox="1"/>
          <p:nvPr/>
        </p:nvSpPr>
        <p:spPr>
          <a:xfrm>
            <a:off x="2552730" y="4820717"/>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Retail</a:t>
            </a:r>
            <a:endParaRPr lang="en-US" sz="950" dirty="0"/>
          </a:p>
        </p:txBody>
      </p:sp>
      <p:sp>
        <p:nvSpPr>
          <p:cNvPr id="85" name="Text"/>
          <p:cNvSpPr txBox="1"/>
          <p:nvPr/>
        </p:nvSpPr>
        <p:spPr>
          <a:xfrm>
            <a:off x="4521159" y="4820717"/>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Promotions model: Qwen2.5-14B-Instruct on H100 SXM</a:t>
            </a:r>
            <a:endParaRPr lang="en-US" sz="950" dirty="0"/>
          </a:p>
        </p:txBody>
      </p:sp>
      <p:sp>
        <p:nvSpPr>
          <p:cNvPr id="86" name="Text"/>
          <p:cNvSpPr txBox="1"/>
          <p:nvPr/>
        </p:nvSpPr>
        <p:spPr>
          <a:xfrm>
            <a:off x="8331190" y="4820717"/>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Promotions model built</a:t>
            </a:r>
            <a:endParaRPr lang="en-US" sz="950" dirty="0"/>
          </a:p>
        </p:txBody>
      </p:sp>
      <p:sp>
        <p:nvSpPr>
          <p:cNvPr id="87" name="Text"/>
          <p:cNvSpPr txBox="1"/>
          <p:nvPr/>
        </p:nvSpPr>
        <p:spPr>
          <a:xfrm>
            <a:off x="711220" y="5167092"/>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A telco</a:t>
            </a:r>
            <a:endParaRPr lang="en-US" sz="950" dirty="0"/>
          </a:p>
        </p:txBody>
      </p:sp>
      <p:sp>
        <p:nvSpPr>
          <p:cNvPr id="88" name="Text"/>
          <p:cNvSpPr txBox="1"/>
          <p:nvPr/>
        </p:nvSpPr>
        <p:spPr>
          <a:xfrm>
            <a:off x="2552730" y="5167092"/>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Telecoms</a:t>
            </a:r>
            <a:endParaRPr lang="en-US" sz="950" dirty="0"/>
          </a:p>
        </p:txBody>
      </p:sp>
      <p:sp>
        <p:nvSpPr>
          <p:cNvPr id="89" name="Text"/>
          <p:cNvSpPr txBox="1"/>
          <p:nvPr/>
        </p:nvSpPr>
        <p:spPr>
          <a:xfrm>
            <a:off x="4521159" y="5167092"/>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VR and web experience for a travelling roadshow</a:t>
            </a:r>
            <a:endParaRPr lang="en-US" sz="950" dirty="0"/>
          </a:p>
        </p:txBody>
      </p:sp>
      <p:sp>
        <p:nvSpPr>
          <p:cNvPr id="90" name="Text"/>
          <p:cNvSpPr txBox="1"/>
          <p:nvPr/>
        </p:nvSpPr>
        <p:spPr>
          <a:xfrm>
            <a:off x="8331190" y="5167092"/>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VR headset and browser from one shared scene</a:t>
            </a:r>
            <a:endParaRPr lang="en-US" sz="950" dirty="0"/>
          </a:p>
        </p:txBody>
      </p:sp>
      <p:sp>
        <p:nvSpPr>
          <p:cNvPr id="91" name="Text"/>
          <p:cNvSpPr txBox="1"/>
          <p:nvPr/>
        </p:nvSpPr>
        <p:spPr>
          <a:xfrm>
            <a:off x="711220" y="5513466"/>
            <a:ext cx="1739920" cy="174925"/>
          </a:xfrm>
          <a:prstGeom prst="rect">
            <a:avLst/>
          </a:prstGeom>
          <a:noFill/>
          <a:ln/>
        </p:spPr>
        <p:txBody>
          <a:bodyPr wrap="non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Carlsberg</a:t>
            </a:r>
            <a:endParaRPr lang="en-US" sz="950" dirty="0"/>
          </a:p>
        </p:txBody>
      </p:sp>
      <p:sp>
        <p:nvSpPr>
          <p:cNvPr id="92" name="Text"/>
          <p:cNvSpPr txBox="1"/>
          <p:nvPr/>
        </p:nvSpPr>
        <p:spPr>
          <a:xfrm>
            <a:off x="2552730" y="5513466"/>
            <a:ext cx="1866930"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Brewing and consumer goods</a:t>
            </a:r>
            <a:endParaRPr lang="en-US" sz="950" dirty="0"/>
          </a:p>
        </p:txBody>
      </p:sp>
      <p:sp>
        <p:nvSpPr>
          <p:cNvPr id="93" name="Text"/>
          <p:cNvSpPr txBox="1"/>
          <p:nvPr/>
        </p:nvSpPr>
        <p:spPr>
          <a:xfrm>
            <a:off x="4521159" y="5513466"/>
            <a:ext cx="3708441" cy="174925"/>
          </a:xfrm>
          <a:prstGeom prst="rect">
            <a:avLst/>
          </a:prstGeom>
          <a:noFill/>
          <a:ln/>
        </p:spPr>
        <p:txBody>
          <a:bodyPr wrap="non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Assisted a core operational data migration</a:t>
            </a:r>
            <a:endParaRPr lang="en-US" sz="950" dirty="0"/>
          </a:p>
        </p:txBody>
      </p:sp>
      <p:sp>
        <p:nvSpPr>
          <p:cNvPr id="94" name="Text"/>
          <p:cNvSpPr txBox="1"/>
          <p:nvPr/>
        </p:nvSpPr>
        <p:spPr>
          <a:xfrm>
            <a:off x="8331190" y="5513466"/>
            <a:ext cx="3047970" cy="174925"/>
          </a:xfrm>
          <a:prstGeom prst="rect">
            <a:avLst/>
          </a:prstGeom>
          <a:noFill/>
          <a:ln/>
        </p:spPr>
        <p:txBody>
          <a:bodyPr wrap="none" lIns="0" tIns="0" rIns="0" bIns="0" rtlCol="0" anchor="t"/>
          <a:lstStyle/>
          <a:p>
            <a:pPr algn="l" indent="0" marL="0">
              <a:lnSpc>
                <a:spcPts val="1378"/>
              </a:lnSpc>
              <a:buNone/>
            </a:pPr>
            <a:r>
              <a:rPr lang="en-US" sz="950" dirty="0">
                <a:solidFill>
                  <a:srgbClr val="044BD9"/>
                </a:solidFill>
                <a:latin typeface="Poppins Medium" pitchFamily="34" charset="0"/>
                <a:ea typeface="Poppins Medium" pitchFamily="34" charset="-122"/>
                <a:cs typeface="Poppins Medium" pitchFamily="34" charset="-120"/>
              </a:rPr>
              <a:t>5-month</a:t>
            </a:r>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 engagement, extraction to cutover</a:t>
            </a:r>
            <a:endParaRPr lang="en-US" sz="950" dirty="0"/>
          </a:p>
        </p:txBody>
      </p:sp>
      <p:sp>
        <p:nvSpPr>
          <p:cNvPr id="95"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96"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97"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98"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99"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100"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101"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 and its case pages (October 2026). Country shown where the case page states it.</a:t>
            </a:r>
            <a:endParaRPr lang="en-US" sz="850" dirty="0"/>
          </a:p>
        </p:txBody>
      </p:sp>
      <p:sp>
        <p:nvSpPr>
          <p:cNvPr id="102" name="Text"/>
          <p:cNvSpPr txBox="1"/>
          <p:nvPr/>
        </p:nvSpPr>
        <p:spPr>
          <a:xfrm>
            <a:off x="9354861"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103" name="Text"/>
          <p:cNvSpPr txBox="1"/>
          <p:nvPr/>
        </p:nvSpPr>
        <p:spPr>
          <a:xfrm>
            <a:off x="9862810"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104" name="Text"/>
          <p:cNvSpPr txBox="1"/>
          <p:nvPr/>
        </p:nvSpPr>
        <p:spPr>
          <a:xfrm>
            <a:off x="11354288" y="6401532"/>
            <a:ext cx="151882"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919246" cy="254020"/>
          </a:xfrm>
          <a:prstGeom prst="roundRect">
            <a:avLst>
              <a:gd name="adj" fmla="val 50000"/>
            </a:avLst>
          </a:prstGeom>
          <a:ln w="6350">
            <a:solidFill>
              <a:srgbClr val="155DFC"/>
            </a:solidFill>
            <a:prstDash val="solid"/>
          </a:ln>
        </p:spPr>
      </p:sp>
      <p:sp>
        <p:nvSpPr>
          <p:cNvPr id="3" name="tag"/>
          <p:cNvSpPr/>
          <p:nvPr/>
        </p:nvSpPr>
        <p:spPr>
          <a:xfrm>
            <a:off x="714421" y="1937339"/>
            <a:ext cx="1301466" cy="228600"/>
          </a:xfrm>
          <a:prstGeom prst="roundRect">
            <a:avLst>
              <a:gd name="adj" fmla="val 50000"/>
            </a:avLst>
          </a:prstGeom>
          <a:solidFill>
            <a:srgbClr val="FFFFFF"/>
          </a:solidFill>
          <a:ln w="6350">
            <a:solidFill>
              <a:srgbClr val="E3E6EC"/>
            </a:solidFill>
            <a:prstDash val="solid"/>
          </a:ln>
        </p:spPr>
      </p:sp>
      <p:sp>
        <p:nvSpPr>
          <p:cNvPr id="4" name="tag"/>
          <p:cNvSpPr/>
          <p:nvPr/>
        </p:nvSpPr>
        <p:spPr>
          <a:xfrm>
            <a:off x="2085655" y="1937339"/>
            <a:ext cx="769833" cy="228600"/>
          </a:xfrm>
          <a:prstGeom prst="roundRect">
            <a:avLst>
              <a:gd name="adj" fmla="val 50000"/>
            </a:avLst>
          </a:prstGeom>
          <a:solidFill>
            <a:srgbClr val="FFFFFF"/>
          </a:solidFill>
          <a:ln w="6350">
            <a:solidFill>
              <a:srgbClr val="E3E6EC"/>
            </a:solidFill>
            <a:prstDash val="solid"/>
          </a:ln>
        </p:spPr>
      </p:sp>
      <p:sp>
        <p:nvSpPr>
          <p:cNvPr id="5" name="tag"/>
          <p:cNvSpPr/>
          <p:nvPr/>
        </p:nvSpPr>
        <p:spPr>
          <a:xfrm>
            <a:off x="2925348" y="1937339"/>
            <a:ext cx="472653" cy="228600"/>
          </a:xfrm>
          <a:prstGeom prst="roundRect">
            <a:avLst>
              <a:gd name="adj" fmla="val 50000"/>
            </a:avLst>
          </a:prstGeom>
          <a:solidFill>
            <a:srgbClr val="FFFFFF"/>
          </a:solidFill>
          <a:ln w="6350">
            <a:solidFill>
              <a:srgbClr val="E3E6EC"/>
            </a:solidFill>
            <a:prstDash val="solid"/>
          </a:ln>
        </p:spPr>
      </p:sp>
      <p:sp>
        <p:nvSpPr>
          <p:cNvPr id="6" name="tag"/>
          <p:cNvSpPr/>
          <p:nvPr/>
        </p:nvSpPr>
        <p:spPr>
          <a:xfrm>
            <a:off x="3464753" y="1934139"/>
            <a:ext cx="526694" cy="234909"/>
          </a:xfrm>
          <a:prstGeom prst="roundRect">
            <a:avLst>
              <a:gd name="adj" fmla="val 50020"/>
            </a:avLst>
          </a:prstGeom>
          <a:solidFill>
            <a:srgbClr val="044BD9">
              <a:alpha val="8000"/>
            </a:srgbClr>
          </a:solidFill>
          <a:ln/>
        </p:spPr>
      </p:sp>
      <p:sp>
        <p:nvSpPr>
          <p:cNvPr id="7" name="tag"/>
          <p:cNvSpPr/>
          <p:nvPr/>
        </p:nvSpPr>
        <p:spPr>
          <a:xfrm>
            <a:off x="4054907" y="1934139"/>
            <a:ext cx="786475" cy="234909"/>
          </a:xfrm>
          <a:prstGeom prst="roundRect">
            <a:avLst>
              <a:gd name="adj" fmla="val 50020"/>
            </a:avLst>
          </a:prstGeom>
          <a:solidFill>
            <a:srgbClr val="044BD9">
              <a:alpha val="8000"/>
            </a:srgbClr>
          </a:solidFill>
          <a:ln/>
        </p:spPr>
      </p:sp>
      <p:sp>
        <p:nvSpPr>
          <p:cNvPr id="8" name="Rule"/>
          <p:cNvSpPr/>
          <p:nvPr/>
        </p:nvSpPr>
        <p:spPr>
          <a:xfrm>
            <a:off x="711220" y="2454890"/>
            <a:ext cx="3431012" cy="0"/>
          </a:xfrm>
          <a:prstGeom prst="line">
            <a:avLst/>
          </a:prstGeom>
          <a:noFill/>
          <a:ln w="12700">
            <a:solidFill>
              <a:srgbClr val="000000"/>
            </a:solidFill>
            <a:prstDash val="solid"/>
          </a:ln>
        </p:spPr>
      </p:sp>
      <p:sp>
        <p:nvSpPr>
          <p:cNvPr id="9" name="card"/>
          <p:cNvSpPr/>
          <p:nvPr/>
        </p:nvSpPr>
        <p:spPr>
          <a:xfrm>
            <a:off x="714421" y="4118000"/>
            <a:ext cx="3424611" cy="1898660"/>
          </a:xfrm>
          <a:prstGeom prst="roundRect">
            <a:avLst>
              <a:gd name="adj" fmla="val 7860"/>
            </a:avLst>
          </a:prstGeom>
          <a:solidFill>
            <a:srgbClr val="FFFFFF"/>
          </a:solidFill>
          <a:ln w="6350">
            <a:solidFill>
              <a:srgbClr val="F0F0F0"/>
            </a:solidFill>
            <a:prstDash val="solid"/>
          </a:ln>
        </p:spPr>
      </p:sp>
      <p:pic>
        <p:nvPicPr>
          <p:cNvPr id="10" name="Picture" descr="ALPHV AI CRM dashboard with lead and revenue charts">    </p:cNvPr>
          <p:cNvPicPr>
            <a:picLocks noChangeAspect="1"/>
          </p:cNvPicPr>
          <p:nvPr/>
        </p:nvPicPr>
        <p:blipFill>
          <a:blip r:embed="rId1"/>
          <a:stretch>
            <a:fillRect/>
          </a:stretch>
        </p:blipFill>
        <p:spPr>
          <a:xfrm>
            <a:off x="832744" y="4184660"/>
            <a:ext cx="3187873" cy="1765341"/>
          </a:xfrm>
          <a:prstGeom prst="rect">
            <a:avLst/>
          </a:prstGeom>
        </p:spPr>
      </p:pic>
      <p:sp>
        <p:nvSpPr>
          <p:cNvPr id="11" name="tag"/>
          <p:cNvSpPr/>
          <p:nvPr/>
        </p:nvSpPr>
        <p:spPr>
          <a:xfrm>
            <a:off x="835030" y="5672572"/>
            <a:ext cx="2845338" cy="273040"/>
          </a:xfrm>
          <a:prstGeom prst="roundRect">
            <a:avLst>
              <a:gd name="adj" fmla="val 50000"/>
            </a:avLst>
          </a:prstGeom>
          <a:solidFill>
            <a:srgbClr val="FFFFFF"/>
          </a:solidFill>
          <a:ln w="6350">
            <a:solidFill>
              <a:srgbClr val="E3E6EC"/>
            </a:solidFill>
            <a:prstDash val="solid"/>
          </a:ln>
        </p:spPr>
      </p:sp>
      <p:sp>
        <p:nvSpPr>
          <p:cNvPr id="12" name="Rule"/>
          <p:cNvSpPr/>
          <p:nvPr/>
        </p:nvSpPr>
        <p:spPr>
          <a:xfrm>
            <a:off x="4294571" y="2454890"/>
            <a:ext cx="3431103" cy="0"/>
          </a:xfrm>
          <a:prstGeom prst="line">
            <a:avLst/>
          </a:prstGeom>
          <a:noFill/>
          <a:ln w="12700">
            <a:solidFill>
              <a:srgbClr val="000000"/>
            </a:solidFill>
            <a:prstDash val="solid"/>
          </a:ln>
        </p:spPr>
      </p:sp>
      <p:sp>
        <p:nvSpPr>
          <p:cNvPr id="13" name="li::before"/>
          <p:cNvSpPr/>
          <p:nvPr/>
        </p:nvSpPr>
        <p:spPr>
          <a:xfrm>
            <a:off x="4294571" y="3246211"/>
            <a:ext cx="57150" cy="57150"/>
          </a:xfrm>
          <a:prstGeom prst="rect">
            <a:avLst/>
          </a:prstGeom>
          <a:solidFill>
            <a:srgbClr val="044BD9"/>
          </a:solidFill>
          <a:ln/>
        </p:spPr>
      </p:sp>
      <p:sp>
        <p:nvSpPr>
          <p:cNvPr id="14" name="li::before"/>
          <p:cNvSpPr/>
          <p:nvPr/>
        </p:nvSpPr>
        <p:spPr>
          <a:xfrm>
            <a:off x="4294571" y="3741542"/>
            <a:ext cx="57150" cy="57150"/>
          </a:xfrm>
          <a:prstGeom prst="rect">
            <a:avLst/>
          </a:prstGeom>
          <a:solidFill>
            <a:srgbClr val="044BD9"/>
          </a:solidFill>
          <a:ln/>
        </p:spPr>
      </p:sp>
      <p:sp>
        <p:nvSpPr>
          <p:cNvPr id="15" name="li::before"/>
          <p:cNvSpPr/>
          <p:nvPr/>
        </p:nvSpPr>
        <p:spPr>
          <a:xfrm>
            <a:off x="4294571" y="4236872"/>
            <a:ext cx="57150" cy="57150"/>
          </a:xfrm>
          <a:prstGeom prst="rect">
            <a:avLst/>
          </a:prstGeom>
          <a:solidFill>
            <a:srgbClr val="044BD9"/>
          </a:solidFill>
          <a:ln/>
        </p:spPr>
      </p:sp>
      <p:sp>
        <p:nvSpPr>
          <p:cNvPr id="16" name="li::before"/>
          <p:cNvSpPr/>
          <p:nvPr/>
        </p:nvSpPr>
        <p:spPr>
          <a:xfrm>
            <a:off x="4294571" y="4522622"/>
            <a:ext cx="57150" cy="57150"/>
          </a:xfrm>
          <a:prstGeom prst="rect">
            <a:avLst/>
          </a:prstGeom>
          <a:solidFill>
            <a:srgbClr val="044BD9"/>
          </a:solidFill>
          <a:ln/>
        </p:spPr>
      </p:sp>
      <p:sp>
        <p:nvSpPr>
          <p:cNvPr id="17" name="Rule"/>
          <p:cNvSpPr/>
          <p:nvPr/>
        </p:nvSpPr>
        <p:spPr>
          <a:xfrm>
            <a:off x="4294571" y="5273711"/>
            <a:ext cx="3431103" cy="0"/>
          </a:xfrm>
          <a:prstGeom prst="line">
            <a:avLst/>
          </a:prstGeom>
          <a:noFill/>
          <a:ln w="6350">
            <a:solidFill>
              <a:srgbClr val="E3E6EC"/>
            </a:solidFill>
            <a:prstDash val="solid"/>
          </a:ln>
        </p:spPr>
      </p:sp>
      <p:sp>
        <p:nvSpPr>
          <p:cNvPr id="18" name="Rule"/>
          <p:cNvSpPr/>
          <p:nvPr/>
        </p:nvSpPr>
        <p:spPr>
          <a:xfrm>
            <a:off x="7878105" y="2454890"/>
            <a:ext cx="3602736" cy="0"/>
          </a:xfrm>
          <a:prstGeom prst="line">
            <a:avLst/>
          </a:prstGeom>
          <a:noFill/>
          <a:ln w="12700">
            <a:solidFill>
              <a:srgbClr val="044BD9"/>
            </a:solidFill>
            <a:prstDash val="solid"/>
          </a:ln>
        </p:spPr>
      </p:sp>
      <p:sp>
        <p:nvSpPr>
          <p:cNvPr id="19" name="Rule"/>
          <p:cNvSpPr/>
          <p:nvPr/>
        </p:nvSpPr>
        <p:spPr>
          <a:xfrm>
            <a:off x="7878105" y="3823198"/>
            <a:ext cx="3602736" cy="0"/>
          </a:xfrm>
          <a:prstGeom prst="line">
            <a:avLst/>
          </a:prstGeom>
          <a:noFill/>
          <a:ln w="6350">
            <a:solidFill>
              <a:srgbClr val="E3E6EC"/>
            </a:solidFill>
            <a:prstDash val="solid"/>
          </a:ln>
        </p:spPr>
      </p:sp>
      <p:sp>
        <p:nvSpPr>
          <p:cNvPr id="20" name="Rule"/>
          <p:cNvSpPr/>
          <p:nvPr/>
        </p:nvSpPr>
        <p:spPr>
          <a:xfrm>
            <a:off x="7878105" y="5273711"/>
            <a:ext cx="3602736" cy="0"/>
          </a:xfrm>
          <a:prstGeom prst="line">
            <a:avLst/>
          </a:prstGeom>
          <a:noFill/>
          <a:ln w="6350">
            <a:solidFill>
              <a:srgbClr val="E3E6EC"/>
            </a:solidFill>
            <a:prstDash val="solid"/>
          </a:ln>
        </p:spPr>
      </p:sp>
      <p:sp>
        <p:nvSpPr>
          <p:cNvPr id="21" name="span::before"/>
          <p:cNvSpPr/>
          <p:nvPr/>
        </p:nvSpPr>
        <p:spPr>
          <a:xfrm>
            <a:off x="6191860" y="311170"/>
            <a:ext cx="44440" cy="44440"/>
          </a:xfrm>
          <a:prstGeom prst="rect">
            <a:avLst/>
          </a:prstGeom>
          <a:solidFill>
            <a:srgbClr val="A0A6AF">
              <a:alpha val="55000"/>
            </a:srgbClr>
          </a:solidFill>
          <a:ln/>
        </p:spPr>
      </p:sp>
      <p:sp>
        <p:nvSpPr>
          <p:cNvPr id="22" name="span::before"/>
          <p:cNvSpPr/>
          <p:nvPr/>
        </p:nvSpPr>
        <p:spPr>
          <a:xfrm>
            <a:off x="7145213" y="311170"/>
            <a:ext cx="44440" cy="44440"/>
          </a:xfrm>
          <a:prstGeom prst="rect">
            <a:avLst/>
          </a:prstGeom>
          <a:solidFill>
            <a:srgbClr val="A0A6AF">
              <a:alpha val="55000"/>
            </a:srgbClr>
          </a:solidFill>
          <a:ln/>
        </p:spPr>
      </p:sp>
      <p:sp>
        <p:nvSpPr>
          <p:cNvPr id="23" name="span::before"/>
          <p:cNvSpPr/>
          <p:nvPr/>
        </p:nvSpPr>
        <p:spPr>
          <a:xfrm>
            <a:off x="8056230" y="311170"/>
            <a:ext cx="44440" cy="44440"/>
          </a:xfrm>
          <a:prstGeom prst="rect">
            <a:avLst/>
          </a:prstGeom>
          <a:solidFill>
            <a:srgbClr val="A0A6AF">
              <a:alpha val="55000"/>
            </a:srgbClr>
          </a:solidFill>
          <a:ln/>
        </p:spPr>
      </p:sp>
      <p:sp>
        <p:nvSpPr>
          <p:cNvPr id="24" name="span::before"/>
          <p:cNvSpPr/>
          <p:nvPr/>
        </p:nvSpPr>
        <p:spPr>
          <a:xfrm>
            <a:off x="8972550" y="311170"/>
            <a:ext cx="44440" cy="44440"/>
          </a:xfrm>
          <a:prstGeom prst="rect">
            <a:avLst/>
          </a:prstGeom>
          <a:solidFill>
            <a:srgbClr val="A0A6AF">
              <a:alpha val="55000"/>
            </a:srgbClr>
          </a:solidFill>
          <a:ln/>
        </p:spPr>
      </p:sp>
      <p:sp>
        <p:nvSpPr>
          <p:cNvPr id="25" name="on::before"/>
          <p:cNvSpPr/>
          <p:nvPr/>
        </p:nvSpPr>
        <p:spPr>
          <a:xfrm>
            <a:off x="10421142" y="311170"/>
            <a:ext cx="44440" cy="44440"/>
          </a:xfrm>
          <a:prstGeom prst="rect">
            <a:avLst/>
          </a:prstGeom>
          <a:solidFill>
            <a:srgbClr val="044BD9"/>
          </a:solidFill>
          <a:ln/>
        </p:spPr>
      </p:sp>
      <p:sp>
        <p:nvSpPr>
          <p:cNvPr id="26" name="span::before"/>
          <p:cNvSpPr/>
          <p:nvPr/>
        </p:nvSpPr>
        <p:spPr>
          <a:xfrm>
            <a:off x="10966216" y="311170"/>
            <a:ext cx="44440" cy="44440"/>
          </a:xfrm>
          <a:prstGeom prst="rect">
            <a:avLst/>
          </a:prstGeom>
          <a:solidFill>
            <a:srgbClr val="A0A6AF">
              <a:alpha val="55000"/>
            </a:srgbClr>
          </a:solidFill>
          <a:ln/>
        </p:spPr>
      </p:sp>
      <p:sp>
        <p:nvSpPr>
          <p:cNvPr id="27" name="Text"/>
          <p:cNvSpPr txBox="1"/>
          <p:nvPr/>
        </p:nvSpPr>
        <p:spPr>
          <a:xfrm>
            <a:off x="844540" y="609265"/>
            <a:ext cx="684337"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Hospitality</a:t>
            </a:r>
            <a:endParaRPr lang="en-US" sz="950" dirty="0"/>
          </a:p>
        </p:txBody>
      </p:sp>
      <p:sp>
        <p:nvSpPr>
          <p:cNvPr id="28"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WhatsApp AI agents cut manual data entry</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time by</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80%</a:t>
            </a:r>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 for a Singapore hospitality group</a:t>
            </a:r>
            <a:endParaRPr lang="en-US" sz="3000" dirty="0"/>
          </a:p>
        </p:txBody>
      </p:sp>
      <p:sp>
        <p:nvSpPr>
          <p:cNvPr id="29" name="Text"/>
          <p:cNvSpPr txBox="1"/>
          <p:nvPr/>
        </p:nvSpPr>
        <p:spPr>
          <a:xfrm>
            <a:off x="819120" y="1999884"/>
            <a:ext cx="1117305"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Agentic automation</a:t>
            </a:r>
            <a:endParaRPr lang="en-US" sz="850" dirty="0"/>
          </a:p>
        </p:txBody>
      </p:sp>
      <p:sp>
        <p:nvSpPr>
          <p:cNvPr id="30" name="Text"/>
          <p:cNvSpPr txBox="1"/>
          <p:nvPr/>
        </p:nvSpPr>
        <p:spPr>
          <a:xfrm>
            <a:off x="2190445" y="1999884"/>
            <a:ext cx="58567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Singapore</a:t>
            </a:r>
            <a:endParaRPr lang="en-US" sz="850" dirty="0"/>
          </a:p>
        </p:txBody>
      </p:sp>
      <p:sp>
        <p:nvSpPr>
          <p:cNvPr id="31" name="Text"/>
          <p:cNvSpPr txBox="1"/>
          <p:nvPr/>
        </p:nvSpPr>
        <p:spPr>
          <a:xfrm>
            <a:off x="3030139" y="1999884"/>
            <a:ext cx="28849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2026</a:t>
            </a:r>
            <a:endParaRPr lang="en-US" sz="850" dirty="0"/>
          </a:p>
        </p:txBody>
      </p:sp>
      <p:sp>
        <p:nvSpPr>
          <p:cNvPr id="32" name="Text"/>
          <p:cNvSpPr txBox="1"/>
          <p:nvPr/>
        </p:nvSpPr>
        <p:spPr>
          <a:xfrm>
            <a:off x="3572652" y="1999884"/>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Qwen</a:t>
            </a:r>
            <a:endParaRPr lang="en-US" sz="850" dirty="0"/>
          </a:p>
        </p:txBody>
      </p:sp>
      <p:sp>
        <p:nvSpPr>
          <p:cNvPr id="33" name="Text"/>
          <p:cNvSpPr txBox="1"/>
          <p:nvPr/>
        </p:nvSpPr>
        <p:spPr>
          <a:xfrm>
            <a:off x="4162806" y="1999884"/>
            <a:ext cx="596006"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WhatsApp</a:t>
            </a:r>
            <a:endParaRPr lang="en-US" sz="850" dirty="0"/>
          </a:p>
        </p:txBody>
      </p:sp>
      <p:sp>
        <p:nvSpPr>
          <p:cNvPr id="34" name="Text"/>
          <p:cNvSpPr txBox="1"/>
          <p:nvPr/>
        </p:nvSpPr>
        <p:spPr>
          <a:xfrm>
            <a:off x="711220" y="2572207"/>
            <a:ext cx="3457438"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Situation</a:t>
            </a:r>
            <a:endParaRPr lang="en-US" sz="900" dirty="0"/>
          </a:p>
        </p:txBody>
      </p:sp>
      <p:sp>
        <p:nvSpPr>
          <p:cNvPr id="35" name="Text"/>
          <p:cNvSpPr txBox="1"/>
          <p:nvPr/>
        </p:nvSpPr>
        <p:spPr>
          <a:xfrm>
            <a:off x="711220" y="2834640"/>
            <a:ext cx="3593592" cy="86612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 leading hospitality group in Singapore talks</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to its customers on WhatsApp. Leads from</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those conversations were entered into the CRM</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by hand.</a:t>
            </a:r>
            <a:endParaRPr lang="en-US" sz="1100" dirty="0"/>
          </a:p>
        </p:txBody>
      </p:sp>
      <p:sp>
        <p:nvSpPr>
          <p:cNvPr id="36" name="Text"/>
          <p:cNvSpPr txBox="1"/>
          <p:nvPr/>
        </p:nvSpPr>
        <p:spPr>
          <a:xfrm>
            <a:off x="939820" y="5657850"/>
            <a:ext cx="2767340" cy="236190"/>
          </a:xfrm>
          <a:prstGeom prst="rect">
            <a:avLst/>
          </a:prstGeom>
          <a:noFill/>
          <a:ln/>
        </p:spPr>
        <p:txBody>
          <a:bodyPr wrap="square" lIns="0" tIns="0" rIns="0" bIns="0" rtlCol="0" anchor="t"/>
          <a:lstStyle/>
          <a:p>
            <a:pPr algn="l" indent="0" marL="0">
              <a:lnSpc>
                <a:spcPts val="1860"/>
              </a:lnSpc>
              <a:buNone/>
            </a:pPr>
            <a:r>
              <a:rPr lang="en-US" sz="850" dirty="0">
                <a:solidFill>
                  <a:srgbClr val="1F2937"/>
                </a:solidFill>
                <a:latin typeface="Poppins Medium" pitchFamily="34" charset="0"/>
                <a:ea typeface="Poppins Medium" pitchFamily="34" charset="-122"/>
                <a:cs typeface="Poppins Medium" pitchFamily="34" charset="-120"/>
              </a:rPr>
              <a:t>AI CRM dashboard, features by user access level</a:t>
            </a:r>
            <a:endParaRPr lang="en-US" sz="850" dirty="0"/>
          </a:p>
        </p:txBody>
      </p:sp>
      <p:sp>
        <p:nvSpPr>
          <p:cNvPr id="37" name="Text"/>
          <p:cNvSpPr txBox="1"/>
          <p:nvPr/>
        </p:nvSpPr>
        <p:spPr>
          <a:xfrm>
            <a:off x="4294571" y="2572207"/>
            <a:ext cx="3457529"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Approach</a:t>
            </a:r>
            <a:endParaRPr lang="en-US" sz="900" dirty="0"/>
          </a:p>
        </p:txBody>
      </p:sp>
      <p:sp>
        <p:nvSpPr>
          <p:cNvPr id="38" name="Text"/>
          <p:cNvSpPr txBox="1"/>
          <p:nvPr/>
        </p:nvSpPr>
        <p:spPr>
          <a:xfrm>
            <a:off x="4294571" y="2834640"/>
            <a:ext cx="3457529" cy="21653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An AI CRM with WhatsApp sales agents.</a:t>
            </a:r>
            <a:endParaRPr lang="en-US" sz="1100" dirty="0"/>
          </a:p>
        </p:txBody>
      </p:sp>
      <p:sp>
        <p:nvSpPr>
          <p:cNvPr id="39" name="Text"/>
          <p:cNvSpPr txBox="1"/>
          <p:nvPr/>
        </p:nvSpPr>
        <p:spPr>
          <a:xfrm>
            <a:off x="4459712" y="3145627"/>
            <a:ext cx="3422051"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Agents handle customer conversations 24/7, in</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natural language</a:t>
            </a:r>
            <a:endParaRPr lang="en-US" sz="1100" dirty="0"/>
          </a:p>
        </p:txBody>
      </p:sp>
      <p:sp>
        <p:nvSpPr>
          <p:cNvPr id="40" name="Text"/>
          <p:cNvSpPr txBox="1"/>
          <p:nvPr/>
        </p:nvSpPr>
        <p:spPr>
          <a:xfrm>
            <a:off x="4459712" y="3640958"/>
            <a:ext cx="3422051"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Every lead syncs to the CRM, and hot leads</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reach sales in real time</a:t>
            </a:r>
            <a:endParaRPr lang="en-US" sz="1100" dirty="0"/>
          </a:p>
        </p:txBody>
      </p:sp>
      <p:sp>
        <p:nvSpPr>
          <p:cNvPr id="41" name="Text"/>
          <p:cNvSpPr txBox="1"/>
          <p:nvPr/>
        </p:nvSpPr>
        <p:spPr>
          <a:xfrm>
            <a:off x="4459712" y="4136288"/>
            <a:ext cx="3291749"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Intelligent conversation flows with guardrails</a:t>
            </a:r>
            <a:endParaRPr lang="en-US" sz="1100" dirty="0"/>
          </a:p>
        </p:txBody>
      </p:sp>
      <p:sp>
        <p:nvSpPr>
          <p:cNvPr id="42" name="Text"/>
          <p:cNvSpPr txBox="1"/>
          <p:nvPr/>
        </p:nvSpPr>
        <p:spPr>
          <a:xfrm>
            <a:off x="4459712" y="4422038"/>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A CRM dashboard by user access level, with one-click contracts, invoices and reports</a:t>
            </a:r>
            <a:endParaRPr lang="en-US" sz="1100" dirty="0"/>
          </a:p>
        </p:txBody>
      </p:sp>
      <p:sp>
        <p:nvSpPr>
          <p:cNvPr id="43" name="Text"/>
          <p:cNvSpPr txBox="1"/>
          <p:nvPr/>
        </p:nvSpPr>
        <p:spPr>
          <a:xfrm>
            <a:off x="4294571" y="5358933"/>
            <a:ext cx="3593683" cy="64959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How it runs.</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The agents run on Qwen</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inside WhatsApp, where the conversations</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already happen.</a:t>
            </a:r>
            <a:endParaRPr lang="en-US" sz="1100" dirty="0"/>
          </a:p>
        </p:txBody>
      </p:sp>
      <p:sp>
        <p:nvSpPr>
          <p:cNvPr id="44" name="Text"/>
          <p:cNvSpPr txBox="1"/>
          <p:nvPr/>
        </p:nvSpPr>
        <p:spPr>
          <a:xfrm>
            <a:off x="7878105" y="2572207"/>
            <a:ext cx="3629802"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044BD9"/>
                </a:solidFill>
                <a:latin typeface="Poppins Medium" pitchFamily="34" charset="0"/>
                <a:ea typeface="Poppins Medium" pitchFamily="34" charset="-122"/>
                <a:cs typeface="Poppins Medium" pitchFamily="34" charset="-120"/>
              </a:rPr>
              <a:t>Impact</a:t>
            </a:r>
            <a:endParaRPr lang="en-US" sz="900" dirty="0"/>
          </a:p>
        </p:txBody>
      </p:sp>
      <p:sp>
        <p:nvSpPr>
          <p:cNvPr id="45" name="Text"/>
          <p:cNvSpPr txBox="1"/>
          <p:nvPr/>
        </p:nvSpPr>
        <p:spPr>
          <a:xfrm>
            <a:off x="7878105" y="2881549"/>
            <a:ext cx="3629802" cy="609630"/>
          </a:xfrm>
          <a:prstGeom prst="rect">
            <a:avLst/>
          </a:prstGeom>
          <a:noFill/>
          <a:ln/>
        </p:spPr>
        <p:txBody>
          <a:bodyPr wrap="square" lIns="0" tIns="0" rIns="0" bIns="0" rtlCol="0" anchor="t"/>
          <a:lstStyle/>
          <a:p>
            <a:pPr algn="l" indent="0" marL="0">
              <a:lnSpc>
                <a:spcPts val="4800"/>
              </a:lnSpc>
              <a:buNone/>
            </a:pPr>
            <a:r>
              <a:rPr lang="en-US" sz="4800" spc="-96" kern="0" dirty="0">
                <a:solidFill>
                  <a:srgbClr val="044BD9"/>
                </a:solidFill>
                <a:latin typeface="Poppins Medium" pitchFamily="34" charset="0"/>
                <a:ea typeface="Poppins Medium" pitchFamily="34" charset="-122"/>
                <a:cs typeface="Poppins Medium" pitchFamily="34" charset="-120"/>
              </a:rPr>
              <a:t>80</a:t>
            </a:r>
            <a:pPr algn="l" indent="0" marL="0">
              <a:lnSpc>
                <a:spcPts val="4800"/>
              </a:lnSpc>
              <a:buNone/>
            </a:pPr>
            <a:r>
              <a:rPr lang="en-US" sz="2160" spc="-96" kern="0" dirty="0">
                <a:solidFill>
                  <a:srgbClr val="044BD9"/>
                </a:solidFill>
                <a:latin typeface="Poppins Medium" pitchFamily="34" charset="0"/>
                <a:ea typeface="Poppins Medium" pitchFamily="34" charset="-122"/>
                <a:cs typeface="Poppins Medium" pitchFamily="34" charset="-120"/>
              </a:rPr>
              <a:t>%</a:t>
            </a:r>
            <a:endParaRPr lang="en-US" sz="4800" dirty="0"/>
          </a:p>
        </p:txBody>
      </p:sp>
      <p:sp>
        <p:nvSpPr>
          <p:cNvPr id="46" name="Text"/>
          <p:cNvSpPr txBox="1"/>
          <p:nvPr/>
        </p:nvSpPr>
        <p:spPr>
          <a:xfrm>
            <a:off x="7878105" y="3495111"/>
            <a:ext cx="3629802" cy="21653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Less manual data entry time</a:t>
            </a:r>
            <a:endParaRPr lang="en-US" sz="1100" dirty="0"/>
          </a:p>
        </p:txBody>
      </p:sp>
      <p:sp>
        <p:nvSpPr>
          <p:cNvPr id="47" name="Text"/>
          <p:cNvSpPr txBox="1"/>
          <p:nvPr/>
        </p:nvSpPr>
        <p:spPr>
          <a:xfrm>
            <a:off x="7878105" y="3967947"/>
            <a:ext cx="3629802" cy="609630"/>
          </a:xfrm>
          <a:prstGeom prst="rect">
            <a:avLst/>
          </a:prstGeom>
          <a:noFill/>
          <a:ln/>
        </p:spPr>
        <p:txBody>
          <a:bodyPr wrap="square" lIns="0" tIns="0" rIns="0" bIns="0" rtlCol="0" anchor="t"/>
          <a:lstStyle/>
          <a:p>
            <a:pPr algn="l" indent="0" marL="0">
              <a:lnSpc>
                <a:spcPts val="4800"/>
              </a:lnSpc>
              <a:buNone/>
            </a:pPr>
            <a:r>
              <a:rPr lang="en-US" sz="4800" spc="-96" kern="0" dirty="0">
                <a:solidFill>
                  <a:srgbClr val="044BD9"/>
                </a:solidFill>
                <a:latin typeface="Poppins Medium" pitchFamily="34" charset="0"/>
                <a:ea typeface="Poppins Medium" pitchFamily="34" charset="-122"/>
                <a:cs typeface="Poppins Medium" pitchFamily="34" charset="-120"/>
              </a:rPr>
              <a:t>24/7</a:t>
            </a:r>
            <a:endParaRPr lang="en-US" sz="4800" dirty="0"/>
          </a:p>
        </p:txBody>
      </p:sp>
      <p:sp>
        <p:nvSpPr>
          <p:cNvPr id="48" name="Text"/>
          <p:cNvSpPr txBox="1"/>
          <p:nvPr/>
        </p:nvSpPr>
        <p:spPr>
          <a:xfrm>
            <a:off x="7878105" y="4581510"/>
            <a:ext cx="3629802" cy="21653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Customer conversations handled by AI agents</a:t>
            </a:r>
            <a:endParaRPr lang="en-US" sz="1100" dirty="0"/>
          </a:p>
        </p:txBody>
      </p:sp>
      <p:sp>
        <p:nvSpPr>
          <p:cNvPr id="49" name="Text"/>
          <p:cNvSpPr txBox="1"/>
          <p:nvPr/>
        </p:nvSpPr>
        <p:spPr>
          <a:xfrm>
            <a:off x="7878105" y="5358933"/>
            <a:ext cx="3629802" cy="43306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In use, 2026.</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Every lead reaches the CRM, and the sales team is alerted to hot leads in real time.</a:t>
            </a:r>
            <a:endParaRPr lang="en-US" sz="1100" dirty="0"/>
          </a:p>
        </p:txBody>
      </p:sp>
      <p:sp>
        <p:nvSpPr>
          <p:cNvPr id="50"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1"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2"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3"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54"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5"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56"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alphv.com/insights/whatsapp-ai-crm-singapore-hospitality (October 2026). Note: the client is not named on alphv.com; 80% is the reduction in</a:t>
            </a:r>
            <a:endParaRPr lang="en-US" sz="850" dirty="0"/>
          </a:p>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manual data entry time reported on the case page.</a:t>
            </a:r>
            <a:endParaRPr lang="en-US" sz="850" dirty="0"/>
          </a:p>
        </p:txBody>
      </p:sp>
      <p:sp>
        <p:nvSpPr>
          <p:cNvPr id="57" name="Text"/>
          <p:cNvSpPr txBox="1"/>
          <p:nvPr/>
        </p:nvSpPr>
        <p:spPr>
          <a:xfrm>
            <a:off x="9349191"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58" name="Text"/>
          <p:cNvSpPr txBox="1"/>
          <p:nvPr/>
        </p:nvSpPr>
        <p:spPr>
          <a:xfrm>
            <a:off x="9857141"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59" name="Text"/>
          <p:cNvSpPr txBox="1"/>
          <p:nvPr/>
        </p:nvSpPr>
        <p:spPr>
          <a:xfrm>
            <a:off x="11348618" y="6401532"/>
            <a:ext cx="157551"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589879" cy="254020"/>
          </a:xfrm>
          <a:prstGeom prst="roundRect">
            <a:avLst>
              <a:gd name="adj" fmla="val 50000"/>
            </a:avLst>
          </a:prstGeom>
          <a:ln w="6350">
            <a:solidFill>
              <a:srgbClr val="155DFC"/>
            </a:solidFill>
            <a:prstDash val="solid"/>
          </a:ln>
        </p:spPr>
      </p:sp>
      <p:sp>
        <p:nvSpPr>
          <p:cNvPr id="3" name="tag"/>
          <p:cNvSpPr/>
          <p:nvPr/>
        </p:nvSpPr>
        <p:spPr>
          <a:xfrm>
            <a:off x="714421" y="1937339"/>
            <a:ext cx="996239" cy="228600"/>
          </a:xfrm>
          <a:prstGeom prst="roundRect">
            <a:avLst>
              <a:gd name="adj" fmla="val 50000"/>
            </a:avLst>
          </a:prstGeom>
          <a:solidFill>
            <a:srgbClr val="FFFFFF"/>
          </a:solidFill>
          <a:ln w="6350">
            <a:solidFill>
              <a:srgbClr val="E3E6EC"/>
            </a:solidFill>
            <a:prstDash val="solid"/>
          </a:ln>
        </p:spPr>
      </p:sp>
      <p:sp>
        <p:nvSpPr>
          <p:cNvPr id="4" name="tag"/>
          <p:cNvSpPr/>
          <p:nvPr/>
        </p:nvSpPr>
        <p:spPr>
          <a:xfrm>
            <a:off x="1780520" y="1937339"/>
            <a:ext cx="1243035" cy="228600"/>
          </a:xfrm>
          <a:prstGeom prst="roundRect">
            <a:avLst>
              <a:gd name="adj" fmla="val 50000"/>
            </a:avLst>
          </a:prstGeom>
          <a:solidFill>
            <a:srgbClr val="FFFFFF"/>
          </a:solidFill>
          <a:ln w="6350">
            <a:solidFill>
              <a:srgbClr val="E3E6EC"/>
            </a:solidFill>
            <a:prstDash val="solid"/>
          </a:ln>
        </p:spPr>
      </p:sp>
      <p:sp>
        <p:nvSpPr>
          <p:cNvPr id="5" name="tag"/>
          <p:cNvSpPr/>
          <p:nvPr/>
        </p:nvSpPr>
        <p:spPr>
          <a:xfrm>
            <a:off x="3093324" y="1937339"/>
            <a:ext cx="472379" cy="228600"/>
          </a:xfrm>
          <a:prstGeom prst="roundRect">
            <a:avLst>
              <a:gd name="adj" fmla="val 50000"/>
            </a:avLst>
          </a:prstGeom>
          <a:solidFill>
            <a:srgbClr val="FFFFFF"/>
          </a:solidFill>
          <a:ln w="6350">
            <a:solidFill>
              <a:srgbClr val="E3E6EC"/>
            </a:solidFill>
            <a:prstDash val="solid"/>
          </a:ln>
        </p:spPr>
      </p:sp>
      <p:sp>
        <p:nvSpPr>
          <p:cNvPr id="6" name="tag"/>
          <p:cNvSpPr/>
          <p:nvPr/>
        </p:nvSpPr>
        <p:spPr>
          <a:xfrm>
            <a:off x="3632363" y="1934139"/>
            <a:ext cx="526694" cy="234909"/>
          </a:xfrm>
          <a:prstGeom prst="roundRect">
            <a:avLst>
              <a:gd name="adj" fmla="val 50020"/>
            </a:avLst>
          </a:prstGeom>
          <a:solidFill>
            <a:srgbClr val="044BD9">
              <a:alpha val="8000"/>
            </a:srgbClr>
          </a:solidFill>
          <a:ln/>
        </p:spPr>
      </p:sp>
      <p:sp>
        <p:nvSpPr>
          <p:cNvPr id="7" name="tag"/>
          <p:cNvSpPr/>
          <p:nvPr/>
        </p:nvSpPr>
        <p:spPr>
          <a:xfrm>
            <a:off x="4222516" y="1934139"/>
            <a:ext cx="829909" cy="234909"/>
          </a:xfrm>
          <a:prstGeom prst="roundRect">
            <a:avLst>
              <a:gd name="adj" fmla="val 50020"/>
            </a:avLst>
          </a:prstGeom>
          <a:solidFill>
            <a:srgbClr val="044BD9">
              <a:alpha val="8000"/>
            </a:srgbClr>
          </a:solidFill>
          <a:ln/>
        </p:spPr>
      </p:sp>
      <p:sp>
        <p:nvSpPr>
          <p:cNvPr id="8" name="tag"/>
          <p:cNvSpPr/>
          <p:nvPr/>
        </p:nvSpPr>
        <p:spPr>
          <a:xfrm>
            <a:off x="5115885" y="1934139"/>
            <a:ext cx="870234" cy="234909"/>
          </a:xfrm>
          <a:prstGeom prst="roundRect">
            <a:avLst>
              <a:gd name="adj" fmla="val 50020"/>
            </a:avLst>
          </a:prstGeom>
          <a:solidFill>
            <a:srgbClr val="044BD9">
              <a:alpha val="8000"/>
            </a:srgbClr>
          </a:solidFill>
          <a:ln/>
        </p:spPr>
      </p:sp>
      <p:sp>
        <p:nvSpPr>
          <p:cNvPr id="9" name="tag"/>
          <p:cNvSpPr/>
          <p:nvPr/>
        </p:nvSpPr>
        <p:spPr>
          <a:xfrm>
            <a:off x="6049670" y="1934139"/>
            <a:ext cx="827715" cy="234909"/>
          </a:xfrm>
          <a:prstGeom prst="roundRect">
            <a:avLst>
              <a:gd name="adj" fmla="val 50020"/>
            </a:avLst>
          </a:prstGeom>
          <a:solidFill>
            <a:srgbClr val="044BD9">
              <a:alpha val="8000"/>
            </a:srgbClr>
          </a:solidFill>
          <a:ln/>
        </p:spPr>
      </p:sp>
      <p:sp>
        <p:nvSpPr>
          <p:cNvPr id="10" name="Rule"/>
          <p:cNvSpPr/>
          <p:nvPr/>
        </p:nvSpPr>
        <p:spPr>
          <a:xfrm>
            <a:off x="711220" y="2454890"/>
            <a:ext cx="3431012" cy="0"/>
          </a:xfrm>
          <a:prstGeom prst="line">
            <a:avLst/>
          </a:prstGeom>
          <a:noFill/>
          <a:ln w="12700">
            <a:solidFill>
              <a:srgbClr val="000000"/>
            </a:solidFill>
            <a:prstDash val="solid"/>
          </a:ln>
        </p:spPr>
      </p:sp>
      <p:sp>
        <p:nvSpPr>
          <p:cNvPr id="11" name="card"/>
          <p:cNvSpPr/>
          <p:nvPr/>
        </p:nvSpPr>
        <p:spPr>
          <a:xfrm>
            <a:off x="714421" y="4118000"/>
            <a:ext cx="3424611" cy="1898660"/>
          </a:xfrm>
          <a:prstGeom prst="roundRect">
            <a:avLst>
              <a:gd name="adj" fmla="val 7860"/>
            </a:avLst>
          </a:prstGeom>
          <a:solidFill>
            <a:srgbClr val="FFFFFF"/>
          </a:solidFill>
          <a:ln w="6350">
            <a:solidFill>
              <a:srgbClr val="F0F0F0"/>
            </a:solidFill>
            <a:prstDash val="solid"/>
          </a:ln>
        </p:spPr>
      </p:sp>
      <p:pic>
        <p:nvPicPr>
          <p:cNvPr id="12" name="Picture" descr="Abraham Ooi &amp; Partners">    </p:cNvPr>
          <p:cNvPicPr>
            <a:picLocks noChangeAspect="1"/>
          </p:cNvPicPr>
          <p:nvPr/>
        </p:nvPicPr>
        <p:blipFill>
          <a:blip r:embed="rId1"/>
          <a:stretch>
            <a:fillRect/>
          </a:stretch>
        </p:blipFill>
        <p:spPr>
          <a:xfrm>
            <a:off x="895380" y="4298960"/>
            <a:ext cx="609630" cy="609630"/>
          </a:xfrm>
          <a:prstGeom prst="roundRect">
            <a:avLst>
              <a:gd name="adj" fmla="val 16667"/>
            </a:avLst>
          </a:prstGeom>
        </p:spPr>
      </p:pic>
      <p:sp>
        <p:nvSpPr>
          <p:cNvPr id="13" name="p"/>
          <p:cNvSpPr/>
          <p:nvPr/>
        </p:nvSpPr>
        <p:spPr>
          <a:xfrm>
            <a:off x="895380" y="5052609"/>
            <a:ext cx="3062691" cy="783001"/>
          </a:xfrm>
          <a:prstGeom prst="roundRect">
            <a:avLst>
              <a:gd name="adj" fmla="val 12974"/>
            </a:avLst>
          </a:prstGeom>
          <a:solidFill>
            <a:srgbClr val="044BD9">
              <a:alpha val="8000"/>
            </a:srgbClr>
          </a:solidFill>
          <a:ln/>
        </p:spPr>
      </p:sp>
      <p:sp>
        <p:nvSpPr>
          <p:cNvPr id="14" name="Rule"/>
          <p:cNvSpPr/>
          <p:nvPr/>
        </p:nvSpPr>
        <p:spPr>
          <a:xfrm>
            <a:off x="4294571" y="2454890"/>
            <a:ext cx="3431103" cy="0"/>
          </a:xfrm>
          <a:prstGeom prst="line">
            <a:avLst/>
          </a:prstGeom>
          <a:noFill/>
          <a:ln w="12700">
            <a:solidFill>
              <a:srgbClr val="000000"/>
            </a:solidFill>
            <a:prstDash val="solid"/>
          </a:ln>
        </p:spPr>
      </p:sp>
      <p:sp>
        <p:nvSpPr>
          <p:cNvPr id="15" name="li::before"/>
          <p:cNvSpPr/>
          <p:nvPr/>
        </p:nvSpPr>
        <p:spPr>
          <a:xfrm>
            <a:off x="4294571" y="3246211"/>
            <a:ext cx="57150" cy="57150"/>
          </a:xfrm>
          <a:prstGeom prst="rect">
            <a:avLst/>
          </a:prstGeom>
          <a:solidFill>
            <a:srgbClr val="044BD9"/>
          </a:solidFill>
          <a:ln/>
        </p:spPr>
      </p:sp>
      <p:sp>
        <p:nvSpPr>
          <p:cNvPr id="16" name="li::before"/>
          <p:cNvSpPr/>
          <p:nvPr/>
        </p:nvSpPr>
        <p:spPr>
          <a:xfrm>
            <a:off x="4294571" y="3741542"/>
            <a:ext cx="57150" cy="57150"/>
          </a:xfrm>
          <a:prstGeom prst="rect">
            <a:avLst/>
          </a:prstGeom>
          <a:solidFill>
            <a:srgbClr val="044BD9"/>
          </a:solidFill>
          <a:ln/>
        </p:spPr>
      </p:sp>
      <p:sp>
        <p:nvSpPr>
          <p:cNvPr id="17" name="li::before"/>
          <p:cNvSpPr/>
          <p:nvPr/>
        </p:nvSpPr>
        <p:spPr>
          <a:xfrm>
            <a:off x="4294571" y="4236872"/>
            <a:ext cx="57150" cy="57150"/>
          </a:xfrm>
          <a:prstGeom prst="rect">
            <a:avLst/>
          </a:prstGeom>
          <a:solidFill>
            <a:srgbClr val="044BD9"/>
          </a:solidFill>
          <a:ln/>
        </p:spPr>
      </p:sp>
      <p:sp>
        <p:nvSpPr>
          <p:cNvPr id="18" name="li::before"/>
          <p:cNvSpPr/>
          <p:nvPr/>
        </p:nvSpPr>
        <p:spPr>
          <a:xfrm>
            <a:off x="4294571" y="4732111"/>
            <a:ext cx="57150" cy="57150"/>
          </a:xfrm>
          <a:prstGeom prst="rect">
            <a:avLst/>
          </a:prstGeom>
          <a:solidFill>
            <a:srgbClr val="044BD9"/>
          </a:solidFill>
          <a:ln/>
        </p:spPr>
      </p:sp>
      <p:sp>
        <p:nvSpPr>
          <p:cNvPr id="19" name="Rule"/>
          <p:cNvSpPr/>
          <p:nvPr/>
        </p:nvSpPr>
        <p:spPr>
          <a:xfrm>
            <a:off x="4294571" y="5273711"/>
            <a:ext cx="3431103" cy="0"/>
          </a:xfrm>
          <a:prstGeom prst="line">
            <a:avLst/>
          </a:prstGeom>
          <a:noFill/>
          <a:ln w="6350">
            <a:solidFill>
              <a:srgbClr val="E3E6EC"/>
            </a:solidFill>
            <a:prstDash val="solid"/>
          </a:ln>
        </p:spPr>
      </p:sp>
      <p:sp>
        <p:nvSpPr>
          <p:cNvPr id="20" name="Rule"/>
          <p:cNvSpPr/>
          <p:nvPr/>
        </p:nvSpPr>
        <p:spPr>
          <a:xfrm>
            <a:off x="7878105" y="2454890"/>
            <a:ext cx="3602736" cy="0"/>
          </a:xfrm>
          <a:prstGeom prst="line">
            <a:avLst/>
          </a:prstGeom>
          <a:noFill/>
          <a:ln w="12700">
            <a:solidFill>
              <a:srgbClr val="044BD9"/>
            </a:solidFill>
            <a:prstDash val="solid"/>
          </a:ln>
        </p:spPr>
      </p:sp>
      <p:sp>
        <p:nvSpPr>
          <p:cNvPr id="21" name="Rule"/>
          <p:cNvSpPr/>
          <p:nvPr/>
        </p:nvSpPr>
        <p:spPr>
          <a:xfrm>
            <a:off x="7878105" y="4039728"/>
            <a:ext cx="3602736" cy="0"/>
          </a:xfrm>
          <a:prstGeom prst="line">
            <a:avLst/>
          </a:prstGeom>
          <a:noFill/>
          <a:ln w="6350">
            <a:solidFill>
              <a:srgbClr val="E3E6EC"/>
            </a:solidFill>
            <a:prstDash val="solid"/>
          </a:ln>
        </p:spPr>
      </p:sp>
      <p:sp>
        <p:nvSpPr>
          <p:cNvPr id="22" name="Rule"/>
          <p:cNvSpPr/>
          <p:nvPr/>
        </p:nvSpPr>
        <p:spPr>
          <a:xfrm>
            <a:off x="7878105" y="5273711"/>
            <a:ext cx="3602736" cy="0"/>
          </a:xfrm>
          <a:prstGeom prst="line">
            <a:avLst/>
          </a:prstGeom>
          <a:noFill/>
          <a:ln w="6350">
            <a:solidFill>
              <a:srgbClr val="E3E6EC"/>
            </a:solidFill>
            <a:prstDash val="solid"/>
          </a:ln>
        </p:spPr>
      </p:sp>
      <p:sp>
        <p:nvSpPr>
          <p:cNvPr id="23" name="span::before"/>
          <p:cNvSpPr/>
          <p:nvPr/>
        </p:nvSpPr>
        <p:spPr>
          <a:xfrm>
            <a:off x="6191860" y="311170"/>
            <a:ext cx="44440" cy="44440"/>
          </a:xfrm>
          <a:prstGeom prst="rect">
            <a:avLst/>
          </a:prstGeom>
          <a:solidFill>
            <a:srgbClr val="A0A6AF">
              <a:alpha val="55000"/>
            </a:srgbClr>
          </a:solidFill>
          <a:ln/>
        </p:spPr>
      </p:sp>
      <p:sp>
        <p:nvSpPr>
          <p:cNvPr id="24" name="span::before"/>
          <p:cNvSpPr/>
          <p:nvPr/>
        </p:nvSpPr>
        <p:spPr>
          <a:xfrm>
            <a:off x="7145213" y="311170"/>
            <a:ext cx="44440" cy="44440"/>
          </a:xfrm>
          <a:prstGeom prst="rect">
            <a:avLst/>
          </a:prstGeom>
          <a:solidFill>
            <a:srgbClr val="A0A6AF">
              <a:alpha val="55000"/>
            </a:srgbClr>
          </a:solidFill>
          <a:ln/>
        </p:spPr>
      </p:sp>
      <p:sp>
        <p:nvSpPr>
          <p:cNvPr id="25" name="span::before"/>
          <p:cNvSpPr/>
          <p:nvPr/>
        </p:nvSpPr>
        <p:spPr>
          <a:xfrm>
            <a:off x="8056230" y="311170"/>
            <a:ext cx="44440" cy="44440"/>
          </a:xfrm>
          <a:prstGeom prst="rect">
            <a:avLst/>
          </a:prstGeom>
          <a:solidFill>
            <a:srgbClr val="A0A6AF">
              <a:alpha val="55000"/>
            </a:srgbClr>
          </a:solidFill>
          <a:ln/>
        </p:spPr>
      </p:sp>
      <p:sp>
        <p:nvSpPr>
          <p:cNvPr id="26" name="span::before"/>
          <p:cNvSpPr/>
          <p:nvPr/>
        </p:nvSpPr>
        <p:spPr>
          <a:xfrm>
            <a:off x="8972550" y="311170"/>
            <a:ext cx="44440" cy="44440"/>
          </a:xfrm>
          <a:prstGeom prst="rect">
            <a:avLst/>
          </a:prstGeom>
          <a:solidFill>
            <a:srgbClr val="A0A6AF">
              <a:alpha val="55000"/>
            </a:srgbClr>
          </a:solidFill>
          <a:ln/>
        </p:spPr>
      </p:sp>
      <p:sp>
        <p:nvSpPr>
          <p:cNvPr id="27" name="on::before"/>
          <p:cNvSpPr/>
          <p:nvPr/>
        </p:nvSpPr>
        <p:spPr>
          <a:xfrm>
            <a:off x="10421142" y="311170"/>
            <a:ext cx="44440" cy="44440"/>
          </a:xfrm>
          <a:prstGeom prst="rect">
            <a:avLst/>
          </a:prstGeom>
          <a:solidFill>
            <a:srgbClr val="044BD9"/>
          </a:solidFill>
          <a:ln/>
        </p:spPr>
      </p:sp>
      <p:sp>
        <p:nvSpPr>
          <p:cNvPr id="28" name="span::before"/>
          <p:cNvSpPr/>
          <p:nvPr/>
        </p:nvSpPr>
        <p:spPr>
          <a:xfrm>
            <a:off x="10966216" y="311170"/>
            <a:ext cx="44440" cy="44440"/>
          </a:xfrm>
          <a:prstGeom prst="rect">
            <a:avLst/>
          </a:prstGeom>
          <a:solidFill>
            <a:srgbClr val="A0A6AF">
              <a:alpha val="55000"/>
            </a:srgbClr>
          </a:solidFill>
          <a:ln/>
        </p:spPr>
      </p:sp>
      <p:sp>
        <p:nvSpPr>
          <p:cNvPr id="29" name="Text"/>
          <p:cNvSpPr txBox="1"/>
          <p:nvPr/>
        </p:nvSpPr>
        <p:spPr>
          <a:xfrm>
            <a:off x="844540" y="609265"/>
            <a:ext cx="354879"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Legal</a:t>
            </a:r>
            <a:endParaRPr lang="en-US" sz="950" dirty="0"/>
          </a:p>
        </p:txBody>
      </p:sp>
      <p:sp>
        <p:nvSpPr>
          <p:cNvPr id="30"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 36-year-old law firm now runs on</a:t>
            </a:r>
            <a:endParaRPr lang="en-US" sz="3000" dirty="0"/>
          </a:p>
          <a:p>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sovereign AI</a:t>
            </a:r>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 with 90+ portal automations</a:t>
            </a:r>
            <a:endParaRPr lang="en-US" sz="3000" dirty="0"/>
          </a:p>
        </p:txBody>
      </p:sp>
      <p:sp>
        <p:nvSpPr>
          <p:cNvPr id="31" name="Text"/>
          <p:cNvSpPr txBox="1"/>
          <p:nvPr/>
        </p:nvSpPr>
        <p:spPr>
          <a:xfrm>
            <a:off x="819120" y="1999884"/>
            <a:ext cx="812079"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AI engineering</a:t>
            </a:r>
            <a:endParaRPr lang="en-US" sz="850" dirty="0"/>
          </a:p>
        </p:txBody>
      </p:sp>
      <p:sp>
        <p:nvSpPr>
          <p:cNvPr id="32" name="Text"/>
          <p:cNvSpPr txBox="1"/>
          <p:nvPr/>
        </p:nvSpPr>
        <p:spPr>
          <a:xfrm>
            <a:off x="1885218" y="1999884"/>
            <a:ext cx="1058875"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System integration</a:t>
            </a:r>
            <a:endParaRPr lang="en-US" sz="850" dirty="0"/>
          </a:p>
        </p:txBody>
      </p:sp>
      <p:sp>
        <p:nvSpPr>
          <p:cNvPr id="33" name="Text"/>
          <p:cNvSpPr txBox="1"/>
          <p:nvPr/>
        </p:nvSpPr>
        <p:spPr>
          <a:xfrm>
            <a:off x="3198114" y="1999884"/>
            <a:ext cx="288219"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2025</a:t>
            </a:r>
            <a:endParaRPr lang="en-US" sz="850" dirty="0"/>
          </a:p>
        </p:txBody>
      </p:sp>
      <p:sp>
        <p:nvSpPr>
          <p:cNvPr id="34" name="Text"/>
          <p:cNvSpPr txBox="1"/>
          <p:nvPr/>
        </p:nvSpPr>
        <p:spPr>
          <a:xfrm>
            <a:off x="3740353" y="1999884"/>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Qwen</a:t>
            </a:r>
            <a:endParaRPr lang="en-US" sz="850" dirty="0"/>
          </a:p>
        </p:txBody>
      </p:sp>
      <p:sp>
        <p:nvSpPr>
          <p:cNvPr id="35" name="Text"/>
          <p:cNvSpPr txBox="1"/>
          <p:nvPr/>
        </p:nvSpPr>
        <p:spPr>
          <a:xfrm>
            <a:off x="4330507" y="1999884"/>
            <a:ext cx="639348"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GenAI-RAG</a:t>
            </a:r>
            <a:endParaRPr lang="en-US" sz="850" dirty="0"/>
          </a:p>
        </p:txBody>
      </p:sp>
      <p:sp>
        <p:nvSpPr>
          <p:cNvPr id="36" name="Text"/>
          <p:cNvSpPr txBox="1"/>
          <p:nvPr/>
        </p:nvSpPr>
        <p:spPr>
          <a:xfrm>
            <a:off x="5223876" y="1999884"/>
            <a:ext cx="679765"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Agentic RPA</a:t>
            </a:r>
            <a:endParaRPr lang="en-US" sz="850" dirty="0"/>
          </a:p>
        </p:txBody>
      </p:sp>
      <p:sp>
        <p:nvSpPr>
          <p:cNvPr id="37" name="Text"/>
          <p:cNvSpPr txBox="1"/>
          <p:nvPr/>
        </p:nvSpPr>
        <p:spPr>
          <a:xfrm>
            <a:off x="6157570" y="1999884"/>
            <a:ext cx="637154"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NVIDIA GPU</a:t>
            </a:r>
            <a:endParaRPr lang="en-US" sz="850" dirty="0"/>
          </a:p>
        </p:txBody>
      </p:sp>
      <p:sp>
        <p:nvSpPr>
          <p:cNvPr id="38" name="Text"/>
          <p:cNvSpPr txBox="1"/>
          <p:nvPr/>
        </p:nvSpPr>
        <p:spPr>
          <a:xfrm>
            <a:off x="711220" y="2572207"/>
            <a:ext cx="3457438"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Situation</a:t>
            </a:r>
            <a:endParaRPr lang="en-US" sz="900" dirty="0"/>
          </a:p>
        </p:txBody>
      </p:sp>
      <p:sp>
        <p:nvSpPr>
          <p:cNvPr id="39" name="Text"/>
          <p:cNvSpPr txBox="1"/>
          <p:nvPr/>
        </p:nvSpPr>
        <p:spPr>
          <a:xfrm>
            <a:off x="711220" y="2834640"/>
            <a:ext cx="3593592" cy="108265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Case management, back office and accounting</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ran on a legacy system, and staff worked across</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bank, government, SSM and CTOS portals. The</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firm needed AI for document work, without client</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data leaving the firm.</a:t>
            </a:r>
            <a:endParaRPr lang="en-US" sz="1100" dirty="0"/>
          </a:p>
        </p:txBody>
      </p:sp>
      <p:sp>
        <p:nvSpPr>
          <p:cNvPr id="40" name="Text"/>
          <p:cNvSpPr txBox="1"/>
          <p:nvPr/>
        </p:nvSpPr>
        <p:spPr>
          <a:xfrm>
            <a:off x="1644640" y="4312036"/>
            <a:ext cx="2335378"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Abraham Ooi &amp; Partners</a:t>
            </a:r>
            <a:endParaRPr lang="en-US" sz="1250" dirty="0"/>
          </a:p>
        </p:txBody>
      </p:sp>
      <p:sp>
        <p:nvSpPr>
          <p:cNvPr id="41" name="Text"/>
          <p:cNvSpPr txBox="1"/>
          <p:nvPr/>
        </p:nvSpPr>
        <p:spPr>
          <a:xfrm>
            <a:off x="1644640" y="4535698"/>
            <a:ext cx="2431298" cy="337779"/>
          </a:xfrm>
          <a:prstGeom prst="rect">
            <a:avLst/>
          </a:prstGeom>
          <a:noFill/>
          <a:ln/>
        </p:spPr>
        <p:txBody>
          <a:bodyPr wrap="square" lIns="0" tIns="0" rIns="0" bIns="0" rtlCol="0" anchor="t"/>
          <a:lstStyle/>
          <a:p>
            <a:pPr algn="l" indent="0" marL="0">
              <a:lnSpc>
                <a:spcPts val="1330"/>
              </a:lnSpc>
              <a:buNone/>
            </a:pPr>
            <a:r>
              <a:rPr lang="en-US" sz="950" dirty="0">
                <a:solidFill>
                  <a:srgbClr val="6B6B6B"/>
                </a:solidFill>
                <a:latin typeface="Poppins Light" pitchFamily="34" charset="0"/>
                <a:ea typeface="Poppins Light" pitchFamily="34" charset="-122"/>
                <a:cs typeface="Poppins Light" pitchFamily="34" charset="-120"/>
              </a:rPr>
              <a:t>ALPHV Lawtech Solutions,</a:t>
            </a:r>
            <a:endParaRPr lang="en-US" sz="950" dirty="0"/>
          </a:p>
          <a:p>
            <a:pPr algn="l" indent="0" marL="0">
              <a:lnSpc>
                <a:spcPts val="1330"/>
              </a:lnSpc>
              <a:buNone/>
            </a:pPr>
            <a:r>
              <a:rPr lang="en-US" sz="950" dirty="0">
                <a:solidFill>
                  <a:srgbClr val="6B6B6B"/>
                </a:solidFill>
                <a:latin typeface="Poppins Light" pitchFamily="34" charset="0"/>
                <a:ea typeface="Poppins Light" pitchFamily="34" charset="-122"/>
                <a:cs typeface="Poppins Light" pitchFamily="34" charset="-120"/>
              </a:rPr>
              <a:t>delivered 2025</a:t>
            </a:r>
            <a:endParaRPr lang="en-US" sz="950" dirty="0"/>
          </a:p>
        </p:txBody>
      </p:sp>
      <p:sp>
        <p:nvSpPr>
          <p:cNvPr id="42" name="Text"/>
          <p:cNvSpPr txBox="1"/>
          <p:nvPr/>
        </p:nvSpPr>
        <p:spPr>
          <a:xfrm>
            <a:off x="1022391" y="5138288"/>
            <a:ext cx="2946471" cy="580095"/>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Light" pitchFamily="34" charset="0"/>
                <a:ea typeface="Poppins Light" pitchFamily="34" charset="-122"/>
                <a:cs typeface="Poppins Light" pitchFamily="34" charset="-120"/>
              </a:rPr>
              <a:t>The models run on a locally hosted NVIDIA</a:t>
            </a:r>
            <a:endParaRPr lang="en-US" sz="1050" dirty="0"/>
          </a:p>
          <a:p>
            <a:pPr algn="l" indent="0" marL="0">
              <a:lnSpc>
                <a:spcPts val="1522"/>
              </a:lnSpc>
              <a:buNone/>
            </a:pPr>
            <a:r>
              <a:rPr lang="en-US" sz="1050" dirty="0">
                <a:solidFill>
                  <a:srgbClr val="000000"/>
                </a:solidFill>
                <a:latin typeface="Poppins Light" pitchFamily="34" charset="0"/>
                <a:ea typeface="Poppins Light" pitchFamily="34" charset="-122"/>
                <a:cs typeface="Poppins Light" pitchFamily="34" charset="-120"/>
              </a:rPr>
              <a:t>GPU workstation, so client data stays</a:t>
            </a:r>
            <a:endParaRPr lang="en-US" sz="1050" dirty="0"/>
          </a:p>
          <a:p>
            <a:pPr algn="l" indent="0" marL="0">
              <a:lnSpc>
                <a:spcPts val="1522"/>
              </a:lnSpc>
              <a:buNone/>
            </a:pPr>
            <a:r>
              <a:rPr lang="en-US" sz="1050" dirty="0">
                <a:solidFill>
                  <a:srgbClr val="000000"/>
                </a:solidFill>
                <a:latin typeface="Poppins Light" pitchFamily="34" charset="0"/>
                <a:ea typeface="Poppins Light" pitchFamily="34" charset="-122"/>
                <a:cs typeface="Poppins Light" pitchFamily="34" charset="-120"/>
              </a:rPr>
              <a:t>inside the firm.</a:t>
            </a:r>
            <a:endParaRPr lang="en-US" sz="1050" dirty="0"/>
          </a:p>
        </p:txBody>
      </p:sp>
      <p:sp>
        <p:nvSpPr>
          <p:cNvPr id="43" name="Text"/>
          <p:cNvSpPr txBox="1"/>
          <p:nvPr/>
        </p:nvSpPr>
        <p:spPr>
          <a:xfrm>
            <a:off x="4294571" y="2572207"/>
            <a:ext cx="3457529"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Approach</a:t>
            </a:r>
            <a:endParaRPr lang="en-US" sz="900" dirty="0"/>
          </a:p>
        </p:txBody>
      </p:sp>
      <p:sp>
        <p:nvSpPr>
          <p:cNvPr id="44" name="Text"/>
          <p:cNvSpPr txBox="1"/>
          <p:nvPr/>
        </p:nvSpPr>
        <p:spPr>
          <a:xfrm>
            <a:off x="4294571" y="2834640"/>
            <a:ext cx="3457529" cy="21653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One platform replaced the legacy system.</a:t>
            </a:r>
            <a:endParaRPr lang="en-US" sz="1100" dirty="0"/>
          </a:p>
        </p:txBody>
      </p:sp>
      <p:sp>
        <p:nvSpPr>
          <p:cNvPr id="45" name="Text"/>
          <p:cNvSpPr txBox="1"/>
          <p:nvPr/>
        </p:nvSpPr>
        <p:spPr>
          <a:xfrm>
            <a:off x="4459712" y="3145627"/>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Matters, tasks, teams and a client portal for lawyers, clerks and secretaries</a:t>
            </a:r>
            <a:endParaRPr lang="en-US" sz="1100" dirty="0"/>
          </a:p>
        </p:txBody>
      </p:sp>
      <p:sp>
        <p:nvSpPr>
          <p:cNvPr id="46" name="Text"/>
          <p:cNvSpPr txBox="1"/>
          <p:nvPr/>
        </p:nvSpPr>
        <p:spPr>
          <a:xfrm>
            <a:off x="4459712" y="3640958"/>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Bank loan document AI extraction and template-based document generation</a:t>
            </a:r>
            <a:endParaRPr lang="en-US" sz="1100" dirty="0"/>
          </a:p>
        </p:txBody>
      </p:sp>
      <p:sp>
        <p:nvSpPr>
          <p:cNvPr id="47" name="Text"/>
          <p:cNvSpPr txBox="1"/>
          <p:nvPr/>
        </p:nvSpPr>
        <p:spPr>
          <a:xfrm>
            <a:off x="4459712" y="4136288"/>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90+ third-party portal automations, including banks, government, SSM and CTOS</a:t>
            </a:r>
            <a:endParaRPr lang="en-US" sz="1100" dirty="0"/>
          </a:p>
        </p:txBody>
      </p:sp>
      <p:sp>
        <p:nvSpPr>
          <p:cNvPr id="48" name="Text"/>
          <p:cNvSpPr txBox="1"/>
          <p:nvPr/>
        </p:nvSpPr>
        <p:spPr>
          <a:xfrm>
            <a:off x="4459712" y="4631527"/>
            <a:ext cx="3422051"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Workflow, email and WhatsApp automation,</a:t>
            </a:r>
            <a:endParaRPr lang="en-US" sz="1100" dirty="0"/>
          </a:p>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with accounting and e-invoicing</a:t>
            </a:r>
            <a:endParaRPr lang="en-US" sz="1100" dirty="0"/>
          </a:p>
        </p:txBody>
      </p:sp>
      <p:sp>
        <p:nvSpPr>
          <p:cNvPr id="49" name="Text"/>
          <p:cNvSpPr txBox="1"/>
          <p:nvPr/>
        </p:nvSpPr>
        <p:spPr>
          <a:xfrm>
            <a:off x="4294571" y="5358933"/>
            <a:ext cx="3593683" cy="64959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How it runs.</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Retrieval grounds answers in the</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firm’s own documents, and agentic RPA carries</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the work into third-party portals.</a:t>
            </a:r>
            <a:endParaRPr lang="en-US" sz="1100" dirty="0"/>
          </a:p>
        </p:txBody>
      </p:sp>
      <p:sp>
        <p:nvSpPr>
          <p:cNvPr id="50" name="Text"/>
          <p:cNvSpPr txBox="1"/>
          <p:nvPr/>
        </p:nvSpPr>
        <p:spPr>
          <a:xfrm>
            <a:off x="7878105" y="2572207"/>
            <a:ext cx="3629802"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044BD9"/>
                </a:solidFill>
                <a:latin typeface="Poppins Medium" pitchFamily="34" charset="0"/>
                <a:ea typeface="Poppins Medium" pitchFamily="34" charset="-122"/>
                <a:cs typeface="Poppins Medium" pitchFamily="34" charset="-120"/>
              </a:rPr>
              <a:t>Impact</a:t>
            </a:r>
            <a:endParaRPr lang="en-US" sz="900" dirty="0"/>
          </a:p>
        </p:txBody>
      </p:sp>
      <p:sp>
        <p:nvSpPr>
          <p:cNvPr id="51" name="Text"/>
          <p:cNvSpPr txBox="1"/>
          <p:nvPr/>
        </p:nvSpPr>
        <p:spPr>
          <a:xfrm>
            <a:off x="7878105" y="2881549"/>
            <a:ext cx="3629802" cy="609630"/>
          </a:xfrm>
          <a:prstGeom prst="rect">
            <a:avLst/>
          </a:prstGeom>
          <a:noFill/>
          <a:ln/>
        </p:spPr>
        <p:txBody>
          <a:bodyPr wrap="square" lIns="0" tIns="0" rIns="0" bIns="0" rtlCol="0" anchor="t"/>
          <a:lstStyle/>
          <a:p>
            <a:pPr algn="l" indent="0" marL="0">
              <a:lnSpc>
                <a:spcPts val="4800"/>
              </a:lnSpc>
              <a:buNone/>
            </a:pPr>
            <a:r>
              <a:rPr lang="en-US" sz="4800" spc="-96" kern="0" dirty="0">
                <a:solidFill>
                  <a:srgbClr val="044BD9"/>
                </a:solidFill>
                <a:latin typeface="Poppins Medium" pitchFamily="34" charset="0"/>
                <a:ea typeface="Poppins Medium" pitchFamily="34" charset="-122"/>
                <a:cs typeface="Poppins Medium" pitchFamily="34" charset="-120"/>
              </a:rPr>
              <a:t>90</a:t>
            </a:r>
            <a:pPr algn="l" indent="0" marL="0">
              <a:lnSpc>
                <a:spcPts val="4800"/>
              </a:lnSpc>
              <a:buNone/>
            </a:pPr>
            <a:r>
              <a:rPr lang="en-US" sz="2160" spc="-96" kern="0" dirty="0">
                <a:solidFill>
                  <a:srgbClr val="044BD9"/>
                </a:solidFill>
                <a:latin typeface="Poppins Medium" pitchFamily="34" charset="0"/>
                <a:ea typeface="Poppins Medium" pitchFamily="34" charset="-122"/>
                <a:cs typeface="Poppins Medium" pitchFamily="34" charset="-120"/>
              </a:rPr>
              <a:t>+</a:t>
            </a:r>
            <a:endParaRPr lang="en-US" sz="4800" dirty="0"/>
          </a:p>
        </p:txBody>
      </p:sp>
      <p:sp>
        <p:nvSpPr>
          <p:cNvPr id="52" name="Text"/>
          <p:cNvSpPr txBox="1"/>
          <p:nvPr/>
        </p:nvSpPr>
        <p:spPr>
          <a:xfrm>
            <a:off x="7878105" y="3495111"/>
            <a:ext cx="3629802" cy="43306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Third-party portal automations, including banks, government, SSM and CTOS</a:t>
            </a:r>
            <a:endParaRPr lang="en-US" sz="1100" dirty="0"/>
          </a:p>
        </p:txBody>
      </p:sp>
      <p:sp>
        <p:nvSpPr>
          <p:cNvPr id="53" name="Text"/>
          <p:cNvSpPr txBox="1"/>
          <p:nvPr/>
        </p:nvSpPr>
        <p:spPr>
          <a:xfrm>
            <a:off x="7878105" y="4184477"/>
            <a:ext cx="3629802" cy="609630"/>
          </a:xfrm>
          <a:prstGeom prst="rect">
            <a:avLst/>
          </a:prstGeom>
          <a:noFill/>
          <a:ln/>
        </p:spPr>
        <p:txBody>
          <a:bodyPr wrap="square" lIns="0" tIns="0" rIns="0" bIns="0" rtlCol="0" anchor="t"/>
          <a:lstStyle/>
          <a:p>
            <a:pPr algn="l" indent="0" marL="0">
              <a:lnSpc>
                <a:spcPts val="4800"/>
              </a:lnSpc>
              <a:buNone/>
            </a:pPr>
            <a:r>
              <a:rPr lang="en-US" sz="4800" spc="-96" kern="0" dirty="0">
                <a:solidFill>
                  <a:srgbClr val="044BD9"/>
                </a:solidFill>
                <a:latin typeface="Poppins Medium" pitchFamily="34" charset="0"/>
                <a:ea typeface="Poppins Medium" pitchFamily="34" charset="-122"/>
                <a:cs typeface="Poppins Medium" pitchFamily="34" charset="-120"/>
              </a:rPr>
              <a:t>2025</a:t>
            </a:r>
            <a:endParaRPr lang="en-US" sz="4800" dirty="0"/>
          </a:p>
        </p:txBody>
      </p:sp>
      <p:sp>
        <p:nvSpPr>
          <p:cNvPr id="54" name="Text"/>
          <p:cNvSpPr txBox="1"/>
          <p:nvPr/>
        </p:nvSpPr>
        <p:spPr>
          <a:xfrm>
            <a:off x="7878105" y="4798040"/>
            <a:ext cx="3629802" cy="21653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In use since delivery</a:t>
            </a:r>
            <a:endParaRPr lang="en-US" sz="1100" dirty="0"/>
          </a:p>
        </p:txBody>
      </p:sp>
      <p:sp>
        <p:nvSpPr>
          <p:cNvPr id="55" name="Text"/>
          <p:cNvSpPr txBox="1"/>
          <p:nvPr/>
        </p:nvSpPr>
        <p:spPr>
          <a:xfrm>
            <a:off x="7878105" y="5358933"/>
            <a:ext cx="3772266" cy="64959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In use.</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The firm runs case management, back office</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and accounting on one ALPHV platform, with its</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data kept in-house.</a:t>
            </a:r>
            <a:endParaRPr lang="en-US" sz="1100" dirty="0"/>
          </a:p>
        </p:txBody>
      </p:sp>
      <p:sp>
        <p:nvSpPr>
          <p:cNvPr id="56"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7"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8"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9"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60"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61"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62"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alphv.com/insights/sovereign-ai-case-management-law-firm; alphv.com, home page; alphv.com/services/system-integration-and-</a:t>
            </a:r>
            <a:endParaRPr lang="en-US" sz="850" dirty="0"/>
          </a:p>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consulting (October 2026).</a:t>
            </a:r>
            <a:endParaRPr lang="en-US" sz="850" dirty="0"/>
          </a:p>
        </p:txBody>
      </p:sp>
      <p:sp>
        <p:nvSpPr>
          <p:cNvPr id="63" name="Text"/>
          <p:cNvSpPr txBox="1"/>
          <p:nvPr/>
        </p:nvSpPr>
        <p:spPr>
          <a:xfrm>
            <a:off x="9350014"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4" name="Text"/>
          <p:cNvSpPr txBox="1"/>
          <p:nvPr/>
        </p:nvSpPr>
        <p:spPr>
          <a:xfrm>
            <a:off x="9857964"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5" name="Text"/>
          <p:cNvSpPr txBox="1"/>
          <p:nvPr/>
        </p:nvSpPr>
        <p:spPr>
          <a:xfrm>
            <a:off x="11349441" y="6401532"/>
            <a:ext cx="156728"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1361542" cy="254020"/>
          </a:xfrm>
          <a:prstGeom prst="roundRect">
            <a:avLst>
              <a:gd name="adj" fmla="val 50000"/>
            </a:avLst>
          </a:prstGeom>
          <a:ln w="6350">
            <a:solidFill>
              <a:srgbClr val="155DFC"/>
            </a:solidFill>
            <a:prstDash val="solid"/>
          </a:ln>
        </p:spPr>
      </p:sp>
      <p:sp>
        <p:nvSpPr>
          <p:cNvPr id="3" name="tag"/>
          <p:cNvSpPr/>
          <p:nvPr/>
        </p:nvSpPr>
        <p:spPr>
          <a:xfrm>
            <a:off x="714421" y="1937339"/>
            <a:ext cx="949239" cy="228600"/>
          </a:xfrm>
          <a:prstGeom prst="roundRect">
            <a:avLst>
              <a:gd name="adj" fmla="val 50000"/>
            </a:avLst>
          </a:prstGeom>
          <a:solidFill>
            <a:srgbClr val="FFFFFF"/>
          </a:solidFill>
          <a:ln w="6350">
            <a:solidFill>
              <a:srgbClr val="E3E6EC"/>
            </a:solidFill>
            <a:prstDash val="solid"/>
          </a:ln>
        </p:spPr>
      </p:sp>
      <p:sp>
        <p:nvSpPr>
          <p:cNvPr id="4" name="tag"/>
          <p:cNvSpPr/>
          <p:nvPr/>
        </p:nvSpPr>
        <p:spPr>
          <a:xfrm>
            <a:off x="1733428" y="1937339"/>
            <a:ext cx="2087392" cy="228600"/>
          </a:xfrm>
          <a:prstGeom prst="roundRect">
            <a:avLst>
              <a:gd name="adj" fmla="val 50000"/>
            </a:avLst>
          </a:prstGeom>
          <a:solidFill>
            <a:srgbClr val="FFFFFF"/>
          </a:solidFill>
          <a:ln w="6350">
            <a:solidFill>
              <a:srgbClr val="E3E6EC"/>
            </a:solidFill>
            <a:prstDash val="solid"/>
          </a:ln>
        </p:spPr>
      </p:sp>
      <p:sp>
        <p:nvSpPr>
          <p:cNvPr id="5" name="tag"/>
          <p:cNvSpPr/>
          <p:nvPr/>
        </p:nvSpPr>
        <p:spPr>
          <a:xfrm>
            <a:off x="3890681" y="1937339"/>
            <a:ext cx="701893" cy="228600"/>
          </a:xfrm>
          <a:prstGeom prst="roundRect">
            <a:avLst>
              <a:gd name="adj" fmla="val 50000"/>
            </a:avLst>
          </a:prstGeom>
          <a:solidFill>
            <a:srgbClr val="FFFFFF"/>
          </a:solidFill>
          <a:ln w="6350">
            <a:solidFill>
              <a:srgbClr val="E3E6EC"/>
            </a:solidFill>
            <a:prstDash val="solid"/>
          </a:ln>
        </p:spPr>
      </p:sp>
      <p:sp>
        <p:nvSpPr>
          <p:cNvPr id="6" name="tag"/>
          <p:cNvSpPr/>
          <p:nvPr/>
        </p:nvSpPr>
        <p:spPr>
          <a:xfrm>
            <a:off x="4662343" y="1937339"/>
            <a:ext cx="1274308" cy="228600"/>
          </a:xfrm>
          <a:prstGeom prst="roundRect">
            <a:avLst>
              <a:gd name="adj" fmla="val 50000"/>
            </a:avLst>
          </a:prstGeom>
          <a:solidFill>
            <a:srgbClr val="FFFFFF"/>
          </a:solidFill>
          <a:ln w="6350">
            <a:solidFill>
              <a:srgbClr val="E3E6EC"/>
            </a:solidFill>
            <a:prstDash val="solid"/>
          </a:ln>
        </p:spPr>
      </p:sp>
      <p:sp>
        <p:nvSpPr>
          <p:cNvPr id="7" name="Rule"/>
          <p:cNvSpPr/>
          <p:nvPr/>
        </p:nvSpPr>
        <p:spPr>
          <a:xfrm>
            <a:off x="711220" y="2454890"/>
            <a:ext cx="3431012" cy="0"/>
          </a:xfrm>
          <a:prstGeom prst="line">
            <a:avLst/>
          </a:prstGeom>
          <a:noFill/>
          <a:ln w="12700">
            <a:solidFill>
              <a:srgbClr val="000000"/>
            </a:solidFill>
            <a:prstDash val="solid"/>
          </a:ln>
        </p:spPr>
      </p:sp>
      <p:sp>
        <p:nvSpPr>
          <p:cNvPr id="8" name="card"/>
          <p:cNvSpPr/>
          <p:nvPr/>
        </p:nvSpPr>
        <p:spPr>
          <a:xfrm>
            <a:off x="714421" y="4118000"/>
            <a:ext cx="3424611" cy="1898660"/>
          </a:xfrm>
          <a:prstGeom prst="roundRect">
            <a:avLst>
              <a:gd name="adj" fmla="val 7860"/>
            </a:avLst>
          </a:prstGeom>
          <a:solidFill>
            <a:srgbClr val="FFFFFF"/>
          </a:solidFill>
          <a:ln w="6350">
            <a:solidFill>
              <a:srgbClr val="F0F0F0"/>
            </a:solidFill>
            <a:prstDash val="solid"/>
          </a:ln>
        </p:spPr>
      </p:sp>
      <p:pic>
        <p:nvPicPr>
          <p:cNvPr id="9" name="Picture" descr="iPajak Group">    </p:cNvPr>
          <p:cNvPicPr>
            <a:picLocks noChangeAspect="1"/>
          </p:cNvPicPr>
          <p:nvPr/>
        </p:nvPicPr>
        <p:blipFill>
          <a:blip r:embed="rId1"/>
          <a:stretch>
            <a:fillRect/>
          </a:stretch>
        </p:blipFill>
        <p:spPr>
          <a:xfrm>
            <a:off x="895380" y="4298960"/>
            <a:ext cx="1667866" cy="406359"/>
          </a:xfrm>
          <a:prstGeom prst="rect">
            <a:avLst/>
          </a:prstGeom>
        </p:spPr>
      </p:pic>
      <p:sp>
        <p:nvSpPr>
          <p:cNvPr id="10" name="p"/>
          <p:cNvSpPr/>
          <p:nvPr/>
        </p:nvSpPr>
        <p:spPr>
          <a:xfrm>
            <a:off x="895380" y="5439217"/>
            <a:ext cx="3062691" cy="396484"/>
          </a:xfrm>
          <a:prstGeom prst="roundRect">
            <a:avLst>
              <a:gd name="adj" fmla="val 25623"/>
            </a:avLst>
          </a:prstGeom>
          <a:solidFill>
            <a:srgbClr val="044BD9">
              <a:alpha val="8000"/>
            </a:srgbClr>
          </a:solidFill>
          <a:ln/>
        </p:spPr>
      </p:sp>
      <p:sp>
        <p:nvSpPr>
          <p:cNvPr id="11" name="Rule"/>
          <p:cNvSpPr/>
          <p:nvPr/>
        </p:nvSpPr>
        <p:spPr>
          <a:xfrm>
            <a:off x="4294571" y="2454890"/>
            <a:ext cx="3431103" cy="0"/>
          </a:xfrm>
          <a:prstGeom prst="line">
            <a:avLst/>
          </a:prstGeom>
          <a:noFill/>
          <a:ln w="12700">
            <a:solidFill>
              <a:srgbClr val="000000"/>
            </a:solidFill>
            <a:prstDash val="solid"/>
          </a:ln>
        </p:spPr>
      </p:sp>
      <p:sp>
        <p:nvSpPr>
          <p:cNvPr id="12" name="li::before"/>
          <p:cNvSpPr/>
          <p:nvPr/>
        </p:nvSpPr>
        <p:spPr>
          <a:xfrm>
            <a:off x="4294571" y="3462741"/>
            <a:ext cx="57150" cy="57150"/>
          </a:xfrm>
          <a:prstGeom prst="rect">
            <a:avLst/>
          </a:prstGeom>
          <a:solidFill>
            <a:srgbClr val="044BD9"/>
          </a:solidFill>
          <a:ln/>
        </p:spPr>
      </p:sp>
      <p:sp>
        <p:nvSpPr>
          <p:cNvPr id="13" name="li::before"/>
          <p:cNvSpPr/>
          <p:nvPr/>
        </p:nvSpPr>
        <p:spPr>
          <a:xfrm>
            <a:off x="4294571" y="3748491"/>
            <a:ext cx="57150" cy="57150"/>
          </a:xfrm>
          <a:prstGeom prst="rect">
            <a:avLst/>
          </a:prstGeom>
          <a:solidFill>
            <a:srgbClr val="044BD9"/>
          </a:solidFill>
          <a:ln/>
        </p:spPr>
      </p:sp>
      <p:sp>
        <p:nvSpPr>
          <p:cNvPr id="14" name="li::before"/>
          <p:cNvSpPr/>
          <p:nvPr/>
        </p:nvSpPr>
        <p:spPr>
          <a:xfrm>
            <a:off x="4294571" y="4034241"/>
            <a:ext cx="57150" cy="57150"/>
          </a:xfrm>
          <a:prstGeom prst="rect">
            <a:avLst/>
          </a:prstGeom>
          <a:solidFill>
            <a:srgbClr val="044BD9"/>
          </a:solidFill>
          <a:ln/>
        </p:spPr>
      </p:sp>
      <p:sp>
        <p:nvSpPr>
          <p:cNvPr id="15" name="li::before"/>
          <p:cNvSpPr/>
          <p:nvPr/>
        </p:nvSpPr>
        <p:spPr>
          <a:xfrm>
            <a:off x="4294571" y="4319991"/>
            <a:ext cx="57150" cy="57150"/>
          </a:xfrm>
          <a:prstGeom prst="rect">
            <a:avLst/>
          </a:prstGeom>
          <a:solidFill>
            <a:srgbClr val="044BD9"/>
          </a:solidFill>
          <a:ln/>
        </p:spPr>
      </p:sp>
      <p:sp>
        <p:nvSpPr>
          <p:cNvPr id="16" name="Rule"/>
          <p:cNvSpPr/>
          <p:nvPr/>
        </p:nvSpPr>
        <p:spPr>
          <a:xfrm>
            <a:off x="4294571" y="5273711"/>
            <a:ext cx="3431103" cy="0"/>
          </a:xfrm>
          <a:prstGeom prst="line">
            <a:avLst/>
          </a:prstGeom>
          <a:noFill/>
          <a:ln w="6350">
            <a:solidFill>
              <a:srgbClr val="E3E6EC"/>
            </a:solidFill>
            <a:prstDash val="solid"/>
          </a:ln>
        </p:spPr>
      </p:sp>
      <p:sp>
        <p:nvSpPr>
          <p:cNvPr id="17" name="Rule"/>
          <p:cNvSpPr/>
          <p:nvPr/>
        </p:nvSpPr>
        <p:spPr>
          <a:xfrm>
            <a:off x="7878105" y="2454890"/>
            <a:ext cx="3602736" cy="0"/>
          </a:xfrm>
          <a:prstGeom prst="line">
            <a:avLst/>
          </a:prstGeom>
          <a:noFill/>
          <a:ln w="12700">
            <a:solidFill>
              <a:srgbClr val="044BD9"/>
            </a:solidFill>
            <a:prstDash val="solid"/>
          </a:ln>
        </p:spPr>
      </p:sp>
      <p:sp>
        <p:nvSpPr>
          <p:cNvPr id="18" name="Rule"/>
          <p:cNvSpPr/>
          <p:nvPr/>
        </p:nvSpPr>
        <p:spPr>
          <a:xfrm>
            <a:off x="7878105" y="4139032"/>
            <a:ext cx="3602736" cy="0"/>
          </a:xfrm>
          <a:prstGeom prst="line">
            <a:avLst/>
          </a:prstGeom>
          <a:noFill/>
          <a:ln w="6350">
            <a:solidFill>
              <a:srgbClr val="E3E6EC"/>
            </a:solidFill>
            <a:prstDash val="solid"/>
          </a:ln>
        </p:spPr>
      </p:sp>
      <p:sp>
        <p:nvSpPr>
          <p:cNvPr id="19" name="span::before"/>
          <p:cNvSpPr/>
          <p:nvPr/>
        </p:nvSpPr>
        <p:spPr>
          <a:xfrm>
            <a:off x="6191860" y="311170"/>
            <a:ext cx="44440" cy="44440"/>
          </a:xfrm>
          <a:prstGeom prst="rect">
            <a:avLst/>
          </a:prstGeom>
          <a:solidFill>
            <a:srgbClr val="A0A6AF">
              <a:alpha val="55000"/>
            </a:srgbClr>
          </a:solidFill>
          <a:ln/>
        </p:spPr>
      </p:sp>
      <p:sp>
        <p:nvSpPr>
          <p:cNvPr id="20" name="span::before"/>
          <p:cNvSpPr/>
          <p:nvPr/>
        </p:nvSpPr>
        <p:spPr>
          <a:xfrm>
            <a:off x="7145213" y="311170"/>
            <a:ext cx="44440" cy="44440"/>
          </a:xfrm>
          <a:prstGeom prst="rect">
            <a:avLst/>
          </a:prstGeom>
          <a:solidFill>
            <a:srgbClr val="A0A6AF">
              <a:alpha val="55000"/>
            </a:srgbClr>
          </a:solidFill>
          <a:ln/>
        </p:spPr>
      </p:sp>
      <p:sp>
        <p:nvSpPr>
          <p:cNvPr id="21" name="span::before"/>
          <p:cNvSpPr/>
          <p:nvPr/>
        </p:nvSpPr>
        <p:spPr>
          <a:xfrm>
            <a:off x="8056230" y="311170"/>
            <a:ext cx="44440" cy="44440"/>
          </a:xfrm>
          <a:prstGeom prst="rect">
            <a:avLst/>
          </a:prstGeom>
          <a:solidFill>
            <a:srgbClr val="A0A6AF">
              <a:alpha val="55000"/>
            </a:srgbClr>
          </a:solidFill>
          <a:ln/>
        </p:spPr>
      </p:sp>
      <p:sp>
        <p:nvSpPr>
          <p:cNvPr id="22" name="span::before"/>
          <p:cNvSpPr/>
          <p:nvPr/>
        </p:nvSpPr>
        <p:spPr>
          <a:xfrm>
            <a:off x="8972550" y="311170"/>
            <a:ext cx="44440" cy="44440"/>
          </a:xfrm>
          <a:prstGeom prst="rect">
            <a:avLst/>
          </a:prstGeom>
          <a:solidFill>
            <a:srgbClr val="A0A6AF">
              <a:alpha val="55000"/>
            </a:srgbClr>
          </a:solidFill>
          <a:ln/>
        </p:spPr>
      </p:sp>
      <p:sp>
        <p:nvSpPr>
          <p:cNvPr id="23" name="on::before"/>
          <p:cNvSpPr/>
          <p:nvPr/>
        </p:nvSpPr>
        <p:spPr>
          <a:xfrm>
            <a:off x="10421142" y="311170"/>
            <a:ext cx="44440" cy="44440"/>
          </a:xfrm>
          <a:prstGeom prst="rect">
            <a:avLst/>
          </a:prstGeom>
          <a:solidFill>
            <a:srgbClr val="044BD9"/>
          </a:solidFill>
          <a:ln/>
        </p:spPr>
      </p:sp>
      <p:sp>
        <p:nvSpPr>
          <p:cNvPr id="24" name="span::before"/>
          <p:cNvSpPr/>
          <p:nvPr/>
        </p:nvSpPr>
        <p:spPr>
          <a:xfrm>
            <a:off x="10966216" y="311170"/>
            <a:ext cx="44440" cy="44440"/>
          </a:xfrm>
          <a:prstGeom prst="rect">
            <a:avLst/>
          </a:prstGeom>
          <a:solidFill>
            <a:srgbClr val="A0A6AF">
              <a:alpha val="55000"/>
            </a:srgbClr>
          </a:solidFill>
          <a:ln/>
        </p:spPr>
      </p:sp>
      <p:sp>
        <p:nvSpPr>
          <p:cNvPr id="25" name="Text"/>
          <p:cNvSpPr txBox="1"/>
          <p:nvPr/>
        </p:nvSpPr>
        <p:spPr>
          <a:xfrm>
            <a:off x="844540" y="609265"/>
            <a:ext cx="1126632"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Financial services</a:t>
            </a:r>
            <a:endParaRPr lang="en-US" sz="950" dirty="0"/>
          </a:p>
        </p:txBody>
      </p:sp>
      <p:sp>
        <p:nvSpPr>
          <p:cNvPr id="26"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ALPHV took over iPajak Group’s project</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midway and put</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six branches on one system</a:t>
            </a:r>
            <a:endParaRPr lang="en-US" sz="3000" dirty="0"/>
          </a:p>
        </p:txBody>
      </p:sp>
      <p:sp>
        <p:nvSpPr>
          <p:cNvPr id="27" name="Text"/>
          <p:cNvSpPr txBox="1"/>
          <p:nvPr/>
        </p:nvSpPr>
        <p:spPr>
          <a:xfrm>
            <a:off x="819120" y="1999884"/>
            <a:ext cx="765078"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Pawn broking</a:t>
            </a:r>
            <a:endParaRPr lang="en-US" sz="850" dirty="0"/>
          </a:p>
        </p:txBody>
      </p:sp>
      <p:sp>
        <p:nvSpPr>
          <p:cNvPr id="28" name="Text"/>
          <p:cNvSpPr txBox="1"/>
          <p:nvPr/>
        </p:nvSpPr>
        <p:spPr>
          <a:xfrm>
            <a:off x="1838218" y="1999884"/>
            <a:ext cx="1903232"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System integration and consulting</a:t>
            </a:r>
            <a:endParaRPr lang="en-US" sz="850" dirty="0"/>
          </a:p>
        </p:txBody>
      </p:sp>
      <p:sp>
        <p:nvSpPr>
          <p:cNvPr id="29" name="Text"/>
          <p:cNvSpPr txBox="1"/>
          <p:nvPr/>
        </p:nvSpPr>
        <p:spPr>
          <a:xfrm>
            <a:off x="3995471" y="1999884"/>
            <a:ext cx="5177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Malaysia</a:t>
            </a:r>
            <a:endParaRPr lang="en-US" sz="850" dirty="0"/>
          </a:p>
        </p:txBody>
      </p:sp>
      <p:sp>
        <p:nvSpPr>
          <p:cNvPr id="30" name="Text"/>
          <p:cNvSpPr txBox="1"/>
          <p:nvPr/>
        </p:nvSpPr>
        <p:spPr>
          <a:xfrm>
            <a:off x="4767133" y="1999884"/>
            <a:ext cx="1090148"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Taken over midway</a:t>
            </a:r>
            <a:endParaRPr lang="en-US" sz="850" dirty="0"/>
          </a:p>
        </p:txBody>
      </p:sp>
      <p:sp>
        <p:nvSpPr>
          <p:cNvPr id="31" name="Text"/>
          <p:cNvSpPr txBox="1"/>
          <p:nvPr/>
        </p:nvSpPr>
        <p:spPr>
          <a:xfrm>
            <a:off x="711220" y="2572207"/>
            <a:ext cx="3457438"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Situation</a:t>
            </a:r>
            <a:endParaRPr lang="en-US" sz="900" dirty="0"/>
          </a:p>
        </p:txBody>
      </p:sp>
      <p:sp>
        <p:nvSpPr>
          <p:cNvPr id="32" name="Text"/>
          <p:cNvSpPr txBox="1"/>
          <p:nvPr/>
        </p:nvSpPr>
        <p:spPr>
          <a:xfrm>
            <a:off x="711220" y="2834640"/>
            <a:ext cx="3457438" cy="108265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iPajak Group is a multi-branch pawn broker in Malaysia that has disbursed MYR 500 million. Its project to run six branches on one centralised pawn brokerage system was already under way when ALPHV took it over.</a:t>
            </a:r>
            <a:endParaRPr lang="en-US" sz="1100" dirty="0"/>
          </a:p>
        </p:txBody>
      </p:sp>
      <p:sp>
        <p:nvSpPr>
          <p:cNvPr id="33" name="Text"/>
          <p:cNvSpPr txBox="1"/>
          <p:nvPr/>
        </p:nvSpPr>
        <p:spPr>
          <a:xfrm>
            <a:off x="895380" y="4811116"/>
            <a:ext cx="3087654"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iPajak Group</a:t>
            </a:r>
            <a:endParaRPr lang="en-US" sz="1250" dirty="0"/>
          </a:p>
        </p:txBody>
      </p:sp>
      <p:sp>
        <p:nvSpPr>
          <p:cNvPr id="34" name="Text"/>
          <p:cNvSpPr txBox="1"/>
          <p:nvPr/>
        </p:nvSpPr>
        <p:spPr>
          <a:xfrm>
            <a:off x="895380" y="5034686"/>
            <a:ext cx="3087654" cy="168890"/>
          </a:xfrm>
          <a:prstGeom prst="rect">
            <a:avLst/>
          </a:prstGeom>
          <a:noFill/>
          <a:ln/>
        </p:spPr>
        <p:txBody>
          <a:bodyPr wrap="square" lIns="0" tIns="0" rIns="0" bIns="0" rtlCol="0" anchor="t"/>
          <a:lstStyle/>
          <a:p>
            <a:pPr algn="l" indent="0" marL="0">
              <a:lnSpc>
                <a:spcPts val="1330"/>
              </a:lnSpc>
              <a:buNone/>
            </a:pPr>
            <a:r>
              <a:rPr lang="en-US" sz="950" dirty="0">
                <a:solidFill>
                  <a:srgbClr val="6B6B6B"/>
                </a:solidFill>
                <a:latin typeface="Poppins Light" pitchFamily="34" charset="0"/>
                <a:ea typeface="Poppins Light" pitchFamily="34" charset="-122"/>
                <a:cs typeface="Poppins Light" pitchFamily="34" charset="-120"/>
              </a:rPr>
              <a:t>Multi-branch pawn broker, Malaysia</a:t>
            </a:r>
            <a:endParaRPr lang="en-US" sz="950" dirty="0"/>
          </a:p>
        </p:txBody>
      </p:sp>
      <p:sp>
        <p:nvSpPr>
          <p:cNvPr id="35" name="Text"/>
          <p:cNvSpPr txBox="1"/>
          <p:nvPr/>
        </p:nvSpPr>
        <p:spPr>
          <a:xfrm>
            <a:off x="1022391" y="5524805"/>
            <a:ext cx="2832628" cy="193396"/>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Light" pitchFamily="34" charset="0"/>
                <a:ea typeface="Poppins Light" pitchFamily="34" charset="-122"/>
                <a:cs typeface="Poppins Light" pitchFamily="34" charset="-120"/>
              </a:rPr>
              <a:t>Delivered after a mid-project handover.</a:t>
            </a:r>
            <a:endParaRPr lang="en-US" sz="1050" dirty="0"/>
          </a:p>
        </p:txBody>
      </p:sp>
      <p:sp>
        <p:nvSpPr>
          <p:cNvPr id="36" name="Text"/>
          <p:cNvSpPr txBox="1"/>
          <p:nvPr/>
        </p:nvSpPr>
        <p:spPr>
          <a:xfrm>
            <a:off x="4294571" y="2572207"/>
            <a:ext cx="3457529"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Approach</a:t>
            </a:r>
            <a:endParaRPr lang="en-US" sz="900" dirty="0"/>
          </a:p>
        </p:txBody>
      </p:sp>
      <p:sp>
        <p:nvSpPr>
          <p:cNvPr id="37" name="Text"/>
          <p:cNvSpPr txBox="1"/>
          <p:nvPr/>
        </p:nvSpPr>
        <p:spPr>
          <a:xfrm>
            <a:off x="4294571" y="2834640"/>
            <a:ext cx="3457529" cy="43306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A centralised pawn brokerage system for iPajak Group’s branches across Malaysia.</a:t>
            </a:r>
            <a:endParaRPr lang="en-US" sz="1100" dirty="0"/>
          </a:p>
        </p:txBody>
      </p:sp>
      <p:sp>
        <p:nvSpPr>
          <p:cNvPr id="38" name="Text"/>
          <p:cNvSpPr txBox="1"/>
          <p:nvPr/>
        </p:nvSpPr>
        <p:spPr>
          <a:xfrm>
            <a:off x="4459712" y="3362157"/>
            <a:ext cx="3291749"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Took over a project already in progress</a:t>
            </a:r>
            <a:endParaRPr lang="en-US" sz="1100" dirty="0"/>
          </a:p>
        </p:txBody>
      </p:sp>
      <p:sp>
        <p:nvSpPr>
          <p:cNvPr id="39" name="Text"/>
          <p:cNvSpPr txBox="1"/>
          <p:nvPr/>
        </p:nvSpPr>
        <p:spPr>
          <a:xfrm>
            <a:off x="4459712" y="3647907"/>
            <a:ext cx="3291749"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Scoped the remaining work with the client</a:t>
            </a:r>
            <a:endParaRPr lang="en-US" sz="1100" dirty="0"/>
          </a:p>
        </p:txBody>
      </p:sp>
      <p:sp>
        <p:nvSpPr>
          <p:cNvPr id="40" name="Text"/>
          <p:cNvSpPr txBox="1"/>
          <p:nvPr/>
        </p:nvSpPr>
        <p:spPr>
          <a:xfrm>
            <a:off x="4459712" y="3933657"/>
            <a:ext cx="3291749"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Built and integrated the centralised system</a:t>
            </a:r>
            <a:endParaRPr lang="en-US" sz="1100" dirty="0"/>
          </a:p>
        </p:txBody>
      </p:sp>
      <p:sp>
        <p:nvSpPr>
          <p:cNvPr id="41" name="Text"/>
          <p:cNvSpPr txBox="1"/>
          <p:nvPr/>
        </p:nvSpPr>
        <p:spPr>
          <a:xfrm>
            <a:off x="4459712" y="4219407"/>
            <a:ext cx="3291749"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Delivered one system for all six branches</a:t>
            </a:r>
            <a:endParaRPr lang="en-US" sz="1100" dirty="0"/>
          </a:p>
        </p:txBody>
      </p:sp>
      <p:sp>
        <p:nvSpPr>
          <p:cNvPr id="42" name="Text"/>
          <p:cNvSpPr txBox="1"/>
          <p:nvPr/>
        </p:nvSpPr>
        <p:spPr>
          <a:xfrm>
            <a:off x="4294571" y="5358933"/>
            <a:ext cx="3593683" cy="64959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How it runs.</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One centralised pawn</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brokerage system now serves all six of iPajak</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Group’s branches.</a:t>
            </a:r>
            <a:endParaRPr lang="en-US" sz="1100" dirty="0"/>
          </a:p>
        </p:txBody>
      </p:sp>
      <p:sp>
        <p:nvSpPr>
          <p:cNvPr id="43" name="Text"/>
          <p:cNvSpPr txBox="1"/>
          <p:nvPr/>
        </p:nvSpPr>
        <p:spPr>
          <a:xfrm>
            <a:off x="7878105" y="2572207"/>
            <a:ext cx="3629802"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044BD9"/>
                </a:solidFill>
                <a:latin typeface="Poppins Medium" pitchFamily="34" charset="0"/>
                <a:ea typeface="Poppins Medium" pitchFamily="34" charset="-122"/>
                <a:cs typeface="Poppins Medium" pitchFamily="34" charset="-120"/>
              </a:rPr>
              <a:t>Impact</a:t>
            </a:r>
            <a:endParaRPr lang="en-US" sz="900" dirty="0"/>
          </a:p>
        </p:txBody>
      </p:sp>
      <p:sp>
        <p:nvSpPr>
          <p:cNvPr id="44" name="Text"/>
          <p:cNvSpPr txBox="1"/>
          <p:nvPr/>
        </p:nvSpPr>
        <p:spPr>
          <a:xfrm>
            <a:off x="7878105" y="2881549"/>
            <a:ext cx="3629802" cy="609630"/>
          </a:xfrm>
          <a:prstGeom prst="rect">
            <a:avLst/>
          </a:prstGeom>
          <a:noFill/>
          <a:ln/>
        </p:spPr>
        <p:txBody>
          <a:bodyPr wrap="square" lIns="0" tIns="0" rIns="0" bIns="0" rtlCol="0" anchor="t"/>
          <a:lstStyle/>
          <a:p>
            <a:pPr algn="l" indent="0" marL="0">
              <a:lnSpc>
                <a:spcPts val="4800"/>
              </a:lnSpc>
              <a:buNone/>
            </a:pPr>
            <a:r>
              <a:rPr lang="en-US" sz="4800" spc="-96" kern="0" dirty="0">
                <a:solidFill>
                  <a:srgbClr val="044BD9"/>
                </a:solidFill>
                <a:latin typeface="Poppins Medium" pitchFamily="34" charset="0"/>
                <a:ea typeface="Poppins Medium" pitchFamily="34" charset="-122"/>
                <a:cs typeface="Poppins Medium" pitchFamily="34" charset="-120"/>
              </a:rPr>
              <a:t>6</a:t>
            </a:r>
            <a:endParaRPr lang="en-US" sz="4800" dirty="0"/>
          </a:p>
        </p:txBody>
      </p:sp>
      <p:sp>
        <p:nvSpPr>
          <p:cNvPr id="45" name="Text"/>
          <p:cNvSpPr txBox="1"/>
          <p:nvPr/>
        </p:nvSpPr>
        <p:spPr>
          <a:xfrm>
            <a:off x="7878105" y="3495111"/>
            <a:ext cx="3629802" cy="43306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Branches across Malaysia on one pawn brokerage system: delivered and running</a:t>
            </a:r>
            <a:endParaRPr lang="en-US" sz="1100" dirty="0"/>
          </a:p>
        </p:txBody>
      </p:sp>
      <p:sp>
        <p:nvSpPr>
          <p:cNvPr id="46" name="Text"/>
          <p:cNvSpPr txBox="1"/>
          <p:nvPr/>
        </p:nvSpPr>
        <p:spPr>
          <a:xfrm>
            <a:off x="7878105" y="4251686"/>
            <a:ext cx="3772266" cy="1190640"/>
          </a:xfrm>
          <a:prstGeom prst="rect">
            <a:avLst/>
          </a:prstGeom>
          <a:noFill/>
          <a:ln/>
        </p:spPr>
        <p:txBody>
          <a:bodyPr wrap="square" lIns="0" tIns="0" rIns="0" bIns="0" rtlCol="0" anchor="t"/>
          <a:lstStyle/>
          <a:p>
            <a:pPr algn="l" indent="0" marL="0">
              <a:lnSpc>
                <a:spcPts val="1875"/>
              </a:lnSpc>
              <a:buNone/>
            </a:pPr>
            <a:r>
              <a:rPr lang="en-US" sz="1250" spc="-6" kern="0" dirty="0">
                <a:solidFill>
                  <a:srgbClr val="000000"/>
                </a:solidFill>
                <a:latin typeface="Poppins Light" pitchFamily="34" charset="0"/>
                <a:ea typeface="Poppins Light" pitchFamily="34" charset="-122"/>
                <a:cs typeface="Poppins Light" pitchFamily="34" charset="-120"/>
              </a:rPr>
              <a:t>“Daren and the ALPHV team have been</a:t>
            </a:r>
            <a:endParaRPr lang="en-US" sz="1250" dirty="0"/>
          </a:p>
          <a:p>
            <a:pPr algn="l" indent="0" marL="0">
              <a:lnSpc>
                <a:spcPts val="1875"/>
              </a:lnSpc>
              <a:buNone/>
            </a:pPr>
            <a:r>
              <a:rPr lang="en-US" sz="1250" spc="-6" kern="0" dirty="0">
                <a:solidFill>
                  <a:srgbClr val="000000"/>
                </a:solidFill>
                <a:latin typeface="Poppins Light" pitchFamily="34" charset="0"/>
                <a:ea typeface="Poppins Light" pitchFamily="34" charset="-122"/>
                <a:cs typeface="Poppins Light" pitchFamily="34" charset="-120"/>
              </a:rPr>
              <a:t>exceptional to work with and have done a</a:t>
            </a:r>
            <a:endParaRPr lang="en-US" sz="1250" dirty="0"/>
          </a:p>
          <a:p>
            <a:pPr algn="l" indent="0" marL="0">
              <a:lnSpc>
                <a:spcPts val="1875"/>
              </a:lnSpc>
              <a:buNone/>
            </a:pPr>
            <a:r>
              <a:rPr lang="en-US" sz="1250" spc="-6" kern="0" dirty="0">
                <a:solidFill>
                  <a:srgbClr val="000000"/>
                </a:solidFill>
                <a:latin typeface="Poppins Light" pitchFamily="34" charset="0"/>
                <a:ea typeface="Poppins Light" pitchFamily="34" charset="-122"/>
                <a:cs typeface="Poppins Light" pitchFamily="34" charset="-120"/>
              </a:rPr>
              <a:t>commendable job taking over the project</a:t>
            </a:r>
            <a:endParaRPr lang="en-US" sz="1250" dirty="0"/>
          </a:p>
          <a:p>
            <a:pPr algn="l" indent="0" marL="0">
              <a:lnSpc>
                <a:spcPts val="1875"/>
              </a:lnSpc>
              <a:buNone/>
            </a:pPr>
            <a:r>
              <a:rPr lang="en-US" sz="1250" spc="-6" kern="0" dirty="0">
                <a:solidFill>
                  <a:srgbClr val="000000"/>
                </a:solidFill>
                <a:latin typeface="Poppins Light" pitchFamily="34" charset="0"/>
                <a:ea typeface="Poppins Light" pitchFamily="34" charset="-122"/>
                <a:cs typeface="Poppins Light" pitchFamily="34" charset="-120"/>
              </a:rPr>
              <a:t>midway, especially in providing their technical</a:t>
            </a:r>
            <a:endParaRPr lang="en-US" sz="1250" dirty="0"/>
          </a:p>
          <a:p>
            <a:pPr algn="l" indent="0" marL="0">
              <a:lnSpc>
                <a:spcPts val="1875"/>
              </a:lnSpc>
              <a:buNone/>
            </a:pPr>
            <a:r>
              <a:rPr lang="en-US" sz="1250" spc="-6" kern="0" dirty="0">
                <a:solidFill>
                  <a:srgbClr val="000000"/>
                </a:solidFill>
                <a:latin typeface="Poppins Light" pitchFamily="34" charset="0"/>
                <a:ea typeface="Poppins Light" pitchFamily="34" charset="-122"/>
                <a:cs typeface="Poppins Light" pitchFamily="34" charset="-120"/>
              </a:rPr>
              <a:t>expertise to meet our specific needs.”</a:t>
            </a:r>
            <a:endParaRPr lang="en-US" sz="1250" dirty="0"/>
          </a:p>
        </p:txBody>
      </p:sp>
      <p:sp>
        <p:nvSpPr>
          <p:cNvPr id="47" name="Text"/>
          <p:cNvSpPr txBox="1"/>
          <p:nvPr/>
        </p:nvSpPr>
        <p:spPr>
          <a:xfrm>
            <a:off x="7878105" y="5539344"/>
            <a:ext cx="3629802" cy="226405"/>
          </a:xfrm>
          <a:prstGeom prst="rect">
            <a:avLst/>
          </a:prstGeom>
          <a:noFill/>
          <a:ln/>
        </p:spPr>
        <p:txBody>
          <a:bodyPr wrap="square" lIns="0" tIns="0" rIns="0" bIns="0" rtlCol="0" anchor="t"/>
          <a:lstStyle/>
          <a:p>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Chong Voon Ying</a:t>
            </a:r>
            <a:endParaRPr lang="en-US" sz="1150" dirty="0"/>
          </a:p>
        </p:txBody>
      </p:sp>
      <p:sp>
        <p:nvSpPr>
          <p:cNvPr id="48" name="Text"/>
          <p:cNvSpPr txBox="1"/>
          <p:nvPr/>
        </p:nvSpPr>
        <p:spPr>
          <a:xfrm>
            <a:off x="7878105" y="5792907"/>
            <a:ext cx="3629802" cy="206654"/>
          </a:xfrm>
          <a:prstGeom prst="rect">
            <a:avLst/>
          </a:prstGeom>
          <a:noFill/>
          <a:ln/>
        </p:spPr>
        <p:txBody>
          <a:bodyPr wrap="square" lIns="0" tIns="0" rIns="0" bIns="0" rtlCol="0" anchor="t"/>
          <a:lstStyle/>
          <a:p>
            <a:pPr algn="l" indent="0" marL="0">
              <a:lnSpc>
                <a:spcPts val="1627"/>
              </a:lnSpc>
              <a:buNone/>
            </a:pPr>
            <a:r>
              <a:rPr lang="en-US" sz="1050" dirty="0">
                <a:solidFill>
                  <a:srgbClr val="6B6B6B"/>
                </a:solidFill>
                <a:latin typeface="Poppins Light" pitchFamily="34" charset="0"/>
                <a:ea typeface="Poppins Light" pitchFamily="34" charset="-122"/>
                <a:cs typeface="Poppins Light" pitchFamily="34" charset="-120"/>
              </a:rPr>
              <a:t>CEO, iPajak Group</a:t>
            </a:r>
            <a:endParaRPr lang="en-US" sz="1050" dirty="0"/>
          </a:p>
        </p:txBody>
      </p:sp>
      <p:sp>
        <p:nvSpPr>
          <p:cNvPr id="49"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0"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1"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2"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53"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4"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55"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alphv.com/insights/pawn-brokerage-system-ipajak; alphv.com/services/system-integration-and-consulting; alphv.com/how-we-work</a:t>
            </a:r>
            <a:endParaRPr lang="en-US" sz="850" dirty="0"/>
          </a:p>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(October 2026). Note: MYR 500 million is the client’s own scale, not an ALPHV result.</a:t>
            </a:r>
            <a:endParaRPr lang="en-US" sz="850" dirty="0"/>
          </a:p>
        </p:txBody>
      </p:sp>
      <p:sp>
        <p:nvSpPr>
          <p:cNvPr id="56" name="Text"/>
          <p:cNvSpPr txBox="1"/>
          <p:nvPr/>
        </p:nvSpPr>
        <p:spPr>
          <a:xfrm>
            <a:off x="9349649"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57" name="Text"/>
          <p:cNvSpPr txBox="1"/>
          <p:nvPr/>
        </p:nvSpPr>
        <p:spPr>
          <a:xfrm>
            <a:off x="9857689"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58" name="Text"/>
          <p:cNvSpPr txBox="1"/>
          <p:nvPr/>
        </p:nvSpPr>
        <p:spPr>
          <a:xfrm>
            <a:off x="11349167" y="6401532"/>
            <a:ext cx="157094"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877367" cy="254020"/>
          </a:xfrm>
          <a:prstGeom prst="roundRect">
            <a:avLst>
              <a:gd name="adj" fmla="val 50000"/>
            </a:avLst>
          </a:prstGeom>
          <a:ln w="6350">
            <a:solidFill>
              <a:srgbClr val="155DFC"/>
            </a:solidFill>
            <a:prstDash val="solid"/>
          </a:ln>
        </p:spPr>
      </p:sp>
      <p:sp>
        <p:nvSpPr>
          <p:cNvPr id="3" name="tag"/>
          <p:cNvSpPr/>
          <p:nvPr/>
        </p:nvSpPr>
        <p:spPr>
          <a:xfrm>
            <a:off x="714421" y="1937339"/>
            <a:ext cx="1301466" cy="228600"/>
          </a:xfrm>
          <a:prstGeom prst="roundRect">
            <a:avLst>
              <a:gd name="adj" fmla="val 50000"/>
            </a:avLst>
          </a:prstGeom>
          <a:solidFill>
            <a:srgbClr val="FFFFFF"/>
          </a:solidFill>
          <a:ln w="6350">
            <a:solidFill>
              <a:srgbClr val="E3E6EC"/>
            </a:solidFill>
            <a:prstDash val="solid"/>
          </a:ln>
        </p:spPr>
      </p:sp>
      <p:sp>
        <p:nvSpPr>
          <p:cNvPr id="4" name="tag"/>
          <p:cNvSpPr/>
          <p:nvPr/>
        </p:nvSpPr>
        <p:spPr>
          <a:xfrm>
            <a:off x="2085655" y="1937339"/>
            <a:ext cx="675193" cy="228600"/>
          </a:xfrm>
          <a:prstGeom prst="roundRect">
            <a:avLst>
              <a:gd name="adj" fmla="val 50000"/>
            </a:avLst>
          </a:prstGeom>
          <a:solidFill>
            <a:srgbClr val="FFFFFF"/>
          </a:solidFill>
          <a:ln w="6350">
            <a:solidFill>
              <a:srgbClr val="E3E6EC"/>
            </a:solidFill>
            <a:prstDash val="solid"/>
          </a:ln>
        </p:spPr>
      </p:sp>
      <p:sp>
        <p:nvSpPr>
          <p:cNvPr id="5" name="tag"/>
          <p:cNvSpPr/>
          <p:nvPr/>
        </p:nvSpPr>
        <p:spPr>
          <a:xfrm>
            <a:off x="2830708" y="1937339"/>
            <a:ext cx="1413571" cy="228600"/>
          </a:xfrm>
          <a:prstGeom prst="roundRect">
            <a:avLst>
              <a:gd name="adj" fmla="val 50000"/>
            </a:avLst>
          </a:prstGeom>
          <a:solidFill>
            <a:srgbClr val="FFFFFF"/>
          </a:solidFill>
          <a:ln w="6350">
            <a:solidFill>
              <a:srgbClr val="E3E6EC"/>
            </a:solidFill>
            <a:prstDash val="solid"/>
          </a:ln>
        </p:spPr>
      </p:sp>
      <p:sp>
        <p:nvSpPr>
          <p:cNvPr id="6" name="tag"/>
          <p:cNvSpPr/>
          <p:nvPr/>
        </p:nvSpPr>
        <p:spPr>
          <a:xfrm>
            <a:off x="4310939" y="1934139"/>
            <a:ext cx="526694" cy="234909"/>
          </a:xfrm>
          <a:prstGeom prst="roundRect">
            <a:avLst>
              <a:gd name="adj" fmla="val 50020"/>
            </a:avLst>
          </a:prstGeom>
          <a:solidFill>
            <a:srgbClr val="044BD9">
              <a:alpha val="8000"/>
            </a:srgbClr>
          </a:solidFill>
          <a:ln/>
        </p:spPr>
      </p:sp>
      <p:sp>
        <p:nvSpPr>
          <p:cNvPr id="7" name="tag"/>
          <p:cNvSpPr/>
          <p:nvPr/>
        </p:nvSpPr>
        <p:spPr>
          <a:xfrm>
            <a:off x="4901093" y="1934139"/>
            <a:ext cx="966064" cy="234909"/>
          </a:xfrm>
          <a:prstGeom prst="roundRect">
            <a:avLst>
              <a:gd name="adj" fmla="val 50020"/>
            </a:avLst>
          </a:prstGeom>
          <a:solidFill>
            <a:srgbClr val="044BD9">
              <a:alpha val="8000"/>
            </a:srgbClr>
          </a:solidFill>
          <a:ln/>
        </p:spPr>
      </p:sp>
      <p:sp>
        <p:nvSpPr>
          <p:cNvPr id="8" name="Rule"/>
          <p:cNvSpPr/>
          <p:nvPr/>
        </p:nvSpPr>
        <p:spPr>
          <a:xfrm>
            <a:off x="711220" y="2454890"/>
            <a:ext cx="3431012" cy="0"/>
          </a:xfrm>
          <a:prstGeom prst="line">
            <a:avLst/>
          </a:prstGeom>
          <a:noFill/>
          <a:ln w="12700">
            <a:solidFill>
              <a:srgbClr val="000000"/>
            </a:solidFill>
            <a:prstDash val="solid"/>
          </a:ln>
        </p:spPr>
      </p:sp>
      <p:sp>
        <p:nvSpPr>
          <p:cNvPr id="9" name="card"/>
          <p:cNvSpPr/>
          <p:nvPr/>
        </p:nvSpPr>
        <p:spPr>
          <a:xfrm>
            <a:off x="714421" y="4118000"/>
            <a:ext cx="3424611" cy="1898660"/>
          </a:xfrm>
          <a:prstGeom prst="roundRect">
            <a:avLst>
              <a:gd name="adj" fmla="val 7860"/>
            </a:avLst>
          </a:prstGeom>
          <a:solidFill>
            <a:srgbClr val="FFFFFF"/>
          </a:solidFill>
          <a:ln w="6350">
            <a:solidFill>
              <a:srgbClr val="F0F0F0"/>
            </a:solidFill>
            <a:prstDash val="solid"/>
          </a:ln>
        </p:spPr>
      </p:sp>
      <p:pic>
        <p:nvPicPr>
          <p:cNvPr id="10" name="Picture" descr="Tasco Insurance web interface designed by ALPHV">    </p:cNvPr>
          <p:cNvPicPr>
            <a:picLocks noChangeAspect="1"/>
          </p:cNvPicPr>
          <p:nvPr/>
        </p:nvPicPr>
        <p:blipFill>
          <a:blip r:embed="rId1"/>
          <a:stretch>
            <a:fillRect/>
          </a:stretch>
        </p:blipFill>
        <p:spPr>
          <a:xfrm>
            <a:off x="846003" y="4184660"/>
            <a:ext cx="3161447" cy="1765341"/>
          </a:xfrm>
          <a:prstGeom prst="rect">
            <a:avLst/>
          </a:prstGeom>
        </p:spPr>
      </p:pic>
      <p:sp>
        <p:nvSpPr>
          <p:cNvPr id="11" name="tag"/>
          <p:cNvSpPr/>
          <p:nvPr/>
        </p:nvSpPr>
        <p:spPr>
          <a:xfrm>
            <a:off x="835030" y="5672572"/>
            <a:ext cx="2979481" cy="273040"/>
          </a:xfrm>
          <a:prstGeom prst="roundRect">
            <a:avLst>
              <a:gd name="adj" fmla="val 50000"/>
            </a:avLst>
          </a:prstGeom>
          <a:solidFill>
            <a:srgbClr val="FFFFFF"/>
          </a:solidFill>
          <a:ln w="6350">
            <a:solidFill>
              <a:srgbClr val="E3E6EC"/>
            </a:solidFill>
            <a:prstDash val="solid"/>
          </a:ln>
        </p:spPr>
      </p:sp>
      <p:sp>
        <p:nvSpPr>
          <p:cNvPr id="12" name="Rule"/>
          <p:cNvSpPr/>
          <p:nvPr/>
        </p:nvSpPr>
        <p:spPr>
          <a:xfrm>
            <a:off x="4294571" y="2454890"/>
            <a:ext cx="3431103" cy="0"/>
          </a:xfrm>
          <a:prstGeom prst="line">
            <a:avLst/>
          </a:prstGeom>
          <a:noFill/>
          <a:ln w="12700">
            <a:solidFill>
              <a:srgbClr val="000000"/>
            </a:solidFill>
            <a:prstDash val="solid"/>
          </a:ln>
        </p:spPr>
      </p:sp>
      <p:sp>
        <p:nvSpPr>
          <p:cNvPr id="13" name="li::before"/>
          <p:cNvSpPr/>
          <p:nvPr/>
        </p:nvSpPr>
        <p:spPr>
          <a:xfrm>
            <a:off x="4294571" y="3462741"/>
            <a:ext cx="57150" cy="57150"/>
          </a:xfrm>
          <a:prstGeom prst="rect">
            <a:avLst/>
          </a:prstGeom>
          <a:solidFill>
            <a:srgbClr val="044BD9"/>
          </a:solidFill>
          <a:ln/>
        </p:spPr>
      </p:sp>
      <p:sp>
        <p:nvSpPr>
          <p:cNvPr id="14" name="li::before"/>
          <p:cNvSpPr/>
          <p:nvPr/>
        </p:nvSpPr>
        <p:spPr>
          <a:xfrm>
            <a:off x="4294571" y="3748491"/>
            <a:ext cx="57150" cy="57150"/>
          </a:xfrm>
          <a:prstGeom prst="rect">
            <a:avLst/>
          </a:prstGeom>
          <a:solidFill>
            <a:srgbClr val="044BD9"/>
          </a:solidFill>
          <a:ln/>
        </p:spPr>
      </p:sp>
      <p:sp>
        <p:nvSpPr>
          <p:cNvPr id="15" name="li::before"/>
          <p:cNvSpPr/>
          <p:nvPr/>
        </p:nvSpPr>
        <p:spPr>
          <a:xfrm>
            <a:off x="4294571" y="4243822"/>
            <a:ext cx="57150" cy="57150"/>
          </a:xfrm>
          <a:prstGeom prst="rect">
            <a:avLst/>
          </a:prstGeom>
          <a:solidFill>
            <a:srgbClr val="044BD9"/>
          </a:solidFill>
          <a:ln/>
        </p:spPr>
      </p:sp>
      <p:sp>
        <p:nvSpPr>
          <p:cNvPr id="16" name="li::before"/>
          <p:cNvSpPr/>
          <p:nvPr/>
        </p:nvSpPr>
        <p:spPr>
          <a:xfrm>
            <a:off x="4294571" y="4739061"/>
            <a:ext cx="57150" cy="57150"/>
          </a:xfrm>
          <a:prstGeom prst="rect">
            <a:avLst/>
          </a:prstGeom>
          <a:solidFill>
            <a:srgbClr val="044BD9"/>
          </a:solidFill>
          <a:ln/>
        </p:spPr>
      </p:sp>
      <p:sp>
        <p:nvSpPr>
          <p:cNvPr id="17" name="Rule"/>
          <p:cNvSpPr/>
          <p:nvPr/>
        </p:nvSpPr>
        <p:spPr>
          <a:xfrm>
            <a:off x="4294571" y="5273711"/>
            <a:ext cx="3431103" cy="0"/>
          </a:xfrm>
          <a:prstGeom prst="line">
            <a:avLst/>
          </a:prstGeom>
          <a:noFill/>
          <a:ln w="6350">
            <a:solidFill>
              <a:srgbClr val="E3E6EC"/>
            </a:solidFill>
            <a:prstDash val="solid"/>
          </a:ln>
        </p:spPr>
      </p:sp>
      <p:sp>
        <p:nvSpPr>
          <p:cNvPr id="18" name="Rule"/>
          <p:cNvSpPr/>
          <p:nvPr/>
        </p:nvSpPr>
        <p:spPr>
          <a:xfrm>
            <a:off x="7878105" y="2454890"/>
            <a:ext cx="3602736" cy="0"/>
          </a:xfrm>
          <a:prstGeom prst="line">
            <a:avLst/>
          </a:prstGeom>
          <a:noFill/>
          <a:ln w="12700">
            <a:solidFill>
              <a:srgbClr val="044BD9"/>
            </a:solidFill>
            <a:prstDash val="solid"/>
          </a:ln>
        </p:spPr>
      </p:sp>
      <p:sp>
        <p:nvSpPr>
          <p:cNvPr id="19" name="Rule"/>
          <p:cNvSpPr/>
          <p:nvPr/>
        </p:nvSpPr>
        <p:spPr>
          <a:xfrm>
            <a:off x="7878105" y="3823198"/>
            <a:ext cx="3602736" cy="0"/>
          </a:xfrm>
          <a:prstGeom prst="line">
            <a:avLst/>
          </a:prstGeom>
          <a:noFill/>
          <a:ln w="6350">
            <a:solidFill>
              <a:srgbClr val="E3E6EC"/>
            </a:solidFill>
            <a:prstDash val="solid"/>
          </a:ln>
        </p:spPr>
      </p:sp>
      <p:sp>
        <p:nvSpPr>
          <p:cNvPr id="20" name="Rule"/>
          <p:cNvSpPr/>
          <p:nvPr/>
        </p:nvSpPr>
        <p:spPr>
          <a:xfrm>
            <a:off x="7878105" y="5273711"/>
            <a:ext cx="3602736" cy="0"/>
          </a:xfrm>
          <a:prstGeom prst="line">
            <a:avLst/>
          </a:prstGeom>
          <a:noFill/>
          <a:ln w="6350">
            <a:solidFill>
              <a:srgbClr val="E3E6EC"/>
            </a:solidFill>
            <a:prstDash val="solid"/>
          </a:ln>
        </p:spPr>
      </p:sp>
      <p:sp>
        <p:nvSpPr>
          <p:cNvPr id="21" name="span::before"/>
          <p:cNvSpPr/>
          <p:nvPr/>
        </p:nvSpPr>
        <p:spPr>
          <a:xfrm>
            <a:off x="6191860" y="311170"/>
            <a:ext cx="44440" cy="44440"/>
          </a:xfrm>
          <a:prstGeom prst="rect">
            <a:avLst/>
          </a:prstGeom>
          <a:solidFill>
            <a:srgbClr val="A0A6AF">
              <a:alpha val="55000"/>
            </a:srgbClr>
          </a:solidFill>
          <a:ln/>
        </p:spPr>
      </p:sp>
      <p:sp>
        <p:nvSpPr>
          <p:cNvPr id="22" name="span::before"/>
          <p:cNvSpPr/>
          <p:nvPr/>
        </p:nvSpPr>
        <p:spPr>
          <a:xfrm>
            <a:off x="7145213" y="311170"/>
            <a:ext cx="44440" cy="44440"/>
          </a:xfrm>
          <a:prstGeom prst="rect">
            <a:avLst/>
          </a:prstGeom>
          <a:solidFill>
            <a:srgbClr val="A0A6AF">
              <a:alpha val="55000"/>
            </a:srgbClr>
          </a:solidFill>
          <a:ln/>
        </p:spPr>
      </p:sp>
      <p:sp>
        <p:nvSpPr>
          <p:cNvPr id="23" name="span::before"/>
          <p:cNvSpPr/>
          <p:nvPr/>
        </p:nvSpPr>
        <p:spPr>
          <a:xfrm>
            <a:off x="8056230" y="311170"/>
            <a:ext cx="44440" cy="44440"/>
          </a:xfrm>
          <a:prstGeom prst="rect">
            <a:avLst/>
          </a:prstGeom>
          <a:solidFill>
            <a:srgbClr val="A0A6AF">
              <a:alpha val="55000"/>
            </a:srgbClr>
          </a:solidFill>
          <a:ln/>
        </p:spPr>
      </p:sp>
      <p:sp>
        <p:nvSpPr>
          <p:cNvPr id="24" name="span::before"/>
          <p:cNvSpPr/>
          <p:nvPr/>
        </p:nvSpPr>
        <p:spPr>
          <a:xfrm>
            <a:off x="8972550" y="311170"/>
            <a:ext cx="44440" cy="44440"/>
          </a:xfrm>
          <a:prstGeom prst="rect">
            <a:avLst/>
          </a:prstGeom>
          <a:solidFill>
            <a:srgbClr val="A0A6AF">
              <a:alpha val="55000"/>
            </a:srgbClr>
          </a:solidFill>
          <a:ln/>
        </p:spPr>
      </p:sp>
      <p:sp>
        <p:nvSpPr>
          <p:cNvPr id="25" name="on::before"/>
          <p:cNvSpPr/>
          <p:nvPr/>
        </p:nvSpPr>
        <p:spPr>
          <a:xfrm>
            <a:off x="10421142" y="311170"/>
            <a:ext cx="44440" cy="44440"/>
          </a:xfrm>
          <a:prstGeom prst="rect">
            <a:avLst/>
          </a:prstGeom>
          <a:solidFill>
            <a:srgbClr val="044BD9"/>
          </a:solidFill>
          <a:ln/>
        </p:spPr>
      </p:sp>
      <p:sp>
        <p:nvSpPr>
          <p:cNvPr id="26" name="span::before"/>
          <p:cNvSpPr/>
          <p:nvPr/>
        </p:nvSpPr>
        <p:spPr>
          <a:xfrm>
            <a:off x="10966216" y="311170"/>
            <a:ext cx="44440" cy="44440"/>
          </a:xfrm>
          <a:prstGeom prst="rect">
            <a:avLst/>
          </a:prstGeom>
          <a:solidFill>
            <a:srgbClr val="A0A6AF">
              <a:alpha val="55000"/>
            </a:srgbClr>
          </a:solidFill>
          <a:ln/>
        </p:spPr>
      </p:sp>
      <p:sp>
        <p:nvSpPr>
          <p:cNvPr id="27" name="Text"/>
          <p:cNvSpPr txBox="1"/>
          <p:nvPr/>
        </p:nvSpPr>
        <p:spPr>
          <a:xfrm>
            <a:off x="844540" y="609265"/>
            <a:ext cx="642457"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Insurance</a:t>
            </a:r>
            <a:endParaRPr lang="en-US" sz="950" dirty="0"/>
          </a:p>
        </p:txBody>
      </p:sp>
      <p:sp>
        <p:nvSpPr>
          <p:cNvPr id="28"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proof of concept</a:t>
            </a:r>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 assesses insurance</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damage claims from images and video, 24/7</a:t>
            </a:r>
            <a:endParaRPr lang="en-US" sz="3000" dirty="0"/>
          </a:p>
        </p:txBody>
      </p:sp>
      <p:sp>
        <p:nvSpPr>
          <p:cNvPr id="29" name="Text"/>
          <p:cNvSpPr txBox="1"/>
          <p:nvPr/>
        </p:nvSpPr>
        <p:spPr>
          <a:xfrm>
            <a:off x="819120" y="1999884"/>
            <a:ext cx="1117305"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Agentic automation</a:t>
            </a:r>
            <a:endParaRPr lang="en-US" sz="850" dirty="0"/>
          </a:p>
        </p:txBody>
      </p:sp>
      <p:sp>
        <p:nvSpPr>
          <p:cNvPr id="30" name="Text"/>
          <p:cNvSpPr txBox="1"/>
          <p:nvPr/>
        </p:nvSpPr>
        <p:spPr>
          <a:xfrm>
            <a:off x="2190445" y="1999884"/>
            <a:ext cx="491033"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Vietnam</a:t>
            </a:r>
            <a:endParaRPr lang="en-US" sz="850" dirty="0"/>
          </a:p>
        </p:txBody>
      </p:sp>
      <p:sp>
        <p:nvSpPr>
          <p:cNvPr id="31" name="Text"/>
          <p:cNvSpPr txBox="1"/>
          <p:nvPr/>
        </p:nvSpPr>
        <p:spPr>
          <a:xfrm>
            <a:off x="2935498" y="1999884"/>
            <a:ext cx="1229411"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Proof of concept, 2026</a:t>
            </a:r>
            <a:endParaRPr lang="en-US" sz="850" dirty="0"/>
          </a:p>
        </p:txBody>
      </p:sp>
      <p:sp>
        <p:nvSpPr>
          <p:cNvPr id="32" name="Text"/>
          <p:cNvSpPr txBox="1"/>
          <p:nvPr/>
        </p:nvSpPr>
        <p:spPr>
          <a:xfrm>
            <a:off x="4418929" y="1999884"/>
            <a:ext cx="336133"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Qwen</a:t>
            </a:r>
            <a:endParaRPr lang="en-US" sz="850" dirty="0"/>
          </a:p>
        </p:txBody>
      </p:sp>
      <p:sp>
        <p:nvSpPr>
          <p:cNvPr id="33" name="Text"/>
          <p:cNvSpPr txBox="1"/>
          <p:nvPr/>
        </p:nvSpPr>
        <p:spPr>
          <a:xfrm>
            <a:off x="5009083" y="1999884"/>
            <a:ext cx="775594" cy="107991"/>
          </a:xfrm>
          <a:prstGeom prst="rect">
            <a:avLst/>
          </a:prstGeom>
          <a:noFill/>
          <a:ln/>
        </p:spPr>
        <p:txBody>
          <a:bodyPr wrap="none" lIns="0" tIns="0" rIns="0" bIns="0" rtlCol="0" anchor="t"/>
          <a:lstStyle/>
          <a:p>
            <a:pPr algn="l" indent="0" marL="0">
              <a:lnSpc>
                <a:spcPts val="850"/>
              </a:lnSpc>
              <a:buNone/>
            </a:pPr>
            <a:r>
              <a:rPr lang="en-US" sz="850" dirty="0">
                <a:solidFill>
                  <a:srgbClr val="044BD9"/>
                </a:solidFill>
                <a:latin typeface="Poppins Medium" pitchFamily="34" charset="0"/>
                <a:ea typeface="Poppins Medium" pitchFamily="34" charset="-122"/>
                <a:cs typeface="Poppins Medium" pitchFamily="34" charset="-120"/>
              </a:rPr>
              <a:t>Multimodal AI</a:t>
            </a:r>
            <a:endParaRPr lang="en-US" sz="850" dirty="0"/>
          </a:p>
        </p:txBody>
      </p:sp>
      <p:sp>
        <p:nvSpPr>
          <p:cNvPr id="34" name="Text"/>
          <p:cNvSpPr txBox="1"/>
          <p:nvPr/>
        </p:nvSpPr>
        <p:spPr>
          <a:xfrm>
            <a:off x="711220" y="2572207"/>
            <a:ext cx="3457438"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Situation</a:t>
            </a:r>
            <a:endParaRPr lang="en-US" sz="900" dirty="0"/>
          </a:p>
        </p:txBody>
      </p:sp>
      <p:sp>
        <p:nvSpPr>
          <p:cNvPr id="35" name="Text"/>
          <p:cNvSpPr txBox="1"/>
          <p:nvPr/>
        </p:nvSpPr>
        <p:spPr>
          <a:xfrm>
            <a:off x="711220" y="2834640"/>
            <a:ext cx="3593592" cy="108265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Damage claims arrive as images, video and</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PDFs, at any hour. With Tasco Insurance in</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Vietnam, ALPHV built a proof of concept that</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assesses them around the clock, from the first</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photo to the claim report.</a:t>
            </a:r>
            <a:endParaRPr lang="en-US" sz="1100" dirty="0"/>
          </a:p>
        </p:txBody>
      </p:sp>
      <p:sp>
        <p:nvSpPr>
          <p:cNvPr id="36" name="Text"/>
          <p:cNvSpPr txBox="1"/>
          <p:nvPr/>
        </p:nvSpPr>
        <p:spPr>
          <a:xfrm>
            <a:off x="939820" y="5657850"/>
            <a:ext cx="2902031" cy="236190"/>
          </a:xfrm>
          <a:prstGeom prst="rect">
            <a:avLst/>
          </a:prstGeom>
          <a:noFill/>
          <a:ln/>
        </p:spPr>
        <p:txBody>
          <a:bodyPr wrap="square" lIns="0" tIns="0" rIns="0" bIns="0" rtlCol="0" anchor="t"/>
          <a:lstStyle/>
          <a:p>
            <a:pPr algn="l" indent="0" marL="0">
              <a:lnSpc>
                <a:spcPts val="1860"/>
              </a:lnSpc>
              <a:buNone/>
            </a:pPr>
            <a:r>
              <a:rPr lang="en-US" sz="850" dirty="0">
                <a:solidFill>
                  <a:srgbClr val="1F2937"/>
                </a:solidFill>
                <a:latin typeface="Poppins Medium" pitchFamily="34" charset="0"/>
                <a:ea typeface="Poppins Medium" pitchFamily="34" charset="-122"/>
                <a:cs typeface="Poppins Medium" pitchFamily="34" charset="-120"/>
              </a:rPr>
              <a:t>Tasco Insurance interface, proof-of-concept stage</a:t>
            </a:r>
            <a:endParaRPr lang="en-US" sz="850" dirty="0"/>
          </a:p>
        </p:txBody>
      </p:sp>
      <p:sp>
        <p:nvSpPr>
          <p:cNvPr id="37" name="Text"/>
          <p:cNvSpPr txBox="1"/>
          <p:nvPr/>
        </p:nvSpPr>
        <p:spPr>
          <a:xfrm>
            <a:off x="4294571" y="2572207"/>
            <a:ext cx="3457529"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6B6B6B"/>
                </a:solidFill>
                <a:latin typeface="Poppins Medium" pitchFamily="34" charset="0"/>
                <a:ea typeface="Poppins Medium" pitchFamily="34" charset="-122"/>
                <a:cs typeface="Poppins Medium" pitchFamily="34" charset="-120"/>
              </a:rPr>
              <a:t>Approach</a:t>
            </a:r>
            <a:endParaRPr lang="en-US" sz="900" dirty="0"/>
          </a:p>
        </p:txBody>
      </p:sp>
      <p:sp>
        <p:nvSpPr>
          <p:cNvPr id="38" name="Text"/>
          <p:cNvSpPr txBox="1"/>
          <p:nvPr/>
        </p:nvSpPr>
        <p:spPr>
          <a:xfrm>
            <a:off x="4294571" y="2834640"/>
            <a:ext cx="3457529" cy="43306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A multimodal case system that prepares the liability assessment and claim report.</a:t>
            </a:r>
            <a:endParaRPr lang="en-US" sz="1100" dirty="0"/>
          </a:p>
        </p:txBody>
      </p:sp>
      <p:sp>
        <p:nvSpPr>
          <p:cNvPr id="39" name="Text"/>
          <p:cNvSpPr txBox="1"/>
          <p:nvPr/>
        </p:nvSpPr>
        <p:spPr>
          <a:xfrm>
            <a:off x="4459712" y="3362157"/>
            <a:ext cx="3291749" cy="20958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Images, video and PDFs in one case file</a:t>
            </a:r>
            <a:endParaRPr lang="en-US" sz="1100" dirty="0"/>
          </a:p>
        </p:txBody>
      </p:sp>
      <p:sp>
        <p:nvSpPr>
          <p:cNvPr id="40" name="Text"/>
          <p:cNvSpPr txBox="1"/>
          <p:nvPr/>
        </p:nvSpPr>
        <p:spPr>
          <a:xfrm>
            <a:off x="4459712" y="3647907"/>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Duplicate claims from the same person identified automatically</a:t>
            </a:r>
            <a:endParaRPr lang="en-US" sz="1100" dirty="0"/>
          </a:p>
        </p:txBody>
      </p:sp>
      <p:sp>
        <p:nvSpPr>
          <p:cNvPr id="41" name="Text"/>
          <p:cNvSpPr txBox="1"/>
          <p:nvPr/>
        </p:nvSpPr>
        <p:spPr>
          <a:xfrm>
            <a:off x="4459712" y="4143238"/>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Liability assessment based on Vietnam’s Road Act and compendium</a:t>
            </a:r>
            <a:endParaRPr lang="en-US" sz="1100" dirty="0"/>
          </a:p>
        </p:txBody>
      </p:sp>
      <p:sp>
        <p:nvSpPr>
          <p:cNvPr id="42" name="Text"/>
          <p:cNvSpPr txBox="1"/>
          <p:nvPr/>
        </p:nvSpPr>
        <p:spPr>
          <a:xfrm>
            <a:off x="4459712" y="4638477"/>
            <a:ext cx="3291749" cy="419070"/>
          </a:xfrm>
          <a:prstGeom prst="rect">
            <a:avLst/>
          </a:prstGeom>
          <a:noFill/>
          <a:ln/>
        </p:spPr>
        <p:txBody>
          <a:bodyPr wrap="square" lIns="0" tIns="0" rIns="0" bIns="0" rtlCol="0" anchor="t"/>
          <a:lstStyle/>
          <a:p>
            <a:pPr algn="l" indent="0" marL="0">
              <a:lnSpc>
                <a:spcPts val="1650"/>
              </a:lnSpc>
              <a:buNone/>
            </a:pPr>
            <a:r>
              <a:rPr lang="en-US" sz="1100" dirty="0">
                <a:solidFill>
                  <a:srgbClr val="1F2937"/>
                </a:solidFill>
                <a:latin typeface="Poppins Light" pitchFamily="34" charset="0"/>
                <a:ea typeface="Poppins Light" pitchFamily="34" charset="-122"/>
                <a:cs typeface="Poppins Light" pitchFamily="34" charset="-120"/>
              </a:rPr>
              <a:t>Third-party garage, workflow, email and WhatsApp automation</a:t>
            </a:r>
            <a:endParaRPr lang="en-US" sz="1100" dirty="0"/>
          </a:p>
        </p:txBody>
      </p:sp>
      <p:sp>
        <p:nvSpPr>
          <p:cNvPr id="43" name="Text"/>
          <p:cNvSpPr txBox="1"/>
          <p:nvPr/>
        </p:nvSpPr>
        <p:spPr>
          <a:xfrm>
            <a:off x="4294571" y="5358933"/>
            <a:ext cx="3593683" cy="64959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How it runs.</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Qwen models read images, video</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and documents together, and AI agents move</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each case to the claim report.</a:t>
            </a:r>
            <a:endParaRPr lang="en-US" sz="1100" dirty="0"/>
          </a:p>
        </p:txBody>
      </p:sp>
      <p:sp>
        <p:nvSpPr>
          <p:cNvPr id="44" name="Text"/>
          <p:cNvSpPr txBox="1"/>
          <p:nvPr/>
        </p:nvSpPr>
        <p:spPr>
          <a:xfrm>
            <a:off x="7878105" y="2572207"/>
            <a:ext cx="3629802" cy="177119"/>
          </a:xfrm>
          <a:prstGeom prst="rect">
            <a:avLst/>
          </a:prstGeom>
          <a:noFill/>
          <a:ln/>
        </p:spPr>
        <p:txBody>
          <a:bodyPr wrap="square" lIns="0" tIns="0" rIns="0" bIns="0" rtlCol="0" anchor="t"/>
          <a:lstStyle/>
          <a:p>
            <a:pPr algn="l" indent="0" marL="0">
              <a:lnSpc>
                <a:spcPts val="1395"/>
              </a:lnSpc>
              <a:buNone/>
            </a:pPr>
            <a:r>
              <a:rPr lang="en-US" sz="900" spc="36" kern="0" dirty="0">
                <a:solidFill>
                  <a:srgbClr val="044BD9"/>
                </a:solidFill>
                <a:latin typeface="Poppins Medium" pitchFamily="34" charset="0"/>
                <a:ea typeface="Poppins Medium" pitchFamily="34" charset="-122"/>
                <a:cs typeface="Poppins Medium" pitchFamily="34" charset="-120"/>
              </a:rPr>
              <a:t>Impact</a:t>
            </a:r>
            <a:endParaRPr lang="en-US" sz="900" dirty="0"/>
          </a:p>
        </p:txBody>
      </p:sp>
      <p:sp>
        <p:nvSpPr>
          <p:cNvPr id="45" name="Text"/>
          <p:cNvSpPr txBox="1"/>
          <p:nvPr/>
        </p:nvSpPr>
        <p:spPr>
          <a:xfrm>
            <a:off x="7878105" y="2881549"/>
            <a:ext cx="3629802" cy="609630"/>
          </a:xfrm>
          <a:prstGeom prst="rect">
            <a:avLst/>
          </a:prstGeom>
          <a:noFill/>
          <a:ln/>
        </p:spPr>
        <p:txBody>
          <a:bodyPr wrap="square" lIns="0" tIns="0" rIns="0" bIns="0" rtlCol="0" anchor="t"/>
          <a:lstStyle/>
          <a:p>
            <a:pPr algn="l" indent="0" marL="0">
              <a:lnSpc>
                <a:spcPts val="4800"/>
              </a:lnSpc>
              <a:buNone/>
            </a:pPr>
            <a:r>
              <a:rPr lang="en-US" sz="4800" spc="-96" kern="0" dirty="0">
                <a:solidFill>
                  <a:srgbClr val="044BD9"/>
                </a:solidFill>
                <a:latin typeface="Poppins Medium" pitchFamily="34" charset="0"/>
                <a:ea typeface="Poppins Medium" pitchFamily="34" charset="-122"/>
                <a:cs typeface="Poppins Medium" pitchFamily="34" charset="-120"/>
              </a:rPr>
              <a:t>24/7</a:t>
            </a:r>
            <a:endParaRPr lang="en-US" sz="4800" dirty="0"/>
          </a:p>
        </p:txBody>
      </p:sp>
      <p:sp>
        <p:nvSpPr>
          <p:cNvPr id="46" name="Text"/>
          <p:cNvSpPr txBox="1"/>
          <p:nvPr/>
        </p:nvSpPr>
        <p:spPr>
          <a:xfrm>
            <a:off x="7878105" y="3495111"/>
            <a:ext cx="3629802" cy="21653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Damage assessment from images and video</a:t>
            </a:r>
            <a:endParaRPr lang="en-US" sz="1100" dirty="0"/>
          </a:p>
        </p:txBody>
      </p:sp>
      <p:sp>
        <p:nvSpPr>
          <p:cNvPr id="47" name="Text"/>
          <p:cNvSpPr txBox="1"/>
          <p:nvPr/>
        </p:nvSpPr>
        <p:spPr>
          <a:xfrm>
            <a:off x="7878105" y="3933017"/>
            <a:ext cx="3629802" cy="247620"/>
          </a:xfrm>
          <a:prstGeom prst="rect">
            <a:avLst/>
          </a:prstGeom>
          <a:noFill/>
          <a:ln/>
        </p:spPr>
        <p:txBody>
          <a:bodyPr wrap="square" lIns="0" tIns="0" rIns="0" bIns="0" rtlCol="0" anchor="t"/>
          <a:lstStyle/>
          <a:p>
            <a:pPr algn="l" indent="0" marL="0">
              <a:lnSpc>
                <a:spcPts val="1950"/>
              </a:lnSpc>
              <a:buNone/>
            </a:pPr>
            <a:r>
              <a:rPr lang="en-US" sz="1500" dirty="0">
                <a:solidFill>
                  <a:srgbClr val="000000"/>
                </a:solidFill>
                <a:latin typeface="Poppins Medium" pitchFamily="34" charset="0"/>
                <a:ea typeface="Poppins Medium" pitchFamily="34" charset="-122"/>
                <a:cs typeface="Poppins Medium" pitchFamily="34" charset="-120"/>
              </a:rPr>
              <a:t>No production results to report yet</a:t>
            </a:r>
            <a:endParaRPr lang="en-US" sz="1500" dirty="0"/>
          </a:p>
        </p:txBody>
      </p:sp>
      <p:sp>
        <p:nvSpPr>
          <p:cNvPr id="48" name="Text"/>
          <p:cNvSpPr txBox="1"/>
          <p:nvPr/>
        </p:nvSpPr>
        <p:spPr>
          <a:xfrm>
            <a:off x="7878105" y="4219590"/>
            <a:ext cx="3772266" cy="649590"/>
          </a:xfrm>
          <a:prstGeom prst="rect">
            <a:avLst/>
          </a:prstGeom>
          <a:noFill/>
          <a:ln/>
        </p:spPr>
        <p:txBody>
          <a:bodyPr wrap="square" lIns="0" tIns="0" rIns="0" bIns="0" rtlCol="0" anchor="t"/>
          <a:lstStyle/>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The proof of concept already flags duplicate</a:t>
            </a:r>
            <a:endParaRPr lang="en-US" sz="1100" dirty="0"/>
          </a:p>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claims and prepares the liability assessment and</a:t>
            </a:r>
            <a:endParaRPr lang="en-US" sz="1100" dirty="0"/>
          </a:p>
          <a:p>
            <a:pPr algn="l" indent="0" marL="0">
              <a:lnSpc>
                <a:spcPts val="1705"/>
              </a:lnSpc>
              <a:buNone/>
            </a:pPr>
            <a:r>
              <a:rPr lang="en-US" sz="1100" dirty="0">
                <a:solidFill>
                  <a:srgbClr val="6B6B6B"/>
                </a:solidFill>
                <a:latin typeface="Poppins Light" pitchFamily="34" charset="0"/>
                <a:ea typeface="Poppins Light" pitchFamily="34" charset="-122"/>
                <a:cs typeface="Poppins Light" pitchFamily="34" charset="-120"/>
              </a:rPr>
              <a:t>claim report.</a:t>
            </a:r>
            <a:endParaRPr lang="en-US" sz="1100" dirty="0"/>
          </a:p>
        </p:txBody>
      </p:sp>
      <p:sp>
        <p:nvSpPr>
          <p:cNvPr id="49" name="Text"/>
          <p:cNvSpPr txBox="1"/>
          <p:nvPr/>
        </p:nvSpPr>
        <p:spPr>
          <a:xfrm>
            <a:off x="7878105" y="5358933"/>
            <a:ext cx="3772266" cy="43306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Medium" pitchFamily="34" charset="0"/>
                <a:ea typeface="Poppins Medium" pitchFamily="34" charset="-122"/>
                <a:cs typeface="Poppins Medium" pitchFamily="34" charset="-120"/>
              </a:rPr>
              <a:t>Related.</a:t>
            </a:r>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 ALPHV won the AI for Insurance Challenge ×</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Tasco, first of nine companies, on 22 Oct 2026.</a:t>
            </a:r>
            <a:endParaRPr lang="en-US" sz="1100" dirty="0"/>
          </a:p>
        </p:txBody>
      </p:sp>
      <p:sp>
        <p:nvSpPr>
          <p:cNvPr id="50"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1"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2"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3"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54"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5"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56" name="Source"/>
          <p:cNvSpPr txBox="1"/>
          <p:nvPr/>
        </p:nvSpPr>
        <p:spPr>
          <a:xfrm>
            <a:off x="711220" y="6401532"/>
            <a:ext cx="8280441"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alphv.com/insights/agentic-ai-insurance-claims-tasco; alphv.com/insights (October 2026). Note: proof of concept; no production results yet.</a:t>
            </a:r>
            <a:endParaRPr lang="en-US" sz="850" dirty="0"/>
          </a:p>
        </p:txBody>
      </p:sp>
      <p:sp>
        <p:nvSpPr>
          <p:cNvPr id="57" name="Text"/>
          <p:cNvSpPr txBox="1"/>
          <p:nvPr/>
        </p:nvSpPr>
        <p:spPr>
          <a:xfrm>
            <a:off x="9358518"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58" name="Text"/>
          <p:cNvSpPr txBox="1"/>
          <p:nvPr/>
        </p:nvSpPr>
        <p:spPr>
          <a:xfrm>
            <a:off x="9866467"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59" name="Text"/>
          <p:cNvSpPr txBox="1"/>
          <p:nvPr/>
        </p:nvSpPr>
        <p:spPr>
          <a:xfrm>
            <a:off x="11357945" y="6401532"/>
            <a:ext cx="148224"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896478" cy="254020"/>
          </a:xfrm>
          <a:prstGeom prst="roundRect">
            <a:avLst>
              <a:gd name="adj" fmla="val 50000"/>
            </a:avLst>
          </a:prstGeom>
          <a:ln w="6350">
            <a:solidFill>
              <a:srgbClr val="155DFC"/>
            </a:solidFill>
            <a:prstDash val="solid"/>
          </a:ln>
        </p:spPr>
      </p:sp>
      <p:sp>
        <p:nvSpPr>
          <p:cNvPr id="3" name="card"/>
          <p:cNvSpPr/>
          <p:nvPr/>
        </p:nvSpPr>
        <p:spPr>
          <a:xfrm>
            <a:off x="714421" y="2077060"/>
            <a:ext cx="3481852" cy="1890431"/>
          </a:xfrm>
          <a:prstGeom prst="roundRect">
            <a:avLst>
              <a:gd name="adj" fmla="val 7894"/>
            </a:avLst>
          </a:prstGeom>
          <a:solidFill>
            <a:srgbClr val="FFFFFF"/>
          </a:solidFill>
          <a:ln w="6350">
            <a:solidFill>
              <a:srgbClr val="F0F0F0"/>
            </a:solidFill>
            <a:prstDash val="solid"/>
          </a:ln>
        </p:spPr>
      </p:sp>
      <p:sp>
        <p:nvSpPr>
          <p:cNvPr id="4" name="Rule"/>
          <p:cNvSpPr/>
          <p:nvPr/>
        </p:nvSpPr>
        <p:spPr>
          <a:xfrm>
            <a:off x="895380" y="3393156"/>
            <a:ext cx="3119933" cy="0"/>
          </a:xfrm>
          <a:prstGeom prst="line">
            <a:avLst/>
          </a:prstGeom>
          <a:noFill/>
          <a:ln w="6350">
            <a:solidFill>
              <a:srgbClr val="F0F0F0"/>
            </a:solidFill>
            <a:prstDash val="solid"/>
          </a:ln>
        </p:spPr>
      </p:sp>
      <p:sp>
        <p:nvSpPr>
          <p:cNvPr id="5" name="card"/>
          <p:cNvSpPr/>
          <p:nvPr/>
        </p:nvSpPr>
        <p:spPr>
          <a:xfrm>
            <a:off x="4355013" y="2077060"/>
            <a:ext cx="3481852" cy="1890431"/>
          </a:xfrm>
          <a:prstGeom prst="roundRect">
            <a:avLst>
              <a:gd name="adj" fmla="val 7894"/>
            </a:avLst>
          </a:prstGeom>
          <a:solidFill>
            <a:srgbClr val="FFFFFF"/>
          </a:solidFill>
          <a:ln w="6350">
            <a:solidFill>
              <a:srgbClr val="F0F0F0"/>
            </a:solidFill>
            <a:prstDash val="solid"/>
          </a:ln>
        </p:spPr>
      </p:sp>
      <p:sp>
        <p:nvSpPr>
          <p:cNvPr id="6" name="Rule"/>
          <p:cNvSpPr/>
          <p:nvPr/>
        </p:nvSpPr>
        <p:spPr>
          <a:xfrm>
            <a:off x="4535973" y="3393156"/>
            <a:ext cx="3119933" cy="0"/>
          </a:xfrm>
          <a:prstGeom prst="line">
            <a:avLst/>
          </a:prstGeom>
          <a:noFill/>
          <a:ln w="6350">
            <a:solidFill>
              <a:srgbClr val="F0F0F0"/>
            </a:solidFill>
            <a:prstDash val="solid"/>
          </a:ln>
        </p:spPr>
      </p:sp>
      <p:sp>
        <p:nvSpPr>
          <p:cNvPr id="7" name="card"/>
          <p:cNvSpPr/>
          <p:nvPr/>
        </p:nvSpPr>
        <p:spPr>
          <a:xfrm>
            <a:off x="7995605" y="2077060"/>
            <a:ext cx="3481852" cy="1890431"/>
          </a:xfrm>
          <a:prstGeom prst="roundRect">
            <a:avLst>
              <a:gd name="adj" fmla="val 7894"/>
            </a:avLst>
          </a:prstGeom>
          <a:solidFill>
            <a:srgbClr val="FFFFFF"/>
          </a:solidFill>
          <a:ln w="6350">
            <a:solidFill>
              <a:srgbClr val="F0F0F0"/>
            </a:solidFill>
            <a:prstDash val="solid"/>
          </a:ln>
        </p:spPr>
      </p:sp>
      <p:sp>
        <p:nvSpPr>
          <p:cNvPr id="8" name="Rule"/>
          <p:cNvSpPr/>
          <p:nvPr/>
        </p:nvSpPr>
        <p:spPr>
          <a:xfrm>
            <a:off x="8176656" y="3393156"/>
            <a:ext cx="3119933" cy="0"/>
          </a:xfrm>
          <a:prstGeom prst="line">
            <a:avLst/>
          </a:prstGeom>
          <a:noFill/>
          <a:ln w="6350">
            <a:solidFill>
              <a:srgbClr val="F0F0F0"/>
            </a:solidFill>
            <a:prstDash val="solid"/>
          </a:ln>
        </p:spPr>
      </p:sp>
      <p:sp>
        <p:nvSpPr>
          <p:cNvPr id="9" name="card"/>
          <p:cNvSpPr/>
          <p:nvPr/>
        </p:nvSpPr>
        <p:spPr>
          <a:xfrm>
            <a:off x="714421" y="4126230"/>
            <a:ext cx="3481852" cy="1890431"/>
          </a:xfrm>
          <a:prstGeom prst="roundRect">
            <a:avLst>
              <a:gd name="adj" fmla="val 7894"/>
            </a:avLst>
          </a:prstGeom>
          <a:solidFill>
            <a:srgbClr val="FFFFFF"/>
          </a:solidFill>
          <a:ln w="6350">
            <a:solidFill>
              <a:srgbClr val="F0F0F0"/>
            </a:solidFill>
            <a:prstDash val="solid"/>
          </a:ln>
        </p:spPr>
      </p:sp>
      <p:sp>
        <p:nvSpPr>
          <p:cNvPr id="10" name="Rule"/>
          <p:cNvSpPr/>
          <p:nvPr/>
        </p:nvSpPr>
        <p:spPr>
          <a:xfrm>
            <a:off x="895380" y="5442326"/>
            <a:ext cx="3119933" cy="0"/>
          </a:xfrm>
          <a:prstGeom prst="line">
            <a:avLst/>
          </a:prstGeom>
          <a:noFill/>
          <a:ln w="6350">
            <a:solidFill>
              <a:srgbClr val="F0F0F0"/>
            </a:solidFill>
            <a:prstDash val="solid"/>
          </a:ln>
        </p:spPr>
      </p:sp>
      <p:sp>
        <p:nvSpPr>
          <p:cNvPr id="11" name="card"/>
          <p:cNvSpPr/>
          <p:nvPr/>
        </p:nvSpPr>
        <p:spPr>
          <a:xfrm>
            <a:off x="4355013" y="4126230"/>
            <a:ext cx="3481852" cy="1890431"/>
          </a:xfrm>
          <a:prstGeom prst="roundRect">
            <a:avLst>
              <a:gd name="adj" fmla="val 7894"/>
            </a:avLst>
          </a:prstGeom>
          <a:solidFill>
            <a:srgbClr val="FFFFFF"/>
          </a:solidFill>
          <a:ln w="6350">
            <a:solidFill>
              <a:srgbClr val="F0F0F0"/>
            </a:solidFill>
            <a:prstDash val="solid"/>
          </a:ln>
        </p:spPr>
      </p:sp>
      <p:sp>
        <p:nvSpPr>
          <p:cNvPr id="12" name="Rule"/>
          <p:cNvSpPr/>
          <p:nvPr/>
        </p:nvSpPr>
        <p:spPr>
          <a:xfrm>
            <a:off x="4535973" y="5442326"/>
            <a:ext cx="3119933" cy="0"/>
          </a:xfrm>
          <a:prstGeom prst="line">
            <a:avLst/>
          </a:prstGeom>
          <a:noFill/>
          <a:ln w="6350">
            <a:solidFill>
              <a:srgbClr val="F0F0F0"/>
            </a:solidFill>
            <a:prstDash val="solid"/>
          </a:ln>
        </p:spPr>
      </p:sp>
      <p:sp>
        <p:nvSpPr>
          <p:cNvPr id="13" name="card"/>
          <p:cNvSpPr/>
          <p:nvPr/>
        </p:nvSpPr>
        <p:spPr>
          <a:xfrm>
            <a:off x="7995605" y="4126230"/>
            <a:ext cx="3481852" cy="1890431"/>
          </a:xfrm>
          <a:prstGeom prst="roundRect">
            <a:avLst>
              <a:gd name="adj" fmla="val 7894"/>
            </a:avLst>
          </a:prstGeom>
          <a:solidFill>
            <a:srgbClr val="FFFFFF"/>
          </a:solidFill>
          <a:ln w="6350">
            <a:solidFill>
              <a:srgbClr val="F0F0F0"/>
            </a:solidFill>
            <a:prstDash val="solid"/>
          </a:ln>
        </p:spPr>
      </p:sp>
      <p:sp>
        <p:nvSpPr>
          <p:cNvPr id="14" name="Rule"/>
          <p:cNvSpPr/>
          <p:nvPr/>
        </p:nvSpPr>
        <p:spPr>
          <a:xfrm>
            <a:off x="8176656" y="5442326"/>
            <a:ext cx="3119933" cy="0"/>
          </a:xfrm>
          <a:prstGeom prst="line">
            <a:avLst/>
          </a:prstGeom>
          <a:noFill/>
          <a:ln w="6350">
            <a:solidFill>
              <a:srgbClr val="F0F0F0"/>
            </a:solidFill>
            <a:prstDash val="solid"/>
          </a:ln>
        </p:spPr>
      </p:sp>
      <p:sp>
        <p:nvSpPr>
          <p:cNvPr id="15" name="span::before"/>
          <p:cNvSpPr/>
          <p:nvPr/>
        </p:nvSpPr>
        <p:spPr>
          <a:xfrm>
            <a:off x="6191860" y="311170"/>
            <a:ext cx="44440" cy="44440"/>
          </a:xfrm>
          <a:prstGeom prst="rect">
            <a:avLst/>
          </a:prstGeom>
          <a:solidFill>
            <a:srgbClr val="A0A6AF">
              <a:alpha val="55000"/>
            </a:srgbClr>
          </a:solidFill>
          <a:ln/>
        </p:spPr>
      </p:sp>
      <p:sp>
        <p:nvSpPr>
          <p:cNvPr id="16" name="span::before"/>
          <p:cNvSpPr/>
          <p:nvPr/>
        </p:nvSpPr>
        <p:spPr>
          <a:xfrm>
            <a:off x="7145213" y="311170"/>
            <a:ext cx="44440" cy="44440"/>
          </a:xfrm>
          <a:prstGeom prst="rect">
            <a:avLst/>
          </a:prstGeom>
          <a:solidFill>
            <a:srgbClr val="A0A6AF">
              <a:alpha val="55000"/>
            </a:srgbClr>
          </a:solidFill>
          <a:ln/>
        </p:spPr>
      </p:sp>
      <p:sp>
        <p:nvSpPr>
          <p:cNvPr id="17" name="span::before"/>
          <p:cNvSpPr/>
          <p:nvPr/>
        </p:nvSpPr>
        <p:spPr>
          <a:xfrm>
            <a:off x="8056230" y="311170"/>
            <a:ext cx="44440" cy="44440"/>
          </a:xfrm>
          <a:prstGeom prst="rect">
            <a:avLst/>
          </a:prstGeom>
          <a:solidFill>
            <a:srgbClr val="A0A6AF">
              <a:alpha val="55000"/>
            </a:srgbClr>
          </a:solidFill>
          <a:ln/>
        </p:spPr>
      </p:sp>
      <p:sp>
        <p:nvSpPr>
          <p:cNvPr id="18" name="span::before"/>
          <p:cNvSpPr/>
          <p:nvPr/>
        </p:nvSpPr>
        <p:spPr>
          <a:xfrm>
            <a:off x="8972550" y="311170"/>
            <a:ext cx="44440" cy="44440"/>
          </a:xfrm>
          <a:prstGeom prst="rect">
            <a:avLst/>
          </a:prstGeom>
          <a:solidFill>
            <a:srgbClr val="A0A6AF">
              <a:alpha val="55000"/>
            </a:srgbClr>
          </a:solidFill>
          <a:ln/>
        </p:spPr>
      </p:sp>
      <p:sp>
        <p:nvSpPr>
          <p:cNvPr id="19" name="on::before"/>
          <p:cNvSpPr/>
          <p:nvPr/>
        </p:nvSpPr>
        <p:spPr>
          <a:xfrm>
            <a:off x="10421142" y="311170"/>
            <a:ext cx="44440" cy="44440"/>
          </a:xfrm>
          <a:prstGeom prst="rect">
            <a:avLst/>
          </a:prstGeom>
          <a:solidFill>
            <a:srgbClr val="044BD9"/>
          </a:solidFill>
          <a:ln/>
        </p:spPr>
      </p:sp>
      <p:sp>
        <p:nvSpPr>
          <p:cNvPr id="20" name="span::before"/>
          <p:cNvSpPr/>
          <p:nvPr/>
        </p:nvSpPr>
        <p:spPr>
          <a:xfrm>
            <a:off x="10966216" y="311170"/>
            <a:ext cx="44440" cy="44440"/>
          </a:xfrm>
          <a:prstGeom prst="rect">
            <a:avLst/>
          </a:prstGeom>
          <a:solidFill>
            <a:srgbClr val="A0A6AF">
              <a:alpha val="55000"/>
            </a:srgbClr>
          </a:solidFill>
          <a:ln/>
        </p:spPr>
      </p:sp>
      <p:sp>
        <p:nvSpPr>
          <p:cNvPr id="21" name="Text"/>
          <p:cNvSpPr txBox="1"/>
          <p:nvPr/>
        </p:nvSpPr>
        <p:spPr>
          <a:xfrm>
            <a:off x="844540" y="609265"/>
            <a:ext cx="661477"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More work</a:t>
            </a:r>
            <a:endParaRPr lang="en-US" sz="950" dirty="0"/>
          </a:p>
        </p:txBody>
      </p:sp>
      <p:sp>
        <p:nvSpPr>
          <p:cNvPr id="22"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The same team ships claims engines,</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content pipelines and a data migration</a:t>
            </a:r>
            <a:endParaRPr lang="en-US" sz="3000" dirty="0"/>
          </a:p>
        </p:txBody>
      </p:sp>
      <p:sp>
        <p:nvSpPr>
          <p:cNvPr id="23" name="Text"/>
          <p:cNvSpPr txBox="1"/>
          <p:nvPr/>
        </p:nvSpPr>
        <p:spPr>
          <a:xfrm>
            <a:off x="895380" y="2244486"/>
            <a:ext cx="3145079"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Healthcare · A leading healthcare group, Malaysia</a:t>
            </a:r>
            <a:endParaRPr lang="en-US" sz="850" dirty="0"/>
          </a:p>
        </p:txBody>
      </p:sp>
      <p:sp>
        <p:nvSpPr>
          <p:cNvPr id="24" name="Text"/>
          <p:cNvSpPr txBox="1"/>
          <p:nvPr/>
        </p:nvSpPr>
        <p:spPr>
          <a:xfrm>
            <a:off x="895380" y="2480219"/>
            <a:ext cx="3145079"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Medicolegal claims processing</a:t>
            </a:r>
            <a:endParaRPr lang="en-US" sz="1250" dirty="0"/>
          </a:p>
        </p:txBody>
      </p:sp>
      <p:sp>
        <p:nvSpPr>
          <p:cNvPr id="25" name="Text"/>
          <p:cNvSpPr txBox="1"/>
          <p:nvPr/>
        </p:nvSpPr>
        <p:spPr>
          <a:xfrm>
            <a:off x="895380" y="2735976"/>
            <a:ext cx="3145079"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Qwen and Claude draft each medicolegal report for a clinician to review.</a:t>
            </a:r>
            <a:endParaRPr lang="en-US" sz="1100" dirty="0"/>
          </a:p>
        </p:txBody>
      </p:sp>
      <p:sp>
        <p:nvSpPr>
          <p:cNvPr id="26" name="Text"/>
          <p:cNvSpPr txBox="1"/>
          <p:nvPr/>
        </p:nvSpPr>
        <p:spPr>
          <a:xfrm>
            <a:off x="895380" y="3508736"/>
            <a:ext cx="206197" cy="279441"/>
          </a:xfrm>
          <a:prstGeom prst="rect">
            <a:avLst/>
          </a:prstGeom>
          <a:noFill/>
          <a:ln/>
        </p:spPr>
        <p:txBody>
          <a:bodyPr wrap="none" lIns="0" tIns="0" rIns="0" bIns="0" rtlCol="0" anchor="t"/>
          <a:lstStyle/>
          <a:p>
            <a:pPr algn="l" indent="0" marL="0">
              <a:lnSpc>
                <a:spcPts val="2200"/>
              </a:lnSpc>
              <a:buNone/>
            </a:pPr>
            <a:r>
              <a:rPr lang="en-US" sz="2200" dirty="0">
                <a:solidFill>
                  <a:srgbClr val="044BD9"/>
                </a:solidFill>
                <a:latin typeface="Poppins Medium" pitchFamily="34" charset="0"/>
                <a:ea typeface="Poppins Medium" pitchFamily="34" charset="-122"/>
                <a:cs typeface="Poppins Medium" pitchFamily="34" charset="-120"/>
              </a:rPr>
              <a:t>4</a:t>
            </a:r>
            <a:endParaRPr lang="en-US" sz="2200" dirty="0"/>
          </a:p>
        </p:txBody>
      </p:sp>
      <p:sp>
        <p:nvSpPr>
          <p:cNvPr id="27" name="Text"/>
          <p:cNvSpPr txBox="1"/>
          <p:nvPr/>
        </p:nvSpPr>
        <p:spPr>
          <a:xfrm>
            <a:off x="1165037" y="3584265"/>
            <a:ext cx="2829245"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claim stages in one flow, intake to adjudication</a:t>
            </a:r>
            <a:endParaRPr lang="en-US" sz="950" dirty="0"/>
          </a:p>
        </p:txBody>
      </p:sp>
      <p:sp>
        <p:nvSpPr>
          <p:cNvPr id="28" name="Text"/>
          <p:cNvSpPr txBox="1"/>
          <p:nvPr/>
        </p:nvSpPr>
        <p:spPr>
          <a:xfrm>
            <a:off x="4535973" y="2244486"/>
            <a:ext cx="3145079"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Retail · Eastern Decorator</a:t>
            </a:r>
            <a:endParaRPr lang="en-US" sz="850" dirty="0"/>
          </a:p>
        </p:txBody>
      </p:sp>
      <p:sp>
        <p:nvSpPr>
          <p:cNvPr id="29" name="Text"/>
          <p:cNvSpPr txBox="1"/>
          <p:nvPr/>
        </p:nvSpPr>
        <p:spPr>
          <a:xfrm>
            <a:off x="4535973" y="2480219"/>
            <a:ext cx="3145079"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AI content factory</a:t>
            </a:r>
            <a:endParaRPr lang="en-US" sz="1250" dirty="0"/>
          </a:p>
        </p:txBody>
      </p:sp>
      <p:sp>
        <p:nvSpPr>
          <p:cNvPr id="30" name="Text"/>
          <p:cNvSpPr txBox="1"/>
          <p:nvPr/>
        </p:nvSpPr>
        <p:spPr>
          <a:xfrm>
            <a:off x="4535973" y="2735976"/>
            <a:ext cx="3270169"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Gemini turns source assets into imagery,</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copy and listing variants, with review.</a:t>
            </a:r>
            <a:endParaRPr lang="en-US" sz="1100" dirty="0"/>
          </a:p>
        </p:txBody>
      </p:sp>
      <p:sp>
        <p:nvSpPr>
          <p:cNvPr id="31" name="Text"/>
          <p:cNvSpPr txBox="1"/>
          <p:nvPr/>
        </p:nvSpPr>
        <p:spPr>
          <a:xfrm>
            <a:off x="4535973" y="3508736"/>
            <a:ext cx="191384" cy="279441"/>
          </a:xfrm>
          <a:prstGeom prst="rect">
            <a:avLst/>
          </a:prstGeom>
          <a:noFill/>
          <a:ln/>
        </p:spPr>
        <p:txBody>
          <a:bodyPr wrap="none" lIns="0" tIns="0" rIns="0" bIns="0" rtlCol="0" anchor="t"/>
          <a:lstStyle/>
          <a:p>
            <a:pPr algn="l" indent="0" marL="0">
              <a:lnSpc>
                <a:spcPts val="2200"/>
              </a:lnSpc>
              <a:buNone/>
            </a:pPr>
            <a:r>
              <a:rPr lang="en-US" sz="2200" dirty="0">
                <a:solidFill>
                  <a:srgbClr val="044BD9"/>
                </a:solidFill>
                <a:latin typeface="Poppins Medium" pitchFamily="34" charset="0"/>
                <a:ea typeface="Poppins Medium" pitchFamily="34" charset="-122"/>
                <a:cs typeface="Poppins Medium" pitchFamily="34" charset="-120"/>
              </a:rPr>
              <a:t>3</a:t>
            </a:r>
            <a:endParaRPr lang="en-US" sz="2200" dirty="0"/>
          </a:p>
        </p:txBody>
      </p:sp>
      <p:sp>
        <p:nvSpPr>
          <p:cNvPr id="32" name="Text"/>
          <p:cNvSpPr txBox="1"/>
          <p:nvPr/>
        </p:nvSpPr>
        <p:spPr>
          <a:xfrm>
            <a:off x="4790907" y="3584265"/>
            <a:ext cx="1593982"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content types per product</a:t>
            </a:r>
            <a:endParaRPr lang="en-US" sz="950" dirty="0"/>
          </a:p>
        </p:txBody>
      </p:sp>
      <p:sp>
        <p:nvSpPr>
          <p:cNvPr id="33" name="Text"/>
          <p:cNvSpPr txBox="1"/>
          <p:nvPr/>
        </p:nvSpPr>
        <p:spPr>
          <a:xfrm>
            <a:off x="8176656" y="2244486"/>
            <a:ext cx="3145079"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Brewing and consumer goods · Carlsberg</a:t>
            </a:r>
            <a:endParaRPr lang="en-US" sz="850" dirty="0"/>
          </a:p>
        </p:txBody>
      </p:sp>
      <p:sp>
        <p:nvSpPr>
          <p:cNvPr id="34" name="Text"/>
          <p:cNvSpPr txBox="1"/>
          <p:nvPr/>
        </p:nvSpPr>
        <p:spPr>
          <a:xfrm>
            <a:off x="8176656" y="2480219"/>
            <a:ext cx="3145079"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Core data migration</a:t>
            </a:r>
            <a:endParaRPr lang="en-US" sz="1250" dirty="0"/>
          </a:p>
        </p:txBody>
      </p:sp>
      <p:sp>
        <p:nvSpPr>
          <p:cNvPr id="35" name="Text"/>
          <p:cNvSpPr txBox="1"/>
          <p:nvPr/>
        </p:nvSpPr>
        <p:spPr>
          <a:xfrm>
            <a:off x="8176656" y="2735976"/>
            <a:ext cx="3145079"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ALPHV assisted Carlsberg in migrating core operational data to a target estate.</a:t>
            </a:r>
            <a:endParaRPr lang="en-US" sz="1100" dirty="0"/>
          </a:p>
        </p:txBody>
      </p:sp>
      <p:sp>
        <p:nvSpPr>
          <p:cNvPr id="36" name="Text"/>
          <p:cNvSpPr txBox="1"/>
          <p:nvPr/>
        </p:nvSpPr>
        <p:spPr>
          <a:xfrm>
            <a:off x="8176656" y="3508736"/>
            <a:ext cx="1360993" cy="279441"/>
          </a:xfrm>
          <a:prstGeom prst="rect">
            <a:avLst/>
          </a:prstGeom>
          <a:noFill/>
          <a:ln/>
        </p:spPr>
        <p:txBody>
          <a:bodyPr wrap="none" lIns="0" tIns="0" rIns="0" bIns="0" rtlCol="0" anchor="t"/>
          <a:lstStyle/>
          <a:p>
            <a:pPr algn="l" indent="0" marL="0">
              <a:lnSpc>
                <a:spcPts val="2200"/>
              </a:lnSpc>
              <a:buNone/>
            </a:pPr>
            <a:r>
              <a:rPr lang="en-US" sz="2200" dirty="0">
                <a:solidFill>
                  <a:srgbClr val="044BD9"/>
                </a:solidFill>
                <a:latin typeface="Poppins Medium" pitchFamily="34" charset="0"/>
                <a:ea typeface="Poppins Medium" pitchFamily="34" charset="-122"/>
                <a:cs typeface="Poppins Medium" pitchFamily="34" charset="-120"/>
              </a:rPr>
              <a:t>5 months</a:t>
            </a:r>
            <a:endParaRPr lang="en-US" sz="2200" dirty="0"/>
          </a:p>
        </p:txBody>
      </p:sp>
      <p:sp>
        <p:nvSpPr>
          <p:cNvPr id="37" name="Text"/>
          <p:cNvSpPr txBox="1"/>
          <p:nvPr/>
        </p:nvSpPr>
        <p:spPr>
          <a:xfrm>
            <a:off x="9601109" y="3584265"/>
            <a:ext cx="1581180"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from extraction to cutover</a:t>
            </a:r>
            <a:endParaRPr lang="en-US" sz="950" dirty="0"/>
          </a:p>
        </p:txBody>
      </p:sp>
      <p:sp>
        <p:nvSpPr>
          <p:cNvPr id="38" name="Text"/>
          <p:cNvSpPr txBox="1"/>
          <p:nvPr/>
        </p:nvSpPr>
        <p:spPr>
          <a:xfrm>
            <a:off x="895380" y="4293657"/>
            <a:ext cx="3145079"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Financial services · Fundaztic</a:t>
            </a:r>
            <a:endParaRPr lang="en-US" sz="850" dirty="0"/>
          </a:p>
        </p:txBody>
      </p:sp>
      <p:sp>
        <p:nvSpPr>
          <p:cNvPr id="39" name="Text"/>
          <p:cNvSpPr txBox="1"/>
          <p:nvPr/>
        </p:nvSpPr>
        <p:spPr>
          <a:xfrm>
            <a:off x="895380" y="4529389"/>
            <a:ext cx="3145079"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Debt recovery management</a:t>
            </a:r>
            <a:endParaRPr lang="en-US" sz="1250" dirty="0"/>
          </a:p>
        </p:txBody>
      </p:sp>
      <p:sp>
        <p:nvSpPr>
          <p:cNvPr id="40" name="Text"/>
          <p:cNvSpPr txBox="1"/>
          <p:nvPr/>
        </p:nvSpPr>
        <p:spPr>
          <a:xfrm>
            <a:off x="895380" y="4785147"/>
            <a:ext cx="3270169"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Scoped, built and integrated into the lending</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operation, plus a UI/UX overhaul design.</a:t>
            </a:r>
            <a:endParaRPr lang="en-US" sz="1100" dirty="0"/>
          </a:p>
        </p:txBody>
      </p:sp>
      <p:sp>
        <p:nvSpPr>
          <p:cNvPr id="41" name="Text"/>
          <p:cNvSpPr txBox="1"/>
          <p:nvPr/>
        </p:nvSpPr>
        <p:spPr>
          <a:xfrm>
            <a:off x="895380" y="5557906"/>
            <a:ext cx="646481" cy="279441"/>
          </a:xfrm>
          <a:prstGeom prst="rect">
            <a:avLst/>
          </a:prstGeom>
          <a:noFill/>
          <a:ln/>
        </p:spPr>
        <p:txBody>
          <a:bodyPr wrap="none" lIns="0" tIns="0" rIns="0" bIns="0" rtlCol="0" anchor="t"/>
          <a:lstStyle/>
          <a:p>
            <a:pPr algn="l" indent="0" marL="0">
              <a:lnSpc>
                <a:spcPts val="2200"/>
              </a:lnSpc>
              <a:buNone/>
            </a:pPr>
            <a:r>
              <a:rPr lang="en-US" sz="2200" dirty="0">
                <a:solidFill>
                  <a:srgbClr val="044BD9"/>
                </a:solidFill>
                <a:latin typeface="Poppins Medium" pitchFamily="34" charset="0"/>
                <a:ea typeface="Poppins Medium" pitchFamily="34" charset="-122"/>
                <a:cs typeface="Poppins Medium" pitchFamily="34" charset="-120"/>
              </a:rPr>
              <a:t>DRM</a:t>
            </a:r>
            <a:endParaRPr lang="en-US" sz="2200" dirty="0"/>
          </a:p>
        </p:txBody>
      </p:sp>
      <p:sp>
        <p:nvSpPr>
          <p:cNvPr id="42" name="Text"/>
          <p:cNvSpPr txBox="1"/>
          <p:nvPr/>
        </p:nvSpPr>
        <p:spPr>
          <a:xfrm>
            <a:off x="1605321" y="5633436"/>
            <a:ext cx="1914388"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system that Fundaztic now runs</a:t>
            </a:r>
            <a:endParaRPr lang="en-US" sz="950" dirty="0"/>
          </a:p>
        </p:txBody>
      </p:sp>
      <p:sp>
        <p:nvSpPr>
          <p:cNvPr id="43" name="Text"/>
          <p:cNvSpPr txBox="1"/>
          <p:nvPr/>
        </p:nvSpPr>
        <p:spPr>
          <a:xfrm>
            <a:off x="4535973" y="4293657"/>
            <a:ext cx="3145079"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Telecommunications · A telco</a:t>
            </a:r>
            <a:endParaRPr lang="en-US" sz="850" dirty="0"/>
          </a:p>
        </p:txBody>
      </p:sp>
      <p:sp>
        <p:nvSpPr>
          <p:cNvPr id="44" name="Text"/>
          <p:cNvSpPr txBox="1"/>
          <p:nvPr/>
        </p:nvSpPr>
        <p:spPr>
          <a:xfrm>
            <a:off x="4535973" y="4529389"/>
            <a:ext cx="3145079"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VR and web roadshow</a:t>
            </a:r>
            <a:endParaRPr lang="en-US" sz="1250" dirty="0"/>
          </a:p>
        </p:txBody>
      </p:sp>
      <p:sp>
        <p:nvSpPr>
          <p:cNvPr id="45" name="Text"/>
          <p:cNvSpPr txBox="1"/>
          <p:nvPr/>
        </p:nvSpPr>
        <p:spPr>
          <a:xfrm>
            <a:off x="4535973" y="4785147"/>
            <a:ext cx="3145079"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 VR experience and a browser build for a travelling roadshow, with on-site support.</a:t>
            </a:r>
            <a:endParaRPr lang="en-US" sz="1100" dirty="0"/>
          </a:p>
        </p:txBody>
      </p:sp>
      <p:sp>
        <p:nvSpPr>
          <p:cNvPr id="46" name="Text"/>
          <p:cNvSpPr txBox="1"/>
          <p:nvPr/>
        </p:nvSpPr>
        <p:spPr>
          <a:xfrm>
            <a:off x="4535973" y="5557906"/>
            <a:ext cx="186629" cy="279441"/>
          </a:xfrm>
          <a:prstGeom prst="rect">
            <a:avLst/>
          </a:prstGeom>
          <a:noFill/>
          <a:ln/>
        </p:spPr>
        <p:txBody>
          <a:bodyPr wrap="none" lIns="0" tIns="0" rIns="0" bIns="0" rtlCol="0" anchor="t"/>
          <a:lstStyle/>
          <a:p>
            <a:pPr algn="l" indent="0" marL="0">
              <a:lnSpc>
                <a:spcPts val="2200"/>
              </a:lnSpc>
              <a:buNone/>
            </a:pPr>
            <a:r>
              <a:rPr lang="en-US" sz="2200" dirty="0">
                <a:solidFill>
                  <a:srgbClr val="044BD9"/>
                </a:solidFill>
                <a:latin typeface="Poppins Medium" pitchFamily="34" charset="0"/>
                <a:ea typeface="Poppins Medium" pitchFamily="34" charset="-122"/>
                <a:cs typeface="Poppins Medium" pitchFamily="34" charset="-120"/>
              </a:rPr>
              <a:t>2</a:t>
            </a:r>
            <a:endParaRPr lang="en-US" sz="2200" dirty="0"/>
          </a:p>
        </p:txBody>
      </p:sp>
      <p:sp>
        <p:nvSpPr>
          <p:cNvPr id="47" name="Text"/>
          <p:cNvSpPr txBox="1"/>
          <p:nvPr/>
        </p:nvSpPr>
        <p:spPr>
          <a:xfrm>
            <a:off x="4786152" y="5633436"/>
            <a:ext cx="2622042"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clients, VR and web, from one shared scene</a:t>
            </a:r>
            <a:endParaRPr lang="en-US" sz="950" dirty="0"/>
          </a:p>
        </p:txBody>
      </p:sp>
      <p:sp>
        <p:nvSpPr>
          <p:cNvPr id="48" name="Text"/>
          <p:cNvSpPr txBox="1"/>
          <p:nvPr/>
        </p:nvSpPr>
        <p:spPr>
          <a:xfrm>
            <a:off x="8176656" y="4293657"/>
            <a:ext cx="3145079"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044BD9"/>
                </a:solidFill>
                <a:latin typeface="Poppins Medium" pitchFamily="34" charset="0"/>
                <a:ea typeface="Poppins Medium" pitchFamily="34" charset="-122"/>
                <a:cs typeface="Poppins Medium" pitchFamily="34" charset="-120"/>
              </a:rPr>
              <a:t>Retail · Case note with FPT AI Factory</a:t>
            </a:r>
            <a:endParaRPr lang="en-US" sz="850" dirty="0"/>
          </a:p>
        </p:txBody>
      </p:sp>
      <p:sp>
        <p:nvSpPr>
          <p:cNvPr id="49" name="Text"/>
          <p:cNvSpPr txBox="1"/>
          <p:nvPr/>
        </p:nvSpPr>
        <p:spPr>
          <a:xfrm>
            <a:off x="8176656" y="4529389"/>
            <a:ext cx="3145079"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Promotions model</a:t>
            </a:r>
            <a:endParaRPr lang="en-US" sz="1250" dirty="0"/>
          </a:p>
        </p:txBody>
      </p:sp>
      <p:sp>
        <p:nvSpPr>
          <p:cNvPr id="50" name="Text"/>
          <p:cNvSpPr txBox="1"/>
          <p:nvPr/>
        </p:nvSpPr>
        <p:spPr>
          <a:xfrm>
            <a:off x="8176656" y="4785147"/>
            <a:ext cx="3145079"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Qwen2.5-14B-Instruct, fine-tuned with LoRA and Flash Attention.</a:t>
            </a:r>
            <a:endParaRPr lang="en-US" sz="1100" dirty="0"/>
          </a:p>
        </p:txBody>
      </p:sp>
      <p:sp>
        <p:nvSpPr>
          <p:cNvPr id="51" name="Text"/>
          <p:cNvSpPr txBox="1"/>
          <p:nvPr/>
        </p:nvSpPr>
        <p:spPr>
          <a:xfrm>
            <a:off x="8176656" y="5557906"/>
            <a:ext cx="678393" cy="279441"/>
          </a:xfrm>
          <a:prstGeom prst="rect">
            <a:avLst/>
          </a:prstGeom>
          <a:noFill/>
          <a:ln/>
        </p:spPr>
        <p:txBody>
          <a:bodyPr wrap="none" lIns="0" tIns="0" rIns="0" bIns="0" rtlCol="0" anchor="t"/>
          <a:lstStyle/>
          <a:p>
            <a:pPr algn="l" indent="0" marL="0">
              <a:lnSpc>
                <a:spcPts val="2200"/>
              </a:lnSpc>
              <a:buNone/>
            </a:pPr>
            <a:r>
              <a:rPr lang="en-US" sz="2200" dirty="0">
                <a:solidFill>
                  <a:srgbClr val="044BD9"/>
                </a:solidFill>
                <a:latin typeface="Poppins Medium" pitchFamily="34" charset="0"/>
                <a:ea typeface="Poppins Medium" pitchFamily="34" charset="-122"/>
                <a:cs typeface="Poppins Medium" pitchFamily="34" charset="-120"/>
              </a:rPr>
              <a:t>H100</a:t>
            </a:r>
            <a:endParaRPr lang="en-US" sz="2200" dirty="0"/>
          </a:p>
        </p:txBody>
      </p:sp>
      <p:sp>
        <p:nvSpPr>
          <p:cNvPr id="52" name="Text"/>
          <p:cNvSpPr txBox="1"/>
          <p:nvPr/>
        </p:nvSpPr>
        <p:spPr>
          <a:xfrm>
            <a:off x="8918509" y="5633436"/>
            <a:ext cx="1898752" cy="186995"/>
          </a:xfrm>
          <a:prstGeom prst="rect">
            <a:avLst/>
          </a:prstGeom>
          <a:noFill/>
          <a:ln/>
        </p:spPr>
        <p:txBody>
          <a:bodyPr wrap="non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SXM compute via FPT AI Factory</a:t>
            </a:r>
            <a:endParaRPr lang="en-US" sz="950" dirty="0"/>
          </a:p>
        </p:txBody>
      </p:sp>
      <p:sp>
        <p:nvSpPr>
          <p:cNvPr id="53"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4"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5"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6"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57"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8"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59"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 case pages for the healthcare group, Eastern Decorator, Carlsberg, Fundaztic and the telco, and the FPT AI Factory case note</a:t>
            </a:r>
            <a:endParaRPr lang="en-US" sz="850" dirty="0"/>
          </a:p>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(October 2026).</a:t>
            </a:r>
            <a:endParaRPr lang="en-US" sz="850" dirty="0"/>
          </a:p>
        </p:txBody>
      </p:sp>
      <p:sp>
        <p:nvSpPr>
          <p:cNvPr id="60" name="Text"/>
          <p:cNvSpPr txBox="1"/>
          <p:nvPr/>
        </p:nvSpPr>
        <p:spPr>
          <a:xfrm>
            <a:off x="9350197"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61" name="Text"/>
          <p:cNvSpPr txBox="1"/>
          <p:nvPr/>
        </p:nvSpPr>
        <p:spPr>
          <a:xfrm>
            <a:off x="985814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62" name="Text"/>
          <p:cNvSpPr txBox="1"/>
          <p:nvPr/>
        </p:nvSpPr>
        <p:spPr>
          <a:xfrm>
            <a:off x="11349624" y="6401532"/>
            <a:ext cx="156545"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badge"/>
          <p:cNvSpPr/>
          <p:nvPr/>
        </p:nvSpPr>
        <p:spPr>
          <a:xfrm>
            <a:off x="714421" y="536570"/>
            <a:ext cx="962955" cy="254020"/>
          </a:xfrm>
          <a:prstGeom prst="roundRect">
            <a:avLst>
              <a:gd name="adj" fmla="val 50000"/>
            </a:avLst>
          </a:prstGeom>
          <a:ln w="6350">
            <a:solidFill>
              <a:srgbClr val="FFFFFF">
                <a:alpha val="55000"/>
              </a:srgbClr>
            </a:solidFill>
            <a:prstDash val="solid"/>
          </a:ln>
        </p:spPr>
      </p:sp>
      <p:sp>
        <p:nvSpPr>
          <p:cNvPr id="3" name="Rule"/>
          <p:cNvSpPr/>
          <p:nvPr/>
        </p:nvSpPr>
        <p:spPr>
          <a:xfrm>
            <a:off x="711220" y="4415363"/>
            <a:ext cx="6565941" cy="0"/>
          </a:xfrm>
          <a:prstGeom prst="line">
            <a:avLst/>
          </a:prstGeom>
          <a:noFill/>
          <a:ln w="12700">
            <a:solidFill>
              <a:srgbClr val="FFFFFF">
                <a:alpha val="55000"/>
              </a:srgbClr>
            </a:solidFill>
            <a:prstDash val="solid"/>
          </a:ln>
        </p:spPr>
      </p:sp>
      <p:sp>
        <p:nvSpPr>
          <p:cNvPr id="4" name="Rule"/>
          <p:cNvSpPr/>
          <p:nvPr/>
        </p:nvSpPr>
        <p:spPr>
          <a:xfrm>
            <a:off x="7480341" y="4415363"/>
            <a:ext cx="4000500" cy="0"/>
          </a:xfrm>
          <a:prstGeom prst="line">
            <a:avLst/>
          </a:prstGeom>
          <a:noFill/>
          <a:ln w="12700">
            <a:solidFill>
              <a:srgbClr val="FFFFFF">
                <a:alpha val="55000"/>
              </a:srgbClr>
            </a:solidFill>
            <a:prstDash val="solid"/>
          </a:ln>
        </p:spPr>
      </p:sp>
      <p:sp>
        <p:nvSpPr>
          <p:cNvPr id="5" name="Text"/>
          <p:cNvSpPr txBox="1"/>
          <p:nvPr/>
        </p:nvSpPr>
        <p:spPr>
          <a:xfrm>
            <a:off x="844540" y="609265"/>
            <a:ext cx="727954"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FFFFFF"/>
                </a:solidFill>
                <a:latin typeface="Poppins Medium" pitchFamily="34" charset="0"/>
                <a:ea typeface="Poppins Medium" pitchFamily="34" charset="-122"/>
                <a:cs typeface="Poppins Medium" pitchFamily="34" charset="-120"/>
              </a:rPr>
              <a:t>In numbers</a:t>
            </a:r>
            <a:endParaRPr lang="en-US" sz="950" dirty="0"/>
          </a:p>
        </p:txBody>
      </p:sp>
      <p:sp>
        <p:nvSpPr>
          <p:cNvPr id="6"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FFFFFF"/>
                </a:solidFill>
                <a:latin typeface="Poppins Medium" pitchFamily="34" charset="0"/>
                <a:ea typeface="Poppins Medium" pitchFamily="34" charset="-122"/>
                <a:cs typeface="Poppins Medium" pitchFamily="34" charset="-120"/>
              </a:rPr>
              <a:t>Platforms built for thousands of</a:t>
            </a:r>
            <a:endParaRPr lang="en-US" sz="3000" dirty="0"/>
          </a:p>
          <a:p>
            <a:pPr algn="l" indent="0" marL="0">
              <a:lnSpc>
                <a:spcPts val="3390"/>
              </a:lnSpc>
              <a:buNone/>
            </a:pPr>
            <a:r>
              <a:rPr lang="en-US" sz="3000" spc="-45" kern="0" dirty="0">
                <a:solidFill>
                  <a:srgbClr val="FFFFFF"/>
                </a:solidFill>
                <a:latin typeface="Poppins Medium" pitchFamily="34" charset="0"/>
                <a:ea typeface="Poppins Medium" pitchFamily="34" charset="-122"/>
                <a:cs typeface="Poppins Medium" pitchFamily="34" charset="-120"/>
              </a:rPr>
              <a:t>people, and work taken off their teams</a:t>
            </a:r>
            <a:endParaRPr lang="en-US" sz="3000" dirty="0"/>
          </a:p>
        </p:txBody>
      </p:sp>
      <p:sp>
        <p:nvSpPr>
          <p:cNvPr id="7" name="Text"/>
          <p:cNvSpPr txBox="1"/>
          <p:nvPr/>
        </p:nvSpPr>
        <p:spPr>
          <a:xfrm>
            <a:off x="711220" y="4117818"/>
            <a:ext cx="6604894" cy="186995"/>
          </a:xfrm>
          <a:prstGeom prst="rect">
            <a:avLst/>
          </a:prstGeom>
          <a:noFill/>
          <a:ln/>
        </p:spPr>
        <p:txBody>
          <a:bodyPr wrap="square" lIns="0" tIns="0" rIns="0" bIns="0" rtlCol="0" anchor="t"/>
          <a:lstStyle/>
          <a:p>
            <a:pPr algn="l" indent="0" marL="0">
              <a:lnSpc>
                <a:spcPts val="1472"/>
              </a:lnSpc>
              <a:buNone/>
            </a:pPr>
            <a:r>
              <a:rPr lang="en-US" sz="950" spc="19" kern="0" dirty="0">
                <a:solidFill>
                  <a:srgbClr val="FFFFFF"/>
                </a:solidFill>
                <a:latin typeface="Poppins Medium" pitchFamily="34" charset="0"/>
                <a:ea typeface="Poppins Medium" pitchFamily="34" charset="-122"/>
                <a:cs typeface="Poppins Medium" pitchFamily="34" charset="-120"/>
              </a:rPr>
              <a:t>Platforms ALPHV designed and engineered</a:t>
            </a:r>
            <a:endParaRPr lang="en-US" sz="950" dirty="0"/>
          </a:p>
        </p:txBody>
      </p:sp>
      <p:sp>
        <p:nvSpPr>
          <p:cNvPr id="8" name="Text"/>
          <p:cNvSpPr txBox="1"/>
          <p:nvPr/>
        </p:nvSpPr>
        <p:spPr>
          <a:xfrm>
            <a:off x="7480341" y="4117818"/>
            <a:ext cx="4029212" cy="186995"/>
          </a:xfrm>
          <a:prstGeom prst="rect">
            <a:avLst/>
          </a:prstGeom>
          <a:noFill/>
          <a:ln/>
        </p:spPr>
        <p:txBody>
          <a:bodyPr wrap="square" lIns="0" tIns="0" rIns="0" bIns="0" rtlCol="0" anchor="t"/>
          <a:lstStyle/>
          <a:p>
            <a:pPr algn="l" indent="0" marL="0">
              <a:lnSpc>
                <a:spcPts val="1472"/>
              </a:lnSpc>
              <a:buNone/>
            </a:pPr>
            <a:r>
              <a:rPr lang="en-US" sz="950" spc="19" kern="0" dirty="0">
                <a:solidFill>
                  <a:srgbClr val="FFFFFF"/>
                </a:solidFill>
                <a:latin typeface="Poppins Medium" pitchFamily="34" charset="0"/>
                <a:ea typeface="Poppins Medium" pitchFamily="34" charset="-122"/>
                <a:cs typeface="Poppins Medium" pitchFamily="34" charset="-120"/>
              </a:rPr>
              <a:t>Work taken off teams</a:t>
            </a:r>
            <a:endParaRPr lang="en-US" sz="950" dirty="0"/>
          </a:p>
        </p:txBody>
      </p:sp>
      <p:sp>
        <p:nvSpPr>
          <p:cNvPr id="9" name="Text"/>
          <p:cNvSpPr txBox="1"/>
          <p:nvPr/>
        </p:nvSpPr>
        <p:spPr>
          <a:xfrm>
            <a:off x="711220" y="4644603"/>
            <a:ext cx="2052828" cy="711220"/>
          </a:xfrm>
          <a:prstGeom prst="rect">
            <a:avLst/>
          </a:prstGeom>
          <a:noFill/>
          <a:ln/>
        </p:spPr>
        <p:txBody>
          <a:bodyPr wrap="square" lIns="0" tIns="0" rIns="0" bIns="0" rtlCol="0" anchor="t"/>
          <a:lstStyle/>
          <a:p>
            <a:pPr algn="l" indent="0" marL="0">
              <a:lnSpc>
                <a:spcPts val="5600"/>
              </a:lnSpc>
              <a:buNone/>
            </a:pPr>
            <a:r>
              <a:rPr lang="en-US" sz="5600" spc="-112" kern="0" dirty="0">
                <a:solidFill>
                  <a:srgbClr val="FFFFFF"/>
                </a:solidFill>
                <a:latin typeface="Poppins Medium" pitchFamily="34" charset="0"/>
                <a:ea typeface="Poppins Medium" pitchFamily="34" charset="-122"/>
                <a:cs typeface="Poppins Medium" pitchFamily="34" charset="-120"/>
              </a:rPr>
              <a:t>3,000</a:t>
            </a:r>
            <a:endParaRPr lang="en-US" sz="5600" dirty="0"/>
          </a:p>
        </p:txBody>
      </p:sp>
      <p:sp>
        <p:nvSpPr>
          <p:cNvPr id="10" name="Text"/>
          <p:cNvSpPr txBox="1"/>
          <p:nvPr/>
        </p:nvSpPr>
        <p:spPr>
          <a:xfrm>
            <a:off x="711220" y="5397520"/>
            <a:ext cx="2138690" cy="607710"/>
          </a:xfrm>
          <a:prstGeom prst="rect">
            <a:avLst/>
          </a:prstGeom>
          <a:noFill/>
          <a:ln/>
        </p:spPr>
        <p:txBody>
          <a:bodyPr wrap="square" lIns="0" tIns="0" rIns="0" bIns="0" rtlCol="0" anchor="t"/>
          <a:lstStyle/>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Doctors onboarded to</a:t>
            </a:r>
            <a:endParaRPr lang="en-US" sz="1100" dirty="0"/>
          </a:p>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LocumLah, a Malaysian</a:t>
            </a:r>
            <a:endParaRPr lang="en-US" sz="1100" dirty="0"/>
          </a:p>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locum platform</a:t>
            </a:r>
            <a:endParaRPr lang="en-US" sz="1100" dirty="0"/>
          </a:p>
        </p:txBody>
      </p:sp>
      <p:sp>
        <p:nvSpPr>
          <p:cNvPr id="11" name="Text"/>
          <p:cNvSpPr txBox="1"/>
          <p:nvPr/>
        </p:nvSpPr>
        <p:spPr>
          <a:xfrm>
            <a:off x="2946380" y="4644603"/>
            <a:ext cx="1542776" cy="711220"/>
          </a:xfrm>
          <a:prstGeom prst="rect">
            <a:avLst/>
          </a:prstGeom>
          <a:noFill/>
          <a:ln/>
        </p:spPr>
        <p:txBody>
          <a:bodyPr wrap="square" lIns="0" tIns="0" rIns="0" bIns="0" rtlCol="0" anchor="t"/>
          <a:lstStyle/>
          <a:p>
            <a:pPr algn="l" indent="0" marL="0">
              <a:lnSpc>
                <a:spcPts val="5600"/>
              </a:lnSpc>
              <a:buNone/>
            </a:pPr>
            <a:r>
              <a:rPr lang="en-US" sz="5600" spc="-112" kern="0" dirty="0">
                <a:solidFill>
                  <a:srgbClr val="FFFFFF"/>
                </a:solidFill>
                <a:latin typeface="Poppins Medium" pitchFamily="34" charset="0"/>
                <a:ea typeface="Poppins Medium" pitchFamily="34" charset="-122"/>
                <a:cs typeface="Poppins Medium" pitchFamily="34" charset="-120"/>
              </a:rPr>
              <a:t>600</a:t>
            </a:r>
            <a:endParaRPr lang="en-US" sz="5600" dirty="0"/>
          </a:p>
        </p:txBody>
      </p:sp>
      <p:sp>
        <p:nvSpPr>
          <p:cNvPr id="12" name="Text"/>
          <p:cNvSpPr txBox="1"/>
          <p:nvPr/>
        </p:nvSpPr>
        <p:spPr>
          <a:xfrm>
            <a:off x="2946380" y="5397520"/>
            <a:ext cx="1542776" cy="405171"/>
          </a:xfrm>
          <a:prstGeom prst="rect">
            <a:avLst/>
          </a:prstGeom>
          <a:noFill/>
          <a:ln/>
        </p:spPr>
        <p:txBody>
          <a:bodyPr wrap="square" lIns="0" tIns="0" rIns="0" bIns="0" rtlCol="0" anchor="t"/>
          <a:lstStyle/>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Clinics onboarded to LocumLah</a:t>
            </a:r>
            <a:endParaRPr lang="en-US" sz="1100" dirty="0"/>
          </a:p>
        </p:txBody>
      </p:sp>
      <p:sp>
        <p:nvSpPr>
          <p:cNvPr id="13" name="Text"/>
          <p:cNvSpPr txBox="1"/>
          <p:nvPr/>
        </p:nvSpPr>
        <p:spPr>
          <a:xfrm>
            <a:off x="4673590" y="4644603"/>
            <a:ext cx="2626614" cy="711220"/>
          </a:xfrm>
          <a:prstGeom prst="rect">
            <a:avLst/>
          </a:prstGeom>
          <a:noFill/>
          <a:ln/>
        </p:spPr>
        <p:txBody>
          <a:bodyPr wrap="square" lIns="0" tIns="0" rIns="0" bIns="0" rtlCol="0" anchor="t"/>
          <a:lstStyle/>
          <a:p>
            <a:pPr algn="l" indent="0" marL="0">
              <a:lnSpc>
                <a:spcPts val="5600"/>
              </a:lnSpc>
              <a:buNone/>
            </a:pPr>
            <a:r>
              <a:rPr lang="en-US" sz="5600" spc="-112" kern="0" dirty="0">
                <a:solidFill>
                  <a:srgbClr val="FFFFFF"/>
                </a:solidFill>
                <a:latin typeface="Poppins Medium" pitchFamily="34" charset="0"/>
                <a:ea typeface="Poppins Medium" pitchFamily="34" charset="-122"/>
                <a:cs typeface="Poppins Medium" pitchFamily="34" charset="-120"/>
              </a:rPr>
              <a:t>32,000</a:t>
            </a:r>
            <a:endParaRPr lang="en-US" sz="5600" dirty="0"/>
          </a:p>
        </p:txBody>
      </p:sp>
      <p:sp>
        <p:nvSpPr>
          <p:cNvPr id="14" name="Text"/>
          <p:cNvSpPr txBox="1"/>
          <p:nvPr/>
        </p:nvSpPr>
        <p:spPr>
          <a:xfrm>
            <a:off x="4673590" y="5397520"/>
            <a:ext cx="2733050" cy="607710"/>
          </a:xfrm>
          <a:prstGeom prst="rect">
            <a:avLst/>
          </a:prstGeom>
          <a:noFill/>
          <a:ln/>
        </p:spPr>
        <p:txBody>
          <a:bodyPr wrap="square" lIns="0" tIns="0" rIns="0" bIns="0" rtlCol="0" anchor="t"/>
          <a:lstStyle/>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Swipes on Politikus by</a:t>
            </a:r>
            <a:endParaRPr lang="en-US" sz="1100" dirty="0"/>
          </a:p>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Caprice, Malaysia’s first public</a:t>
            </a:r>
            <a:endParaRPr lang="en-US" sz="1100" dirty="0"/>
          </a:p>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predictions game</a:t>
            </a:r>
            <a:endParaRPr lang="en-US" sz="1100" dirty="0"/>
          </a:p>
        </p:txBody>
      </p:sp>
      <p:sp>
        <p:nvSpPr>
          <p:cNvPr id="15" name="Text"/>
          <p:cNvSpPr txBox="1"/>
          <p:nvPr/>
        </p:nvSpPr>
        <p:spPr>
          <a:xfrm>
            <a:off x="7480341" y="4644603"/>
            <a:ext cx="1918960" cy="711220"/>
          </a:xfrm>
          <a:prstGeom prst="rect">
            <a:avLst/>
          </a:prstGeom>
          <a:noFill/>
          <a:ln/>
        </p:spPr>
        <p:txBody>
          <a:bodyPr wrap="square" lIns="0" tIns="0" rIns="0" bIns="0" rtlCol="0" anchor="t"/>
          <a:lstStyle/>
          <a:p>
            <a:pPr algn="l" indent="0" marL="0">
              <a:lnSpc>
                <a:spcPts val="5600"/>
              </a:lnSpc>
              <a:buNone/>
            </a:pPr>
            <a:r>
              <a:rPr lang="en-US" sz="5600" spc="-112" kern="0" dirty="0">
                <a:solidFill>
                  <a:srgbClr val="FFFFFF"/>
                </a:solidFill>
                <a:latin typeface="Poppins Medium" pitchFamily="34" charset="0"/>
                <a:ea typeface="Poppins Medium" pitchFamily="34" charset="-122"/>
                <a:cs typeface="Poppins Medium" pitchFamily="34" charset="-120"/>
              </a:rPr>
              <a:t>90</a:t>
            </a:r>
            <a:pPr algn="l" indent="0" marL="0">
              <a:lnSpc>
                <a:spcPts val="5600"/>
              </a:lnSpc>
              <a:buNone/>
            </a:pPr>
            <a:r>
              <a:rPr lang="en-US" sz="2800" dirty="0">
                <a:solidFill>
                  <a:srgbClr val="FFFFFF"/>
                </a:solidFill>
                <a:latin typeface="Poppins Medium" pitchFamily="34" charset="0"/>
                <a:ea typeface="Poppins Medium" pitchFamily="34" charset="-122"/>
                <a:cs typeface="Poppins Medium" pitchFamily="34" charset="-120"/>
              </a:rPr>
              <a:t>+</a:t>
            </a:r>
            <a:endParaRPr lang="en-US" sz="5600" dirty="0"/>
          </a:p>
        </p:txBody>
      </p:sp>
      <p:sp>
        <p:nvSpPr>
          <p:cNvPr id="16" name="Text"/>
          <p:cNvSpPr txBox="1"/>
          <p:nvPr/>
        </p:nvSpPr>
        <p:spPr>
          <a:xfrm>
            <a:off x="7480341" y="5397520"/>
            <a:ext cx="1999976" cy="607710"/>
          </a:xfrm>
          <a:prstGeom prst="rect">
            <a:avLst/>
          </a:prstGeom>
          <a:noFill/>
          <a:ln/>
        </p:spPr>
        <p:txBody>
          <a:bodyPr wrap="square" lIns="0" tIns="0" rIns="0" bIns="0" rtlCol="0" anchor="t"/>
          <a:lstStyle/>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Third-party portal</a:t>
            </a:r>
            <a:endParaRPr lang="en-US" sz="1100" dirty="0"/>
          </a:p>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automations for one</a:t>
            </a:r>
            <a:endParaRPr lang="en-US" sz="1100" dirty="0"/>
          </a:p>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law firm</a:t>
            </a:r>
            <a:endParaRPr lang="en-US" sz="1100" dirty="0"/>
          </a:p>
        </p:txBody>
      </p:sp>
      <p:sp>
        <p:nvSpPr>
          <p:cNvPr id="17" name="Text"/>
          <p:cNvSpPr txBox="1"/>
          <p:nvPr/>
        </p:nvSpPr>
        <p:spPr>
          <a:xfrm>
            <a:off x="9582180" y="4644603"/>
            <a:ext cx="1918960" cy="711220"/>
          </a:xfrm>
          <a:prstGeom prst="rect">
            <a:avLst/>
          </a:prstGeom>
          <a:noFill/>
          <a:ln/>
        </p:spPr>
        <p:txBody>
          <a:bodyPr wrap="square" lIns="0" tIns="0" rIns="0" bIns="0" rtlCol="0" anchor="t"/>
          <a:lstStyle/>
          <a:p>
            <a:pPr algn="l" indent="0" marL="0">
              <a:lnSpc>
                <a:spcPts val="5600"/>
              </a:lnSpc>
              <a:buNone/>
            </a:pPr>
            <a:r>
              <a:rPr lang="en-US" sz="5600" spc="-112" kern="0" dirty="0">
                <a:solidFill>
                  <a:srgbClr val="FFFFFF"/>
                </a:solidFill>
                <a:latin typeface="Poppins Medium" pitchFamily="34" charset="0"/>
                <a:ea typeface="Poppins Medium" pitchFamily="34" charset="-122"/>
                <a:cs typeface="Poppins Medium" pitchFamily="34" charset="-120"/>
              </a:rPr>
              <a:t>80</a:t>
            </a:r>
            <a:pPr algn="l" indent="0" marL="0">
              <a:lnSpc>
                <a:spcPts val="5600"/>
              </a:lnSpc>
              <a:buNone/>
            </a:pPr>
            <a:r>
              <a:rPr lang="en-US" sz="2800" dirty="0">
                <a:solidFill>
                  <a:srgbClr val="FFFFFF"/>
                </a:solidFill>
                <a:latin typeface="Poppins Medium" pitchFamily="34" charset="0"/>
                <a:ea typeface="Poppins Medium" pitchFamily="34" charset="-122"/>
                <a:cs typeface="Poppins Medium" pitchFamily="34" charset="-120"/>
              </a:rPr>
              <a:t>%</a:t>
            </a:r>
            <a:endParaRPr lang="en-US" sz="5600" dirty="0"/>
          </a:p>
        </p:txBody>
      </p:sp>
      <p:sp>
        <p:nvSpPr>
          <p:cNvPr id="18" name="Text"/>
          <p:cNvSpPr txBox="1"/>
          <p:nvPr/>
        </p:nvSpPr>
        <p:spPr>
          <a:xfrm>
            <a:off x="9582180" y="5397520"/>
            <a:ext cx="1918960" cy="607710"/>
          </a:xfrm>
          <a:prstGeom prst="rect">
            <a:avLst/>
          </a:prstGeom>
          <a:noFill/>
          <a:ln/>
        </p:spPr>
        <p:txBody>
          <a:bodyPr wrap="square" lIns="0" tIns="0" rIns="0" bIns="0" rtlCol="0" anchor="t"/>
          <a:lstStyle/>
          <a:p>
            <a:pPr algn="l" indent="0" marL="0">
              <a:lnSpc>
                <a:spcPts val="1595"/>
              </a:lnSpc>
              <a:buNone/>
            </a:pPr>
            <a:r>
              <a:rPr lang="en-US" sz="1100" dirty="0">
                <a:solidFill>
                  <a:srgbClr val="C0D2F6"/>
                </a:solidFill>
                <a:latin typeface="Poppins Light" pitchFamily="34" charset="0"/>
                <a:ea typeface="Poppins Light" pitchFamily="34" charset="-122"/>
                <a:cs typeface="Poppins Light" pitchFamily="34" charset="-120"/>
              </a:rPr>
              <a:t>Less manual data entry time for a Singapore hospitality group</a:t>
            </a:r>
            <a:endParaRPr lang="en-US" sz="1100" dirty="0"/>
          </a:p>
        </p:txBody>
      </p:sp>
      <p:sp>
        <p:nvSpPr>
          <p:cNvPr id="19"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C0D2F6"/>
                </a:solidFill>
                <a:latin typeface="Poppins" pitchFamily="34" charset="0"/>
                <a:ea typeface="Poppins" pitchFamily="34" charset="-122"/>
                <a:cs typeface="Poppins" pitchFamily="34" charset="-120"/>
              </a:rPr>
              <a:t>Source: alphv.com/services/web-and-mobile-apps; alphv.com/insights/sovereign-ai-case-management-law-firm; alphv.com/insights/whatsapp-ai-</a:t>
            </a:r>
            <a:endParaRPr lang="en-US" sz="850" dirty="0"/>
          </a:p>
          <a:p>
            <a:pPr algn="l" indent="0" marL="0">
              <a:lnSpc>
                <a:spcPts val="1190"/>
              </a:lnSpc>
              <a:buNone/>
            </a:pPr>
            <a:r>
              <a:rPr lang="en-US" sz="850" dirty="0">
                <a:solidFill>
                  <a:srgbClr val="C0D2F6"/>
                </a:solidFill>
                <a:latin typeface="Poppins" pitchFamily="34" charset="0"/>
                <a:ea typeface="Poppins" pitchFamily="34" charset="-122"/>
                <a:cs typeface="Poppins" pitchFamily="34" charset="-120"/>
              </a:rPr>
              <a:t>crm-singapore-hospitality (October 2026). Note: 80% is the result reported for one client.</a:t>
            </a:r>
            <a:endParaRPr lang="en-US" sz="850" dirty="0"/>
          </a:p>
        </p:txBody>
      </p:sp>
      <p:sp>
        <p:nvSpPr>
          <p:cNvPr id="20" name="Text"/>
          <p:cNvSpPr txBox="1"/>
          <p:nvPr/>
        </p:nvSpPr>
        <p:spPr>
          <a:xfrm>
            <a:off x="9350472"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FFFFFF"/>
                </a:solidFill>
                <a:latin typeface="Poppins SemiBold" pitchFamily="34" charset="0"/>
                <a:ea typeface="Poppins SemiBold" pitchFamily="34" charset="-122"/>
                <a:cs typeface="Poppins SemiBold" pitchFamily="34" charset="-120"/>
              </a:rPr>
              <a:t>ALPHV</a:t>
            </a:r>
            <a:endParaRPr lang="en-US" sz="850" dirty="0"/>
          </a:p>
        </p:txBody>
      </p:sp>
      <p:sp>
        <p:nvSpPr>
          <p:cNvPr id="21" name="Text"/>
          <p:cNvSpPr txBox="1"/>
          <p:nvPr/>
        </p:nvSpPr>
        <p:spPr>
          <a:xfrm>
            <a:off x="9858512"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C0D2F6"/>
                </a:solidFill>
                <a:latin typeface="Poppins" pitchFamily="34" charset="0"/>
                <a:ea typeface="Poppins" pitchFamily="34" charset="-122"/>
                <a:cs typeface="Poppins" pitchFamily="34" charset="-120"/>
              </a:rPr>
              <a:t>Corporate overview 2026</a:t>
            </a:r>
            <a:endParaRPr lang="en-US" sz="850" dirty="0"/>
          </a:p>
        </p:txBody>
      </p:sp>
      <p:sp>
        <p:nvSpPr>
          <p:cNvPr id="22" name="Text"/>
          <p:cNvSpPr txBox="1"/>
          <p:nvPr/>
        </p:nvSpPr>
        <p:spPr>
          <a:xfrm>
            <a:off x="11349899" y="6401532"/>
            <a:ext cx="156271" cy="151150"/>
          </a:xfrm>
          <a:prstGeom prst="rect">
            <a:avLst/>
          </a:prstGeom>
          <a:noFill/>
          <a:ln/>
        </p:spPr>
        <p:txBody>
          <a:bodyPr wrap="none" lIns="0" tIns="0" rIns="0" bIns="0" rtlCol="0" anchor="t"/>
          <a:lstStyle/>
          <a:p>
            <a:pPr algn="l" indent="0" marL="0">
              <a:lnSpc>
                <a:spcPts val="1190"/>
              </a:lnSpc>
              <a:buNone/>
            </a:pPr>
            <a:r>
              <a:rPr lang="en-US" sz="850" dirty="0">
                <a:solidFill>
                  <a:srgbClr val="FFFFFF"/>
                </a:solidFill>
                <a:latin typeface="Poppins Medium" pitchFamily="34" charset="0"/>
                <a:ea typeface="Poppins Medium" pitchFamily="34" charset="-122"/>
                <a:cs typeface="Poppins Medium"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687903" cy="254020"/>
          </a:xfrm>
          <a:prstGeom prst="roundRect">
            <a:avLst>
              <a:gd name="adj" fmla="val 50000"/>
            </a:avLst>
          </a:prstGeom>
          <a:ln w="6350">
            <a:solidFill>
              <a:srgbClr val="155DFC"/>
            </a:solidFill>
            <a:prstDash val="solid"/>
          </a:ln>
        </p:spPr>
      </p:sp>
      <p:sp>
        <p:nvSpPr>
          <p:cNvPr id="3" name="logo-cell"/>
          <p:cNvSpPr/>
          <p:nvPr/>
        </p:nvSpPr>
        <p:spPr>
          <a:xfrm>
            <a:off x="714421" y="2077060"/>
            <a:ext cx="2066270" cy="806409"/>
          </a:xfrm>
          <a:prstGeom prst="roundRect">
            <a:avLst>
              <a:gd name="adj" fmla="val 12201"/>
            </a:avLst>
          </a:prstGeom>
          <a:solidFill>
            <a:srgbClr val="FFFFFF"/>
          </a:solidFill>
          <a:ln w="6350">
            <a:solidFill>
              <a:srgbClr val="F0F0F0"/>
            </a:solidFill>
            <a:prstDash val="solid"/>
          </a:ln>
        </p:spPr>
      </p:sp>
      <p:pic>
        <p:nvPicPr>
          <p:cNvPr id="4" name="Picture" descr="Fundaztic">    </p:cNvPr>
          <p:cNvPicPr>
            <a:picLocks noChangeAspect="1"/>
          </p:cNvPicPr>
          <p:nvPr/>
        </p:nvPicPr>
        <p:blipFill>
          <a:blip r:embed="rId1"/>
          <a:stretch>
            <a:fillRect/>
          </a:stretch>
        </p:blipFill>
        <p:spPr>
          <a:xfrm>
            <a:off x="1257300" y="2321570"/>
            <a:ext cx="980420" cy="317480"/>
          </a:xfrm>
          <a:prstGeom prst="rect">
            <a:avLst/>
          </a:prstGeom>
        </p:spPr>
      </p:pic>
      <p:sp>
        <p:nvSpPr>
          <p:cNvPr id="5" name="logo-cell"/>
          <p:cNvSpPr/>
          <p:nvPr/>
        </p:nvSpPr>
        <p:spPr>
          <a:xfrm>
            <a:off x="2888590" y="2077060"/>
            <a:ext cx="2066361" cy="806409"/>
          </a:xfrm>
          <a:prstGeom prst="roundRect">
            <a:avLst>
              <a:gd name="adj" fmla="val 12201"/>
            </a:avLst>
          </a:prstGeom>
          <a:solidFill>
            <a:srgbClr val="FFFFFF"/>
          </a:solidFill>
          <a:ln w="6350">
            <a:solidFill>
              <a:srgbClr val="F0F0F0"/>
            </a:solidFill>
            <a:prstDash val="solid"/>
          </a:ln>
        </p:spPr>
      </p:sp>
      <p:pic>
        <p:nvPicPr>
          <p:cNvPr id="6" name="Picture" descr="iPajak Group">    </p:cNvPr>
          <p:cNvPicPr>
            <a:picLocks noChangeAspect="1"/>
          </p:cNvPicPr>
          <p:nvPr/>
        </p:nvPicPr>
        <p:blipFill>
          <a:blip r:embed="rId2"/>
          <a:stretch>
            <a:fillRect/>
          </a:stretch>
        </p:blipFill>
        <p:spPr>
          <a:xfrm>
            <a:off x="3374410" y="2346899"/>
            <a:ext cx="1094537" cy="266730"/>
          </a:xfrm>
          <a:prstGeom prst="rect">
            <a:avLst/>
          </a:prstGeom>
        </p:spPr>
      </p:pic>
      <p:sp>
        <p:nvSpPr>
          <p:cNvPr id="7" name="logo-cell"/>
          <p:cNvSpPr/>
          <p:nvPr/>
        </p:nvSpPr>
        <p:spPr>
          <a:xfrm>
            <a:off x="5062850" y="2077060"/>
            <a:ext cx="2066270" cy="806409"/>
          </a:xfrm>
          <a:prstGeom prst="roundRect">
            <a:avLst>
              <a:gd name="adj" fmla="val 12201"/>
            </a:avLst>
          </a:prstGeom>
          <a:solidFill>
            <a:srgbClr val="FFFFFF"/>
          </a:solidFill>
          <a:ln w="6350">
            <a:solidFill>
              <a:srgbClr val="F0F0F0"/>
            </a:solidFill>
            <a:prstDash val="solid"/>
          </a:ln>
        </p:spPr>
      </p:sp>
      <p:pic>
        <p:nvPicPr>
          <p:cNvPr id="8" name="Picture" descr="Abraham Ooi &amp; Partners">    </p:cNvPr>
          <p:cNvPicPr>
            <a:picLocks noChangeAspect="1"/>
          </p:cNvPicPr>
          <p:nvPr/>
        </p:nvPicPr>
        <p:blipFill>
          <a:blip r:embed="rId3"/>
          <a:stretch>
            <a:fillRect/>
          </a:stretch>
        </p:blipFill>
        <p:spPr>
          <a:xfrm>
            <a:off x="5867339" y="2251710"/>
            <a:ext cx="457200" cy="457200"/>
          </a:xfrm>
          <a:prstGeom prst="roundRect">
            <a:avLst>
              <a:gd name="adj" fmla="val 13889"/>
            </a:avLst>
          </a:prstGeom>
        </p:spPr>
      </p:pic>
      <p:sp>
        <p:nvSpPr>
          <p:cNvPr id="9" name="logo-cell"/>
          <p:cNvSpPr/>
          <p:nvPr/>
        </p:nvSpPr>
        <p:spPr>
          <a:xfrm>
            <a:off x="7237019" y="2077060"/>
            <a:ext cx="2066361" cy="806409"/>
          </a:xfrm>
          <a:prstGeom prst="roundRect">
            <a:avLst>
              <a:gd name="adj" fmla="val 12201"/>
            </a:avLst>
          </a:prstGeom>
          <a:solidFill>
            <a:srgbClr val="FFFFFF"/>
          </a:solidFill>
          <a:ln w="6350">
            <a:solidFill>
              <a:srgbClr val="F0F0F0"/>
            </a:solidFill>
            <a:prstDash val="solid"/>
          </a:ln>
        </p:spPr>
      </p:sp>
      <p:pic>
        <p:nvPicPr>
          <p:cNvPr id="10" name="Picture" descr="Tasco Insurance">    </p:cNvPr>
          <p:cNvPicPr>
            <a:picLocks noChangeAspect="1"/>
          </p:cNvPicPr>
          <p:nvPr/>
        </p:nvPicPr>
        <p:blipFill>
          <a:blip r:embed="rId4"/>
          <a:stretch>
            <a:fillRect/>
          </a:stretch>
        </p:blipFill>
        <p:spPr>
          <a:xfrm>
            <a:off x="7710861" y="2346899"/>
            <a:ext cx="1118586" cy="266639"/>
          </a:xfrm>
          <a:prstGeom prst="rect">
            <a:avLst/>
          </a:prstGeom>
        </p:spPr>
      </p:pic>
      <p:sp>
        <p:nvSpPr>
          <p:cNvPr id="11" name="logo-cell"/>
          <p:cNvSpPr/>
          <p:nvPr/>
        </p:nvSpPr>
        <p:spPr>
          <a:xfrm>
            <a:off x="9411279" y="2077060"/>
            <a:ext cx="2066270" cy="806409"/>
          </a:xfrm>
          <a:prstGeom prst="roundRect">
            <a:avLst>
              <a:gd name="adj" fmla="val 12201"/>
            </a:avLst>
          </a:prstGeom>
          <a:solidFill>
            <a:srgbClr val="FFFFFF"/>
          </a:solidFill>
          <a:ln w="6350">
            <a:solidFill>
              <a:srgbClr val="F0F0F0"/>
            </a:solidFill>
            <a:prstDash val="solid"/>
          </a:ln>
        </p:spPr>
      </p:sp>
      <p:pic>
        <p:nvPicPr>
          <p:cNvPr id="12" name="Picture" descr="PowerDNA">    </p:cNvPr>
          <p:cNvPicPr>
            <a:picLocks noChangeAspect="1"/>
          </p:cNvPicPr>
          <p:nvPr/>
        </p:nvPicPr>
        <p:blipFill>
          <a:blip r:embed="rId5"/>
          <a:stretch>
            <a:fillRect/>
          </a:stretch>
        </p:blipFill>
        <p:spPr>
          <a:xfrm>
            <a:off x="9876526" y="2302459"/>
            <a:ext cx="1135776" cy="355610"/>
          </a:xfrm>
          <a:prstGeom prst="rect">
            <a:avLst/>
          </a:prstGeom>
        </p:spPr>
      </p:pic>
      <p:sp>
        <p:nvSpPr>
          <p:cNvPr id="13" name="logo-cell"/>
          <p:cNvSpPr/>
          <p:nvPr/>
        </p:nvSpPr>
        <p:spPr>
          <a:xfrm>
            <a:off x="714421" y="2991460"/>
            <a:ext cx="2066270" cy="806409"/>
          </a:xfrm>
          <a:prstGeom prst="roundRect">
            <a:avLst>
              <a:gd name="adj" fmla="val 12201"/>
            </a:avLst>
          </a:prstGeom>
          <a:solidFill>
            <a:srgbClr val="FFFFFF"/>
          </a:solidFill>
          <a:ln w="6350">
            <a:solidFill>
              <a:srgbClr val="F0F0F0"/>
            </a:solidFill>
            <a:prstDash val="solid"/>
          </a:ln>
        </p:spPr>
      </p:sp>
      <p:pic>
        <p:nvPicPr>
          <p:cNvPr id="14" name="Picture" descr="EasyRenz">    </p:cNvPr>
          <p:cNvPicPr>
            <a:picLocks noChangeAspect="1"/>
          </p:cNvPicPr>
          <p:nvPr/>
        </p:nvPicPr>
        <p:blipFill>
          <a:blip r:embed="rId6"/>
          <a:stretch>
            <a:fillRect/>
          </a:stretch>
        </p:blipFill>
        <p:spPr>
          <a:xfrm>
            <a:off x="1442375" y="3166110"/>
            <a:ext cx="610271" cy="457109"/>
          </a:xfrm>
          <a:prstGeom prst="rect">
            <a:avLst/>
          </a:prstGeom>
        </p:spPr>
      </p:pic>
      <p:sp>
        <p:nvSpPr>
          <p:cNvPr id="15" name="logo-cell"/>
          <p:cNvSpPr/>
          <p:nvPr/>
        </p:nvSpPr>
        <p:spPr>
          <a:xfrm>
            <a:off x="2888590" y="2991460"/>
            <a:ext cx="2066361" cy="806409"/>
          </a:xfrm>
          <a:prstGeom prst="roundRect">
            <a:avLst>
              <a:gd name="adj" fmla="val 12201"/>
            </a:avLst>
          </a:prstGeom>
          <a:solidFill>
            <a:srgbClr val="FFFFFF"/>
          </a:solidFill>
          <a:ln w="6350">
            <a:solidFill>
              <a:srgbClr val="F0F0F0"/>
            </a:solidFill>
            <a:prstDash val="solid"/>
          </a:ln>
        </p:spPr>
      </p:sp>
      <p:pic>
        <p:nvPicPr>
          <p:cNvPr id="16" name="Picture" descr="Carlsberg">    </p:cNvPr>
          <p:cNvPicPr>
            <a:picLocks noChangeAspect="1"/>
          </p:cNvPicPr>
          <p:nvPr/>
        </p:nvPicPr>
        <p:blipFill>
          <a:blip r:embed="rId7"/>
          <a:stretch>
            <a:fillRect/>
          </a:stretch>
        </p:blipFill>
        <p:spPr>
          <a:xfrm>
            <a:off x="3486241" y="3216859"/>
            <a:ext cx="870875" cy="355610"/>
          </a:xfrm>
          <a:prstGeom prst="rect">
            <a:avLst/>
          </a:prstGeom>
        </p:spPr>
      </p:pic>
      <p:sp>
        <p:nvSpPr>
          <p:cNvPr id="17" name="logo-cell"/>
          <p:cNvSpPr/>
          <p:nvPr/>
        </p:nvSpPr>
        <p:spPr>
          <a:xfrm>
            <a:off x="5062850" y="2991460"/>
            <a:ext cx="2066270" cy="806409"/>
          </a:xfrm>
          <a:prstGeom prst="roundRect">
            <a:avLst>
              <a:gd name="adj" fmla="val 12201"/>
            </a:avLst>
          </a:prstGeom>
          <a:solidFill>
            <a:srgbClr val="FFFFFF"/>
          </a:solidFill>
          <a:ln w="6350">
            <a:solidFill>
              <a:srgbClr val="F0F0F0"/>
            </a:solidFill>
            <a:prstDash val="solid"/>
          </a:ln>
        </p:spPr>
      </p:sp>
      <p:pic>
        <p:nvPicPr>
          <p:cNvPr id="18" name="Picture" descr="Mudah Healthcare">    </p:cNvPr>
          <p:cNvPicPr>
            <a:picLocks noChangeAspect="1"/>
          </p:cNvPicPr>
          <p:nvPr/>
        </p:nvPicPr>
        <p:blipFill>
          <a:blip r:embed="rId8"/>
          <a:stretch>
            <a:fillRect/>
          </a:stretch>
        </p:blipFill>
        <p:spPr>
          <a:xfrm>
            <a:off x="5577566" y="3248589"/>
            <a:ext cx="1036747" cy="292059"/>
          </a:xfrm>
          <a:prstGeom prst="rect">
            <a:avLst/>
          </a:prstGeom>
        </p:spPr>
      </p:pic>
      <p:sp>
        <p:nvSpPr>
          <p:cNvPr id="19" name="logo-cell"/>
          <p:cNvSpPr/>
          <p:nvPr/>
        </p:nvSpPr>
        <p:spPr>
          <a:xfrm>
            <a:off x="7237019" y="2991460"/>
            <a:ext cx="2066361" cy="806409"/>
          </a:xfrm>
          <a:prstGeom prst="roundRect">
            <a:avLst>
              <a:gd name="adj" fmla="val 12201"/>
            </a:avLst>
          </a:prstGeom>
          <a:solidFill>
            <a:srgbClr val="FFFFFF"/>
          </a:solidFill>
          <a:ln w="6350">
            <a:solidFill>
              <a:srgbClr val="F0F0F0"/>
            </a:solidFill>
            <a:prstDash val="solid"/>
          </a:ln>
        </p:spPr>
      </p:sp>
      <p:pic>
        <p:nvPicPr>
          <p:cNvPr id="20" name="Picture" descr="Borong">    </p:cNvPr>
          <p:cNvPicPr>
            <a:picLocks noChangeAspect="1"/>
          </p:cNvPicPr>
          <p:nvPr/>
        </p:nvPicPr>
        <p:blipFill>
          <a:blip r:embed="rId9"/>
          <a:stretch>
            <a:fillRect/>
          </a:stretch>
        </p:blipFill>
        <p:spPr>
          <a:xfrm>
            <a:off x="7862743" y="3210550"/>
            <a:ext cx="814822" cy="368320"/>
          </a:xfrm>
          <a:prstGeom prst="rect">
            <a:avLst/>
          </a:prstGeom>
        </p:spPr>
      </p:pic>
      <p:sp>
        <p:nvSpPr>
          <p:cNvPr id="21" name="logo-cell"/>
          <p:cNvSpPr/>
          <p:nvPr/>
        </p:nvSpPr>
        <p:spPr>
          <a:xfrm>
            <a:off x="9411279" y="2991460"/>
            <a:ext cx="2066270" cy="806409"/>
          </a:xfrm>
          <a:prstGeom prst="roundRect">
            <a:avLst>
              <a:gd name="adj" fmla="val 12201"/>
            </a:avLst>
          </a:prstGeom>
          <a:solidFill>
            <a:srgbClr val="FFFFFF"/>
          </a:solidFill>
          <a:ln w="6350">
            <a:solidFill>
              <a:srgbClr val="F0F0F0"/>
            </a:solidFill>
            <a:prstDash val="solid"/>
          </a:ln>
        </p:spPr>
      </p:sp>
      <p:pic>
        <p:nvPicPr>
          <p:cNvPr id="22" name="Picture" descr="LocumLah">    </p:cNvPr>
          <p:cNvPicPr>
            <a:picLocks noChangeAspect="1"/>
          </p:cNvPicPr>
          <p:nvPr/>
        </p:nvPicPr>
        <p:blipFill>
          <a:blip r:embed="rId10"/>
          <a:stretch>
            <a:fillRect/>
          </a:stretch>
        </p:blipFill>
        <p:spPr>
          <a:xfrm>
            <a:off x="9867930" y="3308939"/>
            <a:ext cx="1153058" cy="171450"/>
          </a:xfrm>
          <a:prstGeom prst="rect">
            <a:avLst/>
          </a:prstGeom>
        </p:spPr>
      </p:pic>
      <p:sp>
        <p:nvSpPr>
          <p:cNvPr id="23" name="Rule"/>
          <p:cNvSpPr/>
          <p:nvPr/>
        </p:nvSpPr>
        <p:spPr>
          <a:xfrm>
            <a:off x="711220" y="4414449"/>
            <a:ext cx="10769620" cy="0"/>
          </a:xfrm>
          <a:prstGeom prst="line">
            <a:avLst/>
          </a:prstGeom>
          <a:noFill/>
          <a:ln w="12700">
            <a:solidFill>
              <a:srgbClr val="044BD9"/>
            </a:solidFill>
            <a:prstDash val="solid"/>
          </a:ln>
        </p:spPr>
      </p:sp>
      <p:sp>
        <p:nvSpPr>
          <p:cNvPr id="24" name="span::before"/>
          <p:cNvSpPr/>
          <p:nvPr/>
        </p:nvSpPr>
        <p:spPr>
          <a:xfrm>
            <a:off x="6191860" y="311170"/>
            <a:ext cx="44440" cy="44440"/>
          </a:xfrm>
          <a:prstGeom prst="rect">
            <a:avLst/>
          </a:prstGeom>
          <a:solidFill>
            <a:srgbClr val="A0A6AF">
              <a:alpha val="55000"/>
            </a:srgbClr>
          </a:solidFill>
          <a:ln/>
        </p:spPr>
      </p:sp>
      <p:sp>
        <p:nvSpPr>
          <p:cNvPr id="25" name="span::before"/>
          <p:cNvSpPr/>
          <p:nvPr/>
        </p:nvSpPr>
        <p:spPr>
          <a:xfrm>
            <a:off x="7145213" y="311170"/>
            <a:ext cx="44440" cy="44440"/>
          </a:xfrm>
          <a:prstGeom prst="rect">
            <a:avLst/>
          </a:prstGeom>
          <a:solidFill>
            <a:srgbClr val="A0A6AF">
              <a:alpha val="55000"/>
            </a:srgbClr>
          </a:solidFill>
          <a:ln/>
        </p:spPr>
      </p:sp>
      <p:sp>
        <p:nvSpPr>
          <p:cNvPr id="26" name="span::before"/>
          <p:cNvSpPr/>
          <p:nvPr/>
        </p:nvSpPr>
        <p:spPr>
          <a:xfrm>
            <a:off x="8056230" y="311170"/>
            <a:ext cx="44440" cy="44440"/>
          </a:xfrm>
          <a:prstGeom prst="rect">
            <a:avLst/>
          </a:prstGeom>
          <a:solidFill>
            <a:srgbClr val="A0A6AF">
              <a:alpha val="55000"/>
            </a:srgbClr>
          </a:solidFill>
          <a:ln/>
        </p:spPr>
      </p:sp>
      <p:sp>
        <p:nvSpPr>
          <p:cNvPr id="27" name="span::before"/>
          <p:cNvSpPr/>
          <p:nvPr/>
        </p:nvSpPr>
        <p:spPr>
          <a:xfrm>
            <a:off x="8972550" y="311170"/>
            <a:ext cx="44440" cy="44440"/>
          </a:xfrm>
          <a:prstGeom prst="rect">
            <a:avLst/>
          </a:prstGeom>
          <a:solidFill>
            <a:srgbClr val="A0A6AF">
              <a:alpha val="55000"/>
            </a:srgbClr>
          </a:solidFill>
          <a:ln/>
        </p:spPr>
      </p:sp>
      <p:sp>
        <p:nvSpPr>
          <p:cNvPr id="28" name="on::before"/>
          <p:cNvSpPr/>
          <p:nvPr/>
        </p:nvSpPr>
        <p:spPr>
          <a:xfrm>
            <a:off x="10421142" y="311170"/>
            <a:ext cx="44440" cy="44440"/>
          </a:xfrm>
          <a:prstGeom prst="rect">
            <a:avLst/>
          </a:prstGeom>
          <a:solidFill>
            <a:srgbClr val="044BD9"/>
          </a:solidFill>
          <a:ln/>
        </p:spPr>
      </p:sp>
      <p:sp>
        <p:nvSpPr>
          <p:cNvPr id="29" name="span::before"/>
          <p:cNvSpPr/>
          <p:nvPr/>
        </p:nvSpPr>
        <p:spPr>
          <a:xfrm>
            <a:off x="10966216" y="311170"/>
            <a:ext cx="44440" cy="44440"/>
          </a:xfrm>
          <a:prstGeom prst="rect">
            <a:avLst/>
          </a:prstGeom>
          <a:solidFill>
            <a:srgbClr val="A0A6AF">
              <a:alpha val="55000"/>
            </a:srgbClr>
          </a:solidFill>
          <a:ln/>
        </p:spPr>
      </p:sp>
      <p:sp>
        <p:nvSpPr>
          <p:cNvPr id="30" name="Text"/>
          <p:cNvSpPr txBox="1"/>
          <p:nvPr/>
        </p:nvSpPr>
        <p:spPr>
          <a:xfrm>
            <a:off x="844540" y="609265"/>
            <a:ext cx="452902"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Clients</a:t>
            </a:r>
            <a:endParaRPr lang="en-US" sz="950" dirty="0"/>
          </a:p>
        </p:txBody>
      </p:sp>
      <p:sp>
        <p:nvSpPr>
          <p:cNvPr id="31"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Teams across Malaysia, Singapore</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and Vietnam trust ALPHV</a:t>
            </a:r>
            <a:endParaRPr lang="en-US" sz="3000" dirty="0"/>
          </a:p>
        </p:txBody>
      </p:sp>
      <p:sp>
        <p:nvSpPr>
          <p:cNvPr id="32" name="Text"/>
          <p:cNvSpPr txBox="1"/>
          <p:nvPr/>
        </p:nvSpPr>
        <p:spPr>
          <a:xfrm>
            <a:off x="711220" y="4627961"/>
            <a:ext cx="7976586" cy="1370594"/>
          </a:xfrm>
          <a:prstGeom prst="rect">
            <a:avLst/>
          </a:prstGeom>
          <a:noFill/>
          <a:ln/>
        </p:spPr>
        <p:txBody>
          <a:bodyPr wrap="square" lIns="0" tIns="0" rIns="0" bIns="0" rtlCol="0" anchor="t"/>
          <a:lstStyle/>
          <a:p>
            <a:pPr algn="l" indent="0" marL="0">
              <a:lnSpc>
                <a:spcPts val="2698"/>
              </a:lnSpc>
              <a:buNone/>
            </a:pPr>
            <a:r>
              <a:rPr lang="en-US" sz="1900" spc="-10" kern="0" dirty="0">
                <a:solidFill>
                  <a:srgbClr val="000000"/>
                </a:solidFill>
                <a:latin typeface="Poppins Light" pitchFamily="34" charset="0"/>
                <a:ea typeface="Poppins Light" pitchFamily="34" charset="-122"/>
                <a:cs typeface="Poppins Light" pitchFamily="34" charset="-120"/>
              </a:rPr>
              <a:t>“Our objectives and requirements are well captured and built</a:t>
            </a:r>
            <a:endParaRPr lang="en-US" sz="1900" dirty="0"/>
          </a:p>
          <a:p>
            <a:pPr algn="l" indent="0" marL="0">
              <a:lnSpc>
                <a:spcPts val="2698"/>
              </a:lnSpc>
              <a:buNone/>
            </a:pPr>
            <a:r>
              <a:rPr lang="en-US" sz="1900" spc="-10" kern="0" dirty="0">
                <a:solidFill>
                  <a:srgbClr val="000000"/>
                </a:solidFill>
                <a:latin typeface="Poppins Light" pitchFamily="34" charset="0"/>
                <a:ea typeface="Poppins Light" pitchFamily="34" charset="-122"/>
                <a:cs typeface="Poppins Light" pitchFamily="34" charset="-120"/>
              </a:rPr>
              <a:t>into solving our problems, incorporating advanced technologies</a:t>
            </a:r>
            <a:endParaRPr lang="en-US" sz="1900" dirty="0"/>
          </a:p>
          <a:p>
            <a:pPr algn="l" indent="0" marL="0">
              <a:lnSpc>
                <a:spcPts val="2698"/>
              </a:lnSpc>
              <a:buNone/>
            </a:pPr>
            <a:r>
              <a:rPr lang="en-US" sz="1900" spc="-10" kern="0" dirty="0">
                <a:solidFill>
                  <a:srgbClr val="000000"/>
                </a:solidFill>
                <a:latin typeface="Poppins Light" pitchFamily="34" charset="0"/>
                <a:ea typeface="Poppins Light" pitchFamily="34" charset="-122"/>
                <a:cs typeface="Poppins Light" pitchFamily="34" charset="-120"/>
              </a:rPr>
              <a:t>like AI. ALPHV has good people and is easy to work with</a:t>
            </a:r>
            <a:endParaRPr lang="en-US" sz="1900" dirty="0"/>
          </a:p>
          <a:p>
            <a:pPr algn="l" indent="0" marL="0">
              <a:lnSpc>
                <a:spcPts val="2698"/>
              </a:lnSpc>
              <a:buNone/>
            </a:pPr>
            <a:r>
              <a:rPr lang="en-US" sz="1900" spc="-10" kern="0" dirty="0">
                <a:solidFill>
                  <a:srgbClr val="000000"/>
                </a:solidFill>
                <a:latin typeface="Poppins Light" pitchFamily="34" charset="0"/>
                <a:ea typeface="Poppins Light" pitchFamily="34" charset="-122"/>
                <a:cs typeface="Poppins Light" pitchFamily="34" charset="-120"/>
              </a:rPr>
              <a:t>compared to other tech vendors.”</a:t>
            </a:r>
            <a:endParaRPr lang="en-US" sz="1900" dirty="0"/>
          </a:p>
        </p:txBody>
      </p:sp>
      <p:sp>
        <p:nvSpPr>
          <p:cNvPr id="33" name="Text"/>
          <p:cNvSpPr txBox="1"/>
          <p:nvPr/>
        </p:nvSpPr>
        <p:spPr>
          <a:xfrm>
            <a:off x="8813810" y="5075194"/>
            <a:ext cx="2690348" cy="226405"/>
          </a:xfrm>
          <a:prstGeom prst="rect">
            <a:avLst/>
          </a:prstGeom>
          <a:noFill/>
          <a:ln/>
        </p:spPr>
        <p:txBody>
          <a:bodyPr wrap="square" lIns="0" tIns="0" rIns="0" bIns="0" rtlCol="0" anchor="t"/>
          <a:lstStyle/>
          <a:p>
            <a:pPr algn="l" indent="0" marL="0">
              <a:lnSpc>
                <a:spcPts val="1782"/>
              </a:lnSpc>
              <a:buNone/>
            </a:pPr>
            <a:r>
              <a:rPr lang="en-US" sz="1150" dirty="0">
                <a:solidFill>
                  <a:srgbClr val="000000"/>
                </a:solidFill>
                <a:latin typeface="Poppins Medium" pitchFamily="34" charset="0"/>
                <a:ea typeface="Poppins Medium" pitchFamily="34" charset="-122"/>
                <a:cs typeface="Poppins Medium" pitchFamily="34" charset="-120"/>
              </a:rPr>
              <a:t>Tracy Gan</a:t>
            </a:r>
            <a:endParaRPr lang="en-US" sz="1150" dirty="0"/>
          </a:p>
        </p:txBody>
      </p:sp>
      <p:sp>
        <p:nvSpPr>
          <p:cNvPr id="34" name="Text"/>
          <p:cNvSpPr txBox="1"/>
          <p:nvPr/>
        </p:nvSpPr>
        <p:spPr>
          <a:xfrm>
            <a:off x="8813810" y="5341468"/>
            <a:ext cx="2690348" cy="206654"/>
          </a:xfrm>
          <a:prstGeom prst="rect">
            <a:avLst/>
          </a:prstGeom>
          <a:noFill/>
          <a:ln/>
        </p:spPr>
        <p:txBody>
          <a:bodyPr wrap="square" lIns="0" tIns="0" rIns="0" bIns="0" rtlCol="0" anchor="t"/>
          <a:lstStyle/>
          <a:p>
            <a:pPr algn="l" indent="0" marL="0">
              <a:lnSpc>
                <a:spcPts val="1627"/>
              </a:lnSpc>
              <a:buNone/>
            </a:pPr>
            <a:r>
              <a:rPr lang="en-US" sz="1050" dirty="0">
                <a:solidFill>
                  <a:srgbClr val="1F2937"/>
                </a:solidFill>
                <a:latin typeface="Poppins Light" pitchFamily="34" charset="0"/>
                <a:ea typeface="Poppins Light" pitchFamily="34" charset="-122"/>
                <a:cs typeface="Poppins Light" pitchFamily="34" charset="-120"/>
              </a:rPr>
              <a:t>COO, Fundaztic</a:t>
            </a:r>
            <a:endParaRPr lang="en-US" sz="1050" dirty="0"/>
          </a:p>
        </p:txBody>
      </p:sp>
      <p:sp>
        <p:nvSpPr>
          <p:cNvPr id="35" name="Text"/>
          <p:cNvSpPr txBox="1"/>
          <p:nvPr/>
        </p:nvSpPr>
        <p:spPr>
          <a:xfrm>
            <a:off x="8813810" y="5586161"/>
            <a:ext cx="2690348" cy="413400"/>
          </a:xfrm>
          <a:prstGeom prst="rect">
            <a:avLst/>
          </a:prstGeom>
          <a:noFill/>
          <a:ln/>
        </p:spPr>
        <p:txBody>
          <a:bodyPr wrap="square" lIns="0" tIns="0" rIns="0" bIns="0" rtlCol="0" anchor="t"/>
          <a:lstStyle/>
          <a:p>
            <a:pPr algn="l" indent="0" marL="0">
              <a:lnSpc>
                <a:spcPts val="1627"/>
              </a:lnSpc>
              <a:buNone/>
            </a:pPr>
            <a:r>
              <a:rPr lang="en-US" sz="1050" dirty="0">
                <a:solidFill>
                  <a:srgbClr val="6B6B6B"/>
                </a:solidFill>
                <a:latin typeface="Poppins Light" pitchFamily="34" charset="0"/>
                <a:ea typeface="Poppins Light" pitchFamily="34" charset="-122"/>
                <a:cs typeface="Poppins Light" pitchFamily="34" charset="-120"/>
              </a:rPr>
              <a:t>Head of Corporate Strategy and Investment, Paramount Group</a:t>
            </a:r>
            <a:endParaRPr lang="en-US" sz="1050" dirty="0"/>
          </a:p>
        </p:txBody>
      </p:sp>
      <p:sp>
        <p:nvSpPr>
          <p:cNvPr id="36"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37"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38"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39"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40"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41"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42"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alphv.com/platforms-and-clients; alphv.com/industries; alphv.com, home page (October 2026). Logos are the client marks shown on</a:t>
            </a:r>
            <a:endParaRPr lang="en-US" sz="850" dirty="0"/>
          </a:p>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alphv.com.</a:t>
            </a:r>
            <a:endParaRPr lang="en-US" sz="850" dirty="0"/>
          </a:p>
        </p:txBody>
      </p:sp>
      <p:sp>
        <p:nvSpPr>
          <p:cNvPr id="43" name="Text"/>
          <p:cNvSpPr txBox="1"/>
          <p:nvPr/>
        </p:nvSpPr>
        <p:spPr>
          <a:xfrm>
            <a:off x="9348003"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44" name="Text"/>
          <p:cNvSpPr txBox="1"/>
          <p:nvPr/>
        </p:nvSpPr>
        <p:spPr>
          <a:xfrm>
            <a:off x="9855952"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45" name="Text"/>
          <p:cNvSpPr txBox="1"/>
          <p:nvPr/>
        </p:nvSpPr>
        <p:spPr>
          <a:xfrm>
            <a:off x="11347430" y="6401532"/>
            <a:ext cx="158740"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997610" cy="254020"/>
          </a:xfrm>
          <a:prstGeom prst="roundRect">
            <a:avLst>
              <a:gd name="adj" fmla="val 50000"/>
            </a:avLst>
          </a:prstGeom>
          <a:ln w="6350">
            <a:solidFill>
              <a:srgbClr val="155DFC"/>
            </a:solidFill>
            <a:prstDash val="solid"/>
          </a:ln>
        </p:spPr>
      </p:sp>
      <p:sp>
        <p:nvSpPr>
          <p:cNvPr id="3" name="Connector"/>
          <p:cNvSpPr/>
          <p:nvPr/>
        </p:nvSpPr>
        <p:spPr>
          <a:xfrm>
            <a:off x="711220" y="2436419"/>
            <a:ext cx="10769620" cy="0"/>
          </a:xfrm>
          <a:prstGeom prst="line">
            <a:avLst/>
          </a:prstGeom>
          <a:noFill/>
          <a:ln w="12700">
            <a:solidFill>
              <a:srgbClr val="044BD9">
                <a:alpha val="20000"/>
              </a:srgbClr>
            </a:solidFill>
            <a:prstDash val="dash"/>
          </a:ln>
        </p:spPr>
      </p:sp>
      <p:sp>
        <p:nvSpPr>
          <p:cNvPr id="4" name="span"/>
          <p:cNvSpPr/>
          <p:nvPr/>
        </p:nvSpPr>
        <p:spPr>
          <a:xfrm>
            <a:off x="711220" y="2391979"/>
            <a:ext cx="88880" cy="88880"/>
          </a:xfrm>
          <a:prstGeom prst="ellipse">
            <a:avLst/>
          </a:prstGeom>
          <a:solidFill>
            <a:srgbClr val="000000"/>
          </a:solidFill>
          <a:ln/>
        </p:spPr>
      </p:sp>
      <p:sp>
        <p:nvSpPr>
          <p:cNvPr id="5" name="span"/>
          <p:cNvSpPr/>
          <p:nvPr/>
        </p:nvSpPr>
        <p:spPr>
          <a:xfrm>
            <a:off x="2076420" y="2391979"/>
            <a:ext cx="88880" cy="88880"/>
          </a:xfrm>
          <a:prstGeom prst="ellipse">
            <a:avLst/>
          </a:prstGeom>
          <a:solidFill>
            <a:srgbClr val="000000"/>
          </a:solidFill>
          <a:ln/>
        </p:spPr>
      </p:sp>
      <p:sp>
        <p:nvSpPr>
          <p:cNvPr id="6" name="span"/>
          <p:cNvSpPr/>
          <p:nvPr/>
        </p:nvSpPr>
        <p:spPr>
          <a:xfrm>
            <a:off x="3441710" y="2391979"/>
            <a:ext cx="88880" cy="88880"/>
          </a:xfrm>
          <a:prstGeom prst="ellipse">
            <a:avLst/>
          </a:prstGeom>
          <a:solidFill>
            <a:srgbClr val="000000"/>
          </a:solidFill>
          <a:ln/>
        </p:spPr>
      </p:sp>
      <p:sp>
        <p:nvSpPr>
          <p:cNvPr id="7" name="span"/>
          <p:cNvSpPr/>
          <p:nvPr/>
        </p:nvSpPr>
        <p:spPr>
          <a:xfrm>
            <a:off x="4806909" y="2391979"/>
            <a:ext cx="88880" cy="88880"/>
          </a:xfrm>
          <a:prstGeom prst="ellipse">
            <a:avLst/>
          </a:prstGeom>
          <a:solidFill>
            <a:srgbClr val="000000"/>
          </a:solidFill>
          <a:ln/>
        </p:spPr>
      </p:sp>
      <p:sp>
        <p:nvSpPr>
          <p:cNvPr id="8" name="span"/>
          <p:cNvSpPr/>
          <p:nvPr/>
        </p:nvSpPr>
        <p:spPr>
          <a:xfrm>
            <a:off x="6172200" y="2391979"/>
            <a:ext cx="88880" cy="88880"/>
          </a:xfrm>
          <a:prstGeom prst="ellipse">
            <a:avLst/>
          </a:prstGeom>
          <a:solidFill>
            <a:srgbClr val="044BD9"/>
          </a:solidFill>
          <a:ln/>
        </p:spPr>
      </p:sp>
      <p:sp>
        <p:nvSpPr>
          <p:cNvPr id="9" name="span"/>
          <p:cNvSpPr/>
          <p:nvPr/>
        </p:nvSpPr>
        <p:spPr>
          <a:xfrm>
            <a:off x="7537491" y="2391979"/>
            <a:ext cx="88880" cy="88880"/>
          </a:xfrm>
          <a:prstGeom prst="ellipse">
            <a:avLst/>
          </a:prstGeom>
          <a:solidFill>
            <a:srgbClr val="044BD9"/>
          </a:solidFill>
          <a:ln/>
        </p:spPr>
      </p:sp>
      <p:sp>
        <p:nvSpPr>
          <p:cNvPr id="10" name="span"/>
          <p:cNvSpPr/>
          <p:nvPr/>
        </p:nvSpPr>
        <p:spPr>
          <a:xfrm>
            <a:off x="8902690" y="2391979"/>
            <a:ext cx="88880" cy="88880"/>
          </a:xfrm>
          <a:prstGeom prst="ellipse">
            <a:avLst/>
          </a:prstGeom>
          <a:solidFill>
            <a:srgbClr val="044BD9"/>
          </a:solidFill>
          <a:ln/>
        </p:spPr>
      </p:sp>
      <p:sp>
        <p:nvSpPr>
          <p:cNvPr id="11" name="span"/>
          <p:cNvSpPr/>
          <p:nvPr/>
        </p:nvSpPr>
        <p:spPr>
          <a:xfrm>
            <a:off x="10267980" y="2366559"/>
            <a:ext cx="139720" cy="139720"/>
          </a:xfrm>
          <a:prstGeom prst="ellipse">
            <a:avLst/>
          </a:prstGeom>
          <a:solidFill>
            <a:srgbClr val="044BD9"/>
          </a:solidFill>
          <a:ln/>
        </p:spPr>
      </p:sp>
      <p:sp>
        <p:nvSpPr>
          <p:cNvPr id="12" name="card"/>
          <p:cNvSpPr/>
          <p:nvPr/>
        </p:nvSpPr>
        <p:spPr>
          <a:xfrm>
            <a:off x="714421" y="4088831"/>
            <a:ext cx="4565691" cy="1927830"/>
          </a:xfrm>
          <a:prstGeom prst="roundRect">
            <a:avLst>
              <a:gd name="adj" fmla="val 7741"/>
            </a:avLst>
          </a:prstGeom>
          <a:solidFill>
            <a:srgbClr val="044BD9"/>
          </a:solidFill>
          <a:ln w="6350">
            <a:solidFill>
              <a:srgbClr val="044BD9"/>
            </a:solidFill>
            <a:prstDash val="solid"/>
          </a:ln>
        </p:spPr>
      </p:sp>
      <p:pic>
        <p:nvPicPr>
          <p:cNvPr id="13" name="Picture" descr="The ALPHV team at the RAMEN TECH Global Summit 2026 in Fukuoka">    </p:cNvPr>
          <p:cNvPicPr>
            <a:picLocks noChangeAspect="1"/>
          </p:cNvPicPr>
          <p:nvPr/>
        </p:nvPicPr>
        <p:blipFill>
          <a:blip r:embed="rId1"/>
          <a:stretch>
            <a:fillRect/>
          </a:stretch>
        </p:blipFill>
        <p:spPr>
          <a:xfrm>
            <a:off x="5435559" y="4085631"/>
            <a:ext cx="2794041" cy="1934139"/>
          </a:xfrm>
          <a:prstGeom prst="roundRect">
            <a:avLst>
              <a:gd name="adj" fmla="val 7879"/>
            </a:avLst>
          </a:prstGeom>
        </p:spPr>
      </p:pic>
      <p:sp>
        <p:nvSpPr>
          <p:cNvPr id="14" name="tag"/>
          <p:cNvSpPr/>
          <p:nvPr/>
        </p:nvSpPr>
        <p:spPr>
          <a:xfrm>
            <a:off x="5562570" y="5657850"/>
            <a:ext cx="2535083" cy="234909"/>
          </a:xfrm>
          <a:prstGeom prst="roundRect">
            <a:avLst>
              <a:gd name="adj" fmla="val 50020"/>
            </a:avLst>
          </a:prstGeom>
          <a:solidFill>
            <a:srgbClr val="FFFFFF">
              <a:alpha val="92000"/>
            </a:srgbClr>
          </a:solidFill>
          <a:ln/>
        </p:spPr>
      </p:sp>
      <p:pic>
        <p:nvPicPr>
          <p:cNvPr id="15" name="Picture" descr="Presentation on stage at Alibaba Cloud AI Day, with ALPHV among the partners on screen">    </p:cNvPr>
          <p:cNvPicPr>
            <a:picLocks noChangeAspect="1"/>
          </p:cNvPicPr>
          <p:nvPr/>
        </p:nvPicPr>
        <p:blipFill>
          <a:blip r:embed="rId2"/>
          <a:stretch>
            <a:fillRect/>
          </a:stretch>
        </p:blipFill>
        <p:spPr>
          <a:xfrm>
            <a:off x="8382030" y="4085631"/>
            <a:ext cx="3098810" cy="1934139"/>
          </a:xfrm>
          <a:prstGeom prst="roundRect">
            <a:avLst>
              <a:gd name="adj" fmla="val 7879"/>
            </a:avLst>
          </a:prstGeom>
        </p:spPr>
      </p:pic>
      <p:sp>
        <p:nvSpPr>
          <p:cNvPr id="16" name="tag"/>
          <p:cNvSpPr/>
          <p:nvPr/>
        </p:nvSpPr>
        <p:spPr>
          <a:xfrm>
            <a:off x="8509041" y="5657850"/>
            <a:ext cx="2174077" cy="234909"/>
          </a:xfrm>
          <a:prstGeom prst="roundRect">
            <a:avLst>
              <a:gd name="adj" fmla="val 50020"/>
            </a:avLst>
          </a:prstGeom>
          <a:solidFill>
            <a:srgbClr val="FFFFFF">
              <a:alpha val="92000"/>
            </a:srgbClr>
          </a:solidFill>
          <a:ln/>
        </p:spPr>
      </p:sp>
      <p:sp>
        <p:nvSpPr>
          <p:cNvPr id="17" name="span::before"/>
          <p:cNvSpPr/>
          <p:nvPr/>
        </p:nvSpPr>
        <p:spPr>
          <a:xfrm>
            <a:off x="6191860" y="311170"/>
            <a:ext cx="44440" cy="44440"/>
          </a:xfrm>
          <a:prstGeom prst="rect">
            <a:avLst/>
          </a:prstGeom>
          <a:solidFill>
            <a:srgbClr val="A0A6AF">
              <a:alpha val="55000"/>
            </a:srgbClr>
          </a:solidFill>
          <a:ln/>
        </p:spPr>
      </p:sp>
      <p:sp>
        <p:nvSpPr>
          <p:cNvPr id="18" name="span::before"/>
          <p:cNvSpPr/>
          <p:nvPr/>
        </p:nvSpPr>
        <p:spPr>
          <a:xfrm>
            <a:off x="7145213" y="311170"/>
            <a:ext cx="44440" cy="44440"/>
          </a:xfrm>
          <a:prstGeom prst="rect">
            <a:avLst/>
          </a:prstGeom>
          <a:solidFill>
            <a:srgbClr val="A0A6AF">
              <a:alpha val="55000"/>
            </a:srgbClr>
          </a:solidFill>
          <a:ln/>
        </p:spPr>
      </p:sp>
      <p:sp>
        <p:nvSpPr>
          <p:cNvPr id="19" name="span::before"/>
          <p:cNvSpPr/>
          <p:nvPr/>
        </p:nvSpPr>
        <p:spPr>
          <a:xfrm>
            <a:off x="8056230" y="311170"/>
            <a:ext cx="44440" cy="44440"/>
          </a:xfrm>
          <a:prstGeom prst="rect">
            <a:avLst/>
          </a:prstGeom>
          <a:solidFill>
            <a:srgbClr val="A0A6AF">
              <a:alpha val="55000"/>
            </a:srgbClr>
          </a:solidFill>
          <a:ln/>
        </p:spPr>
      </p:sp>
      <p:sp>
        <p:nvSpPr>
          <p:cNvPr id="20" name="span::before"/>
          <p:cNvSpPr/>
          <p:nvPr/>
        </p:nvSpPr>
        <p:spPr>
          <a:xfrm>
            <a:off x="8972550" y="311170"/>
            <a:ext cx="44440" cy="44440"/>
          </a:xfrm>
          <a:prstGeom prst="rect">
            <a:avLst/>
          </a:prstGeom>
          <a:solidFill>
            <a:srgbClr val="A0A6AF">
              <a:alpha val="55000"/>
            </a:srgbClr>
          </a:solidFill>
          <a:ln/>
        </p:spPr>
      </p:sp>
      <p:sp>
        <p:nvSpPr>
          <p:cNvPr id="21" name="on::before"/>
          <p:cNvSpPr/>
          <p:nvPr/>
        </p:nvSpPr>
        <p:spPr>
          <a:xfrm>
            <a:off x="10421142" y="311170"/>
            <a:ext cx="44440" cy="44440"/>
          </a:xfrm>
          <a:prstGeom prst="rect">
            <a:avLst/>
          </a:prstGeom>
          <a:solidFill>
            <a:srgbClr val="044BD9"/>
          </a:solidFill>
          <a:ln/>
        </p:spPr>
      </p:sp>
      <p:sp>
        <p:nvSpPr>
          <p:cNvPr id="22" name="span::before"/>
          <p:cNvSpPr/>
          <p:nvPr/>
        </p:nvSpPr>
        <p:spPr>
          <a:xfrm>
            <a:off x="10966216" y="311170"/>
            <a:ext cx="44440" cy="44440"/>
          </a:xfrm>
          <a:prstGeom prst="rect">
            <a:avLst/>
          </a:prstGeom>
          <a:solidFill>
            <a:srgbClr val="A0A6AF">
              <a:alpha val="55000"/>
            </a:srgbClr>
          </a:solidFill>
          <a:ln/>
        </p:spPr>
      </p:sp>
      <p:sp>
        <p:nvSpPr>
          <p:cNvPr id="23" name="Text"/>
          <p:cNvSpPr txBox="1"/>
          <p:nvPr/>
        </p:nvSpPr>
        <p:spPr>
          <a:xfrm>
            <a:off x="844540" y="609265"/>
            <a:ext cx="762701"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Recognition</a:t>
            </a:r>
            <a:endParaRPr lang="en-US" sz="950" dirty="0"/>
          </a:p>
        </p:txBody>
      </p:sp>
      <p:sp>
        <p:nvSpPr>
          <p:cNvPr id="24"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ALPHV placed</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first of nine</a:t>
            </a:r>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 at the AI</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for Insurance Challenge × Tasco</a:t>
            </a:r>
            <a:endParaRPr lang="en-US" sz="3000" dirty="0"/>
          </a:p>
        </p:txBody>
      </p:sp>
      <p:sp>
        <p:nvSpPr>
          <p:cNvPr id="25" name="Text"/>
          <p:cNvSpPr txBox="1"/>
          <p:nvPr/>
        </p:nvSpPr>
        <p:spPr>
          <a:xfrm>
            <a:off x="711220" y="2054291"/>
            <a:ext cx="5342565" cy="216530"/>
          </a:xfrm>
          <a:prstGeom prst="rect">
            <a:avLst/>
          </a:prstGeom>
          <a:noFill/>
          <a:ln/>
        </p:spPr>
        <p:txBody>
          <a:bodyPr wrap="square" lIns="0" tIns="0" rIns="0" bIns="0" rtlCol="0" anchor="t"/>
          <a:lstStyle/>
          <a:p>
            <a:pPr algn="l" indent="0" marL="0">
              <a:lnSpc>
                <a:spcPts val="1705"/>
              </a:lnSpc>
              <a:buNone/>
            </a:pPr>
            <a:r>
              <a:rPr lang="en-US" sz="1100" dirty="0">
                <a:solidFill>
                  <a:srgbClr val="000000"/>
                </a:solidFill>
                <a:latin typeface="Poppins SemiBold" pitchFamily="34" charset="0"/>
                <a:ea typeface="Poppins SemiBold" pitchFamily="34" charset="-122"/>
                <a:cs typeface="Poppins SemiBold" pitchFamily="34" charset="-120"/>
              </a:rPr>
              <a:t>2025</a:t>
            </a:r>
            <a:endParaRPr lang="en-US" sz="1100" dirty="0"/>
          </a:p>
        </p:txBody>
      </p:sp>
      <p:sp>
        <p:nvSpPr>
          <p:cNvPr id="26" name="Text"/>
          <p:cNvSpPr txBox="1"/>
          <p:nvPr/>
        </p:nvSpPr>
        <p:spPr>
          <a:xfrm>
            <a:off x="6172200" y="2054291"/>
            <a:ext cx="5342565" cy="216530"/>
          </a:xfrm>
          <a:prstGeom prst="rect">
            <a:avLst/>
          </a:prstGeom>
          <a:noFill/>
          <a:ln/>
        </p:spPr>
        <p:txBody>
          <a:bodyPr wrap="square" lIns="0" tIns="0" rIns="0" bIns="0" rtlCol="0" anchor="t"/>
          <a:lstStyle/>
          <a:p>
            <a:pPr algn="l" indent="0" marL="0">
              <a:lnSpc>
                <a:spcPts val="1705"/>
              </a:lnSpc>
              <a:buNone/>
            </a:pPr>
            <a:r>
              <a:rPr lang="en-US" sz="1100" dirty="0">
                <a:solidFill>
                  <a:srgbClr val="044BD9"/>
                </a:solidFill>
                <a:latin typeface="Poppins SemiBold" pitchFamily="34" charset="0"/>
                <a:ea typeface="Poppins SemiBold" pitchFamily="34" charset="-122"/>
                <a:cs typeface="Poppins SemiBold" pitchFamily="34" charset="-120"/>
              </a:rPr>
              <a:t>2026</a:t>
            </a:r>
            <a:endParaRPr lang="en-US" sz="1100" dirty="0"/>
          </a:p>
        </p:txBody>
      </p:sp>
      <p:sp>
        <p:nvSpPr>
          <p:cNvPr id="27" name="Text"/>
          <p:cNvSpPr txBox="1"/>
          <p:nvPr/>
        </p:nvSpPr>
        <p:spPr>
          <a:xfrm>
            <a:off x="711220"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Jul 2025</a:t>
            </a:r>
            <a:endParaRPr lang="en-US" sz="950" dirty="0"/>
          </a:p>
        </p:txBody>
      </p:sp>
      <p:sp>
        <p:nvSpPr>
          <p:cNvPr id="28" name="Text"/>
          <p:cNvSpPr txBox="1"/>
          <p:nvPr/>
        </p:nvSpPr>
        <p:spPr>
          <a:xfrm>
            <a:off x="711220" y="2820924"/>
            <a:ext cx="1230417" cy="699790"/>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Alibaba Cloud Partner Network, Tier 2 reseller for Malaysia</a:t>
            </a:r>
            <a:endParaRPr lang="en-US" sz="950" dirty="0"/>
          </a:p>
        </p:txBody>
      </p:sp>
      <p:sp>
        <p:nvSpPr>
          <p:cNvPr id="29" name="Text"/>
          <p:cNvSpPr txBox="1"/>
          <p:nvPr/>
        </p:nvSpPr>
        <p:spPr>
          <a:xfrm>
            <a:off x="2076420"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Aug 2025</a:t>
            </a:r>
            <a:endParaRPr lang="en-US" sz="950" dirty="0"/>
          </a:p>
        </p:txBody>
      </p:sp>
      <p:sp>
        <p:nvSpPr>
          <p:cNvPr id="30" name="Text"/>
          <p:cNvSpPr txBox="1"/>
          <p:nvPr/>
        </p:nvSpPr>
        <p:spPr>
          <a:xfrm>
            <a:off x="2076420" y="2820924"/>
            <a:ext cx="1286744" cy="524866"/>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Technical keynote</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at the ASEAN AI</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Summit 2025</a:t>
            </a:r>
            <a:endParaRPr lang="en-US" sz="950" dirty="0"/>
          </a:p>
        </p:txBody>
      </p:sp>
      <p:sp>
        <p:nvSpPr>
          <p:cNvPr id="31" name="Text"/>
          <p:cNvSpPr txBox="1"/>
          <p:nvPr/>
        </p:nvSpPr>
        <p:spPr>
          <a:xfrm>
            <a:off x="3441710"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Sep 2025</a:t>
            </a:r>
            <a:endParaRPr lang="en-US" sz="950" dirty="0"/>
          </a:p>
        </p:txBody>
      </p:sp>
      <p:sp>
        <p:nvSpPr>
          <p:cNvPr id="32" name="Text"/>
          <p:cNvSpPr txBox="1"/>
          <p:nvPr/>
        </p:nvSpPr>
        <p:spPr>
          <a:xfrm>
            <a:off x="3441710" y="2820924"/>
            <a:ext cx="1230417" cy="524866"/>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Agentic AI panel at MDX 2025, Kuala Lumpur</a:t>
            </a:r>
            <a:endParaRPr lang="en-US" sz="950" dirty="0"/>
          </a:p>
        </p:txBody>
      </p:sp>
      <p:sp>
        <p:nvSpPr>
          <p:cNvPr id="33" name="Text"/>
          <p:cNvSpPr txBox="1"/>
          <p:nvPr/>
        </p:nvSpPr>
        <p:spPr>
          <a:xfrm>
            <a:off x="4806909"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Dec 2025</a:t>
            </a:r>
            <a:endParaRPr lang="en-US" sz="950" dirty="0"/>
          </a:p>
        </p:txBody>
      </p:sp>
      <p:sp>
        <p:nvSpPr>
          <p:cNvPr id="34" name="Text"/>
          <p:cNvSpPr txBox="1"/>
          <p:nvPr/>
        </p:nvSpPr>
        <p:spPr>
          <a:xfrm>
            <a:off x="4806909" y="2820924"/>
            <a:ext cx="1230417" cy="699790"/>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One of 12 AI implementation partners at Alibaba Cloud AI Day</a:t>
            </a:r>
            <a:endParaRPr lang="en-US" sz="950" dirty="0"/>
          </a:p>
        </p:txBody>
      </p:sp>
      <p:sp>
        <p:nvSpPr>
          <p:cNvPr id="35" name="Text"/>
          <p:cNvSpPr txBox="1"/>
          <p:nvPr/>
        </p:nvSpPr>
        <p:spPr>
          <a:xfrm>
            <a:off x="6172200"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Apr 2026</a:t>
            </a:r>
            <a:endParaRPr lang="en-US" sz="950" dirty="0"/>
          </a:p>
        </p:txBody>
      </p:sp>
      <p:sp>
        <p:nvSpPr>
          <p:cNvPr id="36" name="Text"/>
          <p:cNvSpPr txBox="1"/>
          <p:nvPr/>
        </p:nvSpPr>
        <p:spPr>
          <a:xfrm>
            <a:off x="6172200" y="2820924"/>
            <a:ext cx="1286744" cy="524866"/>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Strategic</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partnership with FPT</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AI Factory</a:t>
            </a:r>
            <a:endParaRPr lang="en-US" sz="950" dirty="0"/>
          </a:p>
        </p:txBody>
      </p:sp>
      <p:sp>
        <p:nvSpPr>
          <p:cNvPr id="37" name="Text"/>
          <p:cNvSpPr txBox="1"/>
          <p:nvPr/>
        </p:nvSpPr>
        <p:spPr>
          <a:xfrm>
            <a:off x="7537491"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Sep 2026</a:t>
            </a:r>
            <a:endParaRPr lang="en-US" sz="950" dirty="0"/>
          </a:p>
        </p:txBody>
      </p:sp>
      <p:sp>
        <p:nvSpPr>
          <p:cNvPr id="38" name="Text"/>
          <p:cNvSpPr txBox="1"/>
          <p:nvPr/>
        </p:nvSpPr>
        <p:spPr>
          <a:xfrm>
            <a:off x="7537491" y="2820924"/>
            <a:ext cx="1286744" cy="524866"/>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Selangor AI</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Hackathon 2026,</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2nd runner-up of 26</a:t>
            </a:r>
            <a:endParaRPr lang="en-US" sz="950" dirty="0"/>
          </a:p>
        </p:txBody>
      </p:sp>
      <p:sp>
        <p:nvSpPr>
          <p:cNvPr id="39" name="Text"/>
          <p:cNvSpPr txBox="1"/>
          <p:nvPr/>
        </p:nvSpPr>
        <p:spPr>
          <a:xfrm>
            <a:off x="8902690"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Medium" pitchFamily="34" charset="0"/>
                <a:ea typeface="Poppins Medium" pitchFamily="34" charset="-122"/>
                <a:cs typeface="Poppins Medium" pitchFamily="34" charset="-120"/>
              </a:rPr>
              <a:t>Oct 2026</a:t>
            </a:r>
            <a:endParaRPr lang="en-US" sz="950" dirty="0"/>
          </a:p>
        </p:txBody>
      </p:sp>
      <p:sp>
        <p:nvSpPr>
          <p:cNvPr id="40" name="Text"/>
          <p:cNvSpPr txBox="1"/>
          <p:nvPr/>
        </p:nvSpPr>
        <p:spPr>
          <a:xfrm>
            <a:off x="8902690" y="2820924"/>
            <a:ext cx="1286744" cy="1049640"/>
          </a:xfrm>
          <a:prstGeom prst="rect">
            <a:avLst/>
          </a:prstGeom>
          <a:noFill/>
          <a:ln/>
        </p:spPr>
        <p:txBody>
          <a:bodyPr wrap="square" lIns="0" tIns="0" rIns="0" bIns="0" rtlCol="0" anchor="t"/>
          <a:lstStyle/>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RAMEN TECH Global</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Summit, Fukuoka:</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represented</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Singapore,</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exhibiting among</a:t>
            </a:r>
            <a:endParaRPr lang="en-US" sz="950" dirty="0"/>
          </a:p>
          <a:p>
            <a:pPr algn="l" indent="0" marL="0">
              <a:lnSpc>
                <a:spcPts val="1378"/>
              </a:lnSpc>
              <a:buNone/>
            </a:pPr>
            <a:r>
              <a:rPr lang="en-US" sz="950" dirty="0">
                <a:solidFill>
                  <a:srgbClr val="1F2937"/>
                </a:solidFill>
                <a:latin typeface="Poppins Light" pitchFamily="34" charset="0"/>
                <a:ea typeface="Poppins Light" pitchFamily="34" charset="-122"/>
                <a:cs typeface="Poppins Light" pitchFamily="34" charset="-120"/>
              </a:rPr>
              <a:t>124 companies</a:t>
            </a:r>
            <a:endParaRPr lang="en-US" sz="950" dirty="0"/>
          </a:p>
        </p:txBody>
      </p:sp>
      <p:sp>
        <p:nvSpPr>
          <p:cNvPr id="41" name="Text"/>
          <p:cNvSpPr txBox="1"/>
          <p:nvPr/>
        </p:nvSpPr>
        <p:spPr>
          <a:xfrm>
            <a:off x="10267980" y="2592598"/>
            <a:ext cx="1230417" cy="186995"/>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22 Oct 2026</a:t>
            </a:r>
            <a:endParaRPr lang="en-US" sz="950" dirty="0"/>
          </a:p>
        </p:txBody>
      </p:sp>
      <p:sp>
        <p:nvSpPr>
          <p:cNvPr id="42" name="Text"/>
          <p:cNvSpPr txBox="1"/>
          <p:nvPr/>
        </p:nvSpPr>
        <p:spPr>
          <a:xfrm>
            <a:off x="10267980" y="2820924"/>
            <a:ext cx="1230417" cy="524866"/>
          </a:xfrm>
          <a:prstGeom prst="rect">
            <a:avLst/>
          </a:prstGeom>
          <a:noFill/>
          <a:ln/>
        </p:spPr>
        <p:txBody>
          <a:bodyPr wrap="square" lIns="0" tIns="0" rIns="0" bIns="0" rtlCol="0" anchor="t"/>
          <a:lstStyle/>
          <a:p>
            <a:pPr algn="l" indent="0" marL="0">
              <a:lnSpc>
                <a:spcPts val="1378"/>
              </a:lnSpc>
              <a:buNone/>
            </a:pPr>
            <a:r>
              <a:rPr lang="en-US" sz="950" dirty="0">
                <a:solidFill>
                  <a:srgbClr val="000000"/>
                </a:solidFill>
                <a:latin typeface="Poppins Medium" pitchFamily="34" charset="0"/>
                <a:ea typeface="Poppins Medium" pitchFamily="34" charset="-122"/>
                <a:cs typeface="Poppins Medium" pitchFamily="34" charset="-120"/>
              </a:rPr>
              <a:t>AI for Insurance Challenge × Tasco: winner, first of nine</a:t>
            </a:r>
            <a:endParaRPr lang="en-US" sz="950" dirty="0"/>
          </a:p>
        </p:txBody>
      </p:sp>
      <p:sp>
        <p:nvSpPr>
          <p:cNvPr id="43" name="Text"/>
          <p:cNvSpPr txBox="1"/>
          <p:nvPr/>
        </p:nvSpPr>
        <p:spPr>
          <a:xfrm>
            <a:off x="946130" y="4307098"/>
            <a:ext cx="4131168" cy="167335"/>
          </a:xfrm>
          <a:prstGeom prst="rect">
            <a:avLst/>
          </a:prstGeom>
          <a:noFill/>
          <a:ln/>
        </p:spPr>
        <p:txBody>
          <a:bodyPr wrap="square" lIns="0" tIns="0" rIns="0" bIns="0" rtlCol="0" anchor="t"/>
          <a:lstStyle/>
          <a:p>
            <a:pPr algn="l" indent="0" marL="0">
              <a:lnSpc>
                <a:spcPts val="1318"/>
              </a:lnSpc>
              <a:buNone/>
            </a:pPr>
            <a:r>
              <a:rPr lang="en-US" sz="850" spc="17" kern="0" dirty="0">
                <a:solidFill>
                  <a:srgbClr val="CDDBF7"/>
                </a:solidFill>
                <a:latin typeface="Poppins Medium" pitchFamily="34" charset="0"/>
                <a:ea typeface="Poppins Medium" pitchFamily="34" charset="-122"/>
                <a:cs typeface="Poppins Medium" pitchFamily="34" charset="-120"/>
              </a:rPr>
              <a:t>Winner · 22 Oct 2026</a:t>
            </a:r>
            <a:endParaRPr lang="en-US" sz="850" dirty="0"/>
          </a:p>
        </p:txBody>
      </p:sp>
      <p:sp>
        <p:nvSpPr>
          <p:cNvPr id="44" name="Text"/>
          <p:cNvSpPr txBox="1"/>
          <p:nvPr/>
        </p:nvSpPr>
        <p:spPr>
          <a:xfrm>
            <a:off x="946130" y="4543196"/>
            <a:ext cx="4131168" cy="232440"/>
          </a:xfrm>
          <a:prstGeom prst="rect">
            <a:avLst/>
          </a:prstGeom>
          <a:noFill/>
          <a:ln/>
        </p:spPr>
        <p:txBody>
          <a:bodyPr wrap="square" lIns="0" tIns="0" rIns="0" bIns="0" rtlCol="0" anchor="t"/>
          <a:lstStyle/>
          <a:p>
            <a:pPr algn="l" indent="0" marL="0">
              <a:lnSpc>
                <a:spcPts val="1830"/>
              </a:lnSpc>
              <a:buNone/>
            </a:pPr>
            <a:r>
              <a:rPr lang="en-US" sz="1500" dirty="0">
                <a:solidFill>
                  <a:srgbClr val="FFFFFF"/>
                </a:solidFill>
                <a:latin typeface="Poppins Medium" pitchFamily="34" charset="0"/>
                <a:ea typeface="Poppins Medium" pitchFamily="34" charset="-122"/>
                <a:cs typeface="Poppins Medium" pitchFamily="34" charset="-120"/>
              </a:rPr>
              <a:t>AI for Insurance Challenge × Tasco</a:t>
            </a:r>
            <a:endParaRPr lang="en-US" sz="1500" dirty="0"/>
          </a:p>
        </p:txBody>
      </p:sp>
      <p:sp>
        <p:nvSpPr>
          <p:cNvPr id="45" name="Text"/>
          <p:cNvSpPr txBox="1"/>
          <p:nvPr/>
        </p:nvSpPr>
        <p:spPr>
          <a:xfrm>
            <a:off x="946130" y="5280569"/>
            <a:ext cx="450708" cy="548640"/>
          </a:xfrm>
          <a:prstGeom prst="rect">
            <a:avLst/>
          </a:prstGeom>
          <a:noFill/>
          <a:ln/>
        </p:spPr>
        <p:txBody>
          <a:bodyPr wrap="none" lIns="0" tIns="0" rIns="0" bIns="0" rtlCol="0" anchor="t"/>
          <a:lstStyle/>
          <a:p>
            <a:pPr algn="l" indent="0" marL="0">
              <a:lnSpc>
                <a:spcPts val="4320"/>
              </a:lnSpc>
              <a:buNone/>
            </a:pPr>
            <a:r>
              <a:rPr lang="en-US" sz="4800" spc="-96" kern="0" dirty="0">
                <a:solidFill>
                  <a:srgbClr val="FFFFFF"/>
                </a:solidFill>
                <a:latin typeface="Poppins Medium" pitchFamily="34" charset="0"/>
                <a:ea typeface="Poppins Medium" pitchFamily="34" charset="-122"/>
                <a:cs typeface="Poppins Medium" pitchFamily="34" charset="-120"/>
              </a:rPr>
              <a:t>1</a:t>
            </a:r>
            <a:pPr algn="l" indent="0" marL="0">
              <a:lnSpc>
                <a:spcPts val="4320"/>
              </a:lnSpc>
              <a:buNone/>
            </a:pPr>
            <a:r>
              <a:rPr lang="en-US" sz="2160" spc="-96" kern="0" dirty="0">
                <a:solidFill>
                  <a:srgbClr val="FFFFFF"/>
                </a:solidFill>
                <a:latin typeface="Poppins Medium" pitchFamily="34" charset="0"/>
                <a:ea typeface="Poppins Medium" pitchFamily="34" charset="-122"/>
                <a:cs typeface="Poppins Medium" pitchFamily="34" charset="-120"/>
              </a:rPr>
              <a:t>st</a:t>
            </a:r>
            <a:endParaRPr lang="en-US" sz="4800" dirty="0"/>
          </a:p>
        </p:txBody>
      </p:sp>
      <p:sp>
        <p:nvSpPr>
          <p:cNvPr id="46" name="Text"/>
          <p:cNvSpPr txBox="1"/>
          <p:nvPr/>
        </p:nvSpPr>
        <p:spPr>
          <a:xfrm>
            <a:off x="1511229" y="5116800"/>
            <a:ext cx="3703960" cy="628650"/>
          </a:xfrm>
          <a:prstGeom prst="rect">
            <a:avLst/>
          </a:prstGeom>
          <a:noFill/>
          <a:ln/>
        </p:spPr>
        <p:txBody>
          <a:bodyPr wrap="square" lIns="0" tIns="0" rIns="0" bIns="0" rtlCol="0" anchor="t"/>
          <a:lstStyle/>
          <a:p>
            <a:pPr algn="l" indent="0" marL="0">
              <a:lnSpc>
                <a:spcPts val="1650"/>
              </a:lnSpc>
              <a:buNone/>
            </a:pPr>
            <a:r>
              <a:rPr lang="en-US" sz="1100" dirty="0">
                <a:solidFill>
                  <a:srgbClr val="E1E9FA"/>
                </a:solidFill>
                <a:latin typeface="Poppins Light" pitchFamily="34" charset="0"/>
                <a:ea typeface="Poppins Light" pitchFamily="34" charset="-122"/>
                <a:cs typeface="Poppins Light" pitchFamily="34" charset="-120"/>
              </a:rPr>
              <a:t>of nine companies, from the US, Turkey, Dubai,</a:t>
            </a:r>
            <a:endParaRPr lang="en-US" sz="1100" dirty="0"/>
          </a:p>
          <a:p>
            <a:pPr algn="l" indent="0" marL="0">
              <a:lnSpc>
                <a:spcPts val="1650"/>
              </a:lnSpc>
              <a:buNone/>
            </a:pPr>
            <a:r>
              <a:rPr lang="en-US" sz="1100" dirty="0">
                <a:solidFill>
                  <a:srgbClr val="E1E9FA"/>
                </a:solidFill>
                <a:latin typeface="Poppins Light" pitchFamily="34" charset="0"/>
                <a:ea typeface="Poppins Light" pitchFamily="34" charset="-122"/>
                <a:cs typeface="Poppins Light" pitchFamily="34" charset="-120"/>
              </a:rPr>
              <a:t>Taiwan, India and Southeast Asia, at the GenAI</a:t>
            </a:r>
            <a:endParaRPr lang="en-US" sz="1100" dirty="0"/>
          </a:p>
          <a:p>
            <a:pPr algn="l" indent="0" marL="0">
              <a:lnSpc>
                <a:spcPts val="1650"/>
              </a:lnSpc>
              <a:buNone/>
            </a:pPr>
            <a:r>
              <a:rPr lang="en-US" sz="1100" dirty="0">
                <a:solidFill>
                  <a:srgbClr val="E1E9FA"/>
                </a:solidFill>
                <a:latin typeface="Poppins Light" pitchFamily="34" charset="0"/>
                <a:ea typeface="Poppins Light" pitchFamily="34" charset="-122"/>
                <a:cs typeface="Poppins Light" pitchFamily="34" charset="-120"/>
              </a:rPr>
              <a:t>Fund and Tasco demo day</a:t>
            </a:r>
            <a:endParaRPr lang="en-US" sz="1100" dirty="0"/>
          </a:p>
        </p:txBody>
      </p:sp>
      <p:sp>
        <p:nvSpPr>
          <p:cNvPr id="47" name="Text"/>
          <p:cNvSpPr txBox="1"/>
          <p:nvPr/>
        </p:nvSpPr>
        <p:spPr>
          <a:xfrm>
            <a:off x="5670560" y="5723595"/>
            <a:ext cx="2344522"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RAMEN TECH Global Summit 2026, Fukuoka</a:t>
            </a:r>
            <a:endParaRPr lang="en-US" sz="850" dirty="0"/>
          </a:p>
        </p:txBody>
      </p:sp>
      <p:sp>
        <p:nvSpPr>
          <p:cNvPr id="48" name="Text"/>
          <p:cNvSpPr txBox="1"/>
          <p:nvPr/>
        </p:nvSpPr>
        <p:spPr>
          <a:xfrm>
            <a:off x="8616940" y="5723595"/>
            <a:ext cx="1983608" cy="107991"/>
          </a:xfrm>
          <a:prstGeom prst="rect">
            <a:avLst/>
          </a:prstGeom>
          <a:noFill/>
          <a:ln/>
        </p:spPr>
        <p:txBody>
          <a:bodyPr wrap="none" lIns="0" tIns="0" rIns="0" bIns="0" rtlCol="0" anchor="t"/>
          <a:lstStyle/>
          <a:p>
            <a:pPr algn="l" indent="0" marL="0">
              <a:lnSpc>
                <a:spcPts val="850"/>
              </a:lnSpc>
              <a:buNone/>
            </a:pPr>
            <a:r>
              <a:rPr lang="en-US" sz="850" dirty="0">
                <a:solidFill>
                  <a:srgbClr val="1F2937"/>
                </a:solidFill>
                <a:latin typeface="Poppins Medium" pitchFamily="34" charset="0"/>
                <a:ea typeface="Poppins Medium" pitchFamily="34" charset="-122"/>
                <a:cs typeface="Poppins Medium" pitchFamily="34" charset="-120"/>
              </a:rPr>
              <a:t>Alibaba Cloud AI Day, Kuala Lumpur</a:t>
            </a:r>
            <a:endParaRPr lang="en-US" sz="850" dirty="0"/>
          </a:p>
        </p:txBody>
      </p:sp>
      <p:sp>
        <p:nvSpPr>
          <p:cNvPr id="49"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50"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1"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2"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53"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Proof</a:t>
            </a:r>
            <a:endParaRPr lang="en-US" sz="850" dirty="0"/>
          </a:p>
        </p:txBody>
      </p:sp>
      <p:sp>
        <p:nvSpPr>
          <p:cNvPr id="54"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Engage</a:t>
            </a:r>
            <a:endParaRPr lang="en-US" sz="850" dirty="0"/>
          </a:p>
        </p:txBody>
      </p:sp>
      <p:sp>
        <p:nvSpPr>
          <p:cNvPr id="55" name="Source"/>
          <p:cNvSpPr txBox="1"/>
          <p:nvPr/>
        </p:nvSpPr>
        <p:spPr>
          <a:xfrm>
            <a:off x="711220" y="6250381"/>
            <a:ext cx="8610630" cy="302301"/>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alphv.com/insights; alphv.com/about; alphv.com/platforms-and-clients; alphv.com news pages on the AI for Insurance Challenge × Tasco,</a:t>
            </a:r>
            <a:endParaRPr lang="en-US" sz="850" dirty="0"/>
          </a:p>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RAMEN TECH Global Summit 2026 and Selangor AI Hackathon 2026 (October 2026).</a:t>
            </a:r>
            <a:endParaRPr lang="en-US" sz="850" dirty="0"/>
          </a:p>
        </p:txBody>
      </p:sp>
      <p:sp>
        <p:nvSpPr>
          <p:cNvPr id="56" name="Text"/>
          <p:cNvSpPr txBox="1"/>
          <p:nvPr/>
        </p:nvSpPr>
        <p:spPr>
          <a:xfrm>
            <a:off x="9379367"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57" name="Text"/>
          <p:cNvSpPr txBox="1"/>
          <p:nvPr/>
        </p:nvSpPr>
        <p:spPr>
          <a:xfrm>
            <a:off x="9887316"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58" name="Text"/>
          <p:cNvSpPr txBox="1"/>
          <p:nvPr/>
        </p:nvSpPr>
        <p:spPr>
          <a:xfrm>
            <a:off x="11378794" y="6401532"/>
            <a:ext cx="127376"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p:cNvSpPr txBox="1"/>
          <p:nvPr/>
        </p:nvSpPr>
        <p:spPr>
          <a:xfrm>
            <a:off x="711220" y="2860700"/>
            <a:ext cx="10825399" cy="1257300"/>
          </a:xfrm>
          <a:prstGeom prst="rect">
            <a:avLst/>
          </a:prstGeom>
          <a:noFill/>
          <a:ln/>
        </p:spPr>
        <p:txBody>
          <a:bodyPr wrap="square" lIns="0" tIns="0" rIns="0" bIns="0" rtlCol="0" anchor="t"/>
          <a:lstStyle/>
          <a:p>
            <a:pPr algn="l" indent="0" marL="0">
              <a:lnSpc>
                <a:spcPts val="9900"/>
              </a:lnSpc>
              <a:buNone/>
            </a:pPr>
            <a:r>
              <a:rPr lang="en-US" sz="11000" spc="-440" kern="0" dirty="0">
                <a:solidFill>
                  <a:srgbClr val="F2F6FD"/>
                </a:solidFill>
                <a:latin typeface="Poppins SemiBold" pitchFamily="34" charset="0"/>
                <a:ea typeface="Poppins SemiBold" pitchFamily="34" charset="-122"/>
                <a:cs typeface="Poppins SemiBold" pitchFamily="34" charset="-120"/>
              </a:rPr>
              <a:t>06</a:t>
            </a:r>
            <a:endParaRPr lang="en-US" sz="11000" dirty="0"/>
          </a:p>
        </p:txBody>
      </p:sp>
      <p:sp>
        <p:nvSpPr>
          <p:cNvPr id="3" name="Text"/>
          <p:cNvSpPr txBox="1"/>
          <p:nvPr/>
        </p:nvSpPr>
        <p:spPr>
          <a:xfrm>
            <a:off x="711220" y="4250497"/>
            <a:ext cx="9271010" cy="1280160"/>
          </a:xfrm>
          <a:prstGeom prst="rect">
            <a:avLst/>
          </a:prstGeom>
          <a:noFill/>
          <a:ln/>
        </p:spPr>
        <p:txBody>
          <a:bodyPr wrap="square" lIns="0" tIns="0" rIns="0" bIns="0" rtlCol="0" anchor="t"/>
          <a:lstStyle/>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One team, from business</a:t>
            </a:r>
            <a:endParaRPr lang="en-US" sz="4800" dirty="0"/>
          </a:p>
          <a:p>
            <a:pPr algn="l" indent="0" marL="0">
              <a:lnSpc>
                <a:spcPts val="5040"/>
              </a:lnSpc>
              <a:buNone/>
            </a:pPr>
            <a:r>
              <a:rPr lang="en-US" sz="4800" spc="-120" kern="0" dirty="0">
                <a:solidFill>
                  <a:srgbClr val="FFFFFF"/>
                </a:solidFill>
                <a:latin typeface="Poppins SemiBold" pitchFamily="34" charset="0"/>
                <a:ea typeface="Poppins SemiBold" pitchFamily="34" charset="-122"/>
                <a:cs typeface="Poppins SemiBold" pitchFamily="34" charset="-120"/>
              </a:rPr>
              <a:t>case to production</a:t>
            </a:r>
            <a:endParaRPr lang="en-US" sz="4800" dirty="0"/>
          </a:p>
        </p:txBody>
      </p:sp>
      <p:sp>
        <p:nvSpPr>
          <p:cNvPr id="4" name="Text"/>
          <p:cNvSpPr txBox="1"/>
          <p:nvPr/>
        </p:nvSpPr>
        <p:spPr>
          <a:xfrm>
            <a:off x="711220" y="5720395"/>
            <a:ext cx="7153168" cy="276240"/>
          </a:xfrm>
          <a:prstGeom prst="rect">
            <a:avLst/>
          </a:prstGeom>
          <a:noFill/>
          <a:ln/>
        </p:spPr>
        <p:txBody>
          <a:bodyPr wrap="squar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How our model differs, and how a first message turns into a plan.</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badge"/>
          <p:cNvSpPr/>
          <p:nvPr/>
        </p:nvSpPr>
        <p:spPr>
          <a:xfrm>
            <a:off x="714421" y="536570"/>
            <a:ext cx="949879" cy="254020"/>
          </a:xfrm>
          <a:prstGeom prst="roundRect">
            <a:avLst>
              <a:gd name="adj" fmla="val 50000"/>
            </a:avLst>
          </a:prstGeom>
          <a:ln w="6350">
            <a:solidFill>
              <a:srgbClr val="155DFC"/>
            </a:solidFill>
            <a:prstDash val="solid"/>
          </a:ln>
        </p:spPr>
      </p:sp>
      <p:sp>
        <p:nvSpPr>
          <p:cNvPr id="3" name="Rule"/>
          <p:cNvSpPr/>
          <p:nvPr/>
        </p:nvSpPr>
        <p:spPr>
          <a:xfrm>
            <a:off x="711220" y="2319193"/>
            <a:ext cx="355610" cy="0"/>
          </a:xfrm>
          <a:prstGeom prst="line">
            <a:avLst/>
          </a:prstGeom>
          <a:noFill/>
          <a:ln w="6350">
            <a:solidFill>
              <a:srgbClr val="E3E6EC"/>
            </a:solidFill>
            <a:prstDash val="solid"/>
          </a:ln>
        </p:spPr>
      </p:sp>
      <p:sp>
        <p:nvSpPr>
          <p:cNvPr id="4" name="Rule"/>
          <p:cNvSpPr/>
          <p:nvPr/>
        </p:nvSpPr>
        <p:spPr>
          <a:xfrm>
            <a:off x="1066830" y="2319193"/>
            <a:ext cx="2730490" cy="0"/>
          </a:xfrm>
          <a:prstGeom prst="line">
            <a:avLst/>
          </a:prstGeom>
          <a:noFill/>
          <a:ln w="6350">
            <a:solidFill>
              <a:srgbClr val="E3E6EC"/>
            </a:solidFill>
            <a:prstDash val="solid"/>
          </a:ln>
        </p:spPr>
      </p:sp>
      <p:sp>
        <p:nvSpPr>
          <p:cNvPr id="5" name="Rule"/>
          <p:cNvSpPr/>
          <p:nvPr/>
        </p:nvSpPr>
        <p:spPr>
          <a:xfrm>
            <a:off x="3797320" y="2319193"/>
            <a:ext cx="3556010" cy="0"/>
          </a:xfrm>
          <a:prstGeom prst="line">
            <a:avLst/>
          </a:prstGeom>
          <a:noFill/>
          <a:ln w="6350">
            <a:solidFill>
              <a:srgbClr val="E3E6EC"/>
            </a:solidFill>
            <a:prstDash val="solid"/>
          </a:ln>
        </p:spPr>
      </p:sp>
      <p:sp>
        <p:nvSpPr>
          <p:cNvPr id="6" name="Rule"/>
          <p:cNvSpPr/>
          <p:nvPr/>
        </p:nvSpPr>
        <p:spPr>
          <a:xfrm>
            <a:off x="7353330" y="2319193"/>
            <a:ext cx="4127510" cy="0"/>
          </a:xfrm>
          <a:prstGeom prst="line">
            <a:avLst/>
          </a:prstGeom>
          <a:noFill/>
          <a:ln w="6350">
            <a:solidFill>
              <a:srgbClr val="E3E6EC"/>
            </a:solidFill>
            <a:prstDash val="solid"/>
          </a:ln>
        </p:spPr>
      </p:sp>
      <p:sp>
        <p:nvSpPr>
          <p:cNvPr id="7" name="Rule"/>
          <p:cNvSpPr/>
          <p:nvPr/>
        </p:nvSpPr>
        <p:spPr>
          <a:xfrm>
            <a:off x="711220" y="2722077"/>
            <a:ext cx="355610" cy="0"/>
          </a:xfrm>
          <a:prstGeom prst="line">
            <a:avLst/>
          </a:prstGeom>
          <a:noFill/>
          <a:ln w="6350">
            <a:solidFill>
              <a:srgbClr val="E3E6EC"/>
            </a:solidFill>
            <a:prstDash val="solid"/>
          </a:ln>
        </p:spPr>
      </p:sp>
      <p:sp>
        <p:nvSpPr>
          <p:cNvPr id="8" name="Rule"/>
          <p:cNvSpPr/>
          <p:nvPr/>
        </p:nvSpPr>
        <p:spPr>
          <a:xfrm>
            <a:off x="1066830" y="2722077"/>
            <a:ext cx="2730490" cy="0"/>
          </a:xfrm>
          <a:prstGeom prst="line">
            <a:avLst/>
          </a:prstGeom>
          <a:noFill/>
          <a:ln w="6350">
            <a:solidFill>
              <a:srgbClr val="E3E6EC"/>
            </a:solidFill>
            <a:prstDash val="solid"/>
          </a:ln>
        </p:spPr>
      </p:sp>
      <p:sp>
        <p:nvSpPr>
          <p:cNvPr id="9" name="us"/>
          <p:cNvSpPr/>
          <p:nvPr/>
        </p:nvSpPr>
        <p:spPr>
          <a:xfrm>
            <a:off x="3797320" y="2322393"/>
            <a:ext cx="3556010" cy="402793"/>
          </a:xfrm>
          <a:prstGeom prst="rect">
            <a:avLst/>
          </a:prstGeom>
          <a:solidFill>
            <a:srgbClr val="044BD9">
              <a:alpha val="8000"/>
            </a:srgbClr>
          </a:solidFill>
          <a:ln/>
        </p:spPr>
      </p:sp>
      <p:sp>
        <p:nvSpPr>
          <p:cNvPr id="10" name="Rule"/>
          <p:cNvSpPr/>
          <p:nvPr/>
        </p:nvSpPr>
        <p:spPr>
          <a:xfrm>
            <a:off x="3797320" y="2722077"/>
            <a:ext cx="3556010" cy="0"/>
          </a:xfrm>
          <a:prstGeom prst="line">
            <a:avLst/>
          </a:prstGeom>
          <a:noFill/>
          <a:ln w="6350">
            <a:solidFill>
              <a:srgbClr val="E3E6EC"/>
            </a:solidFill>
            <a:prstDash val="solid"/>
          </a:ln>
        </p:spPr>
      </p:sp>
      <p:sp>
        <p:nvSpPr>
          <p:cNvPr id="11" name="Rule"/>
          <p:cNvSpPr/>
          <p:nvPr/>
        </p:nvSpPr>
        <p:spPr>
          <a:xfrm>
            <a:off x="7353330" y="2722077"/>
            <a:ext cx="4127510" cy="0"/>
          </a:xfrm>
          <a:prstGeom prst="line">
            <a:avLst/>
          </a:prstGeom>
          <a:noFill/>
          <a:ln w="6350">
            <a:solidFill>
              <a:srgbClr val="E3E6EC"/>
            </a:solidFill>
            <a:prstDash val="solid"/>
          </a:ln>
        </p:spPr>
      </p:sp>
      <p:sp>
        <p:nvSpPr>
          <p:cNvPr id="12" name="Rule"/>
          <p:cNvSpPr/>
          <p:nvPr/>
        </p:nvSpPr>
        <p:spPr>
          <a:xfrm>
            <a:off x="711220" y="3124871"/>
            <a:ext cx="355610" cy="0"/>
          </a:xfrm>
          <a:prstGeom prst="line">
            <a:avLst/>
          </a:prstGeom>
          <a:noFill/>
          <a:ln w="6350">
            <a:solidFill>
              <a:srgbClr val="E3E6EC"/>
            </a:solidFill>
            <a:prstDash val="solid"/>
          </a:ln>
        </p:spPr>
      </p:sp>
      <p:sp>
        <p:nvSpPr>
          <p:cNvPr id="13" name="Rule"/>
          <p:cNvSpPr/>
          <p:nvPr/>
        </p:nvSpPr>
        <p:spPr>
          <a:xfrm>
            <a:off x="1066830" y="3124871"/>
            <a:ext cx="2730490" cy="0"/>
          </a:xfrm>
          <a:prstGeom prst="line">
            <a:avLst/>
          </a:prstGeom>
          <a:noFill/>
          <a:ln w="6350">
            <a:solidFill>
              <a:srgbClr val="E3E6EC"/>
            </a:solidFill>
            <a:prstDash val="solid"/>
          </a:ln>
        </p:spPr>
      </p:sp>
      <p:sp>
        <p:nvSpPr>
          <p:cNvPr id="14" name="us"/>
          <p:cNvSpPr/>
          <p:nvPr/>
        </p:nvSpPr>
        <p:spPr>
          <a:xfrm>
            <a:off x="3797320" y="2725278"/>
            <a:ext cx="3556010" cy="402793"/>
          </a:xfrm>
          <a:prstGeom prst="rect">
            <a:avLst/>
          </a:prstGeom>
          <a:solidFill>
            <a:srgbClr val="044BD9">
              <a:alpha val="8000"/>
            </a:srgbClr>
          </a:solidFill>
          <a:ln/>
        </p:spPr>
      </p:sp>
      <p:sp>
        <p:nvSpPr>
          <p:cNvPr id="15" name="Rule"/>
          <p:cNvSpPr/>
          <p:nvPr/>
        </p:nvSpPr>
        <p:spPr>
          <a:xfrm>
            <a:off x="3797320" y="3124871"/>
            <a:ext cx="3556010" cy="0"/>
          </a:xfrm>
          <a:prstGeom prst="line">
            <a:avLst/>
          </a:prstGeom>
          <a:noFill/>
          <a:ln w="6350">
            <a:solidFill>
              <a:srgbClr val="E3E6EC"/>
            </a:solidFill>
            <a:prstDash val="solid"/>
          </a:ln>
        </p:spPr>
      </p:sp>
      <p:sp>
        <p:nvSpPr>
          <p:cNvPr id="16" name="Rule"/>
          <p:cNvSpPr/>
          <p:nvPr/>
        </p:nvSpPr>
        <p:spPr>
          <a:xfrm>
            <a:off x="7353330" y="3124871"/>
            <a:ext cx="4127510" cy="0"/>
          </a:xfrm>
          <a:prstGeom prst="line">
            <a:avLst/>
          </a:prstGeom>
          <a:noFill/>
          <a:ln w="6350">
            <a:solidFill>
              <a:srgbClr val="E3E6EC"/>
            </a:solidFill>
            <a:prstDash val="solid"/>
          </a:ln>
        </p:spPr>
      </p:sp>
      <p:sp>
        <p:nvSpPr>
          <p:cNvPr id="17" name="Rule"/>
          <p:cNvSpPr/>
          <p:nvPr/>
        </p:nvSpPr>
        <p:spPr>
          <a:xfrm>
            <a:off x="711220" y="3527755"/>
            <a:ext cx="355610" cy="0"/>
          </a:xfrm>
          <a:prstGeom prst="line">
            <a:avLst/>
          </a:prstGeom>
          <a:noFill/>
          <a:ln w="6350">
            <a:solidFill>
              <a:srgbClr val="E3E6EC"/>
            </a:solidFill>
            <a:prstDash val="solid"/>
          </a:ln>
        </p:spPr>
      </p:sp>
      <p:sp>
        <p:nvSpPr>
          <p:cNvPr id="18" name="Rule"/>
          <p:cNvSpPr/>
          <p:nvPr/>
        </p:nvSpPr>
        <p:spPr>
          <a:xfrm>
            <a:off x="1066830" y="3527755"/>
            <a:ext cx="2730490" cy="0"/>
          </a:xfrm>
          <a:prstGeom prst="line">
            <a:avLst/>
          </a:prstGeom>
          <a:noFill/>
          <a:ln w="6350">
            <a:solidFill>
              <a:srgbClr val="E3E6EC"/>
            </a:solidFill>
            <a:prstDash val="solid"/>
          </a:ln>
        </p:spPr>
      </p:sp>
      <p:sp>
        <p:nvSpPr>
          <p:cNvPr id="19" name="us"/>
          <p:cNvSpPr/>
          <p:nvPr/>
        </p:nvSpPr>
        <p:spPr>
          <a:xfrm>
            <a:off x="3797320" y="3128071"/>
            <a:ext cx="3556010" cy="402793"/>
          </a:xfrm>
          <a:prstGeom prst="rect">
            <a:avLst/>
          </a:prstGeom>
          <a:solidFill>
            <a:srgbClr val="044BD9">
              <a:alpha val="8000"/>
            </a:srgbClr>
          </a:solidFill>
          <a:ln/>
        </p:spPr>
      </p:sp>
      <p:sp>
        <p:nvSpPr>
          <p:cNvPr id="20" name="Rule"/>
          <p:cNvSpPr/>
          <p:nvPr/>
        </p:nvSpPr>
        <p:spPr>
          <a:xfrm>
            <a:off x="3797320" y="3527755"/>
            <a:ext cx="3556010" cy="0"/>
          </a:xfrm>
          <a:prstGeom prst="line">
            <a:avLst/>
          </a:prstGeom>
          <a:noFill/>
          <a:ln w="6350">
            <a:solidFill>
              <a:srgbClr val="E3E6EC"/>
            </a:solidFill>
            <a:prstDash val="solid"/>
          </a:ln>
        </p:spPr>
      </p:sp>
      <p:sp>
        <p:nvSpPr>
          <p:cNvPr id="21" name="Rule"/>
          <p:cNvSpPr/>
          <p:nvPr/>
        </p:nvSpPr>
        <p:spPr>
          <a:xfrm>
            <a:off x="7353330" y="3527755"/>
            <a:ext cx="4127510" cy="0"/>
          </a:xfrm>
          <a:prstGeom prst="line">
            <a:avLst/>
          </a:prstGeom>
          <a:noFill/>
          <a:ln w="6350">
            <a:solidFill>
              <a:srgbClr val="E3E6EC"/>
            </a:solidFill>
            <a:prstDash val="solid"/>
          </a:ln>
        </p:spPr>
      </p:sp>
      <p:sp>
        <p:nvSpPr>
          <p:cNvPr id="22" name="Rule"/>
          <p:cNvSpPr/>
          <p:nvPr/>
        </p:nvSpPr>
        <p:spPr>
          <a:xfrm>
            <a:off x="711220" y="4123853"/>
            <a:ext cx="355610" cy="0"/>
          </a:xfrm>
          <a:prstGeom prst="line">
            <a:avLst/>
          </a:prstGeom>
          <a:noFill/>
          <a:ln w="6350">
            <a:solidFill>
              <a:srgbClr val="E3E6EC"/>
            </a:solidFill>
            <a:prstDash val="solid"/>
          </a:ln>
        </p:spPr>
      </p:sp>
      <p:sp>
        <p:nvSpPr>
          <p:cNvPr id="23" name="Rule"/>
          <p:cNvSpPr/>
          <p:nvPr/>
        </p:nvSpPr>
        <p:spPr>
          <a:xfrm>
            <a:off x="1066830" y="4123853"/>
            <a:ext cx="2730490" cy="0"/>
          </a:xfrm>
          <a:prstGeom prst="line">
            <a:avLst/>
          </a:prstGeom>
          <a:noFill/>
          <a:ln w="6350">
            <a:solidFill>
              <a:srgbClr val="E3E6EC"/>
            </a:solidFill>
            <a:prstDash val="solid"/>
          </a:ln>
        </p:spPr>
      </p:sp>
      <p:sp>
        <p:nvSpPr>
          <p:cNvPr id="24" name="us"/>
          <p:cNvSpPr/>
          <p:nvPr/>
        </p:nvSpPr>
        <p:spPr>
          <a:xfrm>
            <a:off x="3797320" y="3530864"/>
            <a:ext cx="3556010" cy="596097"/>
          </a:xfrm>
          <a:prstGeom prst="rect">
            <a:avLst/>
          </a:prstGeom>
          <a:solidFill>
            <a:srgbClr val="044BD9">
              <a:alpha val="8000"/>
            </a:srgbClr>
          </a:solidFill>
          <a:ln/>
        </p:spPr>
      </p:sp>
      <p:sp>
        <p:nvSpPr>
          <p:cNvPr id="25" name="Rule"/>
          <p:cNvSpPr/>
          <p:nvPr/>
        </p:nvSpPr>
        <p:spPr>
          <a:xfrm>
            <a:off x="3797320" y="4123853"/>
            <a:ext cx="3556010" cy="0"/>
          </a:xfrm>
          <a:prstGeom prst="line">
            <a:avLst/>
          </a:prstGeom>
          <a:noFill/>
          <a:ln w="6350">
            <a:solidFill>
              <a:srgbClr val="E3E6EC"/>
            </a:solidFill>
            <a:prstDash val="solid"/>
          </a:ln>
        </p:spPr>
      </p:sp>
      <p:sp>
        <p:nvSpPr>
          <p:cNvPr id="26" name="Rule"/>
          <p:cNvSpPr/>
          <p:nvPr/>
        </p:nvSpPr>
        <p:spPr>
          <a:xfrm>
            <a:off x="7353330" y="4123853"/>
            <a:ext cx="4127510" cy="0"/>
          </a:xfrm>
          <a:prstGeom prst="line">
            <a:avLst/>
          </a:prstGeom>
          <a:noFill/>
          <a:ln w="6350">
            <a:solidFill>
              <a:srgbClr val="E3E6EC"/>
            </a:solidFill>
            <a:prstDash val="solid"/>
          </a:ln>
        </p:spPr>
      </p:sp>
      <p:sp>
        <p:nvSpPr>
          <p:cNvPr id="27" name="Rule"/>
          <p:cNvSpPr/>
          <p:nvPr/>
        </p:nvSpPr>
        <p:spPr>
          <a:xfrm>
            <a:off x="711220" y="4719950"/>
            <a:ext cx="355610" cy="0"/>
          </a:xfrm>
          <a:prstGeom prst="line">
            <a:avLst/>
          </a:prstGeom>
          <a:noFill/>
          <a:ln w="6350">
            <a:solidFill>
              <a:srgbClr val="E3E6EC"/>
            </a:solidFill>
            <a:prstDash val="solid"/>
          </a:ln>
        </p:spPr>
      </p:sp>
      <p:sp>
        <p:nvSpPr>
          <p:cNvPr id="28" name="Rule"/>
          <p:cNvSpPr/>
          <p:nvPr/>
        </p:nvSpPr>
        <p:spPr>
          <a:xfrm>
            <a:off x="1066830" y="4719950"/>
            <a:ext cx="2730490" cy="0"/>
          </a:xfrm>
          <a:prstGeom prst="line">
            <a:avLst/>
          </a:prstGeom>
          <a:noFill/>
          <a:ln w="6350">
            <a:solidFill>
              <a:srgbClr val="E3E6EC"/>
            </a:solidFill>
            <a:prstDash val="solid"/>
          </a:ln>
        </p:spPr>
      </p:sp>
      <p:sp>
        <p:nvSpPr>
          <p:cNvPr id="29" name="us"/>
          <p:cNvSpPr/>
          <p:nvPr/>
        </p:nvSpPr>
        <p:spPr>
          <a:xfrm>
            <a:off x="3797320" y="4126962"/>
            <a:ext cx="3556010" cy="596097"/>
          </a:xfrm>
          <a:prstGeom prst="rect">
            <a:avLst/>
          </a:prstGeom>
          <a:solidFill>
            <a:srgbClr val="044BD9">
              <a:alpha val="8000"/>
            </a:srgbClr>
          </a:solidFill>
          <a:ln/>
        </p:spPr>
      </p:sp>
      <p:sp>
        <p:nvSpPr>
          <p:cNvPr id="30" name="Rule"/>
          <p:cNvSpPr/>
          <p:nvPr/>
        </p:nvSpPr>
        <p:spPr>
          <a:xfrm>
            <a:off x="3797320" y="4719950"/>
            <a:ext cx="3556010" cy="0"/>
          </a:xfrm>
          <a:prstGeom prst="line">
            <a:avLst/>
          </a:prstGeom>
          <a:noFill/>
          <a:ln w="6350">
            <a:solidFill>
              <a:srgbClr val="E3E6EC"/>
            </a:solidFill>
            <a:prstDash val="solid"/>
          </a:ln>
        </p:spPr>
      </p:sp>
      <p:sp>
        <p:nvSpPr>
          <p:cNvPr id="31" name="Rule"/>
          <p:cNvSpPr/>
          <p:nvPr/>
        </p:nvSpPr>
        <p:spPr>
          <a:xfrm>
            <a:off x="7353330" y="4719950"/>
            <a:ext cx="4127510" cy="0"/>
          </a:xfrm>
          <a:prstGeom prst="line">
            <a:avLst/>
          </a:prstGeom>
          <a:noFill/>
          <a:ln w="6350">
            <a:solidFill>
              <a:srgbClr val="E3E6EC"/>
            </a:solidFill>
            <a:prstDash val="solid"/>
          </a:ln>
        </p:spPr>
      </p:sp>
      <p:sp>
        <p:nvSpPr>
          <p:cNvPr id="32" name="Rule"/>
          <p:cNvSpPr/>
          <p:nvPr/>
        </p:nvSpPr>
        <p:spPr>
          <a:xfrm>
            <a:off x="711220" y="5122743"/>
            <a:ext cx="355610" cy="0"/>
          </a:xfrm>
          <a:prstGeom prst="line">
            <a:avLst/>
          </a:prstGeom>
          <a:noFill/>
          <a:ln w="6350">
            <a:solidFill>
              <a:srgbClr val="E3E6EC"/>
            </a:solidFill>
            <a:prstDash val="solid"/>
          </a:ln>
        </p:spPr>
      </p:sp>
      <p:sp>
        <p:nvSpPr>
          <p:cNvPr id="33" name="Rule"/>
          <p:cNvSpPr/>
          <p:nvPr/>
        </p:nvSpPr>
        <p:spPr>
          <a:xfrm>
            <a:off x="1066830" y="5122743"/>
            <a:ext cx="2730490" cy="0"/>
          </a:xfrm>
          <a:prstGeom prst="line">
            <a:avLst/>
          </a:prstGeom>
          <a:noFill/>
          <a:ln w="6350">
            <a:solidFill>
              <a:srgbClr val="E3E6EC"/>
            </a:solidFill>
            <a:prstDash val="solid"/>
          </a:ln>
        </p:spPr>
      </p:sp>
      <p:sp>
        <p:nvSpPr>
          <p:cNvPr id="34" name="us"/>
          <p:cNvSpPr/>
          <p:nvPr/>
        </p:nvSpPr>
        <p:spPr>
          <a:xfrm>
            <a:off x="3797320" y="4723150"/>
            <a:ext cx="3556010" cy="402793"/>
          </a:xfrm>
          <a:prstGeom prst="rect">
            <a:avLst/>
          </a:prstGeom>
          <a:solidFill>
            <a:srgbClr val="044BD9">
              <a:alpha val="8000"/>
            </a:srgbClr>
          </a:solidFill>
          <a:ln/>
        </p:spPr>
      </p:sp>
      <p:sp>
        <p:nvSpPr>
          <p:cNvPr id="35" name="Rule"/>
          <p:cNvSpPr/>
          <p:nvPr/>
        </p:nvSpPr>
        <p:spPr>
          <a:xfrm>
            <a:off x="3797320" y="5122743"/>
            <a:ext cx="3556010" cy="0"/>
          </a:xfrm>
          <a:prstGeom prst="line">
            <a:avLst/>
          </a:prstGeom>
          <a:noFill/>
          <a:ln w="6350">
            <a:solidFill>
              <a:srgbClr val="E3E6EC"/>
            </a:solidFill>
            <a:prstDash val="solid"/>
          </a:ln>
        </p:spPr>
      </p:sp>
      <p:sp>
        <p:nvSpPr>
          <p:cNvPr id="36" name="Rule"/>
          <p:cNvSpPr/>
          <p:nvPr/>
        </p:nvSpPr>
        <p:spPr>
          <a:xfrm>
            <a:off x="7353330" y="5122743"/>
            <a:ext cx="4127510" cy="0"/>
          </a:xfrm>
          <a:prstGeom prst="line">
            <a:avLst/>
          </a:prstGeom>
          <a:noFill/>
          <a:ln w="6350">
            <a:solidFill>
              <a:srgbClr val="E3E6EC"/>
            </a:solidFill>
            <a:prstDash val="solid"/>
          </a:ln>
        </p:spPr>
      </p:sp>
      <p:sp>
        <p:nvSpPr>
          <p:cNvPr id="37" name="us"/>
          <p:cNvSpPr/>
          <p:nvPr/>
        </p:nvSpPr>
        <p:spPr>
          <a:xfrm>
            <a:off x="3797320" y="5125944"/>
            <a:ext cx="3556010" cy="399684"/>
          </a:xfrm>
          <a:prstGeom prst="rect">
            <a:avLst/>
          </a:prstGeom>
          <a:solidFill>
            <a:srgbClr val="044BD9">
              <a:alpha val="8000"/>
            </a:srgbClr>
          </a:solidFill>
          <a:ln/>
        </p:spPr>
      </p:sp>
      <p:sp>
        <p:nvSpPr>
          <p:cNvPr id="38" name="Rule"/>
          <p:cNvSpPr/>
          <p:nvPr/>
        </p:nvSpPr>
        <p:spPr>
          <a:xfrm>
            <a:off x="711220" y="5732008"/>
            <a:ext cx="10769620" cy="0"/>
          </a:xfrm>
          <a:prstGeom prst="line">
            <a:avLst/>
          </a:prstGeom>
          <a:noFill/>
          <a:ln w="6350">
            <a:solidFill>
              <a:srgbClr val="E3E6EC"/>
            </a:solidFill>
            <a:prstDash val="solid"/>
          </a:ln>
        </p:spPr>
      </p:sp>
      <p:sp>
        <p:nvSpPr>
          <p:cNvPr id="39" name="span::before"/>
          <p:cNvSpPr/>
          <p:nvPr/>
        </p:nvSpPr>
        <p:spPr>
          <a:xfrm>
            <a:off x="6191860" y="311170"/>
            <a:ext cx="44440" cy="44440"/>
          </a:xfrm>
          <a:prstGeom prst="rect">
            <a:avLst/>
          </a:prstGeom>
          <a:solidFill>
            <a:srgbClr val="A0A6AF">
              <a:alpha val="55000"/>
            </a:srgbClr>
          </a:solidFill>
          <a:ln/>
        </p:spPr>
      </p:sp>
      <p:sp>
        <p:nvSpPr>
          <p:cNvPr id="40" name="span::before"/>
          <p:cNvSpPr/>
          <p:nvPr/>
        </p:nvSpPr>
        <p:spPr>
          <a:xfrm>
            <a:off x="7145213" y="311170"/>
            <a:ext cx="44440" cy="44440"/>
          </a:xfrm>
          <a:prstGeom prst="rect">
            <a:avLst/>
          </a:prstGeom>
          <a:solidFill>
            <a:srgbClr val="A0A6AF">
              <a:alpha val="55000"/>
            </a:srgbClr>
          </a:solidFill>
          <a:ln/>
        </p:spPr>
      </p:sp>
      <p:sp>
        <p:nvSpPr>
          <p:cNvPr id="41" name="span::before"/>
          <p:cNvSpPr/>
          <p:nvPr/>
        </p:nvSpPr>
        <p:spPr>
          <a:xfrm>
            <a:off x="8056230" y="311170"/>
            <a:ext cx="44440" cy="44440"/>
          </a:xfrm>
          <a:prstGeom prst="rect">
            <a:avLst/>
          </a:prstGeom>
          <a:solidFill>
            <a:srgbClr val="A0A6AF">
              <a:alpha val="55000"/>
            </a:srgbClr>
          </a:solidFill>
          <a:ln/>
        </p:spPr>
      </p:sp>
      <p:sp>
        <p:nvSpPr>
          <p:cNvPr id="42" name="span::before"/>
          <p:cNvSpPr/>
          <p:nvPr/>
        </p:nvSpPr>
        <p:spPr>
          <a:xfrm>
            <a:off x="8972550" y="311170"/>
            <a:ext cx="44440" cy="44440"/>
          </a:xfrm>
          <a:prstGeom prst="rect">
            <a:avLst/>
          </a:prstGeom>
          <a:solidFill>
            <a:srgbClr val="A0A6AF">
              <a:alpha val="55000"/>
            </a:srgbClr>
          </a:solidFill>
          <a:ln/>
        </p:spPr>
      </p:sp>
      <p:sp>
        <p:nvSpPr>
          <p:cNvPr id="43" name="span::before"/>
          <p:cNvSpPr/>
          <p:nvPr/>
        </p:nvSpPr>
        <p:spPr>
          <a:xfrm>
            <a:off x="10421142" y="311170"/>
            <a:ext cx="44440" cy="44440"/>
          </a:xfrm>
          <a:prstGeom prst="rect">
            <a:avLst/>
          </a:prstGeom>
          <a:solidFill>
            <a:srgbClr val="A0A6AF">
              <a:alpha val="55000"/>
            </a:srgbClr>
          </a:solidFill>
          <a:ln/>
        </p:spPr>
      </p:sp>
      <p:sp>
        <p:nvSpPr>
          <p:cNvPr id="44" name="on::before"/>
          <p:cNvSpPr/>
          <p:nvPr/>
        </p:nvSpPr>
        <p:spPr>
          <a:xfrm>
            <a:off x="10966216" y="311170"/>
            <a:ext cx="44440" cy="44440"/>
          </a:xfrm>
          <a:prstGeom prst="rect">
            <a:avLst/>
          </a:prstGeom>
          <a:solidFill>
            <a:srgbClr val="044BD9"/>
          </a:solidFill>
          <a:ln/>
        </p:spPr>
      </p:sp>
      <p:sp>
        <p:nvSpPr>
          <p:cNvPr id="45" name="Text"/>
          <p:cNvSpPr txBox="1"/>
          <p:nvPr/>
        </p:nvSpPr>
        <p:spPr>
          <a:xfrm>
            <a:off x="844540" y="609265"/>
            <a:ext cx="714969"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Why ALPHV</a:t>
            </a:r>
            <a:endParaRPr lang="en-US" sz="950" dirty="0"/>
          </a:p>
        </p:txBody>
      </p:sp>
      <p:sp>
        <p:nvSpPr>
          <p:cNvPr id="46"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Seven questions to ask any AI partner,</a:t>
            </a:r>
            <a:endParaRPr lang="en-US" sz="3000" dirty="0"/>
          </a:p>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and how ALPHV answers them</a:t>
            </a:r>
            <a:endParaRPr lang="en-US" sz="3000" dirty="0"/>
          </a:p>
        </p:txBody>
      </p:sp>
      <p:sp>
        <p:nvSpPr>
          <p:cNvPr id="47" name="Text"/>
          <p:cNvSpPr txBox="1"/>
          <p:nvPr/>
        </p:nvSpPr>
        <p:spPr>
          <a:xfrm>
            <a:off x="1066830" y="2062612"/>
            <a:ext cx="2626614"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Question to ask</a:t>
            </a:r>
            <a:endParaRPr lang="en-US" sz="850" dirty="0"/>
          </a:p>
        </p:txBody>
      </p:sp>
      <p:sp>
        <p:nvSpPr>
          <p:cNvPr id="48" name="Text"/>
          <p:cNvSpPr txBox="1"/>
          <p:nvPr/>
        </p:nvSpPr>
        <p:spPr>
          <a:xfrm>
            <a:off x="3949659" y="2062612"/>
            <a:ext cx="3302447"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044BD9"/>
                </a:solidFill>
                <a:latin typeface="Poppins Medium" pitchFamily="34" charset="0"/>
                <a:ea typeface="Poppins Medium" pitchFamily="34" charset="-122"/>
                <a:cs typeface="Poppins Medium" pitchFamily="34" charset="-120"/>
              </a:rPr>
              <a:t>ALPHV’s answer</a:t>
            </a:r>
            <a:endParaRPr lang="en-US" sz="850" dirty="0"/>
          </a:p>
        </p:txBody>
      </p:sp>
      <p:sp>
        <p:nvSpPr>
          <p:cNvPr id="49" name="Text"/>
          <p:cNvSpPr txBox="1"/>
          <p:nvPr/>
        </p:nvSpPr>
        <p:spPr>
          <a:xfrm>
            <a:off x="7531090" y="2062612"/>
            <a:ext cx="3850721" cy="156545"/>
          </a:xfrm>
          <a:prstGeom prst="rect">
            <a:avLst/>
          </a:prstGeom>
          <a:noFill/>
          <a:ln/>
        </p:spPr>
        <p:txBody>
          <a:bodyPr wrap="square" lIns="0" tIns="0" rIns="0" bIns="0" rtlCol="0" anchor="t"/>
          <a:lstStyle/>
          <a:p>
            <a:pPr algn="l" indent="0" marL="0">
              <a:lnSpc>
                <a:spcPts val="1232"/>
              </a:lnSpc>
              <a:buNone/>
            </a:pPr>
            <a:r>
              <a:rPr lang="en-US" sz="850" spc="17" kern="0" dirty="0">
                <a:solidFill>
                  <a:srgbClr val="6B6B6B"/>
                </a:solidFill>
                <a:latin typeface="Poppins Medium" pitchFamily="34" charset="0"/>
                <a:ea typeface="Poppins Medium" pitchFamily="34" charset="-122"/>
                <a:cs typeface="Poppins Medium" pitchFamily="34" charset="-120"/>
              </a:rPr>
              <a:t>Evidence</a:t>
            </a:r>
            <a:endParaRPr lang="en-US" sz="850" dirty="0"/>
          </a:p>
        </p:txBody>
      </p:sp>
      <p:sp>
        <p:nvSpPr>
          <p:cNvPr id="50" name="Text"/>
          <p:cNvSpPr txBox="1"/>
          <p:nvPr/>
        </p:nvSpPr>
        <p:spPr>
          <a:xfrm>
            <a:off x="711220" y="2411273"/>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01</a:t>
            </a:r>
            <a:endParaRPr lang="en-US" sz="1050" dirty="0"/>
          </a:p>
        </p:txBody>
      </p:sp>
      <p:sp>
        <p:nvSpPr>
          <p:cNvPr id="51" name="Text"/>
          <p:cNvSpPr txBox="1"/>
          <p:nvPr/>
        </p:nvSpPr>
        <p:spPr>
          <a:xfrm>
            <a:off x="1066830" y="2411273"/>
            <a:ext cx="2626614" cy="193396"/>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Who builds what you scoped?</a:t>
            </a:r>
            <a:endParaRPr lang="en-US" sz="1050" dirty="0"/>
          </a:p>
        </p:txBody>
      </p:sp>
      <p:sp>
        <p:nvSpPr>
          <p:cNvPr id="52" name="Text"/>
          <p:cNvSpPr txBox="1"/>
          <p:nvPr/>
        </p:nvSpPr>
        <p:spPr>
          <a:xfrm>
            <a:off x="3949659" y="2411273"/>
            <a:ext cx="3327867"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The engineers who scope it ship and improve it</a:t>
            </a:r>
            <a:endParaRPr lang="en-US" sz="1050" dirty="0"/>
          </a:p>
        </p:txBody>
      </p:sp>
      <p:sp>
        <p:nvSpPr>
          <p:cNvPr id="53" name="Text"/>
          <p:cNvSpPr txBox="1"/>
          <p:nvPr/>
        </p:nvSpPr>
        <p:spPr>
          <a:xfrm>
            <a:off x="7531090" y="2411273"/>
            <a:ext cx="3978189"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A founder-led team of 15+, 100% Malaysian</a:t>
            </a:r>
            <a:endParaRPr lang="en-US" sz="1050" dirty="0"/>
          </a:p>
        </p:txBody>
      </p:sp>
      <p:sp>
        <p:nvSpPr>
          <p:cNvPr id="54" name="Text"/>
          <p:cNvSpPr txBox="1"/>
          <p:nvPr/>
        </p:nvSpPr>
        <p:spPr>
          <a:xfrm>
            <a:off x="711220" y="2814066"/>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02</a:t>
            </a:r>
            <a:endParaRPr lang="en-US" sz="1050" dirty="0"/>
          </a:p>
        </p:txBody>
      </p:sp>
      <p:sp>
        <p:nvSpPr>
          <p:cNvPr id="55" name="Text"/>
          <p:cNvSpPr txBox="1"/>
          <p:nvPr/>
        </p:nvSpPr>
        <p:spPr>
          <a:xfrm>
            <a:off x="1066830" y="2814066"/>
            <a:ext cx="2626614" cy="193396"/>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Where does the work start?</a:t>
            </a:r>
            <a:endParaRPr lang="en-US" sz="1050" dirty="0"/>
          </a:p>
        </p:txBody>
      </p:sp>
      <p:sp>
        <p:nvSpPr>
          <p:cNvPr id="56" name="Text"/>
          <p:cNvSpPr txBox="1"/>
          <p:nvPr/>
        </p:nvSpPr>
        <p:spPr>
          <a:xfrm>
            <a:off x="3949659" y="2814066"/>
            <a:ext cx="3327867"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With the business case, before any build starts</a:t>
            </a:r>
            <a:endParaRPr lang="en-US" sz="1050" dirty="0"/>
          </a:p>
        </p:txBody>
      </p:sp>
      <p:sp>
        <p:nvSpPr>
          <p:cNvPr id="57" name="Text"/>
          <p:cNvSpPr txBox="1"/>
          <p:nvPr/>
        </p:nvSpPr>
        <p:spPr>
          <a:xfrm>
            <a:off x="7531090" y="2814066"/>
            <a:ext cx="3978189"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Tech advisory, data audit and AI strategy for EasyRenz</a:t>
            </a:r>
            <a:endParaRPr lang="en-US" sz="1050" dirty="0"/>
          </a:p>
        </p:txBody>
      </p:sp>
      <p:sp>
        <p:nvSpPr>
          <p:cNvPr id="58" name="Text"/>
          <p:cNvSpPr txBox="1"/>
          <p:nvPr/>
        </p:nvSpPr>
        <p:spPr>
          <a:xfrm>
            <a:off x="711220" y="3216951"/>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03</a:t>
            </a:r>
            <a:endParaRPr lang="en-US" sz="1050" dirty="0"/>
          </a:p>
        </p:txBody>
      </p:sp>
      <p:sp>
        <p:nvSpPr>
          <p:cNvPr id="59" name="Text"/>
          <p:cNvSpPr txBox="1"/>
          <p:nvPr/>
        </p:nvSpPr>
        <p:spPr>
          <a:xfrm>
            <a:off x="1066830" y="3216951"/>
            <a:ext cx="2626614" cy="193396"/>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Where will our data run?</a:t>
            </a:r>
            <a:endParaRPr lang="en-US" sz="1050" dirty="0"/>
          </a:p>
        </p:txBody>
      </p:sp>
      <p:sp>
        <p:nvSpPr>
          <p:cNvPr id="60" name="Text"/>
          <p:cNvSpPr txBox="1"/>
          <p:nvPr/>
        </p:nvSpPr>
        <p:spPr>
          <a:xfrm>
            <a:off x="3949659" y="3216951"/>
            <a:ext cx="3327867"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Locally hosted, where data must stay in-house</a:t>
            </a:r>
            <a:endParaRPr lang="en-US" sz="1050" dirty="0"/>
          </a:p>
        </p:txBody>
      </p:sp>
      <p:sp>
        <p:nvSpPr>
          <p:cNvPr id="61" name="Text"/>
          <p:cNvSpPr txBox="1"/>
          <p:nvPr/>
        </p:nvSpPr>
        <p:spPr>
          <a:xfrm>
            <a:off x="7531090" y="3216951"/>
            <a:ext cx="3978189"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Client data stays inside a 36-year-old law firm</a:t>
            </a:r>
            <a:endParaRPr lang="en-US" sz="1050" dirty="0"/>
          </a:p>
        </p:txBody>
      </p:sp>
      <p:sp>
        <p:nvSpPr>
          <p:cNvPr id="62" name="Text"/>
          <p:cNvSpPr txBox="1"/>
          <p:nvPr/>
        </p:nvSpPr>
        <p:spPr>
          <a:xfrm>
            <a:off x="711220" y="3619744"/>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04</a:t>
            </a:r>
            <a:endParaRPr lang="en-US" sz="1050" dirty="0"/>
          </a:p>
        </p:txBody>
      </p:sp>
      <p:sp>
        <p:nvSpPr>
          <p:cNvPr id="63" name="Text"/>
          <p:cNvSpPr txBox="1"/>
          <p:nvPr/>
        </p:nvSpPr>
        <p:spPr>
          <a:xfrm>
            <a:off x="1066830" y="3619744"/>
            <a:ext cx="2626614" cy="193396"/>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Which models?</a:t>
            </a:r>
            <a:endParaRPr lang="en-US" sz="1050" dirty="0"/>
          </a:p>
        </p:txBody>
      </p:sp>
      <p:sp>
        <p:nvSpPr>
          <p:cNvPr id="64" name="Text"/>
          <p:cNvSpPr txBox="1"/>
          <p:nvPr/>
        </p:nvSpPr>
        <p:spPr>
          <a:xfrm>
            <a:off x="3949659" y="3619744"/>
            <a:ext cx="3327410" cy="193396"/>
          </a:xfrm>
          <a:prstGeom prst="rect">
            <a:avLst/>
          </a:prstGeom>
          <a:noFill/>
          <a:ln/>
        </p:spPr>
        <p:txBody>
          <a:bodyPr wrap="non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Per project: Qwen, Claude, OpenAI, Gemini or ILMU</a:t>
            </a:r>
            <a:endParaRPr lang="en-US" sz="1050" dirty="0"/>
          </a:p>
        </p:txBody>
      </p:sp>
      <p:sp>
        <p:nvSpPr>
          <p:cNvPr id="65" name="Text"/>
          <p:cNvSpPr txBox="1"/>
          <p:nvPr/>
        </p:nvSpPr>
        <p:spPr>
          <a:xfrm>
            <a:off x="7531090" y="3619744"/>
            <a:ext cx="4133088" cy="386700"/>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Qwen (legal), Qwen and Claude (medicolegal claims),</a:t>
            </a:r>
            <a:endParaRPr lang="en-US" sz="1050" dirty="0"/>
          </a:p>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Gemini (retail)</a:t>
            </a:r>
            <a:endParaRPr lang="en-US" sz="1050" dirty="0"/>
          </a:p>
        </p:txBody>
      </p:sp>
      <p:sp>
        <p:nvSpPr>
          <p:cNvPr id="66" name="Text"/>
          <p:cNvSpPr txBox="1"/>
          <p:nvPr/>
        </p:nvSpPr>
        <p:spPr>
          <a:xfrm>
            <a:off x="711220" y="4215841"/>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05</a:t>
            </a:r>
            <a:endParaRPr lang="en-US" sz="1050" dirty="0"/>
          </a:p>
        </p:txBody>
      </p:sp>
      <p:sp>
        <p:nvSpPr>
          <p:cNvPr id="67" name="Text"/>
          <p:cNvSpPr txBox="1"/>
          <p:nvPr/>
        </p:nvSpPr>
        <p:spPr>
          <a:xfrm>
            <a:off x="1066830" y="4215841"/>
            <a:ext cx="2626614" cy="386700"/>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Can it reach our local systems and portals?</a:t>
            </a:r>
            <a:endParaRPr lang="en-US" sz="1050" dirty="0"/>
          </a:p>
        </p:txBody>
      </p:sp>
      <p:sp>
        <p:nvSpPr>
          <p:cNvPr id="68" name="Text"/>
          <p:cNvSpPr txBox="1"/>
          <p:nvPr/>
        </p:nvSpPr>
        <p:spPr>
          <a:xfrm>
            <a:off x="3949659" y="4215841"/>
            <a:ext cx="3327410" cy="193396"/>
          </a:xfrm>
          <a:prstGeom prst="rect">
            <a:avLst/>
          </a:prstGeom>
          <a:noFill/>
          <a:ln/>
        </p:spPr>
        <p:txBody>
          <a:bodyPr wrap="non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Yes, from ERP and CRM to SSM and CTOS portals</a:t>
            </a:r>
            <a:endParaRPr lang="en-US" sz="1050" dirty="0"/>
          </a:p>
        </p:txBody>
      </p:sp>
      <p:sp>
        <p:nvSpPr>
          <p:cNvPr id="69" name="Text"/>
          <p:cNvSpPr txBox="1"/>
          <p:nvPr/>
        </p:nvSpPr>
        <p:spPr>
          <a:xfrm>
            <a:off x="7531090" y="4215841"/>
            <a:ext cx="3978189"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90+ third-party portal automations for one law firm</a:t>
            </a:r>
            <a:endParaRPr lang="en-US" sz="1050" dirty="0"/>
          </a:p>
        </p:txBody>
      </p:sp>
      <p:sp>
        <p:nvSpPr>
          <p:cNvPr id="70" name="Text"/>
          <p:cNvSpPr txBox="1"/>
          <p:nvPr/>
        </p:nvSpPr>
        <p:spPr>
          <a:xfrm>
            <a:off x="711220" y="4811939"/>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06</a:t>
            </a:r>
            <a:endParaRPr lang="en-US" sz="1050" dirty="0"/>
          </a:p>
        </p:txBody>
      </p:sp>
      <p:sp>
        <p:nvSpPr>
          <p:cNvPr id="71" name="Text"/>
          <p:cNvSpPr txBox="1"/>
          <p:nvPr/>
        </p:nvSpPr>
        <p:spPr>
          <a:xfrm>
            <a:off x="1066830" y="4811939"/>
            <a:ext cx="2626614" cy="193396"/>
          </a:xfrm>
          <a:prstGeom prst="rect">
            <a:avLst/>
          </a:prstGeom>
          <a:noFill/>
          <a:ln/>
        </p:spPr>
        <p:txBody>
          <a:bodyPr wrap="squar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What happens after go-live?</a:t>
            </a:r>
            <a:endParaRPr lang="en-US" sz="1050" dirty="0"/>
          </a:p>
        </p:txBody>
      </p:sp>
      <p:sp>
        <p:nvSpPr>
          <p:cNvPr id="72" name="Text"/>
          <p:cNvSpPr txBox="1"/>
          <p:nvPr/>
        </p:nvSpPr>
        <p:spPr>
          <a:xfrm>
            <a:off x="3949659" y="4811939"/>
            <a:ext cx="3327867"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We stay to review, iterate and improve</a:t>
            </a:r>
            <a:endParaRPr lang="en-US" sz="1050" dirty="0"/>
          </a:p>
        </p:txBody>
      </p:sp>
      <p:sp>
        <p:nvSpPr>
          <p:cNvPr id="73" name="Text"/>
          <p:cNvSpPr txBox="1"/>
          <p:nvPr/>
        </p:nvSpPr>
        <p:spPr>
          <a:xfrm>
            <a:off x="7531090" y="4811939"/>
            <a:ext cx="3975080" cy="193396"/>
          </a:xfrm>
          <a:prstGeom prst="rect">
            <a:avLst/>
          </a:prstGeom>
          <a:noFill/>
          <a:ln/>
        </p:spPr>
        <p:txBody>
          <a:bodyPr wrap="non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An Improve step on every service, scoped in from day one</a:t>
            </a:r>
            <a:endParaRPr lang="en-US" sz="1050" dirty="0"/>
          </a:p>
        </p:txBody>
      </p:sp>
      <p:sp>
        <p:nvSpPr>
          <p:cNvPr id="74" name="Text"/>
          <p:cNvSpPr txBox="1"/>
          <p:nvPr/>
        </p:nvSpPr>
        <p:spPr>
          <a:xfrm>
            <a:off x="711220" y="5214732"/>
            <a:ext cx="242225" cy="193396"/>
          </a:xfrm>
          <a:prstGeom prst="rect">
            <a:avLst/>
          </a:prstGeom>
          <a:noFill/>
          <a:ln/>
        </p:spPr>
        <p:txBody>
          <a:bodyPr wrap="square" lIns="0" tIns="0" rIns="0" bIns="0" rtlCol="0" anchor="t"/>
          <a:lstStyle/>
          <a:p>
            <a:pPr algn="l" indent="0" marL="0">
              <a:lnSpc>
                <a:spcPts val="1522"/>
              </a:lnSpc>
              <a:buNone/>
            </a:pPr>
            <a:r>
              <a:rPr lang="en-US" sz="1050" dirty="0">
                <a:solidFill>
                  <a:srgbClr val="044BD9"/>
                </a:solidFill>
                <a:latin typeface="Poppins SemiBold" pitchFamily="34" charset="0"/>
                <a:ea typeface="Poppins SemiBold" pitchFamily="34" charset="-122"/>
                <a:cs typeface="Poppins SemiBold" pitchFamily="34" charset="-120"/>
              </a:rPr>
              <a:t>07</a:t>
            </a:r>
            <a:endParaRPr lang="en-US" sz="1050" dirty="0"/>
          </a:p>
        </p:txBody>
      </p:sp>
      <p:sp>
        <p:nvSpPr>
          <p:cNvPr id="75" name="Text"/>
          <p:cNvSpPr txBox="1"/>
          <p:nvPr/>
        </p:nvSpPr>
        <p:spPr>
          <a:xfrm>
            <a:off x="1066830" y="5214732"/>
            <a:ext cx="2628900" cy="193396"/>
          </a:xfrm>
          <a:prstGeom prst="rect">
            <a:avLst/>
          </a:prstGeom>
          <a:noFill/>
          <a:ln/>
        </p:spPr>
        <p:txBody>
          <a:bodyPr wrap="none" lIns="0" tIns="0" rIns="0" bIns="0" rtlCol="0" anchor="t"/>
          <a:lstStyle/>
          <a:p>
            <a:pPr algn="l" indent="0" marL="0">
              <a:lnSpc>
                <a:spcPts val="1522"/>
              </a:lnSpc>
              <a:buNone/>
            </a:pPr>
            <a:r>
              <a:rPr lang="en-US" sz="1050" dirty="0">
                <a:solidFill>
                  <a:srgbClr val="000000"/>
                </a:solidFill>
                <a:latin typeface="Poppins Medium" pitchFamily="34" charset="0"/>
                <a:ea typeface="Poppins Medium" pitchFamily="34" charset="-122"/>
                <a:cs typeface="Poppins Medium" pitchFamily="34" charset="-120"/>
              </a:rPr>
              <a:t>Can you take over a project in flight?</a:t>
            </a:r>
            <a:endParaRPr lang="en-US" sz="1050" dirty="0"/>
          </a:p>
        </p:txBody>
      </p:sp>
      <p:sp>
        <p:nvSpPr>
          <p:cNvPr id="76" name="Text"/>
          <p:cNvSpPr txBox="1"/>
          <p:nvPr/>
        </p:nvSpPr>
        <p:spPr>
          <a:xfrm>
            <a:off x="3949659" y="5214732"/>
            <a:ext cx="3327410" cy="193396"/>
          </a:xfrm>
          <a:prstGeom prst="rect">
            <a:avLst/>
          </a:prstGeom>
          <a:noFill/>
          <a:ln/>
        </p:spPr>
        <p:txBody>
          <a:bodyPr wrap="non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Yes. We scope the remaining work, then deliver it</a:t>
            </a:r>
            <a:endParaRPr lang="en-US" sz="1050" dirty="0"/>
          </a:p>
        </p:txBody>
      </p:sp>
      <p:sp>
        <p:nvSpPr>
          <p:cNvPr id="77" name="Text"/>
          <p:cNvSpPr txBox="1"/>
          <p:nvPr/>
        </p:nvSpPr>
        <p:spPr>
          <a:xfrm>
            <a:off x="7531090" y="5214732"/>
            <a:ext cx="3978189" cy="193396"/>
          </a:xfrm>
          <a:prstGeom prst="rect">
            <a:avLst/>
          </a:prstGeom>
          <a:noFill/>
          <a:ln/>
        </p:spPr>
        <p:txBody>
          <a:bodyPr wrap="square" lIns="0" tIns="0" rIns="0" bIns="0" rtlCol="0" anchor="t"/>
          <a:lstStyle/>
          <a:p>
            <a:pPr algn="l" indent="0" marL="0">
              <a:lnSpc>
                <a:spcPts val="1522"/>
              </a:lnSpc>
              <a:buNone/>
            </a:pPr>
            <a:r>
              <a:rPr lang="en-US" sz="1050" dirty="0">
                <a:solidFill>
                  <a:srgbClr val="1F2937"/>
                </a:solidFill>
                <a:latin typeface="Poppins Light" pitchFamily="34" charset="0"/>
                <a:ea typeface="Poppins Light" pitchFamily="34" charset="-122"/>
                <a:cs typeface="Poppins Light" pitchFamily="34" charset="-120"/>
              </a:rPr>
              <a:t>iPajak Group’s six-branch system, taken over midway</a:t>
            </a:r>
            <a:endParaRPr lang="en-US" sz="1050" dirty="0"/>
          </a:p>
        </p:txBody>
      </p:sp>
      <p:sp>
        <p:nvSpPr>
          <p:cNvPr id="78" name="Text"/>
          <p:cNvSpPr txBox="1"/>
          <p:nvPr/>
        </p:nvSpPr>
        <p:spPr>
          <a:xfrm>
            <a:off x="711220" y="5821436"/>
            <a:ext cx="10825399" cy="186995"/>
          </a:xfrm>
          <a:prstGeom prst="rect">
            <a:avLst/>
          </a:prstGeom>
          <a:noFill/>
          <a:ln/>
        </p:spPr>
        <p:txBody>
          <a:bodyPr wrap="square" lIns="0" tIns="0" rIns="0" bIns="0" rtlCol="0" anchor="t"/>
          <a:lstStyle/>
          <a:p>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Where a global firm may fit better: multi-country transformation programmes that need large teams in many markets at once.</a:t>
            </a:r>
            <a:endParaRPr lang="en-US" sz="950" dirty="0"/>
          </a:p>
        </p:txBody>
      </p:sp>
      <p:sp>
        <p:nvSpPr>
          <p:cNvPr id="79"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80"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81"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82"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83"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84"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Engage</a:t>
            </a:r>
            <a:endParaRPr lang="en-US" sz="850" dirty="0"/>
          </a:p>
        </p:txBody>
      </p:sp>
      <p:sp>
        <p:nvSpPr>
          <p:cNvPr id="85"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alphv.com/about, /how-we-work, /services, /platforms-and-clients and /insights case pages (October 2026).</a:t>
            </a:r>
            <a:endParaRPr lang="en-US" sz="850" dirty="0"/>
          </a:p>
        </p:txBody>
      </p:sp>
      <p:sp>
        <p:nvSpPr>
          <p:cNvPr id="86" name="Text"/>
          <p:cNvSpPr txBox="1"/>
          <p:nvPr/>
        </p:nvSpPr>
        <p:spPr>
          <a:xfrm>
            <a:off x="9353032"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87" name="Text"/>
          <p:cNvSpPr txBox="1"/>
          <p:nvPr/>
        </p:nvSpPr>
        <p:spPr>
          <a:xfrm>
            <a:off x="9861072"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88" name="Text"/>
          <p:cNvSpPr txBox="1"/>
          <p:nvPr/>
        </p:nvSpPr>
        <p:spPr>
          <a:xfrm>
            <a:off x="11352550" y="6401532"/>
            <a:ext cx="153711"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p:bgPr>
    </p:bg>
    <p:spTree>
      <p:nvGrpSpPr>
        <p:cNvPr id="1" name=""/>
        <p:cNvGrpSpPr/>
        <p:nvPr/>
      </p:nvGrpSpPr>
      <p:grpSpPr>
        <a:xfrm>
          <a:off x="0" y="0"/>
          <a:ext cx="0" cy="0"/>
          <a:chOff x="0" y="0"/>
          <a:chExt cx="0" cy="0"/>
        </a:xfrm>
      </p:grpSpPr>
      <p:sp>
        <p:nvSpPr>
          <p:cNvPr id="2" name="badge"/>
          <p:cNvSpPr/>
          <p:nvPr/>
        </p:nvSpPr>
        <p:spPr>
          <a:xfrm>
            <a:off x="714421" y="536570"/>
            <a:ext cx="1194755" cy="254020"/>
          </a:xfrm>
          <a:prstGeom prst="roundRect">
            <a:avLst>
              <a:gd name="adj" fmla="val 50000"/>
            </a:avLst>
          </a:prstGeom>
          <a:ln w="6350">
            <a:solidFill>
              <a:srgbClr val="155DFC"/>
            </a:solidFill>
            <a:prstDash val="solid"/>
          </a:ln>
        </p:spPr>
      </p:sp>
      <p:sp>
        <p:nvSpPr>
          <p:cNvPr id="3" name="Rule"/>
          <p:cNvSpPr/>
          <p:nvPr/>
        </p:nvSpPr>
        <p:spPr>
          <a:xfrm>
            <a:off x="711220" y="2340132"/>
            <a:ext cx="4317980" cy="0"/>
          </a:xfrm>
          <a:prstGeom prst="line">
            <a:avLst/>
          </a:prstGeom>
          <a:noFill/>
          <a:ln w="6350">
            <a:solidFill>
              <a:srgbClr val="E3E6EC"/>
            </a:solidFill>
            <a:prstDash val="solid"/>
          </a:ln>
        </p:spPr>
      </p:sp>
      <p:sp>
        <p:nvSpPr>
          <p:cNvPr id="4" name="Connector"/>
          <p:cNvSpPr/>
          <p:nvPr/>
        </p:nvSpPr>
        <p:spPr>
          <a:xfrm>
            <a:off x="908091" y="2940253"/>
            <a:ext cx="6309" cy="2381006"/>
          </a:xfrm>
          <a:prstGeom prst="line">
            <a:avLst/>
          </a:prstGeom>
          <a:noFill/>
          <a:ln w="12700">
            <a:solidFill>
              <a:srgbClr val="044BD9">
                <a:alpha val="20000"/>
              </a:srgbClr>
            </a:solidFill>
            <a:prstDash val="dash"/>
          </a:ln>
        </p:spPr>
      </p:sp>
      <p:sp>
        <p:nvSpPr>
          <p:cNvPr id="5" name="num"/>
          <p:cNvSpPr/>
          <p:nvPr/>
        </p:nvSpPr>
        <p:spPr>
          <a:xfrm>
            <a:off x="711220" y="2533894"/>
            <a:ext cx="406359" cy="406359"/>
          </a:xfrm>
          <a:prstGeom prst="ellipse">
            <a:avLst/>
          </a:prstGeom>
          <a:solidFill>
            <a:srgbClr val="044BD9"/>
          </a:solidFill>
          <a:ln/>
        </p:spPr>
      </p:sp>
      <p:sp>
        <p:nvSpPr>
          <p:cNvPr id="6" name="num"/>
          <p:cNvSpPr/>
          <p:nvPr/>
        </p:nvSpPr>
        <p:spPr>
          <a:xfrm>
            <a:off x="711220" y="3923782"/>
            <a:ext cx="406359" cy="406359"/>
          </a:xfrm>
          <a:prstGeom prst="ellipse">
            <a:avLst/>
          </a:prstGeom>
          <a:solidFill>
            <a:srgbClr val="044BD9"/>
          </a:solidFill>
          <a:ln/>
        </p:spPr>
      </p:sp>
      <p:sp>
        <p:nvSpPr>
          <p:cNvPr id="7" name="num"/>
          <p:cNvSpPr/>
          <p:nvPr/>
        </p:nvSpPr>
        <p:spPr>
          <a:xfrm>
            <a:off x="711220" y="5313761"/>
            <a:ext cx="406359" cy="406359"/>
          </a:xfrm>
          <a:prstGeom prst="ellipse">
            <a:avLst/>
          </a:prstGeom>
          <a:solidFill>
            <a:srgbClr val="044BD9"/>
          </a:solidFill>
          <a:ln/>
        </p:spPr>
      </p:sp>
      <p:sp>
        <p:nvSpPr>
          <p:cNvPr id="8" name="Rule"/>
          <p:cNvSpPr/>
          <p:nvPr/>
        </p:nvSpPr>
        <p:spPr>
          <a:xfrm>
            <a:off x="5435559" y="2340132"/>
            <a:ext cx="6045190" cy="0"/>
          </a:xfrm>
          <a:prstGeom prst="line">
            <a:avLst/>
          </a:prstGeom>
          <a:noFill/>
          <a:ln w="6350">
            <a:solidFill>
              <a:srgbClr val="E3E6EC"/>
            </a:solidFill>
            <a:prstDash val="solid"/>
          </a:ln>
        </p:spPr>
      </p:sp>
      <p:sp>
        <p:nvSpPr>
          <p:cNvPr id="9" name="card"/>
          <p:cNvSpPr/>
          <p:nvPr/>
        </p:nvSpPr>
        <p:spPr>
          <a:xfrm>
            <a:off x="5438760" y="2486254"/>
            <a:ext cx="2940070" cy="1685788"/>
          </a:xfrm>
          <a:prstGeom prst="roundRect">
            <a:avLst>
              <a:gd name="adj" fmla="val 8852"/>
            </a:avLst>
          </a:prstGeom>
          <a:solidFill>
            <a:srgbClr val="FFFFFF"/>
          </a:solidFill>
          <a:ln w="6350">
            <a:solidFill>
              <a:srgbClr val="F0F0F0"/>
            </a:solidFill>
            <a:prstDash val="solid"/>
          </a:ln>
        </p:spPr>
      </p:sp>
      <p:sp>
        <p:nvSpPr>
          <p:cNvPr id="10" name="Rule"/>
          <p:cNvSpPr/>
          <p:nvPr/>
        </p:nvSpPr>
        <p:spPr>
          <a:xfrm>
            <a:off x="5619720" y="3699388"/>
            <a:ext cx="2578059" cy="0"/>
          </a:xfrm>
          <a:prstGeom prst="line">
            <a:avLst/>
          </a:prstGeom>
          <a:noFill/>
          <a:ln w="6350">
            <a:solidFill>
              <a:srgbClr val="F0F0F0"/>
            </a:solidFill>
            <a:prstDash val="solid"/>
          </a:ln>
        </p:spPr>
      </p:sp>
      <p:sp>
        <p:nvSpPr>
          <p:cNvPr id="11" name="card"/>
          <p:cNvSpPr/>
          <p:nvPr/>
        </p:nvSpPr>
        <p:spPr>
          <a:xfrm>
            <a:off x="8537570" y="2486254"/>
            <a:ext cx="2940070" cy="1685788"/>
          </a:xfrm>
          <a:prstGeom prst="roundRect">
            <a:avLst>
              <a:gd name="adj" fmla="val 8852"/>
            </a:avLst>
          </a:prstGeom>
          <a:solidFill>
            <a:srgbClr val="FFFFFF"/>
          </a:solidFill>
          <a:ln w="6350">
            <a:solidFill>
              <a:srgbClr val="F0F0F0"/>
            </a:solidFill>
            <a:prstDash val="solid"/>
          </a:ln>
        </p:spPr>
      </p:sp>
      <p:sp>
        <p:nvSpPr>
          <p:cNvPr id="12" name="Rule"/>
          <p:cNvSpPr/>
          <p:nvPr/>
        </p:nvSpPr>
        <p:spPr>
          <a:xfrm>
            <a:off x="8718530" y="3699388"/>
            <a:ext cx="2578059" cy="0"/>
          </a:xfrm>
          <a:prstGeom prst="line">
            <a:avLst/>
          </a:prstGeom>
          <a:noFill/>
          <a:ln w="6350">
            <a:solidFill>
              <a:srgbClr val="F0F0F0"/>
            </a:solidFill>
            <a:prstDash val="solid"/>
          </a:ln>
        </p:spPr>
      </p:sp>
      <p:sp>
        <p:nvSpPr>
          <p:cNvPr id="13" name="card"/>
          <p:cNvSpPr/>
          <p:nvPr/>
        </p:nvSpPr>
        <p:spPr>
          <a:xfrm>
            <a:off x="5438760" y="4330781"/>
            <a:ext cx="2940070" cy="1685788"/>
          </a:xfrm>
          <a:prstGeom prst="roundRect">
            <a:avLst>
              <a:gd name="adj" fmla="val 8852"/>
            </a:avLst>
          </a:prstGeom>
          <a:solidFill>
            <a:srgbClr val="FFFFFF"/>
          </a:solidFill>
          <a:ln w="6350">
            <a:solidFill>
              <a:srgbClr val="F0F0F0"/>
            </a:solidFill>
            <a:prstDash val="solid"/>
          </a:ln>
        </p:spPr>
      </p:sp>
      <p:sp>
        <p:nvSpPr>
          <p:cNvPr id="14" name="Rule"/>
          <p:cNvSpPr/>
          <p:nvPr/>
        </p:nvSpPr>
        <p:spPr>
          <a:xfrm>
            <a:off x="5619720" y="5543916"/>
            <a:ext cx="2578059" cy="0"/>
          </a:xfrm>
          <a:prstGeom prst="line">
            <a:avLst/>
          </a:prstGeom>
          <a:noFill/>
          <a:ln w="6350">
            <a:solidFill>
              <a:srgbClr val="F0F0F0"/>
            </a:solidFill>
            <a:prstDash val="solid"/>
          </a:ln>
        </p:spPr>
      </p:sp>
      <p:sp>
        <p:nvSpPr>
          <p:cNvPr id="15" name="card"/>
          <p:cNvSpPr/>
          <p:nvPr/>
        </p:nvSpPr>
        <p:spPr>
          <a:xfrm>
            <a:off x="8537570" y="4330781"/>
            <a:ext cx="2940070" cy="1685788"/>
          </a:xfrm>
          <a:prstGeom prst="roundRect">
            <a:avLst>
              <a:gd name="adj" fmla="val 8852"/>
            </a:avLst>
          </a:prstGeom>
          <a:solidFill>
            <a:srgbClr val="FFFFFF"/>
          </a:solidFill>
          <a:ln w="6350">
            <a:solidFill>
              <a:srgbClr val="F0F0F0"/>
            </a:solidFill>
            <a:prstDash val="solid"/>
          </a:ln>
        </p:spPr>
      </p:sp>
      <p:sp>
        <p:nvSpPr>
          <p:cNvPr id="16" name="Rule"/>
          <p:cNvSpPr/>
          <p:nvPr/>
        </p:nvSpPr>
        <p:spPr>
          <a:xfrm>
            <a:off x="8718530" y="5543916"/>
            <a:ext cx="2578059" cy="0"/>
          </a:xfrm>
          <a:prstGeom prst="line">
            <a:avLst/>
          </a:prstGeom>
          <a:noFill/>
          <a:ln w="6350">
            <a:solidFill>
              <a:srgbClr val="F0F0F0"/>
            </a:solidFill>
            <a:prstDash val="solid"/>
          </a:ln>
        </p:spPr>
      </p:sp>
      <p:sp>
        <p:nvSpPr>
          <p:cNvPr id="17" name="span::before"/>
          <p:cNvSpPr/>
          <p:nvPr/>
        </p:nvSpPr>
        <p:spPr>
          <a:xfrm>
            <a:off x="6191860" y="311170"/>
            <a:ext cx="44440" cy="44440"/>
          </a:xfrm>
          <a:prstGeom prst="rect">
            <a:avLst/>
          </a:prstGeom>
          <a:solidFill>
            <a:srgbClr val="A0A6AF">
              <a:alpha val="55000"/>
            </a:srgbClr>
          </a:solidFill>
          <a:ln/>
        </p:spPr>
      </p:sp>
      <p:sp>
        <p:nvSpPr>
          <p:cNvPr id="18" name="span::before"/>
          <p:cNvSpPr/>
          <p:nvPr/>
        </p:nvSpPr>
        <p:spPr>
          <a:xfrm>
            <a:off x="7145213" y="311170"/>
            <a:ext cx="44440" cy="44440"/>
          </a:xfrm>
          <a:prstGeom prst="rect">
            <a:avLst/>
          </a:prstGeom>
          <a:solidFill>
            <a:srgbClr val="A0A6AF">
              <a:alpha val="55000"/>
            </a:srgbClr>
          </a:solidFill>
          <a:ln/>
        </p:spPr>
      </p:sp>
      <p:sp>
        <p:nvSpPr>
          <p:cNvPr id="19" name="span::before"/>
          <p:cNvSpPr/>
          <p:nvPr/>
        </p:nvSpPr>
        <p:spPr>
          <a:xfrm>
            <a:off x="8056230" y="311170"/>
            <a:ext cx="44440" cy="44440"/>
          </a:xfrm>
          <a:prstGeom prst="rect">
            <a:avLst/>
          </a:prstGeom>
          <a:solidFill>
            <a:srgbClr val="A0A6AF">
              <a:alpha val="55000"/>
            </a:srgbClr>
          </a:solidFill>
          <a:ln/>
        </p:spPr>
      </p:sp>
      <p:sp>
        <p:nvSpPr>
          <p:cNvPr id="20" name="span::before"/>
          <p:cNvSpPr/>
          <p:nvPr/>
        </p:nvSpPr>
        <p:spPr>
          <a:xfrm>
            <a:off x="8972550" y="311170"/>
            <a:ext cx="44440" cy="44440"/>
          </a:xfrm>
          <a:prstGeom prst="rect">
            <a:avLst/>
          </a:prstGeom>
          <a:solidFill>
            <a:srgbClr val="A0A6AF">
              <a:alpha val="55000"/>
            </a:srgbClr>
          </a:solidFill>
          <a:ln/>
        </p:spPr>
      </p:sp>
      <p:sp>
        <p:nvSpPr>
          <p:cNvPr id="21" name="span::before"/>
          <p:cNvSpPr/>
          <p:nvPr/>
        </p:nvSpPr>
        <p:spPr>
          <a:xfrm>
            <a:off x="10421142" y="311170"/>
            <a:ext cx="44440" cy="44440"/>
          </a:xfrm>
          <a:prstGeom prst="rect">
            <a:avLst/>
          </a:prstGeom>
          <a:solidFill>
            <a:srgbClr val="A0A6AF">
              <a:alpha val="55000"/>
            </a:srgbClr>
          </a:solidFill>
          <a:ln/>
        </p:spPr>
      </p:sp>
      <p:sp>
        <p:nvSpPr>
          <p:cNvPr id="22" name="on::before"/>
          <p:cNvSpPr/>
          <p:nvPr/>
        </p:nvSpPr>
        <p:spPr>
          <a:xfrm>
            <a:off x="10966216" y="311170"/>
            <a:ext cx="44440" cy="44440"/>
          </a:xfrm>
          <a:prstGeom prst="rect">
            <a:avLst/>
          </a:prstGeom>
          <a:solidFill>
            <a:srgbClr val="044BD9"/>
          </a:solidFill>
          <a:ln/>
        </p:spPr>
      </p:sp>
      <p:sp>
        <p:nvSpPr>
          <p:cNvPr id="23" name="Text"/>
          <p:cNvSpPr txBox="1"/>
          <p:nvPr/>
        </p:nvSpPr>
        <p:spPr>
          <a:xfrm>
            <a:off x="844540" y="609265"/>
            <a:ext cx="959846"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155DFC"/>
                </a:solidFill>
                <a:latin typeface="Poppins Medium" pitchFamily="34" charset="0"/>
                <a:ea typeface="Poppins Medium" pitchFamily="34" charset="-122"/>
                <a:cs typeface="Poppins Medium" pitchFamily="34" charset="-120"/>
              </a:rPr>
              <a:t>How to engage</a:t>
            </a:r>
            <a:endParaRPr lang="en-US" sz="950" dirty="0"/>
          </a:p>
        </p:txBody>
      </p:sp>
      <p:sp>
        <p:nvSpPr>
          <p:cNvPr id="24" name="Title"/>
          <p:cNvSpPr txBox="1"/>
          <p:nvPr/>
        </p:nvSpPr>
        <p:spPr>
          <a:xfrm>
            <a:off x="711220" y="931956"/>
            <a:ext cx="9799350" cy="861090"/>
          </a:xfrm>
          <a:prstGeom prst="rect">
            <a:avLst/>
          </a:prstGeom>
          <a:noFill/>
          <a:ln/>
        </p:spPr>
        <p:txBody>
          <a:bodyPr wrap="square" lIns="0" tIns="0" rIns="0" bIns="0" rtlCol="0" anchor="t"/>
          <a:lstStyle/>
          <a:p>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Engagements start from</a:t>
            </a:r>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 the business</a:t>
            </a:r>
            <a:endParaRPr lang="en-US" sz="3000" dirty="0"/>
          </a:p>
          <a:p>
            <a:pPr algn="l" indent="0" marL="0">
              <a:lnSpc>
                <a:spcPts val="3390"/>
              </a:lnSpc>
              <a:buNone/>
            </a:pPr>
            <a:r>
              <a:rPr lang="en-US" sz="3000" spc="-45" kern="0" dirty="0">
                <a:solidFill>
                  <a:srgbClr val="044BD9"/>
                </a:solidFill>
                <a:latin typeface="Poppins Medium" pitchFamily="34" charset="0"/>
                <a:ea typeface="Poppins Medium" pitchFamily="34" charset="-122"/>
                <a:cs typeface="Poppins Medium" pitchFamily="34" charset="-120"/>
              </a:rPr>
              <a:t>case</a:t>
            </a:r>
            <a:pPr algn="l" indent="0" marL="0">
              <a:lnSpc>
                <a:spcPts val="3390"/>
              </a:lnSpc>
              <a:buNone/>
            </a:pPr>
            <a:r>
              <a:rPr lang="en-US" sz="3000" spc="-45" kern="0" dirty="0">
                <a:solidFill>
                  <a:srgbClr val="000000"/>
                </a:solidFill>
                <a:latin typeface="Poppins Medium" pitchFamily="34" charset="0"/>
                <a:ea typeface="Poppins Medium" pitchFamily="34" charset="-122"/>
                <a:cs typeface="Poppins Medium" pitchFamily="34" charset="-120"/>
              </a:rPr>
              <a:t>, wherever your systems are today</a:t>
            </a:r>
            <a:endParaRPr lang="en-US" sz="3000" dirty="0"/>
          </a:p>
        </p:txBody>
      </p:sp>
      <p:sp>
        <p:nvSpPr>
          <p:cNvPr id="25" name="Text"/>
          <p:cNvSpPr txBox="1"/>
          <p:nvPr/>
        </p:nvSpPr>
        <p:spPr>
          <a:xfrm>
            <a:off x="711220" y="2058589"/>
            <a:ext cx="4347972" cy="186995"/>
          </a:xfrm>
          <a:prstGeom prst="rect">
            <a:avLst/>
          </a:prstGeom>
          <a:noFill/>
          <a:ln/>
        </p:spPr>
        <p:txBody>
          <a:bodyPr wrap="square" lIns="0" tIns="0" rIns="0" bIns="0" rtlCol="0" anchor="t"/>
          <a:lstStyle/>
          <a:p>
            <a:pPr algn="l" indent="0" marL="0">
              <a:lnSpc>
                <a:spcPts val="1472"/>
              </a:lnSpc>
              <a:buNone/>
            </a:pPr>
            <a:r>
              <a:rPr lang="en-US" sz="950" spc="19" kern="0" dirty="0">
                <a:solidFill>
                  <a:srgbClr val="6B6B6B"/>
                </a:solidFill>
                <a:latin typeface="Poppins Medium" pitchFamily="34" charset="0"/>
                <a:ea typeface="Poppins Medium" pitchFamily="34" charset="-122"/>
                <a:cs typeface="Poppins Medium" pitchFamily="34" charset="-120"/>
              </a:rPr>
              <a:t>What happens after you get in touch</a:t>
            </a:r>
            <a:endParaRPr lang="en-US" sz="950" dirty="0"/>
          </a:p>
        </p:txBody>
      </p:sp>
      <p:sp>
        <p:nvSpPr>
          <p:cNvPr id="26" name="Text"/>
          <p:cNvSpPr txBox="1"/>
          <p:nvPr/>
        </p:nvSpPr>
        <p:spPr>
          <a:xfrm>
            <a:off x="837499" y="2600828"/>
            <a:ext cx="293888"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01</a:t>
            </a:r>
            <a:endParaRPr lang="en-US" sz="1200" dirty="0"/>
          </a:p>
        </p:txBody>
      </p:sp>
      <p:sp>
        <p:nvSpPr>
          <p:cNvPr id="27" name="Text"/>
          <p:cNvSpPr txBox="1"/>
          <p:nvPr/>
        </p:nvSpPr>
        <p:spPr>
          <a:xfrm>
            <a:off x="1282720" y="2529413"/>
            <a:ext cx="3774186" cy="222291"/>
          </a:xfrm>
          <a:prstGeom prst="rect">
            <a:avLst/>
          </a:prstGeom>
          <a:noFill/>
          <a:ln/>
        </p:spPr>
        <p:txBody>
          <a:bodyPr wrap="square" lIns="0" tIns="0" rIns="0" bIns="0" rtlCol="0" anchor="t"/>
          <a:lstStyle/>
          <a:p>
            <a:pPr algn="l" indent="0" marL="0">
              <a:lnSpc>
                <a:spcPts val="1750"/>
              </a:lnSpc>
              <a:buNone/>
            </a:pPr>
            <a:r>
              <a:rPr lang="en-US" sz="1400" dirty="0">
                <a:solidFill>
                  <a:srgbClr val="000000"/>
                </a:solidFill>
                <a:latin typeface="Poppins Medium" pitchFamily="34" charset="0"/>
                <a:ea typeface="Poppins Medium" pitchFamily="34" charset="-122"/>
                <a:cs typeface="Poppins Medium" pitchFamily="34" charset="-120"/>
              </a:rPr>
              <a:t>Tell us about the business case</a:t>
            </a:r>
            <a:endParaRPr lang="en-US" sz="1400" dirty="0"/>
          </a:p>
        </p:txBody>
      </p:sp>
      <p:sp>
        <p:nvSpPr>
          <p:cNvPr id="28" name="Text"/>
          <p:cNvSpPr txBox="1"/>
          <p:nvPr/>
        </p:nvSpPr>
        <p:spPr>
          <a:xfrm>
            <a:off x="1282720" y="2787366"/>
            <a:ext cx="3774186"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Share what you want AI to change and the systems involved, by form, WhatsApp, phone or email.</a:t>
            </a:r>
            <a:endParaRPr lang="en-US" sz="1100" dirty="0"/>
          </a:p>
        </p:txBody>
      </p:sp>
      <p:sp>
        <p:nvSpPr>
          <p:cNvPr id="29" name="Text"/>
          <p:cNvSpPr txBox="1"/>
          <p:nvPr/>
        </p:nvSpPr>
        <p:spPr>
          <a:xfrm>
            <a:off x="821406" y="3990807"/>
            <a:ext cx="310073"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02</a:t>
            </a:r>
            <a:endParaRPr lang="en-US" sz="1200" dirty="0"/>
          </a:p>
        </p:txBody>
      </p:sp>
      <p:sp>
        <p:nvSpPr>
          <p:cNvPr id="30" name="Text"/>
          <p:cNvSpPr txBox="1"/>
          <p:nvPr/>
        </p:nvSpPr>
        <p:spPr>
          <a:xfrm>
            <a:off x="1282720" y="3919393"/>
            <a:ext cx="3774186" cy="222291"/>
          </a:xfrm>
          <a:prstGeom prst="rect">
            <a:avLst/>
          </a:prstGeom>
          <a:noFill/>
          <a:ln/>
        </p:spPr>
        <p:txBody>
          <a:bodyPr wrap="square" lIns="0" tIns="0" rIns="0" bIns="0" rtlCol="0" anchor="t"/>
          <a:lstStyle/>
          <a:p>
            <a:pPr algn="l" indent="0" marL="0">
              <a:lnSpc>
                <a:spcPts val="1750"/>
              </a:lnSpc>
              <a:buNone/>
            </a:pPr>
            <a:r>
              <a:rPr lang="en-US" sz="1400" dirty="0">
                <a:solidFill>
                  <a:srgbClr val="000000"/>
                </a:solidFill>
                <a:latin typeface="Poppins Medium" pitchFamily="34" charset="0"/>
                <a:ea typeface="Poppins Medium" pitchFamily="34" charset="-122"/>
                <a:cs typeface="Poppins Medium" pitchFamily="34" charset="-120"/>
              </a:rPr>
              <a:t>Find where AI pays back</a:t>
            </a:r>
            <a:endParaRPr lang="en-US" sz="1400" dirty="0"/>
          </a:p>
        </p:txBody>
      </p:sp>
      <p:sp>
        <p:nvSpPr>
          <p:cNvPr id="31" name="Text"/>
          <p:cNvSpPr txBox="1"/>
          <p:nvPr/>
        </p:nvSpPr>
        <p:spPr>
          <a:xfrm>
            <a:off x="1282720" y="4177254"/>
            <a:ext cx="3774186"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Tech advisory, a data audit and AI strategy research show where AI pays back, before any build starts.</a:t>
            </a:r>
            <a:endParaRPr lang="en-US" sz="1100" dirty="0"/>
          </a:p>
        </p:txBody>
      </p:sp>
      <p:sp>
        <p:nvSpPr>
          <p:cNvPr id="32" name="Text"/>
          <p:cNvSpPr txBox="1"/>
          <p:nvPr/>
        </p:nvSpPr>
        <p:spPr>
          <a:xfrm>
            <a:off x="819485" y="5380695"/>
            <a:ext cx="312085"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SemiBold" pitchFamily="34" charset="0"/>
                <a:ea typeface="Poppins SemiBold" pitchFamily="34" charset="-122"/>
                <a:cs typeface="Poppins SemiBold" pitchFamily="34" charset="-120"/>
              </a:rPr>
              <a:t>03</a:t>
            </a:r>
            <a:endParaRPr lang="en-US" sz="1200" dirty="0"/>
          </a:p>
        </p:txBody>
      </p:sp>
      <p:sp>
        <p:nvSpPr>
          <p:cNvPr id="33" name="Text"/>
          <p:cNvSpPr txBox="1"/>
          <p:nvPr/>
        </p:nvSpPr>
        <p:spPr>
          <a:xfrm>
            <a:off x="1282720" y="5309281"/>
            <a:ext cx="3771900" cy="222291"/>
          </a:xfrm>
          <a:prstGeom prst="rect">
            <a:avLst/>
          </a:prstGeom>
          <a:noFill/>
          <a:ln/>
        </p:spPr>
        <p:txBody>
          <a:bodyPr wrap="none" lIns="0" tIns="0" rIns="0" bIns="0" rtlCol="0" anchor="t"/>
          <a:lstStyle/>
          <a:p>
            <a:pPr algn="l" indent="0" marL="0">
              <a:lnSpc>
                <a:spcPts val="1750"/>
              </a:lnSpc>
              <a:buNone/>
            </a:pPr>
            <a:r>
              <a:rPr lang="en-US" sz="1400" dirty="0">
                <a:solidFill>
                  <a:srgbClr val="000000"/>
                </a:solidFill>
                <a:latin typeface="Poppins Medium" pitchFamily="34" charset="0"/>
                <a:ea typeface="Poppins Medium" pitchFamily="34" charset="-122"/>
                <a:cs typeface="Poppins Medium" pitchFamily="34" charset="-120"/>
              </a:rPr>
              <a:t>One team designs, builds and improves it</a:t>
            </a:r>
            <a:endParaRPr lang="en-US" sz="1400" dirty="0"/>
          </a:p>
        </p:txBody>
      </p:sp>
      <p:sp>
        <p:nvSpPr>
          <p:cNvPr id="34" name="Text"/>
          <p:cNvSpPr txBox="1"/>
          <p:nvPr/>
        </p:nvSpPr>
        <p:spPr>
          <a:xfrm>
            <a:off x="1282720" y="5567233"/>
            <a:ext cx="3921770" cy="43306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The engineers who scope your AI are the ones who</a:t>
            </a:r>
            <a:endParaRPr lang="en-US" sz="1100" dirty="0"/>
          </a:p>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ship and improve it. No hand-offs.</a:t>
            </a:r>
            <a:endParaRPr lang="en-US" sz="1100" dirty="0"/>
          </a:p>
        </p:txBody>
      </p:sp>
      <p:sp>
        <p:nvSpPr>
          <p:cNvPr id="35" name="Text"/>
          <p:cNvSpPr txBox="1"/>
          <p:nvPr/>
        </p:nvSpPr>
        <p:spPr>
          <a:xfrm>
            <a:off x="5435559" y="2058589"/>
            <a:ext cx="6082040" cy="186995"/>
          </a:xfrm>
          <a:prstGeom prst="rect">
            <a:avLst/>
          </a:prstGeom>
          <a:noFill/>
          <a:ln/>
        </p:spPr>
        <p:txBody>
          <a:bodyPr wrap="square" lIns="0" tIns="0" rIns="0" bIns="0" rtlCol="0" anchor="t"/>
          <a:lstStyle/>
          <a:p>
            <a:pPr algn="l" indent="0" marL="0">
              <a:lnSpc>
                <a:spcPts val="1472"/>
              </a:lnSpc>
              <a:buNone/>
            </a:pPr>
            <a:r>
              <a:rPr lang="en-US" sz="950" spc="19" kern="0" dirty="0">
                <a:solidFill>
                  <a:srgbClr val="6B6B6B"/>
                </a:solidFill>
                <a:latin typeface="Poppins Medium" pitchFamily="34" charset="0"/>
                <a:ea typeface="Poppins Medium" pitchFamily="34" charset="-122"/>
                <a:cs typeface="Poppins Medium" pitchFamily="34" charset="-120"/>
              </a:rPr>
              <a:t>Where we start depends on where you are</a:t>
            </a:r>
            <a:endParaRPr lang="en-US" sz="950" dirty="0"/>
          </a:p>
        </p:txBody>
      </p:sp>
      <p:sp>
        <p:nvSpPr>
          <p:cNvPr id="36" name="Text"/>
          <p:cNvSpPr txBox="1"/>
          <p:nvPr/>
        </p:nvSpPr>
        <p:spPr>
          <a:xfrm>
            <a:off x="5619720" y="2658618"/>
            <a:ext cx="2601102"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Strategy before the build</a:t>
            </a:r>
            <a:endParaRPr lang="en-US" sz="1250" dirty="0"/>
          </a:p>
        </p:txBody>
      </p:sp>
      <p:sp>
        <p:nvSpPr>
          <p:cNvPr id="37" name="Text"/>
          <p:cNvSpPr txBox="1"/>
          <p:nvPr/>
        </p:nvSpPr>
        <p:spPr>
          <a:xfrm>
            <a:off x="5619720" y="2927086"/>
            <a:ext cx="2601102" cy="64959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Tech advisory, a data audit and AI strategy research to find where AI pays back, before any build starts.</a:t>
            </a:r>
            <a:endParaRPr lang="en-US" sz="1100" dirty="0"/>
          </a:p>
        </p:txBody>
      </p:sp>
      <p:sp>
        <p:nvSpPr>
          <p:cNvPr id="38" name="Text"/>
          <p:cNvSpPr txBox="1"/>
          <p:nvPr/>
        </p:nvSpPr>
        <p:spPr>
          <a:xfrm>
            <a:off x="5619720" y="3788816"/>
            <a:ext cx="2601102" cy="186995"/>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Proof</a:t>
            </a:r>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 · EasyRenz</a:t>
            </a:r>
            <a:endParaRPr lang="en-US" sz="950" dirty="0"/>
          </a:p>
        </p:txBody>
      </p:sp>
      <p:sp>
        <p:nvSpPr>
          <p:cNvPr id="39" name="Text"/>
          <p:cNvSpPr txBox="1"/>
          <p:nvPr/>
        </p:nvSpPr>
        <p:spPr>
          <a:xfrm>
            <a:off x="8718530" y="2658618"/>
            <a:ext cx="2601102"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Replace legacy systems</a:t>
            </a:r>
            <a:endParaRPr lang="en-US" sz="1250" dirty="0"/>
          </a:p>
        </p:txBody>
      </p:sp>
      <p:sp>
        <p:nvSpPr>
          <p:cNvPr id="40" name="Text"/>
          <p:cNvSpPr txBox="1"/>
          <p:nvPr/>
        </p:nvSpPr>
        <p:spPr>
          <a:xfrm>
            <a:off x="8718530" y="2927086"/>
            <a:ext cx="2601102" cy="64959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A 36-year-old law firm replaced its legacy system with one ALPHV platform, back office included.</a:t>
            </a:r>
            <a:endParaRPr lang="en-US" sz="1100" dirty="0"/>
          </a:p>
        </p:txBody>
      </p:sp>
      <p:sp>
        <p:nvSpPr>
          <p:cNvPr id="41" name="Text"/>
          <p:cNvSpPr txBox="1"/>
          <p:nvPr/>
        </p:nvSpPr>
        <p:spPr>
          <a:xfrm>
            <a:off x="8718530" y="3788816"/>
            <a:ext cx="2601102" cy="186995"/>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Proof</a:t>
            </a:r>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 · Abraham Ooi &amp; Partners, 2025</a:t>
            </a:r>
            <a:endParaRPr lang="en-US" sz="950" dirty="0"/>
          </a:p>
        </p:txBody>
      </p:sp>
      <p:sp>
        <p:nvSpPr>
          <p:cNvPr id="42" name="Text"/>
          <p:cNvSpPr txBox="1"/>
          <p:nvPr/>
        </p:nvSpPr>
        <p:spPr>
          <a:xfrm>
            <a:off x="5619720" y="4503237"/>
            <a:ext cx="2601102"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Connect third-party portals</a:t>
            </a:r>
            <a:endParaRPr lang="en-US" sz="1250" dirty="0"/>
          </a:p>
        </p:txBody>
      </p:sp>
      <p:sp>
        <p:nvSpPr>
          <p:cNvPr id="43" name="Text"/>
          <p:cNvSpPr txBox="1"/>
          <p:nvPr/>
        </p:nvSpPr>
        <p:spPr>
          <a:xfrm>
            <a:off x="5619720" y="4771614"/>
            <a:ext cx="2601102" cy="64959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For the same law firm: 90+ portal automations, including banks, government, SSM and CTOS.</a:t>
            </a:r>
            <a:endParaRPr lang="en-US" sz="1100" dirty="0"/>
          </a:p>
        </p:txBody>
      </p:sp>
      <p:sp>
        <p:nvSpPr>
          <p:cNvPr id="44" name="Text"/>
          <p:cNvSpPr txBox="1"/>
          <p:nvPr/>
        </p:nvSpPr>
        <p:spPr>
          <a:xfrm>
            <a:off x="5619720" y="5633436"/>
            <a:ext cx="2601102" cy="186995"/>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Proof</a:t>
            </a:r>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 · 90+ portal automations</a:t>
            </a:r>
            <a:endParaRPr lang="en-US" sz="950" dirty="0"/>
          </a:p>
        </p:txBody>
      </p:sp>
      <p:sp>
        <p:nvSpPr>
          <p:cNvPr id="45" name="Text"/>
          <p:cNvSpPr txBox="1"/>
          <p:nvPr/>
        </p:nvSpPr>
        <p:spPr>
          <a:xfrm>
            <a:off x="8718530" y="4503237"/>
            <a:ext cx="2601102" cy="203180"/>
          </a:xfrm>
          <a:prstGeom prst="rect">
            <a:avLst/>
          </a:prstGeom>
          <a:noFill/>
          <a:ln/>
        </p:spPr>
        <p:txBody>
          <a:bodyPr wrap="square" lIns="0" tIns="0" rIns="0" bIns="0" rtlCol="0" anchor="t"/>
          <a:lstStyle/>
          <a:p>
            <a:pPr algn="l" indent="0" marL="0">
              <a:lnSpc>
                <a:spcPts val="1600"/>
              </a:lnSpc>
              <a:buNone/>
            </a:pPr>
            <a:r>
              <a:rPr lang="en-US" sz="1250" dirty="0">
                <a:solidFill>
                  <a:srgbClr val="000000"/>
                </a:solidFill>
                <a:latin typeface="Poppins Medium" pitchFamily="34" charset="0"/>
                <a:ea typeface="Poppins Medium" pitchFamily="34" charset="-122"/>
                <a:cs typeface="Poppins Medium" pitchFamily="34" charset="-120"/>
              </a:rPr>
              <a:t>Take over projects midway</a:t>
            </a:r>
            <a:endParaRPr lang="en-US" sz="1250" dirty="0"/>
          </a:p>
        </p:txBody>
      </p:sp>
      <p:sp>
        <p:nvSpPr>
          <p:cNvPr id="46" name="Text"/>
          <p:cNvSpPr txBox="1"/>
          <p:nvPr/>
        </p:nvSpPr>
        <p:spPr>
          <a:xfrm>
            <a:off x="8718530" y="4771614"/>
            <a:ext cx="2601102" cy="649590"/>
          </a:xfrm>
          <a:prstGeom prst="rect">
            <a:avLst/>
          </a:prstGeom>
          <a:noFill/>
          <a:ln/>
        </p:spPr>
        <p:txBody>
          <a:bodyPr wrap="square" lIns="0" tIns="0" rIns="0" bIns="0" rtlCol="0" anchor="t"/>
          <a:lstStyle/>
          <a:p>
            <a:pPr algn="l" indent="0" marL="0">
              <a:lnSpc>
                <a:spcPts val="1705"/>
              </a:lnSpc>
              <a:buNone/>
            </a:pPr>
            <a:r>
              <a:rPr lang="en-US" sz="1100" dirty="0">
                <a:solidFill>
                  <a:srgbClr val="1F2937"/>
                </a:solidFill>
                <a:latin typeface="Poppins Light" pitchFamily="34" charset="0"/>
                <a:ea typeface="Poppins Light" pitchFamily="34" charset="-122"/>
                <a:cs typeface="Poppins Light" pitchFamily="34" charset="-120"/>
              </a:rPr>
              <a:t>We took over iPajak Group’s pawn brokerage system midway and delivered it for six branches.</a:t>
            </a:r>
            <a:endParaRPr lang="en-US" sz="1100" dirty="0"/>
          </a:p>
        </p:txBody>
      </p:sp>
      <p:sp>
        <p:nvSpPr>
          <p:cNvPr id="47" name="Text"/>
          <p:cNvSpPr txBox="1"/>
          <p:nvPr/>
        </p:nvSpPr>
        <p:spPr>
          <a:xfrm>
            <a:off x="8718530" y="5633436"/>
            <a:ext cx="2601102" cy="186995"/>
          </a:xfrm>
          <a:prstGeom prst="rect">
            <a:avLst/>
          </a:prstGeom>
          <a:noFill/>
          <a:ln/>
        </p:spPr>
        <p:txBody>
          <a:bodyPr wrap="square" lIns="0" tIns="0" rIns="0" bIns="0" rtlCol="0" anchor="t"/>
          <a:lstStyle/>
          <a:p>
            <a:pPr algn="l" indent="0" marL="0">
              <a:lnSpc>
                <a:spcPts val="1472"/>
              </a:lnSpc>
              <a:buNone/>
            </a:pPr>
            <a:r>
              <a:rPr lang="en-US" sz="950" dirty="0">
                <a:solidFill>
                  <a:srgbClr val="044BD9"/>
                </a:solidFill>
                <a:latin typeface="Poppins Medium" pitchFamily="34" charset="0"/>
                <a:ea typeface="Poppins Medium" pitchFamily="34" charset="-122"/>
                <a:cs typeface="Poppins Medium" pitchFamily="34" charset="-120"/>
              </a:rPr>
              <a:t>Proof</a:t>
            </a:r>
            <a:pPr algn="l" indent="0" marL="0">
              <a:lnSpc>
                <a:spcPts val="1472"/>
              </a:lnSpc>
              <a:buNone/>
            </a:pPr>
            <a:r>
              <a:rPr lang="en-US" sz="950" dirty="0">
                <a:solidFill>
                  <a:srgbClr val="6B6B6B"/>
                </a:solidFill>
                <a:latin typeface="Poppins Light" pitchFamily="34" charset="0"/>
                <a:ea typeface="Poppins Light" pitchFamily="34" charset="-122"/>
                <a:cs typeface="Poppins Light" pitchFamily="34" charset="-120"/>
              </a:rPr>
              <a:t> · iPajak Group</a:t>
            </a:r>
            <a:endParaRPr lang="en-US" sz="950" dirty="0"/>
          </a:p>
        </p:txBody>
      </p:sp>
      <p:sp>
        <p:nvSpPr>
          <p:cNvPr id="48" name="Text"/>
          <p:cNvSpPr txBox="1"/>
          <p:nvPr/>
        </p:nvSpPr>
        <p:spPr>
          <a:xfrm>
            <a:off x="6287140" y="281635"/>
            <a:ext cx="708477"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Point of view</a:t>
            </a:r>
            <a:endParaRPr lang="en-US" sz="850" dirty="0"/>
          </a:p>
        </p:txBody>
      </p:sp>
      <p:sp>
        <p:nvSpPr>
          <p:cNvPr id="49" name="Text"/>
          <p:cNvSpPr txBox="1"/>
          <p:nvPr/>
        </p:nvSpPr>
        <p:spPr>
          <a:xfrm>
            <a:off x="7240494" y="281635"/>
            <a:ext cx="66595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Who we are</a:t>
            </a:r>
            <a:endParaRPr lang="en-US" sz="850" dirty="0"/>
          </a:p>
        </p:txBody>
      </p:sp>
      <p:sp>
        <p:nvSpPr>
          <p:cNvPr id="50" name="Text"/>
          <p:cNvSpPr txBox="1"/>
          <p:nvPr/>
        </p:nvSpPr>
        <p:spPr>
          <a:xfrm>
            <a:off x="8151510" y="281635"/>
            <a:ext cx="671261"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What we do</a:t>
            </a:r>
            <a:endParaRPr lang="en-US" sz="850" dirty="0"/>
          </a:p>
        </p:txBody>
      </p:sp>
      <p:sp>
        <p:nvSpPr>
          <p:cNvPr id="51" name="Text"/>
          <p:cNvSpPr txBox="1"/>
          <p:nvPr/>
        </p:nvSpPr>
        <p:spPr>
          <a:xfrm>
            <a:off x="9067830" y="281635"/>
            <a:ext cx="1205728"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Sectors and products</a:t>
            </a:r>
            <a:endParaRPr lang="en-US" sz="850" dirty="0"/>
          </a:p>
        </p:txBody>
      </p:sp>
      <p:sp>
        <p:nvSpPr>
          <p:cNvPr id="52" name="Text"/>
          <p:cNvSpPr txBox="1"/>
          <p:nvPr/>
        </p:nvSpPr>
        <p:spPr>
          <a:xfrm>
            <a:off x="10516423" y="281635"/>
            <a:ext cx="298552"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A0A6AF"/>
                </a:solidFill>
                <a:latin typeface="Poppins Medium" pitchFamily="34" charset="0"/>
                <a:ea typeface="Poppins Medium" pitchFamily="34" charset="-122"/>
                <a:cs typeface="Poppins Medium" pitchFamily="34" charset="-120"/>
              </a:rPr>
              <a:t>Proof</a:t>
            </a:r>
            <a:endParaRPr lang="en-US" sz="850" dirty="0"/>
          </a:p>
        </p:txBody>
      </p:sp>
      <p:sp>
        <p:nvSpPr>
          <p:cNvPr id="53" name="Text"/>
          <p:cNvSpPr txBox="1"/>
          <p:nvPr/>
        </p:nvSpPr>
        <p:spPr>
          <a:xfrm>
            <a:off x="11061497" y="281635"/>
            <a:ext cx="433700" cy="107991"/>
          </a:xfrm>
          <a:prstGeom prst="rect">
            <a:avLst/>
          </a:prstGeom>
          <a:noFill/>
          <a:ln/>
        </p:spPr>
        <p:txBody>
          <a:bodyPr wrap="square" lIns="0" tIns="0" rIns="0" bIns="0" rtlCol="0" anchor="t"/>
          <a:lstStyle/>
          <a:p>
            <a:pPr algn="l" indent="0" marL="0">
              <a:lnSpc>
                <a:spcPts val="850"/>
              </a:lnSpc>
              <a:buNone/>
            </a:pPr>
            <a:r>
              <a:rPr lang="en-US" sz="850" spc="9" kern="0" dirty="0">
                <a:solidFill>
                  <a:srgbClr val="044BD9"/>
                </a:solidFill>
                <a:latin typeface="Poppins Medium" pitchFamily="34" charset="0"/>
                <a:ea typeface="Poppins Medium" pitchFamily="34" charset="-122"/>
                <a:cs typeface="Poppins Medium" pitchFamily="34" charset="-120"/>
              </a:rPr>
              <a:t>Engage</a:t>
            </a:r>
            <a:endParaRPr lang="en-US" sz="850" dirty="0"/>
          </a:p>
        </p:txBody>
      </p:sp>
      <p:sp>
        <p:nvSpPr>
          <p:cNvPr id="54" name="Source"/>
          <p:cNvSpPr txBox="1"/>
          <p:nvPr/>
        </p:nvSpPr>
        <p:spPr>
          <a:xfrm>
            <a:off x="711220" y="6401532"/>
            <a:ext cx="8300740" cy="151150"/>
          </a:xfrm>
          <a:prstGeom prst="rect">
            <a:avLst/>
          </a:prstGeom>
          <a:noFill/>
          <a:ln/>
        </p:spPr>
        <p:txBody>
          <a:bodyPr wrap="squar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Source: alphv.com/contact; alphv.com/services/system-integration-and-consulting (October 2026).</a:t>
            </a:r>
            <a:endParaRPr lang="en-US" sz="850" dirty="0"/>
          </a:p>
        </p:txBody>
      </p:sp>
      <p:sp>
        <p:nvSpPr>
          <p:cNvPr id="55" name="Text"/>
          <p:cNvSpPr txBox="1"/>
          <p:nvPr/>
        </p:nvSpPr>
        <p:spPr>
          <a:xfrm>
            <a:off x="9347271" y="6401532"/>
            <a:ext cx="393741" cy="151150"/>
          </a:xfrm>
          <a:prstGeom prst="rect">
            <a:avLst/>
          </a:prstGeom>
          <a:noFill/>
          <a:ln/>
        </p:spPr>
        <p:txBody>
          <a:bodyPr wrap="none" lIns="0" tIns="0" rIns="0" bIns="0" rtlCol="0" anchor="t"/>
          <a:lstStyle/>
          <a:p>
            <a:pPr algn="l" indent="0" marL="0">
              <a:lnSpc>
                <a:spcPts val="1190"/>
              </a:lnSpc>
              <a:buNone/>
            </a:pPr>
            <a:r>
              <a:rPr lang="en-US" sz="850" spc="34" kern="0" dirty="0">
                <a:solidFill>
                  <a:srgbClr val="000000"/>
                </a:solidFill>
                <a:latin typeface="Poppins SemiBold" pitchFamily="34" charset="0"/>
                <a:ea typeface="Poppins SemiBold" pitchFamily="34" charset="-122"/>
                <a:cs typeface="Poppins SemiBold" pitchFamily="34" charset="-120"/>
              </a:rPr>
              <a:t>ALPHV</a:t>
            </a:r>
            <a:endParaRPr lang="en-US" sz="850" dirty="0"/>
          </a:p>
        </p:txBody>
      </p:sp>
      <p:sp>
        <p:nvSpPr>
          <p:cNvPr id="56" name="Text"/>
          <p:cNvSpPr txBox="1"/>
          <p:nvPr/>
        </p:nvSpPr>
        <p:spPr>
          <a:xfrm>
            <a:off x="9855312" y="6401532"/>
            <a:ext cx="1377178" cy="151150"/>
          </a:xfrm>
          <a:prstGeom prst="rect">
            <a:avLst/>
          </a:prstGeom>
          <a:noFill/>
          <a:ln/>
        </p:spPr>
        <p:txBody>
          <a:bodyPr wrap="none" lIns="0" tIns="0" rIns="0" bIns="0" rtlCol="0" anchor="t"/>
          <a:lstStyle/>
          <a:p>
            <a:pPr algn="l" indent="0" marL="0">
              <a:lnSpc>
                <a:spcPts val="1190"/>
              </a:lnSpc>
              <a:buNone/>
            </a:pPr>
            <a:r>
              <a:rPr lang="en-US" sz="850" dirty="0">
                <a:solidFill>
                  <a:srgbClr val="6B6B6B"/>
                </a:solidFill>
                <a:latin typeface="Poppins" pitchFamily="34" charset="0"/>
                <a:ea typeface="Poppins" pitchFamily="34" charset="-122"/>
                <a:cs typeface="Poppins" pitchFamily="34" charset="-120"/>
              </a:rPr>
              <a:t>Corporate overview 2026</a:t>
            </a:r>
            <a:endParaRPr lang="en-US" sz="850" dirty="0"/>
          </a:p>
        </p:txBody>
      </p:sp>
      <p:sp>
        <p:nvSpPr>
          <p:cNvPr id="57" name="Text"/>
          <p:cNvSpPr txBox="1"/>
          <p:nvPr/>
        </p:nvSpPr>
        <p:spPr>
          <a:xfrm>
            <a:off x="11346790" y="6401532"/>
            <a:ext cx="159471" cy="151150"/>
          </a:xfrm>
          <a:prstGeom prst="rect">
            <a:avLst/>
          </a:prstGeom>
          <a:noFill/>
          <a:ln/>
        </p:spPr>
        <p:txBody>
          <a:bodyPr wrap="none" lIns="0" tIns="0" rIns="0" bIns="0" rtlCol="0" anchor="t"/>
          <a:lstStyle/>
          <a:p>
            <a:pPr algn="l" indent="0" marL="0">
              <a:lnSpc>
                <a:spcPts val="1190"/>
              </a:lnSpc>
              <a:buNone/>
            </a:pPr>
            <a:r>
              <a:rPr lang="en-US" sz="850" dirty="0">
                <a:solidFill>
                  <a:srgbClr val="000000"/>
                </a:solidFill>
                <a:latin typeface="Poppins Medium" pitchFamily="34" charset="0"/>
                <a:ea typeface="Poppins Medium" pitchFamily="34" charset="-122"/>
                <a:cs typeface="Poppins Medium" pitchFamily="34" charset="-120"/>
              </a:rPr>
              <a:t>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Picture" descr="ALPHV">    </p:cNvPr>
          <p:cNvPicPr>
            <a:picLocks noChangeAspect="1"/>
          </p:cNvPicPr>
          <p:nvPr/>
        </p:nvPicPr>
        <p:blipFill>
          <a:blip r:embed="rId2"/>
          <a:stretch>
            <a:fillRect/>
          </a:stretch>
        </p:blipFill>
        <p:spPr>
          <a:xfrm>
            <a:off x="711220" y="533370"/>
            <a:ext cx="934608" cy="292059"/>
          </a:xfrm>
          <a:prstGeom prst="rect">
            <a:avLst/>
          </a:prstGeom>
        </p:spPr>
      </p:pic>
      <p:sp>
        <p:nvSpPr>
          <p:cNvPr id="3" name="badge"/>
          <p:cNvSpPr/>
          <p:nvPr/>
        </p:nvSpPr>
        <p:spPr>
          <a:xfrm>
            <a:off x="9878812" y="536570"/>
            <a:ext cx="1598828" cy="254020"/>
          </a:xfrm>
          <a:prstGeom prst="roundRect">
            <a:avLst>
              <a:gd name="adj" fmla="val 50000"/>
            </a:avLst>
          </a:prstGeom>
          <a:ln w="6350">
            <a:solidFill>
              <a:srgbClr val="FFFFFF">
                <a:alpha val="55000"/>
              </a:srgbClr>
            </a:solidFill>
            <a:prstDash val="solid"/>
          </a:ln>
        </p:spPr>
      </p:sp>
      <p:sp>
        <p:nvSpPr>
          <p:cNvPr id="4" name="Rule"/>
          <p:cNvSpPr/>
          <p:nvPr/>
        </p:nvSpPr>
        <p:spPr>
          <a:xfrm>
            <a:off x="711220" y="4485681"/>
            <a:ext cx="10769620" cy="0"/>
          </a:xfrm>
          <a:prstGeom prst="line">
            <a:avLst/>
          </a:prstGeom>
          <a:noFill/>
          <a:ln w="6350">
            <a:solidFill>
              <a:srgbClr val="FFFFFF">
                <a:alpha val="22000"/>
              </a:srgbClr>
            </a:solidFill>
            <a:prstDash val="solid"/>
          </a:ln>
        </p:spPr>
      </p:sp>
      <p:sp>
        <p:nvSpPr>
          <p:cNvPr id="5" name="Text"/>
          <p:cNvSpPr txBox="1"/>
          <p:nvPr/>
        </p:nvSpPr>
        <p:spPr>
          <a:xfrm>
            <a:off x="10009022" y="609265"/>
            <a:ext cx="1363828" cy="120609"/>
          </a:xfrm>
          <a:prstGeom prst="rect">
            <a:avLst/>
          </a:prstGeom>
          <a:noFill/>
          <a:ln/>
        </p:spPr>
        <p:txBody>
          <a:bodyPr wrap="none" lIns="0" tIns="0" rIns="0" bIns="0" rtlCol="0" anchor="t"/>
          <a:lstStyle/>
          <a:p>
            <a:pPr algn="l" indent="0" marL="0">
              <a:lnSpc>
                <a:spcPts val="950"/>
              </a:lnSpc>
              <a:buNone/>
            </a:pPr>
            <a:r>
              <a:rPr lang="en-US" sz="950" spc="10" kern="0" dirty="0">
                <a:solidFill>
                  <a:srgbClr val="FFFFFF"/>
                </a:solidFill>
                <a:latin typeface="Poppins Medium" pitchFamily="34" charset="0"/>
                <a:ea typeface="Poppins Medium" pitchFamily="34" charset="-122"/>
                <a:cs typeface="Poppins Medium" pitchFamily="34" charset="-120"/>
              </a:rPr>
              <a:t>Talk to an AI engineer</a:t>
            </a:r>
            <a:endParaRPr lang="en-US" sz="950" dirty="0"/>
          </a:p>
        </p:txBody>
      </p:sp>
      <p:sp>
        <p:nvSpPr>
          <p:cNvPr id="6" name="Text"/>
          <p:cNvSpPr txBox="1"/>
          <p:nvPr/>
        </p:nvSpPr>
        <p:spPr>
          <a:xfrm>
            <a:off x="711220" y="2981035"/>
            <a:ext cx="9575780" cy="739658"/>
          </a:xfrm>
          <a:prstGeom prst="rect">
            <a:avLst/>
          </a:prstGeom>
          <a:noFill/>
          <a:ln/>
        </p:spPr>
        <p:txBody>
          <a:bodyPr wrap="square" lIns="0" tIns="0" rIns="0" bIns="0" rtlCol="0" anchor="t"/>
          <a:lstStyle/>
          <a:p>
            <a:pPr algn="l" indent="0" marL="0">
              <a:lnSpc>
                <a:spcPts val="5824"/>
              </a:lnSpc>
              <a:buNone/>
            </a:pPr>
            <a:r>
              <a:rPr lang="en-US" sz="5600" spc="-140" kern="0" dirty="0">
                <a:solidFill>
                  <a:srgbClr val="FFFFFF"/>
                </a:solidFill>
                <a:latin typeface="Poppins SemiBold" pitchFamily="34" charset="0"/>
                <a:ea typeface="Poppins SemiBold" pitchFamily="34" charset="-122"/>
                <a:cs typeface="Poppins SemiBold" pitchFamily="34" charset="-120"/>
              </a:rPr>
              <a:t>Let’s build what’s next</a:t>
            </a:r>
            <a:endParaRPr lang="en-US" sz="5600" dirty="0"/>
          </a:p>
        </p:txBody>
      </p:sp>
      <p:sp>
        <p:nvSpPr>
          <p:cNvPr id="7" name="Text"/>
          <p:cNvSpPr txBox="1"/>
          <p:nvPr/>
        </p:nvSpPr>
        <p:spPr>
          <a:xfrm>
            <a:off x="711220" y="3903665"/>
            <a:ext cx="6883420" cy="276240"/>
          </a:xfrm>
          <a:prstGeom prst="rect">
            <a:avLst/>
          </a:prstGeom>
          <a:noFill/>
          <a:ln/>
        </p:spPr>
        <p:txBody>
          <a:bodyPr wrap="none" lIns="0" tIns="0" rIns="0" bIns="0" rtlCol="0" anchor="t"/>
          <a:lstStyle/>
          <a:p>
            <a:pPr algn="l" indent="0" marL="0">
              <a:lnSpc>
                <a:spcPts val="2175"/>
              </a:lnSpc>
              <a:buNone/>
            </a:pPr>
            <a:r>
              <a:rPr lang="en-US" sz="1450" dirty="0">
                <a:solidFill>
                  <a:srgbClr val="E1E9FA"/>
                </a:solidFill>
                <a:latin typeface="Poppins Light" pitchFamily="34" charset="0"/>
                <a:ea typeface="Poppins Light" pitchFamily="34" charset="-122"/>
                <a:cs typeface="Poppins Light" pitchFamily="34" charset="-120"/>
              </a:rPr>
              <a:t>Tell us where your business needs to be. We’ll map the path to get there.</a:t>
            </a:r>
            <a:endParaRPr lang="en-US" sz="1450" dirty="0"/>
          </a:p>
        </p:txBody>
      </p:sp>
      <p:sp>
        <p:nvSpPr>
          <p:cNvPr id="8" name="Text"/>
          <p:cNvSpPr txBox="1"/>
          <p:nvPr/>
        </p:nvSpPr>
        <p:spPr>
          <a:xfrm>
            <a:off x="711220" y="4678528"/>
            <a:ext cx="3344875"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Email</a:t>
            </a:r>
            <a:endParaRPr lang="en-US" sz="850" dirty="0"/>
          </a:p>
        </p:txBody>
      </p:sp>
      <p:sp>
        <p:nvSpPr>
          <p:cNvPr id="9" name="Text"/>
          <p:cNvSpPr txBox="1"/>
          <p:nvPr/>
        </p:nvSpPr>
        <p:spPr>
          <a:xfrm>
            <a:off x="711220" y="4879238"/>
            <a:ext cx="3344875"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admin@alphv.com</a:t>
            </a:r>
            <a:endParaRPr lang="en-US" sz="1200" dirty="0"/>
          </a:p>
        </p:txBody>
      </p:sp>
      <p:sp>
        <p:nvSpPr>
          <p:cNvPr id="10" name="Text"/>
          <p:cNvSpPr txBox="1"/>
          <p:nvPr/>
        </p:nvSpPr>
        <p:spPr>
          <a:xfrm>
            <a:off x="4436486" y="4678528"/>
            <a:ext cx="3344967"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WhatsApp or call</a:t>
            </a:r>
            <a:endParaRPr lang="en-US" sz="850" dirty="0"/>
          </a:p>
        </p:txBody>
      </p:sp>
      <p:sp>
        <p:nvSpPr>
          <p:cNvPr id="11" name="Text"/>
          <p:cNvSpPr txBox="1"/>
          <p:nvPr/>
        </p:nvSpPr>
        <p:spPr>
          <a:xfrm>
            <a:off x="4436486" y="4879238"/>
            <a:ext cx="3344967"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+60 16-518 7740</a:t>
            </a:r>
            <a:endParaRPr lang="en-US" sz="1200" dirty="0"/>
          </a:p>
        </p:txBody>
      </p:sp>
      <p:sp>
        <p:nvSpPr>
          <p:cNvPr id="12" name="Text"/>
          <p:cNvSpPr txBox="1"/>
          <p:nvPr/>
        </p:nvSpPr>
        <p:spPr>
          <a:xfrm>
            <a:off x="8161843" y="4678528"/>
            <a:ext cx="3344967"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Web</a:t>
            </a:r>
            <a:endParaRPr lang="en-US" sz="850" dirty="0"/>
          </a:p>
        </p:txBody>
      </p:sp>
      <p:sp>
        <p:nvSpPr>
          <p:cNvPr id="13" name="Text"/>
          <p:cNvSpPr txBox="1"/>
          <p:nvPr/>
        </p:nvSpPr>
        <p:spPr>
          <a:xfrm>
            <a:off x="8161843" y="4879238"/>
            <a:ext cx="3344967" cy="236190"/>
          </a:xfrm>
          <a:prstGeom prst="rect">
            <a:avLst/>
          </a:prstGeom>
          <a:noFill/>
          <a:ln/>
        </p:spPr>
        <p:txBody>
          <a:bodyPr wrap="square" lIns="0" tIns="0" rIns="0" bIns="0" rtlCol="0" anchor="t"/>
          <a:lstStyle/>
          <a:p>
            <a:pPr algn="l" indent="0" marL="0">
              <a:lnSpc>
                <a:spcPts val="1860"/>
              </a:lnSpc>
              <a:buNone/>
            </a:pPr>
            <a:r>
              <a:rPr lang="en-US" sz="1200" dirty="0">
                <a:solidFill>
                  <a:srgbClr val="FFFFFF"/>
                </a:solidFill>
                <a:latin typeface="Poppins" pitchFamily="34" charset="0"/>
                <a:ea typeface="Poppins" pitchFamily="34" charset="-122"/>
                <a:cs typeface="Poppins" pitchFamily="34" charset="-120"/>
              </a:rPr>
              <a:t>alphv.com</a:t>
            </a:r>
            <a:endParaRPr lang="en-US" sz="1200" dirty="0"/>
          </a:p>
        </p:txBody>
      </p:sp>
      <p:sp>
        <p:nvSpPr>
          <p:cNvPr id="14" name="Text"/>
          <p:cNvSpPr txBox="1"/>
          <p:nvPr/>
        </p:nvSpPr>
        <p:spPr>
          <a:xfrm>
            <a:off x="711220" y="5310561"/>
            <a:ext cx="7085137"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Headquarters</a:t>
            </a:r>
            <a:endParaRPr lang="en-US" sz="850" dirty="0"/>
          </a:p>
        </p:txBody>
      </p:sp>
      <p:sp>
        <p:nvSpPr>
          <p:cNvPr id="15" name="Text"/>
          <p:cNvSpPr txBox="1"/>
          <p:nvPr/>
        </p:nvSpPr>
        <p:spPr>
          <a:xfrm>
            <a:off x="711220" y="5514746"/>
            <a:ext cx="7351410" cy="405171"/>
          </a:xfrm>
          <a:prstGeom prst="rect">
            <a:avLst/>
          </a:prstGeom>
          <a:noFill/>
          <a:ln/>
        </p:spPr>
        <p:txBody>
          <a:bodyPr wrap="square" lIns="0" tIns="0" rIns="0" bIns="0" rtlCol="0" anchor="t"/>
          <a:lstStyle/>
          <a:p>
            <a:pPr algn="l" indent="0" marL="0">
              <a:lnSpc>
                <a:spcPts val="1595"/>
              </a:lnSpc>
              <a:buNone/>
            </a:pPr>
            <a:r>
              <a:rPr lang="en-US" sz="1100" dirty="0">
                <a:solidFill>
                  <a:srgbClr val="FFFFFF"/>
                </a:solidFill>
                <a:latin typeface="Poppins" pitchFamily="34" charset="0"/>
                <a:ea typeface="Poppins" pitchFamily="34" charset="-122"/>
                <a:cs typeface="Poppins" pitchFamily="34" charset="-120"/>
              </a:rPr>
              <a:t>Unit 21-05, Level 21, Tower A, The Vertical Business Suites,</a:t>
            </a:r>
            <a:endParaRPr lang="en-US" sz="1100" dirty="0"/>
          </a:p>
          <a:p>
            <a:pPr algn="l" indent="0" marL="0">
              <a:lnSpc>
                <a:spcPts val="1595"/>
              </a:lnSpc>
              <a:buNone/>
            </a:pPr>
            <a:r>
              <a:rPr lang="en-US" sz="1100" dirty="0">
                <a:solidFill>
                  <a:srgbClr val="FFFFFF"/>
                </a:solidFill>
                <a:latin typeface="Poppins" pitchFamily="34" charset="0"/>
                <a:ea typeface="Poppins" pitchFamily="34" charset="-122"/>
                <a:cs typeface="Poppins" pitchFamily="34" charset="-120"/>
              </a:rPr>
              <a:t>8 Jalan Kerinchi, Bangsar South, 59200 Kuala Lumpur</a:t>
            </a:r>
            <a:endParaRPr lang="en-US" sz="1100" dirty="0"/>
          </a:p>
        </p:txBody>
      </p:sp>
      <p:sp>
        <p:nvSpPr>
          <p:cNvPr id="16" name="Text"/>
          <p:cNvSpPr txBox="1"/>
          <p:nvPr/>
        </p:nvSpPr>
        <p:spPr>
          <a:xfrm>
            <a:off x="8161843" y="5310561"/>
            <a:ext cx="3344967" cy="167335"/>
          </a:xfrm>
          <a:prstGeom prst="rect">
            <a:avLst/>
          </a:prstGeom>
          <a:noFill/>
          <a:ln/>
        </p:spPr>
        <p:txBody>
          <a:bodyPr wrap="square" lIns="0" tIns="0" rIns="0" bIns="0" rtlCol="0" anchor="t"/>
          <a:lstStyle/>
          <a:p>
            <a:pPr algn="l" indent="0" marL="0">
              <a:lnSpc>
                <a:spcPts val="1318"/>
              </a:lnSpc>
              <a:buNone/>
            </a:pPr>
            <a:r>
              <a:rPr lang="en-US" sz="850" spc="26" kern="0" dirty="0">
                <a:solidFill>
                  <a:srgbClr val="C0D2F6"/>
                </a:solidFill>
                <a:latin typeface="Poppins Medium" pitchFamily="34" charset="0"/>
                <a:ea typeface="Poppins Medium" pitchFamily="34" charset="-122"/>
                <a:cs typeface="Poppins Medium" pitchFamily="34" charset="-120"/>
              </a:rPr>
              <a:t>Office</a:t>
            </a:r>
            <a:endParaRPr lang="en-US" sz="850" dirty="0"/>
          </a:p>
        </p:txBody>
      </p:sp>
      <p:sp>
        <p:nvSpPr>
          <p:cNvPr id="17" name="Text"/>
          <p:cNvSpPr txBox="1"/>
          <p:nvPr/>
        </p:nvSpPr>
        <p:spPr>
          <a:xfrm>
            <a:off x="8161843" y="5514746"/>
            <a:ext cx="3477097" cy="405171"/>
          </a:xfrm>
          <a:prstGeom prst="rect">
            <a:avLst/>
          </a:prstGeom>
          <a:noFill/>
          <a:ln/>
        </p:spPr>
        <p:txBody>
          <a:bodyPr wrap="square" lIns="0" tIns="0" rIns="0" bIns="0" rtlCol="0" anchor="t"/>
          <a:lstStyle/>
          <a:p>
            <a:pPr algn="l" indent="0" marL="0">
              <a:lnSpc>
                <a:spcPts val="1595"/>
              </a:lnSpc>
              <a:buNone/>
            </a:pPr>
            <a:r>
              <a:rPr lang="en-US" sz="1100" dirty="0">
                <a:solidFill>
                  <a:srgbClr val="FFFFFF"/>
                </a:solidFill>
                <a:latin typeface="Poppins" pitchFamily="34" charset="0"/>
                <a:ea typeface="Poppins" pitchFamily="34" charset="-122"/>
                <a:cs typeface="Poppins" pitchFamily="34" charset="-120"/>
              </a:rPr>
              <a:t>WCEGA Tower, 21 Bukit Batok Crescent,</a:t>
            </a:r>
            <a:endParaRPr lang="en-US" sz="1100" dirty="0"/>
          </a:p>
          <a:p>
            <a:pPr algn="l" indent="0" marL="0">
              <a:lnSpc>
                <a:spcPts val="1595"/>
              </a:lnSpc>
              <a:buNone/>
            </a:pPr>
            <a:r>
              <a:rPr lang="en-US" sz="1100" dirty="0">
                <a:solidFill>
                  <a:srgbClr val="FFFFFF"/>
                </a:solidFill>
                <a:latin typeface="Poppins" pitchFamily="34" charset="0"/>
                <a:ea typeface="Poppins" pitchFamily="34" charset="-122"/>
                <a:cs typeface="Poppins" pitchFamily="34" charset="-120"/>
              </a:rPr>
              <a:t>Singapore 658065</a:t>
            </a:r>
            <a:endParaRPr lang="en-US" sz="1100" dirty="0"/>
          </a:p>
        </p:txBody>
      </p:sp>
      <p:sp>
        <p:nvSpPr>
          <p:cNvPr id="18" name="Text"/>
          <p:cNvSpPr txBox="1"/>
          <p:nvPr/>
        </p:nvSpPr>
        <p:spPr>
          <a:xfrm>
            <a:off x="711220" y="6198535"/>
            <a:ext cx="1570756" cy="186995"/>
          </a:xfrm>
          <a:prstGeom prst="rect">
            <a:avLst/>
          </a:prstGeom>
          <a:noFill/>
          <a:ln/>
        </p:spPr>
        <p:txBody>
          <a:bodyPr wrap="none" lIns="0" tIns="0" rIns="0" bIns="0" rtlCol="0" anchor="t"/>
          <a:lstStyle/>
          <a:p>
            <a:pPr algn="l" indent="0" marL="0">
              <a:lnSpc>
                <a:spcPts val="1472"/>
              </a:lnSpc>
              <a:buNone/>
            </a:pPr>
            <a:r>
              <a:rPr lang="en-US" sz="950" dirty="0">
                <a:solidFill>
                  <a:srgbClr val="FFFFFF"/>
                </a:solidFill>
                <a:latin typeface="Poppins Medium" pitchFamily="34" charset="0"/>
                <a:ea typeface="Poppins Medium" pitchFamily="34" charset="-122"/>
                <a:cs typeface="Poppins Medium" pitchFamily="34" charset="-120"/>
              </a:rPr>
              <a:t>We automate everything.</a:t>
            </a:r>
            <a:endParaRPr lang="en-US" sz="950" dirty="0"/>
          </a:p>
        </p:txBody>
      </p:sp>
      <p:sp>
        <p:nvSpPr>
          <p:cNvPr id="19" name="Text"/>
          <p:cNvSpPr txBox="1"/>
          <p:nvPr/>
        </p:nvSpPr>
        <p:spPr>
          <a:xfrm>
            <a:off x="6999823" y="6198535"/>
            <a:ext cx="4506438" cy="186995"/>
          </a:xfrm>
          <a:prstGeom prst="rect">
            <a:avLst/>
          </a:prstGeom>
          <a:noFill/>
          <a:ln/>
        </p:spPr>
        <p:txBody>
          <a:bodyPr wrap="none" lIns="0" tIns="0" rIns="0" bIns="0" rtlCol="0" anchor="t"/>
          <a:lstStyle/>
          <a:p>
            <a:pPr algn="l" indent="0" marL="0">
              <a:lnSpc>
                <a:spcPts val="1472"/>
              </a:lnSpc>
              <a:buNone/>
            </a:pPr>
            <a:r>
              <a:rPr lang="en-US" sz="950" dirty="0">
                <a:solidFill>
                  <a:srgbClr val="E1E9FA"/>
                </a:solidFill>
                <a:latin typeface="Poppins Light" pitchFamily="34" charset="0"/>
                <a:ea typeface="Poppins Light" pitchFamily="34" charset="-122"/>
                <a:cs typeface="Poppins Light" pitchFamily="34" charset="-120"/>
              </a:rPr>
              <a:t>ALPHV Technologies Sdn Bhd · Company Reg. No. 202301015604 (1509526-V)</a:t>
            </a:r>
            <a:endParaRPr lang="en-US" sz="950" dirty="0"/>
          </a:p>
        </p:txBody>
      </p:sp>
    </p:spTree>
  </p:cSld>
  <p:clrMapOvr>
    <a:masterClrMapping/>
  </p:clrMapOvr>
</p:sld>
</file>

<file path=ppt/theme/theme1.xml><?xml version="1.0" encoding="utf-8"?>
<a:theme xmlns:a="http://schemas.openxmlformats.org/drawingml/2006/main" name="ALPHV Cobalt Editorial">
  <a:themeElements>
    <a:clrScheme name="ALPHV Cobalt Editorial">
      <a:dk1>
        <a:srgbClr val="000000"/>
      </a:dk1>
      <a:lt1>
        <a:srgbClr val="FFFFFF"/>
      </a:lt1>
      <a:dk2>
        <a:srgbClr val="1F2937"/>
      </a:dk2>
      <a:lt2>
        <a:srgbClr val="F8F9FA"/>
      </a:lt2>
      <a:accent1>
        <a:srgbClr val="044BD9"/>
      </a:accent1>
      <a:accent2>
        <a:srgbClr val="155DFC"/>
      </a:accent2>
      <a:accent3>
        <a:srgbClr val="3B6BFF"/>
      </a:accent3>
      <a:accent4>
        <a:srgbClr val="0236A8"/>
      </a:accent4>
      <a:accent5>
        <a:srgbClr val="6B6B6B"/>
      </a:accent5>
      <a:accent6>
        <a:srgbClr val="E3E6EC"/>
      </a:accent6>
      <a:hlink>
        <a:srgbClr val="155DFC"/>
      </a:hlink>
      <a:folHlink>
        <a:srgbClr val="0236A8"/>
      </a:folHlink>
    </a:clrScheme>
    <a:fontScheme name="ALPHV Cobalt Editorial">
      <a:majorFont>
        <a:latin typeface="Poppins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ALPHV Technologies Sdn Bhd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ALPHV Technologies: corporate overview 2026</dc:title>
  <dc:subject>PptxGenJS Presentation</dc:subject>
  <dc:creator>ALPHV Technologies</dc:creator>
  <cp:lastModifiedBy>ALPHV Technologies</cp:lastModifiedBy>
  <cp:revision>1</cp:revision>
  <dcterms:created xsi:type="dcterms:W3CDTF">2026-10-25T18:37:46Z</dcterms:created>
  <dcterms:modified xsi:type="dcterms:W3CDTF">2026-10-25T18:37:46Z</dcterms:modified>
</cp:coreProperties>
</file>