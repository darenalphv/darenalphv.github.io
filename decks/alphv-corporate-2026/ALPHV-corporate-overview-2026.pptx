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a081dc8-3e92-9ffe-4aae-eeeb2d99f9af}">
          <p14:sldIdLst>
            <p14:sldId id="256"/>
            <p14:sldId id="257"/>
            <p14:sldId id="258"/>
          </p14:sldIdLst>
        </p14:section>
        <p14:section name="Point of view" id="{76ca405c-f998-5d16-9c3a-bdbbf5d2213b}">
          <p14:sldIdLst>
            <p14:sldId id="259"/>
            <p14:sldId id="260"/>
            <p14:sldId id="261"/>
          </p14:sldIdLst>
        </p14:section>
        <p14:section name="Who we are" id="{d186632e-31c0-c555-a6b5-6fb0d6d0d836}">
          <p14:sldIdLst>
            <p14:sldId id="262"/>
            <p14:sldId id="263"/>
            <p14:sldId id="264"/>
            <p14:sldId id="265"/>
          </p14:sldIdLst>
        </p14:section>
        <p14:section name="What we do" id="{e2c27d55-dac9-128a-2b71-388f690a36e4}">
          <p14:sldIdLst>
            <p14:sldId id="266"/>
            <p14:sldId id="267"/>
            <p14:sldId id="268"/>
            <p14:sldId id="269"/>
            <p14:sldId id="270"/>
            <p14:sldId id="271"/>
            <p14:sldId id="272"/>
          </p14:sldIdLst>
        </p14:section>
        <p14:section name="Sectors and products" id="{ae1a736b-f312-b498-c524-c6be2477f5d5}">
          <p14:sldIdLst>
            <p14:sldId id="273"/>
            <p14:sldId id="274"/>
            <p14:sldId id="275"/>
            <p14:sldId id="276"/>
          </p14:sldIdLst>
        </p14:section>
        <p14:section name="Proof" id="{ed488e42-786a-0393-7efc-60690183e3f2}">
          <p14:sldIdLst>
            <p14:sldId id="277"/>
            <p14:sldId id="278"/>
            <p14:sldId id="279"/>
            <p14:sldId id="280"/>
            <p14:sldId id="281"/>
            <p14:sldId id="282"/>
            <p14:sldId id="283"/>
            <p14:sldId id="284"/>
            <p14:sldId id="285"/>
            <p14:sldId id="286"/>
          </p14:sldIdLst>
        </p14:section>
        <p14:section name="Engage" id="{a1ef135c-04c0-41cc-93a8-ce1a34b560c9}">
          <p14:sldIdLst>
            <p14:sldId id="287"/>
            <p14:sldId id="288"/>
            <p14:sldId id="289"/>
            <p14:sldId id="29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slideLayout" Target="../slideLayouts/slideLayout1.xml"/><Relationship Id="rId11"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image" Target="../media/image-9-12.png"/><Relationship Id="rId13" Type="http://schemas.openxmlformats.org/officeDocument/2006/relationships/image" Target="../media/image-9-13.png"/><Relationship Id="rId14" Type="http://schemas.openxmlformats.org/officeDocument/2006/relationships/slideLayout" Target="../slideLayouts/slideLayout1.xml"/><Relationship Id="rId1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slideLayout" Target="../slideLayouts/slideLayout1.xml"/><Relationship Id="rId1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slideLayout" Target="../slideLayouts/slideLayout1.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jpg"/><Relationship Id="rId7" Type="http://schemas.openxmlformats.org/officeDocument/2006/relationships/image" Target="../media/image-21-7.png"/><Relationship Id="rId8" Type="http://schemas.openxmlformats.org/officeDocument/2006/relationships/slideLayout" Target="../slideLayouts/slideLayout1.xml"/><Relationship Id="rId9"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jpe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image" Target="../media/image-30-7.png"/><Relationship Id="rId8" Type="http://schemas.openxmlformats.org/officeDocument/2006/relationships/image" Target="../media/image-30-8.png"/><Relationship Id="rId9" Type="http://schemas.openxmlformats.org/officeDocument/2006/relationships/image" Target="../media/image-30-9.png"/><Relationship Id="rId10" Type="http://schemas.openxmlformats.org/officeDocument/2006/relationships/image" Target="../media/image-30-10.png"/><Relationship Id="rId11" Type="http://schemas.openxmlformats.org/officeDocument/2006/relationships/slideLayout" Target="../slideLayouts/slideLayout1.xml"/><Relationship Id="rId1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image" Target="../media/image-31-2.jp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jpe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jpe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Picture" descr="ALPHV">    </p:cNvPr>
          <p:cNvPicPr>
            <a:picLocks noChangeAspect="1"/>
          </p:cNvPicPr>
          <p:nvPr/>
        </p:nvPicPr>
        <p:blipFill>
          <a:blip r:embed="rId2"/>
          <a:stretch>
            <a:fillRect/>
          </a:stretch>
        </p:blipFill>
        <p:spPr>
          <a:xfrm>
            <a:off x="711220" y="533370"/>
            <a:ext cx="934608" cy="292059"/>
          </a:xfrm>
          <a:prstGeom prst="rect">
            <a:avLst/>
          </a:prstGeom>
        </p:spPr>
      </p:pic>
      <p:sp>
        <p:nvSpPr>
          <p:cNvPr id="3" name="badge"/>
          <p:cNvSpPr/>
          <p:nvPr/>
        </p:nvSpPr>
        <p:spPr>
          <a:xfrm>
            <a:off x="9071671" y="536570"/>
            <a:ext cx="2405969" cy="254020"/>
          </a:xfrm>
          <a:prstGeom prst="roundRect">
            <a:avLst>
              <a:gd name="adj" fmla="val 50000"/>
            </a:avLst>
          </a:prstGeom>
          <a:ln w="6350">
            <a:solidFill>
              <a:srgbClr val="FFFFFF">
                <a:alpha val="55000"/>
              </a:srgbClr>
            </a:solidFill>
            <a:prstDash val="solid"/>
          </a:ln>
        </p:spPr>
      </p:sp>
      <p:sp>
        <p:nvSpPr>
          <p:cNvPr id="4" name="badge"/>
          <p:cNvSpPr/>
          <p:nvPr/>
        </p:nvSpPr>
        <p:spPr>
          <a:xfrm>
            <a:off x="714421" y="2041764"/>
            <a:ext cx="2607046" cy="254020"/>
          </a:xfrm>
          <a:prstGeom prst="roundRect">
            <a:avLst>
              <a:gd name="adj" fmla="val 50000"/>
            </a:avLst>
          </a:prstGeom>
          <a:ln w="6350">
            <a:solidFill>
              <a:srgbClr val="FFFFFF">
                <a:alpha val="55000"/>
              </a:srgbClr>
            </a:solidFill>
            <a:prstDash val="solid"/>
          </a:ln>
        </p:spPr>
      </p:sp>
      <p:sp>
        <p:nvSpPr>
          <p:cNvPr id="5" name="Rule"/>
          <p:cNvSpPr/>
          <p:nvPr/>
        </p:nvSpPr>
        <p:spPr>
          <a:xfrm>
            <a:off x="711220" y="5397337"/>
            <a:ext cx="10769620" cy="0"/>
          </a:xfrm>
          <a:prstGeom prst="line">
            <a:avLst/>
          </a:prstGeom>
          <a:noFill/>
          <a:ln w="6350">
            <a:solidFill>
              <a:srgbClr val="FFFFFF">
                <a:alpha val="22000"/>
              </a:srgbClr>
            </a:solidFill>
            <a:prstDash val="solid"/>
          </a:ln>
        </p:spPr>
      </p:sp>
      <p:sp>
        <p:nvSpPr>
          <p:cNvPr id="6" name="Text"/>
          <p:cNvSpPr txBox="1"/>
          <p:nvPr/>
        </p:nvSpPr>
        <p:spPr>
          <a:xfrm>
            <a:off x="9201882" y="603230"/>
            <a:ext cx="2170968" cy="120609"/>
          </a:xfrm>
          <a:prstGeom prst="rect">
            <a:avLst/>
          </a:prstGeom>
          <a:noFill/>
          <a:ln/>
        </p:spPr>
        <p:txBody>
          <a:bodyPr wrap="none" lIns="0" tIns="0" rIns="0" bIns="0" rtlCol="0" anchor="t"/>
          <a:lstStyle/>
          <a:p>
            <a:pPr algn="l" indent="0" marL="0">
              <a:lnSpc>
                <a:spcPts val="950"/>
              </a:lnSpc>
              <a:buNone/>
            </a:pPr>
            <a:r>
              <a:rPr lang="en-US" sz="950" spc="10" kern="0" dirty="0">
                <a:solidFill>
                  <a:srgbClr val="FFFFFF"/>
                </a:solidFill>
                <a:latin typeface="Poppins Medium" pitchFamily="34" charset="0"/>
                <a:ea typeface="Poppins Medium" pitchFamily="34" charset="-122"/>
                <a:cs typeface="Poppins Medium" pitchFamily="34" charset="-120"/>
              </a:rPr>
              <a:t>Corporate overview · October 2026</a:t>
            </a:r>
            <a:endParaRPr lang="en-US" sz="950" dirty="0"/>
          </a:p>
        </p:txBody>
      </p:sp>
      <p:sp>
        <p:nvSpPr>
          <p:cNvPr id="7" name="Text"/>
          <p:cNvSpPr txBox="1"/>
          <p:nvPr/>
        </p:nvSpPr>
        <p:spPr>
          <a:xfrm>
            <a:off x="844540" y="2108424"/>
            <a:ext cx="2372136" cy="120609"/>
          </a:xfrm>
          <a:prstGeom prst="rect">
            <a:avLst/>
          </a:prstGeom>
          <a:noFill/>
          <a:ln/>
        </p:spPr>
        <p:txBody>
          <a:bodyPr wrap="none" lIns="0" tIns="0" rIns="0" bIns="0" rtlCol="0" anchor="t"/>
          <a:lstStyle/>
          <a:p>
            <a:pPr algn="l" indent="0" marL="0">
              <a:lnSpc>
                <a:spcPts val="950"/>
              </a:lnSpc>
              <a:buNone/>
            </a:pPr>
            <a:r>
              <a:rPr lang="en-US" sz="950" spc="10" kern="0" dirty="0">
                <a:solidFill>
                  <a:srgbClr val="FFFFFF"/>
                </a:solidFill>
                <a:latin typeface="Poppins Medium" pitchFamily="34" charset="0"/>
                <a:ea typeface="Poppins Medium" pitchFamily="34" charset="-122"/>
                <a:cs typeface="Poppins Medium" pitchFamily="34" charset="-120"/>
              </a:rPr>
              <a:t>AI systems integration and consulting</a:t>
            </a:r>
            <a:endParaRPr lang="en-US" sz="950" dirty="0"/>
          </a:p>
        </p:txBody>
      </p:sp>
      <p:sp>
        <p:nvSpPr>
          <p:cNvPr id="8" name="Text"/>
          <p:cNvSpPr txBox="1"/>
          <p:nvPr/>
        </p:nvSpPr>
        <p:spPr>
          <a:xfrm>
            <a:off x="711220" y="2548158"/>
            <a:ext cx="9525030" cy="1479316"/>
          </a:xfrm>
          <a:prstGeom prst="rect">
            <a:avLst/>
          </a:prstGeom>
          <a:noFill/>
          <a:ln/>
        </p:spPr>
        <p:txBody>
          <a:bodyPr wrap="square" lIns="0" tIns="0" rIns="0" bIns="0" rtlCol="0" anchor="t"/>
          <a:lstStyle/>
          <a:p>
            <a:pPr algn="l" indent="0" marL="0">
              <a:lnSpc>
                <a:spcPts val="5824"/>
              </a:lnSpc>
              <a:buNone/>
            </a:pPr>
            <a:r>
              <a:rPr lang="en-US" sz="5600" spc="-140" kern="0" dirty="0">
                <a:solidFill>
                  <a:srgbClr val="FFFFFF"/>
                </a:solidFill>
                <a:latin typeface="Poppins SemiBold" pitchFamily="34" charset="0"/>
                <a:ea typeface="Poppins SemiBold" pitchFamily="34" charset="-122"/>
                <a:cs typeface="Poppins SemiBold" pitchFamily="34" charset="-120"/>
              </a:rPr>
              <a:t>Build AI into the systems</a:t>
            </a:r>
            <a:endParaRPr lang="en-US" sz="5600" dirty="0"/>
          </a:p>
          <a:p>
            <a:pPr algn="l" indent="0" marL="0">
              <a:lnSpc>
                <a:spcPts val="5824"/>
              </a:lnSpc>
              <a:buNone/>
            </a:pPr>
            <a:r>
              <a:rPr lang="en-US" sz="5600" spc="-140" kern="0" dirty="0">
                <a:solidFill>
                  <a:srgbClr val="FFFFFF"/>
                </a:solidFill>
                <a:latin typeface="Poppins SemiBold" pitchFamily="34" charset="0"/>
                <a:ea typeface="Poppins SemiBold" pitchFamily="34" charset="-122"/>
                <a:cs typeface="Poppins SemiBold" pitchFamily="34" charset="-120"/>
              </a:rPr>
              <a:t>that run your business</a:t>
            </a:r>
            <a:endParaRPr lang="en-US" sz="5600" dirty="0"/>
          </a:p>
        </p:txBody>
      </p:sp>
      <p:sp>
        <p:nvSpPr>
          <p:cNvPr id="9" name="Text"/>
          <p:cNvSpPr txBox="1"/>
          <p:nvPr/>
        </p:nvSpPr>
        <p:spPr>
          <a:xfrm>
            <a:off x="711220" y="4281312"/>
            <a:ext cx="6898142" cy="828721"/>
          </a:xfrm>
          <a:prstGeom prst="rect">
            <a:avLst/>
          </a:prstGeom>
          <a:noFill/>
          <a:ln/>
        </p:spPr>
        <p:txBody>
          <a:bodyPr wrap="square" lIns="0" tIns="0" rIns="0" bIns="0" rtlCol="0" anchor="t"/>
          <a:lstStyle/>
          <a:p>
            <a:pPr algn="l" indent="0" marL="0">
              <a:lnSpc>
                <a:spcPts val="2175"/>
              </a:lnSpc>
              <a:buNone/>
            </a:pPr>
            <a:r>
              <a:rPr lang="en-US" sz="1450" dirty="0">
                <a:solidFill>
                  <a:srgbClr val="E1E9FA"/>
                </a:solidFill>
                <a:latin typeface="Poppins Light" pitchFamily="34" charset="0"/>
                <a:ea typeface="Poppins Light" pitchFamily="34" charset="-122"/>
                <a:cs typeface="Poppins Light" pitchFamily="34" charset="-120"/>
              </a:rPr>
              <a:t>ALPHV designs, integrates and runs production AI for legal, insurance, healthcare, hospitality, finance and retail teams, from first model to measurable outcomes.</a:t>
            </a:r>
            <a:endParaRPr lang="en-US" sz="1450" dirty="0"/>
          </a:p>
        </p:txBody>
      </p:sp>
      <p:sp>
        <p:nvSpPr>
          <p:cNvPr id="10" name="Text"/>
          <p:cNvSpPr txBox="1"/>
          <p:nvPr/>
        </p:nvSpPr>
        <p:spPr>
          <a:xfrm>
            <a:off x="711220" y="5577200"/>
            <a:ext cx="525689" cy="167335"/>
          </a:xfrm>
          <a:prstGeom prst="rect">
            <a:avLst/>
          </a:prstGeom>
          <a:noFill/>
          <a:ln/>
        </p:spPr>
        <p:txBody>
          <a:bodyPr wrap="none" lIns="0" tIns="0" rIns="0" bIns="0" rtlCol="0" anchor="t"/>
          <a:lstStyle/>
          <a:p>
            <a:pPr algn="l" indent="0" marL="0">
              <a:lnSpc>
                <a:spcPts val="1318"/>
              </a:lnSpc>
              <a:buNone/>
            </a:pPr>
            <a:r>
              <a:rPr lang="en-US" sz="850" spc="26" kern="0" dirty="0">
                <a:solidFill>
                  <a:srgbClr val="C0D2F6"/>
                </a:solidFill>
                <a:latin typeface="Poppins Medium" pitchFamily="34" charset="0"/>
                <a:ea typeface="Poppins Medium" pitchFamily="34" charset="-122"/>
                <a:cs typeface="Poppins Medium" pitchFamily="34" charset="-120"/>
              </a:rPr>
              <a:t>Founded</a:t>
            </a:r>
            <a:endParaRPr lang="en-US" sz="850" dirty="0"/>
          </a:p>
        </p:txBody>
      </p:sp>
      <p:sp>
        <p:nvSpPr>
          <p:cNvPr id="11" name="Text"/>
          <p:cNvSpPr txBox="1"/>
          <p:nvPr/>
        </p:nvSpPr>
        <p:spPr>
          <a:xfrm>
            <a:off x="711220" y="5783031"/>
            <a:ext cx="514990" cy="236190"/>
          </a:xfrm>
          <a:prstGeom prst="rect">
            <a:avLst/>
          </a:prstGeom>
          <a:noFill/>
          <a:ln/>
        </p:spPr>
        <p:txBody>
          <a:bodyPr wrap="square" lIns="0" tIns="0" rIns="0" bIns="0" rtlCol="0" anchor="t"/>
          <a:lstStyle/>
          <a:p>
            <a:pPr algn="l" indent="0" marL="0">
              <a:lnSpc>
                <a:spcPts val="1860"/>
              </a:lnSpc>
              <a:buNone/>
            </a:pPr>
            <a:r>
              <a:rPr lang="en-US" sz="1200" dirty="0">
                <a:solidFill>
                  <a:srgbClr val="FFFFFF"/>
                </a:solidFill>
                <a:latin typeface="Poppins" pitchFamily="34" charset="0"/>
                <a:ea typeface="Poppins" pitchFamily="34" charset="-122"/>
                <a:cs typeface="Poppins" pitchFamily="34" charset="-120"/>
              </a:rPr>
              <a:t>2023</a:t>
            </a:r>
            <a:endParaRPr lang="en-US" sz="1200" dirty="0"/>
          </a:p>
        </p:txBody>
      </p:sp>
      <p:sp>
        <p:nvSpPr>
          <p:cNvPr id="12" name="Text"/>
          <p:cNvSpPr txBox="1"/>
          <p:nvPr/>
        </p:nvSpPr>
        <p:spPr>
          <a:xfrm>
            <a:off x="1617848" y="5577200"/>
            <a:ext cx="1067745" cy="167335"/>
          </a:xfrm>
          <a:prstGeom prst="rect">
            <a:avLst/>
          </a:prstGeom>
          <a:noFill/>
          <a:ln/>
        </p:spPr>
        <p:txBody>
          <a:bodyPr wrap="square" lIns="0" tIns="0" rIns="0" bIns="0" rtlCol="0" anchor="t"/>
          <a:lstStyle/>
          <a:p>
            <a:pPr algn="l" indent="0" marL="0">
              <a:lnSpc>
                <a:spcPts val="1318"/>
              </a:lnSpc>
              <a:buNone/>
            </a:pPr>
            <a:r>
              <a:rPr lang="en-US" sz="850" spc="26" kern="0" dirty="0">
                <a:solidFill>
                  <a:srgbClr val="C0D2F6"/>
                </a:solidFill>
                <a:latin typeface="Poppins Medium" pitchFamily="34" charset="0"/>
                <a:ea typeface="Poppins Medium" pitchFamily="34" charset="-122"/>
                <a:cs typeface="Poppins Medium" pitchFamily="34" charset="-120"/>
              </a:rPr>
              <a:t>Headquarters</a:t>
            </a:r>
            <a:endParaRPr lang="en-US" sz="850" dirty="0"/>
          </a:p>
        </p:txBody>
      </p:sp>
      <p:sp>
        <p:nvSpPr>
          <p:cNvPr id="13" name="Text"/>
          <p:cNvSpPr txBox="1"/>
          <p:nvPr/>
        </p:nvSpPr>
        <p:spPr>
          <a:xfrm>
            <a:off x="1617848" y="5783031"/>
            <a:ext cx="1076249" cy="236190"/>
          </a:xfrm>
          <a:prstGeom prst="rect">
            <a:avLst/>
          </a:prstGeom>
          <a:noFill/>
          <a:ln/>
        </p:spPr>
        <p:txBody>
          <a:bodyPr wrap="none" lIns="0" tIns="0" rIns="0" bIns="0" rtlCol="0" anchor="t"/>
          <a:lstStyle/>
          <a:p>
            <a:pPr algn="l" indent="0" marL="0">
              <a:lnSpc>
                <a:spcPts val="1860"/>
              </a:lnSpc>
              <a:buNone/>
            </a:pPr>
            <a:r>
              <a:rPr lang="en-US" sz="1200" dirty="0">
                <a:solidFill>
                  <a:srgbClr val="FFFFFF"/>
                </a:solidFill>
                <a:latin typeface="Poppins" pitchFamily="34" charset="0"/>
                <a:ea typeface="Poppins" pitchFamily="34" charset="-122"/>
                <a:cs typeface="Poppins" pitchFamily="34" charset="-120"/>
              </a:rPr>
              <a:t>Kuala Lumpur</a:t>
            </a:r>
            <a:endParaRPr lang="en-US" sz="1200" dirty="0"/>
          </a:p>
        </p:txBody>
      </p:sp>
      <p:sp>
        <p:nvSpPr>
          <p:cNvPr id="14" name="Text"/>
          <p:cNvSpPr txBox="1"/>
          <p:nvPr/>
        </p:nvSpPr>
        <p:spPr>
          <a:xfrm>
            <a:off x="3075127" y="5577200"/>
            <a:ext cx="798271" cy="167335"/>
          </a:xfrm>
          <a:prstGeom prst="rect">
            <a:avLst/>
          </a:prstGeom>
          <a:noFill/>
          <a:ln/>
        </p:spPr>
        <p:txBody>
          <a:bodyPr wrap="square" lIns="0" tIns="0" rIns="0" bIns="0" rtlCol="0" anchor="t"/>
          <a:lstStyle/>
          <a:p>
            <a:pPr algn="l" indent="0" marL="0">
              <a:lnSpc>
                <a:spcPts val="1318"/>
              </a:lnSpc>
              <a:buNone/>
            </a:pPr>
            <a:r>
              <a:rPr lang="en-US" sz="850" spc="26" kern="0" dirty="0">
                <a:solidFill>
                  <a:srgbClr val="C0D2F6"/>
                </a:solidFill>
                <a:latin typeface="Poppins Medium" pitchFamily="34" charset="0"/>
                <a:ea typeface="Poppins Medium" pitchFamily="34" charset="-122"/>
                <a:cs typeface="Poppins Medium" pitchFamily="34" charset="-120"/>
              </a:rPr>
              <a:t>Office</a:t>
            </a:r>
            <a:endParaRPr lang="en-US" sz="850" dirty="0"/>
          </a:p>
        </p:txBody>
      </p:sp>
      <p:sp>
        <p:nvSpPr>
          <p:cNvPr id="15" name="Text"/>
          <p:cNvSpPr txBox="1"/>
          <p:nvPr/>
        </p:nvSpPr>
        <p:spPr>
          <a:xfrm>
            <a:off x="3075127" y="5783031"/>
            <a:ext cx="807872" cy="236190"/>
          </a:xfrm>
          <a:prstGeom prst="rect">
            <a:avLst/>
          </a:prstGeom>
          <a:noFill/>
          <a:ln/>
        </p:spPr>
        <p:txBody>
          <a:bodyPr wrap="none" lIns="0" tIns="0" rIns="0" bIns="0" rtlCol="0" anchor="t"/>
          <a:lstStyle/>
          <a:p>
            <a:pPr algn="l" indent="0" marL="0">
              <a:lnSpc>
                <a:spcPts val="1860"/>
              </a:lnSpc>
              <a:buNone/>
            </a:pPr>
            <a:r>
              <a:rPr lang="en-US" sz="1200" dirty="0">
                <a:solidFill>
                  <a:srgbClr val="FFFFFF"/>
                </a:solidFill>
                <a:latin typeface="Poppins" pitchFamily="34" charset="0"/>
                <a:ea typeface="Poppins" pitchFamily="34" charset="-122"/>
                <a:cs typeface="Poppins" pitchFamily="34" charset="-120"/>
              </a:rPr>
              <a:t>Singapore</a:t>
            </a:r>
            <a:endParaRPr lang="en-US" sz="1200" dirty="0"/>
          </a:p>
        </p:txBody>
      </p:sp>
      <p:sp>
        <p:nvSpPr>
          <p:cNvPr id="16" name="Text"/>
          <p:cNvSpPr txBox="1"/>
          <p:nvPr/>
        </p:nvSpPr>
        <p:spPr>
          <a:xfrm>
            <a:off x="4263939" y="5577200"/>
            <a:ext cx="2589855" cy="167335"/>
          </a:xfrm>
          <a:prstGeom prst="rect">
            <a:avLst/>
          </a:prstGeom>
          <a:noFill/>
          <a:ln/>
        </p:spPr>
        <p:txBody>
          <a:bodyPr wrap="square" lIns="0" tIns="0" rIns="0" bIns="0" rtlCol="0" anchor="t"/>
          <a:lstStyle/>
          <a:p>
            <a:pPr algn="l" indent="0" marL="0">
              <a:lnSpc>
                <a:spcPts val="1318"/>
              </a:lnSpc>
              <a:buNone/>
            </a:pPr>
            <a:r>
              <a:rPr lang="en-US" sz="850" spc="26" kern="0" dirty="0">
                <a:solidFill>
                  <a:srgbClr val="C0D2F6"/>
                </a:solidFill>
                <a:latin typeface="Poppins Medium" pitchFamily="34" charset="0"/>
                <a:ea typeface="Poppins Medium" pitchFamily="34" charset="-122"/>
                <a:cs typeface="Poppins Medium" pitchFamily="34" charset="-120"/>
              </a:rPr>
              <a:t>Clients in</a:t>
            </a:r>
            <a:endParaRPr lang="en-US" sz="850" dirty="0"/>
          </a:p>
        </p:txBody>
      </p:sp>
      <p:sp>
        <p:nvSpPr>
          <p:cNvPr id="17" name="Text"/>
          <p:cNvSpPr txBox="1"/>
          <p:nvPr/>
        </p:nvSpPr>
        <p:spPr>
          <a:xfrm>
            <a:off x="4263939" y="5783031"/>
            <a:ext cx="2592324" cy="236190"/>
          </a:xfrm>
          <a:prstGeom prst="rect">
            <a:avLst/>
          </a:prstGeom>
          <a:noFill/>
          <a:ln/>
        </p:spPr>
        <p:txBody>
          <a:bodyPr wrap="none" lIns="0" tIns="0" rIns="0" bIns="0" rtlCol="0" anchor="t"/>
          <a:lstStyle/>
          <a:p>
            <a:pPr algn="l" indent="0" marL="0">
              <a:lnSpc>
                <a:spcPts val="1860"/>
              </a:lnSpc>
              <a:buNone/>
            </a:pPr>
            <a:r>
              <a:rPr lang="en-US" sz="1200" dirty="0">
                <a:solidFill>
                  <a:srgbClr val="FFFFFF"/>
                </a:solidFill>
                <a:latin typeface="Poppins" pitchFamily="34" charset="0"/>
                <a:ea typeface="Poppins" pitchFamily="34" charset="-122"/>
                <a:cs typeface="Poppins" pitchFamily="34" charset="-120"/>
              </a:rPr>
              <a:t>Malaysia, Singapore and Vietnam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badge"/>
          <p:cNvSpPr/>
          <p:nvPr/>
        </p:nvSpPr>
        <p:spPr>
          <a:xfrm>
            <a:off x="714421" y="536570"/>
            <a:ext cx="1473281" cy="254020"/>
          </a:xfrm>
          <a:prstGeom prst="roundRect">
            <a:avLst>
              <a:gd name="adj" fmla="val 50000"/>
            </a:avLst>
          </a:prstGeom>
          <a:ln w="6350">
            <a:solidFill>
              <a:srgbClr val="155DFC"/>
            </a:solidFill>
            <a:prstDash val="solid"/>
          </a:ln>
        </p:spPr>
      </p:sp>
      <p:sp>
        <p:nvSpPr>
          <p:cNvPr id="3" name="Rule"/>
          <p:cNvSpPr/>
          <p:nvPr/>
        </p:nvSpPr>
        <p:spPr>
          <a:xfrm>
            <a:off x="711220" y="2077060"/>
            <a:ext cx="10769620" cy="0"/>
          </a:xfrm>
          <a:prstGeom prst="line">
            <a:avLst/>
          </a:prstGeom>
          <a:noFill/>
          <a:ln w="6350">
            <a:solidFill>
              <a:srgbClr val="E3E6EC"/>
            </a:solidFill>
            <a:prstDash val="solid"/>
          </a:ln>
        </p:spPr>
      </p:sp>
      <p:sp>
        <p:nvSpPr>
          <p:cNvPr id="4" name="Rule"/>
          <p:cNvSpPr/>
          <p:nvPr/>
        </p:nvSpPr>
        <p:spPr>
          <a:xfrm>
            <a:off x="711220" y="2873136"/>
            <a:ext cx="10769620" cy="0"/>
          </a:xfrm>
          <a:prstGeom prst="line">
            <a:avLst/>
          </a:prstGeom>
          <a:noFill/>
          <a:ln w="6350">
            <a:solidFill>
              <a:srgbClr val="E3E6EC"/>
            </a:solidFill>
            <a:prstDash val="solid"/>
          </a:ln>
        </p:spPr>
      </p:sp>
      <p:sp>
        <p:nvSpPr>
          <p:cNvPr id="5" name="Rule"/>
          <p:cNvSpPr/>
          <p:nvPr/>
        </p:nvSpPr>
        <p:spPr>
          <a:xfrm>
            <a:off x="711220" y="3669304"/>
            <a:ext cx="10769620" cy="0"/>
          </a:xfrm>
          <a:prstGeom prst="line">
            <a:avLst/>
          </a:prstGeom>
          <a:noFill/>
          <a:ln w="6350">
            <a:solidFill>
              <a:srgbClr val="E3E6EC"/>
            </a:solidFill>
            <a:prstDash val="solid"/>
          </a:ln>
        </p:spPr>
      </p:sp>
      <p:sp>
        <p:nvSpPr>
          <p:cNvPr id="6" name="Rule"/>
          <p:cNvSpPr/>
          <p:nvPr/>
        </p:nvSpPr>
        <p:spPr>
          <a:xfrm>
            <a:off x="711220" y="4465472"/>
            <a:ext cx="10769620" cy="0"/>
          </a:xfrm>
          <a:prstGeom prst="line">
            <a:avLst/>
          </a:prstGeom>
          <a:noFill/>
          <a:ln w="6350">
            <a:solidFill>
              <a:srgbClr val="E3E6EC"/>
            </a:solidFill>
            <a:prstDash val="solid"/>
          </a:ln>
        </p:spPr>
      </p:sp>
      <p:sp>
        <p:nvSpPr>
          <p:cNvPr id="7" name="Rule"/>
          <p:cNvSpPr/>
          <p:nvPr/>
        </p:nvSpPr>
        <p:spPr>
          <a:xfrm>
            <a:off x="711220" y="5261549"/>
            <a:ext cx="10769620" cy="0"/>
          </a:xfrm>
          <a:prstGeom prst="line">
            <a:avLst/>
          </a:prstGeom>
          <a:noFill/>
          <a:ln w="6350">
            <a:solidFill>
              <a:srgbClr val="E3E6EC"/>
            </a:solidFill>
            <a:prstDash val="solid"/>
          </a:ln>
        </p:spPr>
      </p:sp>
      <p:sp>
        <p:nvSpPr>
          <p:cNvPr id="8" name="Rule"/>
          <p:cNvSpPr/>
          <p:nvPr/>
        </p:nvSpPr>
        <p:spPr>
          <a:xfrm>
            <a:off x="711220" y="6057717"/>
            <a:ext cx="10769620" cy="0"/>
          </a:xfrm>
          <a:prstGeom prst="line">
            <a:avLst/>
          </a:prstGeom>
          <a:noFill/>
          <a:ln w="6350">
            <a:solidFill>
              <a:srgbClr val="E3E6EC"/>
            </a:solidFill>
            <a:prstDash val="solid"/>
          </a:ln>
        </p:spPr>
      </p:sp>
      <p:sp>
        <p:nvSpPr>
          <p:cNvPr id="9" name="Text"/>
          <p:cNvSpPr txBox="1"/>
          <p:nvPr/>
        </p:nvSpPr>
        <p:spPr>
          <a:xfrm>
            <a:off x="844540" y="603230"/>
            <a:ext cx="1238372" cy="120609"/>
          </a:xfrm>
          <a:prstGeom prst="rect">
            <a:avLst/>
          </a:prstGeom>
          <a:noFill/>
          <a:ln/>
        </p:spPr>
        <p:txBody>
          <a:bodyPr wrap="none" lIns="0" tIns="0" rIns="0" bIns="0" rtlCol="0" anchor="t"/>
          <a:lstStyle/>
          <a:p>
            <a:pPr algn="l" indent="0" marL="0">
              <a:lnSpc>
                <a:spcPts val="950"/>
              </a:lnSpc>
              <a:buNone/>
            </a:pPr>
            <a:r>
              <a:rPr lang="en-US" sz="950" spc="10" kern="0" dirty="0">
                <a:solidFill>
                  <a:srgbClr val="155DFC"/>
                </a:solidFill>
                <a:latin typeface="Poppins Medium" pitchFamily="34" charset="0"/>
                <a:ea typeface="Poppins Medium" pitchFamily="34" charset="-122"/>
                <a:cs typeface="Poppins Medium" pitchFamily="34" charset="-120"/>
              </a:rPr>
              <a:t>Executive summary</a:t>
            </a:r>
            <a:endParaRPr lang="en-US" sz="950" dirty="0"/>
          </a:p>
        </p:txBody>
      </p:sp>
      <p:sp>
        <p:nvSpPr>
          <p:cNvPr id="10" name="Title"/>
          <p:cNvSpPr txBox="1"/>
          <p:nvPr/>
        </p:nvSpPr>
        <p:spPr>
          <a:xfrm>
            <a:off x="711220" y="927750"/>
            <a:ext cx="9398020" cy="861090"/>
          </a:xfrm>
          <a:prstGeom prst="rect">
            <a:avLst/>
          </a:prstGeom>
          <a:noFill/>
          <a:ln/>
        </p:spPr>
        <p:txBody>
          <a:bodyPr wrap="square" lIns="0" tIns="0" rIns="0" bIns="0" rtlCol="0" anchor="t"/>
          <a:lstStyle/>
          <a:p>
            <a:pPr algn="l" indent="0" marL="0">
              <a:lnSpc>
                <a:spcPts val="3390"/>
              </a:lnSpc>
              <a:buNone/>
            </a:pPr>
            <a:r>
              <a:rPr lang="en-US" sz="3000" spc="-45" kern="0" dirty="0">
                <a:solidFill>
                  <a:srgbClr val="000000"/>
                </a:solidFill>
                <a:latin typeface="Poppins Medium" pitchFamily="34" charset="0"/>
                <a:ea typeface="Poppins Medium" pitchFamily="34" charset="-122"/>
                <a:cs typeface="Poppins Medium" pitchFamily="34" charset="-120"/>
              </a:rPr>
              <a:t>ALPHV takes AI past the pilot and</a:t>
            </a:r>
            <a:endParaRPr lang="en-US" sz="3000" dirty="0"/>
          </a:p>
          <a:p>
            <a:pPr algn="l" indent="0" marL="0">
              <a:lnSpc>
                <a:spcPts val="3390"/>
              </a:lnSpc>
              <a:buNone/>
            </a:pPr>
            <a:r>
              <a:rPr lang="en-US" sz="3000" spc="-45" kern="0" dirty="0">
                <a:solidFill>
                  <a:srgbClr val="000000"/>
                </a:solidFill>
                <a:latin typeface="Poppins Medium" pitchFamily="34" charset="0"/>
                <a:ea typeface="Poppins Medium" pitchFamily="34" charset="-122"/>
                <a:cs typeface="Poppins Medium" pitchFamily="34" charset="-120"/>
              </a:rPr>
              <a:t>into the systems that</a:t>
            </a:r>
            <a:pPr algn="l" indent="0" marL="0">
              <a:lnSpc>
                <a:spcPts val="3390"/>
              </a:lnSpc>
              <a:buNone/>
            </a:pPr>
            <a:r>
              <a:rPr lang="en-US" sz="3000" spc="-45" kern="0" dirty="0">
                <a:solidFill>
                  <a:srgbClr val="044BD9"/>
                </a:solidFill>
                <a:latin typeface="Poppins Medium" pitchFamily="34" charset="0"/>
                <a:ea typeface="Poppins Medium" pitchFamily="34" charset="-122"/>
                <a:cs typeface="Poppins Medium" pitchFamily="34" charset="-120"/>
              </a:rPr>
              <a:t> earn revenue</a:t>
            </a:r>
            <a:endParaRPr lang="en-US" sz="3000" dirty="0"/>
          </a:p>
        </p:txBody>
      </p:sp>
      <p:sp>
        <p:nvSpPr>
          <p:cNvPr id="11" name="Text"/>
          <p:cNvSpPr txBox="1"/>
          <p:nvPr/>
        </p:nvSpPr>
        <p:spPr>
          <a:xfrm>
            <a:off x="711220" y="2260854"/>
            <a:ext cx="420715" cy="216530"/>
          </a:xfrm>
          <a:prstGeom prst="rect">
            <a:avLst/>
          </a:prstGeom>
          <a:noFill/>
          <a:ln/>
        </p:spPr>
        <p:txBody>
          <a:bodyPr wrap="square" lIns="0" tIns="0" rIns="0" bIns="0" rtlCol="0" anchor="t"/>
          <a:lstStyle/>
          <a:p>
            <a:pPr algn="l" indent="0" marL="0">
              <a:lnSpc>
                <a:spcPts val="1705"/>
              </a:lnSpc>
              <a:buNone/>
            </a:pPr>
            <a:r>
              <a:rPr lang="en-US" sz="1100" dirty="0">
                <a:solidFill>
                  <a:srgbClr val="044BD9"/>
                </a:solidFill>
                <a:latin typeface="Poppins SemiBold" pitchFamily="34" charset="0"/>
                <a:ea typeface="Poppins SemiBold" pitchFamily="34" charset="-122"/>
                <a:cs typeface="Poppins SemiBold" pitchFamily="34" charset="-120"/>
              </a:rPr>
              <a:t>01</a:t>
            </a:r>
            <a:endParaRPr lang="en-US" sz="1100" dirty="0"/>
          </a:p>
        </p:txBody>
      </p:sp>
      <p:sp>
        <p:nvSpPr>
          <p:cNvPr id="12" name="Text"/>
          <p:cNvSpPr txBox="1"/>
          <p:nvPr/>
        </p:nvSpPr>
        <p:spPr>
          <a:xfrm>
            <a:off x="1320759" y="2231045"/>
            <a:ext cx="1606509" cy="238110"/>
          </a:xfrm>
          <a:prstGeom prst="rect">
            <a:avLst/>
          </a:prstGeom>
          <a:noFill/>
          <a:ln/>
        </p:spPr>
        <p:txBody>
          <a:bodyPr wrap="square" lIns="0" tIns="0" rIns="0" bIns="0" rtlCol="0" anchor="t"/>
          <a:lstStyle/>
          <a:p>
            <a:pPr algn="l" indent="0" marL="0">
              <a:lnSpc>
                <a:spcPts val="1875"/>
              </a:lnSpc>
              <a:buNone/>
            </a:pPr>
            <a:r>
              <a:rPr lang="en-US" sz="1500" dirty="0">
                <a:solidFill>
                  <a:srgbClr val="000000"/>
                </a:solidFill>
                <a:latin typeface="Poppins Medium" pitchFamily="34" charset="0"/>
                <a:ea typeface="Poppins Medium" pitchFamily="34" charset="-122"/>
                <a:cs typeface="Poppins Medium" pitchFamily="34" charset="-120"/>
              </a:rPr>
              <a:t>Situation</a:t>
            </a:r>
            <a:endParaRPr lang="en-US" sz="1500" dirty="0"/>
          </a:p>
        </p:txBody>
      </p:sp>
      <p:sp>
        <p:nvSpPr>
          <p:cNvPr id="13" name="Text"/>
          <p:cNvSpPr txBox="1"/>
          <p:nvPr/>
        </p:nvSpPr>
        <p:spPr>
          <a:xfrm>
            <a:off x="3111520" y="2244669"/>
            <a:ext cx="8415498" cy="472470"/>
          </a:xfrm>
          <a:prstGeom prst="rect">
            <a:avLst/>
          </a:prstGeom>
          <a:noFill/>
          <a:ln/>
        </p:spPr>
        <p:txBody>
          <a:bodyPr wrap="square" lIns="0" tIns="0" rIns="0" bIns="0" rtlCol="0" anchor="t"/>
          <a:lstStyle/>
          <a:p>
            <a:pPr algn="l" indent="0" marL="0">
              <a:lnSpc>
                <a:spcPts val="1860"/>
              </a:lnSpc>
              <a:buNone/>
            </a:pPr>
            <a:r>
              <a:rPr lang="en-US" sz="1200" dirty="0">
                <a:solidFill>
                  <a:srgbClr val="000000"/>
                </a:solidFill>
                <a:latin typeface="Poppins Medium" pitchFamily="34" charset="0"/>
                <a:ea typeface="Poppins Medium" pitchFamily="34" charset="-122"/>
                <a:cs typeface="Poppins Medium" pitchFamily="34" charset="-120"/>
              </a:rPr>
              <a:t>Most companies have tried AI. Far fewer run it inside the systems that earn their revenue.</a:t>
            </a:r>
            <a:pPr algn="l" indent="0" marL="0">
              <a:lnSpc>
                <a:spcPts val="1860"/>
              </a:lnSpc>
              <a:buNone/>
            </a:pPr>
            <a:r>
              <a:rPr lang="en-US" sz="1200" dirty="0">
                <a:solidFill>
                  <a:srgbClr val="1F2937"/>
                </a:solidFill>
                <a:latin typeface="Poppins Light" pitchFamily="34" charset="0"/>
                <a:ea typeface="Poppins Light" pitchFamily="34" charset="-122"/>
                <a:cs typeface="Poppins Light" pitchFamily="34" charset="-120"/>
              </a:rPr>
              <a:t> AI pays off after the pilot, not in it.</a:t>
            </a:r>
            <a:endParaRPr lang="en-US" sz="1200" dirty="0"/>
          </a:p>
        </p:txBody>
      </p:sp>
      <p:sp>
        <p:nvSpPr>
          <p:cNvPr id="14" name="Text"/>
          <p:cNvSpPr txBox="1"/>
          <p:nvPr/>
        </p:nvSpPr>
        <p:spPr>
          <a:xfrm>
            <a:off x="711220" y="3057022"/>
            <a:ext cx="420715" cy="216530"/>
          </a:xfrm>
          <a:prstGeom prst="rect">
            <a:avLst/>
          </a:prstGeom>
          <a:noFill/>
          <a:ln/>
        </p:spPr>
        <p:txBody>
          <a:bodyPr wrap="square" lIns="0" tIns="0" rIns="0" bIns="0" rtlCol="0" anchor="t"/>
          <a:lstStyle/>
          <a:p>
            <a:pPr algn="l" indent="0" marL="0">
              <a:lnSpc>
                <a:spcPts val="1705"/>
              </a:lnSpc>
              <a:buNone/>
            </a:pPr>
            <a:r>
              <a:rPr lang="en-US" sz="1100" dirty="0">
                <a:solidFill>
                  <a:srgbClr val="044BD9"/>
                </a:solidFill>
                <a:latin typeface="Poppins SemiBold" pitchFamily="34" charset="0"/>
                <a:ea typeface="Poppins SemiBold" pitchFamily="34" charset="-122"/>
                <a:cs typeface="Poppins SemiBold" pitchFamily="34" charset="-120"/>
              </a:rPr>
              <a:t>02</a:t>
            </a:r>
            <a:endParaRPr lang="en-US" sz="1100" dirty="0"/>
          </a:p>
        </p:txBody>
      </p:sp>
      <p:sp>
        <p:nvSpPr>
          <p:cNvPr id="15" name="Text"/>
          <p:cNvSpPr txBox="1"/>
          <p:nvPr/>
        </p:nvSpPr>
        <p:spPr>
          <a:xfrm>
            <a:off x="1320759" y="3027121"/>
            <a:ext cx="1606509" cy="238110"/>
          </a:xfrm>
          <a:prstGeom prst="rect">
            <a:avLst/>
          </a:prstGeom>
          <a:noFill/>
          <a:ln/>
        </p:spPr>
        <p:txBody>
          <a:bodyPr wrap="square" lIns="0" tIns="0" rIns="0" bIns="0" rtlCol="0" anchor="t"/>
          <a:lstStyle/>
          <a:p>
            <a:pPr algn="l" indent="0" marL="0">
              <a:lnSpc>
                <a:spcPts val="1875"/>
              </a:lnSpc>
              <a:buNone/>
            </a:pPr>
            <a:r>
              <a:rPr lang="en-US" sz="1500" dirty="0">
                <a:solidFill>
                  <a:srgbClr val="000000"/>
                </a:solidFill>
                <a:latin typeface="Poppins Medium" pitchFamily="34" charset="0"/>
                <a:ea typeface="Poppins Medium" pitchFamily="34" charset="-122"/>
                <a:cs typeface="Poppins Medium" pitchFamily="34" charset="-120"/>
              </a:rPr>
              <a:t>Complication</a:t>
            </a:r>
            <a:endParaRPr lang="en-US" sz="1500" dirty="0"/>
          </a:p>
        </p:txBody>
      </p:sp>
      <p:sp>
        <p:nvSpPr>
          <p:cNvPr id="16" name="Text"/>
          <p:cNvSpPr txBox="1"/>
          <p:nvPr/>
        </p:nvSpPr>
        <p:spPr>
          <a:xfrm>
            <a:off x="3111520" y="3040837"/>
            <a:ext cx="8415498" cy="472470"/>
          </a:xfrm>
          <a:prstGeom prst="rect">
            <a:avLst/>
          </a:prstGeom>
          <a:noFill/>
          <a:ln/>
        </p:spPr>
        <p:txBody>
          <a:bodyPr wrap="square" lIns="0" tIns="0" rIns="0" bIns="0" rtlCol="0" anchor="t"/>
          <a:lstStyle/>
          <a:p>
            <a:pPr algn="l" indent="0" marL="0">
              <a:lnSpc>
                <a:spcPts val="1860"/>
              </a:lnSpc>
              <a:buNone/>
            </a:pPr>
            <a:r>
              <a:rPr lang="en-US" sz="1200" dirty="0">
                <a:solidFill>
                  <a:srgbClr val="000000"/>
                </a:solidFill>
                <a:latin typeface="Poppins Medium" pitchFamily="34" charset="0"/>
                <a:ea typeface="Poppins Medium" pitchFamily="34" charset="-122"/>
                <a:cs typeface="Poppins Medium" pitchFamily="34" charset="-120"/>
              </a:rPr>
              <a:t>Three barriers keep pilots from reaching production.</a:t>
            </a:r>
            <a:pPr algn="l" indent="0" marL="0">
              <a:lnSpc>
                <a:spcPts val="1860"/>
              </a:lnSpc>
              <a:buNone/>
            </a:pPr>
            <a:r>
              <a:rPr lang="en-US" sz="1200" dirty="0">
                <a:solidFill>
                  <a:srgbClr val="1F2937"/>
                </a:solidFill>
                <a:latin typeface="Poppins Light" pitchFamily="34" charset="0"/>
                <a:ea typeface="Poppins Light" pitchFamily="34" charset="-122"/>
                <a:cs typeface="Poppins Light" pitchFamily="34" charset="-120"/>
              </a:rPr>
              <a:t> Data sits in silos, legacy systems resist change and pilots stall at integration.</a:t>
            </a:r>
            <a:endParaRPr lang="en-US" sz="1200" dirty="0"/>
          </a:p>
        </p:txBody>
      </p:sp>
      <p:sp>
        <p:nvSpPr>
          <p:cNvPr id="17" name="Text"/>
          <p:cNvSpPr txBox="1"/>
          <p:nvPr/>
        </p:nvSpPr>
        <p:spPr>
          <a:xfrm>
            <a:off x="711220" y="3853099"/>
            <a:ext cx="420715" cy="216530"/>
          </a:xfrm>
          <a:prstGeom prst="rect">
            <a:avLst/>
          </a:prstGeom>
          <a:noFill/>
          <a:ln/>
        </p:spPr>
        <p:txBody>
          <a:bodyPr wrap="square" lIns="0" tIns="0" rIns="0" bIns="0" rtlCol="0" anchor="t"/>
          <a:lstStyle/>
          <a:p>
            <a:pPr algn="l" indent="0" marL="0">
              <a:lnSpc>
                <a:spcPts val="1705"/>
              </a:lnSpc>
              <a:buNone/>
            </a:pPr>
            <a:r>
              <a:rPr lang="en-US" sz="1100" dirty="0">
                <a:solidFill>
                  <a:srgbClr val="044BD9"/>
                </a:solidFill>
                <a:latin typeface="Poppins SemiBold" pitchFamily="34" charset="0"/>
                <a:ea typeface="Poppins SemiBold" pitchFamily="34" charset="-122"/>
                <a:cs typeface="Poppins SemiBold" pitchFamily="34" charset="-120"/>
              </a:rPr>
              <a:t>03</a:t>
            </a:r>
            <a:endParaRPr lang="en-US" sz="1100" dirty="0"/>
          </a:p>
        </p:txBody>
      </p:sp>
      <p:sp>
        <p:nvSpPr>
          <p:cNvPr id="18" name="Text"/>
          <p:cNvSpPr txBox="1"/>
          <p:nvPr/>
        </p:nvSpPr>
        <p:spPr>
          <a:xfrm>
            <a:off x="1320759" y="3823289"/>
            <a:ext cx="1606509" cy="238110"/>
          </a:xfrm>
          <a:prstGeom prst="rect">
            <a:avLst/>
          </a:prstGeom>
          <a:noFill/>
          <a:ln/>
        </p:spPr>
        <p:txBody>
          <a:bodyPr wrap="square" lIns="0" tIns="0" rIns="0" bIns="0" rtlCol="0" anchor="t"/>
          <a:lstStyle/>
          <a:p>
            <a:pPr algn="l" indent="0" marL="0">
              <a:lnSpc>
                <a:spcPts val="1875"/>
              </a:lnSpc>
              <a:buNone/>
            </a:pPr>
            <a:r>
              <a:rPr lang="en-US" sz="1500" dirty="0">
                <a:solidFill>
                  <a:srgbClr val="000000"/>
                </a:solidFill>
                <a:latin typeface="Poppins Medium" pitchFamily="34" charset="0"/>
                <a:ea typeface="Poppins Medium" pitchFamily="34" charset="-122"/>
                <a:cs typeface="Poppins Medium" pitchFamily="34" charset="-120"/>
              </a:rPr>
              <a:t>Answer</a:t>
            </a:r>
            <a:endParaRPr lang="en-US" sz="1500" dirty="0"/>
          </a:p>
        </p:txBody>
      </p:sp>
      <p:sp>
        <p:nvSpPr>
          <p:cNvPr id="19" name="Text"/>
          <p:cNvSpPr txBox="1"/>
          <p:nvPr/>
        </p:nvSpPr>
        <p:spPr>
          <a:xfrm>
            <a:off x="3111520" y="3836914"/>
            <a:ext cx="8415498" cy="472470"/>
          </a:xfrm>
          <a:prstGeom prst="rect">
            <a:avLst/>
          </a:prstGeom>
          <a:noFill/>
          <a:ln/>
        </p:spPr>
        <p:txBody>
          <a:bodyPr wrap="square" lIns="0" tIns="0" rIns="0" bIns="0" rtlCol="0" anchor="t"/>
          <a:lstStyle/>
          <a:p>
            <a:pPr algn="l" indent="0" marL="0">
              <a:lnSpc>
                <a:spcPts val="1860"/>
              </a:lnSpc>
              <a:buNone/>
            </a:pPr>
            <a:r>
              <a:rPr lang="en-US" sz="1200" dirty="0">
                <a:solidFill>
                  <a:srgbClr val="000000"/>
                </a:solidFill>
                <a:latin typeface="Poppins Medium" pitchFamily="34" charset="0"/>
                <a:ea typeface="Poppins Medium" pitchFamily="34" charset="-122"/>
                <a:cs typeface="Poppins Medium" pitchFamily="34" charset="-120"/>
              </a:rPr>
              <a:t>ALPHV is an AI-native systems integrator.</a:t>
            </a:r>
            <a:pPr algn="l" indent="0" marL="0">
              <a:lnSpc>
                <a:spcPts val="1860"/>
              </a:lnSpc>
              <a:buNone/>
            </a:pPr>
            <a:r>
              <a:rPr lang="en-US" sz="1200" dirty="0">
                <a:solidFill>
                  <a:srgbClr val="1F2937"/>
                </a:solidFill>
                <a:latin typeface="Poppins Light" pitchFamily="34" charset="0"/>
                <a:ea typeface="Poppins Light" pitchFamily="34" charset="-122"/>
                <a:cs typeface="Poppins Light" pitchFamily="34" charset="-120"/>
              </a:rPr>
              <a:t> The engineers who scope your AI ship and improve it, with models, hosting and guardrails chosen to fit your systems, data and regulator.</a:t>
            </a:r>
            <a:endParaRPr lang="en-US" sz="1200" dirty="0"/>
          </a:p>
        </p:txBody>
      </p:sp>
      <p:sp>
        <p:nvSpPr>
          <p:cNvPr id="20" name="Text"/>
          <p:cNvSpPr txBox="1"/>
          <p:nvPr/>
        </p:nvSpPr>
        <p:spPr>
          <a:xfrm>
            <a:off x="711220" y="4649267"/>
            <a:ext cx="420715" cy="216530"/>
          </a:xfrm>
          <a:prstGeom prst="rect">
            <a:avLst/>
          </a:prstGeom>
          <a:noFill/>
          <a:ln/>
        </p:spPr>
        <p:txBody>
          <a:bodyPr wrap="square" lIns="0" tIns="0" rIns="0" bIns="0" rtlCol="0" anchor="t"/>
          <a:lstStyle/>
          <a:p>
            <a:pPr algn="l" indent="0" marL="0">
              <a:lnSpc>
                <a:spcPts val="1705"/>
              </a:lnSpc>
              <a:buNone/>
            </a:pPr>
            <a:r>
              <a:rPr lang="en-US" sz="1100" dirty="0">
                <a:solidFill>
                  <a:srgbClr val="044BD9"/>
                </a:solidFill>
                <a:latin typeface="Poppins SemiBold" pitchFamily="34" charset="0"/>
                <a:ea typeface="Poppins SemiBold" pitchFamily="34" charset="-122"/>
                <a:cs typeface="Poppins SemiBold" pitchFamily="34" charset="-120"/>
              </a:rPr>
              <a:t>04</a:t>
            </a:r>
            <a:endParaRPr lang="en-US" sz="1100" dirty="0"/>
          </a:p>
        </p:txBody>
      </p:sp>
      <p:sp>
        <p:nvSpPr>
          <p:cNvPr id="21" name="Text"/>
          <p:cNvSpPr txBox="1"/>
          <p:nvPr/>
        </p:nvSpPr>
        <p:spPr>
          <a:xfrm>
            <a:off x="1320759" y="4619457"/>
            <a:ext cx="1606509" cy="238110"/>
          </a:xfrm>
          <a:prstGeom prst="rect">
            <a:avLst/>
          </a:prstGeom>
          <a:noFill/>
          <a:ln/>
        </p:spPr>
        <p:txBody>
          <a:bodyPr wrap="square" lIns="0" tIns="0" rIns="0" bIns="0" rtlCol="0" anchor="t"/>
          <a:lstStyle/>
          <a:p>
            <a:pPr algn="l" indent="0" marL="0">
              <a:lnSpc>
                <a:spcPts val="1875"/>
              </a:lnSpc>
              <a:buNone/>
            </a:pPr>
            <a:r>
              <a:rPr lang="en-US" sz="1500" dirty="0">
                <a:solidFill>
                  <a:srgbClr val="000000"/>
                </a:solidFill>
                <a:latin typeface="Poppins Medium" pitchFamily="34" charset="0"/>
                <a:ea typeface="Poppins Medium" pitchFamily="34" charset="-122"/>
                <a:cs typeface="Poppins Medium" pitchFamily="34" charset="-120"/>
              </a:rPr>
              <a:t>Evidence</a:t>
            </a:r>
            <a:endParaRPr lang="en-US" sz="1500" dirty="0"/>
          </a:p>
        </p:txBody>
      </p:sp>
      <p:sp>
        <p:nvSpPr>
          <p:cNvPr id="22" name="Text"/>
          <p:cNvSpPr txBox="1"/>
          <p:nvPr/>
        </p:nvSpPr>
        <p:spPr>
          <a:xfrm>
            <a:off x="3111520" y="4633082"/>
            <a:ext cx="8415498" cy="472470"/>
          </a:xfrm>
          <a:prstGeom prst="rect">
            <a:avLst/>
          </a:prstGeom>
          <a:noFill/>
          <a:ln/>
        </p:spPr>
        <p:txBody>
          <a:bodyPr wrap="square" lIns="0" tIns="0" rIns="0" bIns="0" rtlCol="0" anchor="t"/>
          <a:lstStyle/>
          <a:p>
            <a:pPr algn="l" indent="0" marL="0">
              <a:lnSpc>
                <a:spcPts val="1860"/>
              </a:lnSpc>
              <a:buNone/>
            </a:pPr>
            <a:r>
              <a:rPr lang="en-US" sz="1200" dirty="0">
                <a:solidFill>
                  <a:srgbClr val="000000"/>
                </a:solidFill>
                <a:latin typeface="Poppins Medium" pitchFamily="34" charset="0"/>
                <a:ea typeface="Poppins Medium" pitchFamily="34" charset="-122"/>
                <a:cs typeface="Poppins Medium" pitchFamily="34" charset="-120"/>
              </a:rPr>
              <a:t>12 projects delivered and in delivery.</a:t>
            </a:r>
            <a:pPr algn="l" indent="0" marL="0">
              <a:lnSpc>
                <a:spcPts val="1860"/>
              </a:lnSpc>
              <a:buNone/>
            </a:pPr>
            <a:r>
              <a:rPr lang="en-US" sz="1200" dirty="0">
                <a:solidFill>
                  <a:srgbClr val="1F2937"/>
                </a:solidFill>
                <a:latin typeface="Poppins Light" pitchFamily="34" charset="0"/>
                <a:ea typeface="Poppins Light" pitchFamily="34" charset="-122"/>
                <a:cs typeface="Poppins Light" pitchFamily="34" charset="-120"/>
              </a:rPr>
              <a:t> 90+ portal automations for a 36-year-old law firm, 80% less manual data entry time for a Singapore hospitality group, and first of nine at the AI for Insurance Challenge × Tasco.</a:t>
            </a:r>
            <a:endParaRPr lang="en-US" sz="1200" dirty="0"/>
          </a:p>
        </p:txBody>
      </p:sp>
      <p:sp>
        <p:nvSpPr>
          <p:cNvPr id="23" name="Text"/>
          <p:cNvSpPr txBox="1"/>
          <p:nvPr/>
        </p:nvSpPr>
        <p:spPr>
          <a:xfrm>
            <a:off x="711220" y="5445435"/>
            <a:ext cx="420715" cy="216530"/>
          </a:xfrm>
          <a:prstGeom prst="rect">
            <a:avLst/>
          </a:prstGeom>
          <a:noFill/>
          <a:ln/>
        </p:spPr>
        <p:txBody>
          <a:bodyPr wrap="square" lIns="0" tIns="0" rIns="0" bIns="0" rtlCol="0" anchor="t"/>
          <a:lstStyle/>
          <a:p>
            <a:pPr algn="l" indent="0" marL="0">
              <a:lnSpc>
                <a:spcPts val="1705"/>
              </a:lnSpc>
              <a:buNone/>
            </a:pPr>
            <a:r>
              <a:rPr lang="en-US" sz="1100" dirty="0">
                <a:solidFill>
                  <a:srgbClr val="044BD9"/>
                </a:solidFill>
                <a:latin typeface="Poppins SemiBold" pitchFamily="34" charset="0"/>
                <a:ea typeface="Poppins SemiBold" pitchFamily="34" charset="-122"/>
                <a:cs typeface="Poppins SemiBold" pitchFamily="34" charset="-120"/>
              </a:rPr>
              <a:t>05</a:t>
            </a:r>
            <a:endParaRPr lang="en-US" sz="1100" dirty="0"/>
          </a:p>
        </p:txBody>
      </p:sp>
      <p:sp>
        <p:nvSpPr>
          <p:cNvPr id="24" name="Text"/>
          <p:cNvSpPr txBox="1"/>
          <p:nvPr/>
        </p:nvSpPr>
        <p:spPr>
          <a:xfrm>
            <a:off x="1320759" y="5415534"/>
            <a:ext cx="1606509" cy="238110"/>
          </a:xfrm>
          <a:prstGeom prst="rect">
            <a:avLst/>
          </a:prstGeom>
          <a:noFill/>
          <a:ln/>
        </p:spPr>
        <p:txBody>
          <a:bodyPr wrap="square" lIns="0" tIns="0" rIns="0" bIns="0" rtlCol="0" anchor="t"/>
          <a:lstStyle/>
          <a:p>
            <a:pPr algn="l" indent="0" marL="0">
              <a:lnSpc>
                <a:spcPts val="1875"/>
              </a:lnSpc>
              <a:buNone/>
            </a:pPr>
            <a:r>
              <a:rPr lang="en-US" sz="1500" dirty="0">
                <a:solidFill>
                  <a:srgbClr val="000000"/>
                </a:solidFill>
                <a:latin typeface="Poppins Medium" pitchFamily="34" charset="0"/>
                <a:ea typeface="Poppins Medium" pitchFamily="34" charset="-122"/>
                <a:cs typeface="Poppins Medium" pitchFamily="34" charset="-120"/>
              </a:rPr>
              <a:t>Next step</a:t>
            </a:r>
            <a:endParaRPr lang="en-US" sz="1500" dirty="0"/>
          </a:p>
        </p:txBody>
      </p:sp>
      <p:sp>
        <p:nvSpPr>
          <p:cNvPr id="25" name="Text"/>
          <p:cNvSpPr txBox="1"/>
          <p:nvPr/>
        </p:nvSpPr>
        <p:spPr>
          <a:xfrm>
            <a:off x="3111520" y="5429250"/>
            <a:ext cx="8415498" cy="472470"/>
          </a:xfrm>
          <a:prstGeom prst="rect">
            <a:avLst/>
          </a:prstGeom>
          <a:noFill/>
          <a:ln/>
        </p:spPr>
        <p:txBody>
          <a:bodyPr wrap="square" lIns="0" tIns="0" rIns="0" bIns="0" rtlCol="0" anchor="t"/>
          <a:lstStyle/>
          <a:p>
            <a:pPr algn="l" indent="0" marL="0">
              <a:lnSpc>
                <a:spcPts val="1860"/>
              </a:lnSpc>
              <a:buNone/>
            </a:pPr>
            <a:r>
              <a:rPr lang="en-US" sz="1200" dirty="0">
                <a:solidFill>
                  <a:srgbClr val="000000"/>
                </a:solidFill>
                <a:latin typeface="Poppins Medium" pitchFamily="34" charset="0"/>
                <a:ea typeface="Poppins Medium" pitchFamily="34" charset="-122"/>
                <a:cs typeface="Poppins Medium" pitchFamily="34" charset="-120"/>
              </a:rPr>
              <a:t>Every engagement starts from the business case.</a:t>
            </a:r>
            <a:pPr algn="l" indent="0" marL="0">
              <a:lnSpc>
                <a:spcPts val="1860"/>
              </a:lnSpc>
              <a:buNone/>
            </a:pPr>
            <a:r>
              <a:rPr lang="en-US" sz="1200" dirty="0">
                <a:solidFill>
                  <a:srgbClr val="1F2937"/>
                </a:solidFill>
                <a:latin typeface="Poppins Light" pitchFamily="34" charset="0"/>
                <a:ea typeface="Poppins Light" pitchFamily="34" charset="-122"/>
                <a:cs typeface="Poppins Light" pitchFamily="34" charset="-120"/>
              </a:rPr>
              <a:t> Tech advisory, a data audit and AI strategy research find where AI pays back, before any build starts.</a:t>
            </a:r>
            <a:endParaRPr lang="en-US" sz="1200" dirty="0"/>
          </a:p>
        </p:txBody>
      </p:sp>
      <p:sp>
        <p:nvSpPr>
          <p:cNvPr id="26" name="Source"/>
          <p:cNvSpPr txBox="1"/>
          <p:nvPr/>
        </p:nvSpPr>
        <p:spPr>
          <a:xfrm>
            <a:off x="711220" y="6409030"/>
            <a:ext cx="8300740" cy="151150"/>
          </a:xfrm>
          <a:prstGeom prst="rect">
            <a:avLst/>
          </a:prstGeom>
          <a:noFill/>
          <a:ln/>
        </p:spPr>
        <p:txBody>
          <a:bodyPr wrap="square" lIns="0" tIns="0" rIns="0" bIns="0" rtlCol="0" anchor="t"/>
          <a:lstStyle/>
          <a:p>
            <a:pPr algn="l" indent="0" marL="0">
              <a:lnSpc>
                <a:spcPts val="1190"/>
              </a:lnSpc>
              <a:buNone/>
            </a:pPr>
            <a:r>
              <a:rPr lang="en-US" sz="850" dirty="0">
                <a:solidFill>
                  <a:srgbClr val="6B6B6B"/>
                </a:solidFill>
                <a:latin typeface="Poppins" pitchFamily="34" charset="0"/>
                <a:ea typeface="Poppins" pitchFamily="34" charset="-122"/>
                <a:cs typeface="Poppins" pitchFamily="34" charset="-120"/>
              </a:rPr>
              <a:t>Source: alphv.com; alphv.com/about; alphv.com/industries; alphv.com/news/ai-for-insurance-challenge-tasco-winner (October 2026).</a:t>
            </a:r>
            <a:endParaRPr lang="en-US" sz="850" dirty="0"/>
          </a:p>
        </p:txBody>
      </p:sp>
      <p:sp>
        <p:nvSpPr>
          <p:cNvPr id="27" name="Text"/>
          <p:cNvSpPr txBox="1"/>
          <p:nvPr/>
        </p:nvSpPr>
        <p:spPr>
          <a:xfrm>
            <a:off x="9349740" y="6409030"/>
            <a:ext cx="393741" cy="151150"/>
          </a:xfrm>
          <a:prstGeom prst="rect">
            <a:avLst/>
          </a:prstGeom>
          <a:noFill/>
          <a:ln/>
        </p:spPr>
        <p:txBody>
          <a:bodyPr wrap="none" lIns="0" tIns="0" rIns="0" bIns="0" rtlCol="0" anchor="t"/>
          <a:lstStyle/>
          <a:p>
            <a:pPr algn="l" indent="0" marL="0">
              <a:lnSpc>
                <a:spcPts val="1190"/>
              </a:lnSpc>
              <a:buNone/>
            </a:pPr>
            <a:r>
              <a:rPr lang="en-US" sz="850" spc="34" kern="0" dirty="0">
                <a:solidFill>
                  <a:srgbClr val="000000"/>
                </a:solidFill>
                <a:latin typeface="Poppins SemiBold" pitchFamily="34" charset="0"/>
                <a:ea typeface="Poppins SemiBold" pitchFamily="34" charset="-122"/>
                <a:cs typeface="Poppins SemiBold" pitchFamily="34" charset="-120"/>
              </a:rPr>
              <a:t>ALPHV</a:t>
            </a:r>
            <a:endParaRPr lang="en-US" sz="850" dirty="0"/>
          </a:p>
        </p:txBody>
      </p:sp>
      <p:sp>
        <p:nvSpPr>
          <p:cNvPr id="28" name="Text"/>
          <p:cNvSpPr txBox="1"/>
          <p:nvPr/>
        </p:nvSpPr>
        <p:spPr>
          <a:xfrm>
            <a:off x="9857781" y="6409030"/>
            <a:ext cx="1377178" cy="151150"/>
          </a:xfrm>
          <a:prstGeom prst="rect">
            <a:avLst/>
          </a:prstGeom>
          <a:noFill/>
          <a:ln/>
        </p:spPr>
        <p:txBody>
          <a:bodyPr wrap="none" lIns="0" tIns="0" rIns="0" bIns="0" rtlCol="0" anchor="t"/>
          <a:lstStyle/>
          <a:p>
            <a:pPr algn="l" indent="0" marL="0">
              <a:lnSpc>
                <a:spcPts val="1190"/>
              </a:lnSpc>
              <a:buNone/>
            </a:pPr>
            <a:r>
              <a:rPr lang="en-US" sz="850" dirty="0">
                <a:solidFill>
                  <a:srgbClr val="6B6B6B"/>
                </a:solidFill>
                <a:latin typeface="Poppins" pitchFamily="34" charset="0"/>
                <a:ea typeface="Poppins" pitchFamily="34" charset="-122"/>
                <a:cs typeface="Poppins" pitchFamily="34" charset="-120"/>
              </a:rPr>
              <a:t>Corporate overview 2026</a:t>
            </a:r>
            <a:endParaRPr lang="en-US" sz="850" dirty="0"/>
          </a:p>
        </p:txBody>
      </p:sp>
      <p:sp>
        <p:nvSpPr>
          <p:cNvPr id="29" name="Text"/>
          <p:cNvSpPr txBox="1"/>
          <p:nvPr/>
        </p:nvSpPr>
        <p:spPr>
          <a:xfrm>
            <a:off x="11349258" y="6409030"/>
            <a:ext cx="157002" cy="151150"/>
          </a:xfrm>
          <a:prstGeom prst="rect">
            <a:avLst/>
          </a:prstGeom>
          <a:noFill/>
          <a:ln/>
        </p:spPr>
        <p:txBody>
          <a:bodyPr wrap="none" lIns="0" tIns="0" rIns="0" bIns="0" rtlCol="0" anchor="t"/>
          <a:lstStyle/>
          <a:p>
            <a:pPr algn="l" indent="0" marL="0">
              <a:lnSpc>
                <a:spcPts val="1190"/>
              </a:lnSpc>
              <a:buNone/>
            </a:pPr>
            <a:r>
              <a:rPr lang="en-US" sz="850" dirty="0">
                <a:solidFill>
                  <a:srgbClr val="000000"/>
                </a:solidFill>
                <a:latin typeface="Poppins Medium" pitchFamily="34" charset="0"/>
                <a:ea typeface="Poppins Medium" pitchFamily="34" charset="-122"/>
                <a:cs typeface="Poppins Medium" pitchFamily="34" charset="-120"/>
              </a:rPr>
              <a:t>02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9FA"/>
        </a:solidFill>
      </p:bgPr>
    </p:bg>
    <p:spTree>
      <p:nvGrpSpPr>
        <p:cNvPr id="1" name=""/>
        <p:cNvGrpSpPr/>
        <p:nvPr/>
      </p:nvGrpSpPr>
      <p:grpSpPr>
        <a:xfrm>
          <a:off x="0" y="0"/>
          <a:ext cx="0" cy="0"/>
          <a:chOff x="0" y="0"/>
          <a:chExt cx="0" cy="0"/>
        </a:xfrm>
      </p:grpSpPr>
      <p:sp>
        <p:nvSpPr>
          <p:cNvPr id="2" name="badge"/>
          <p:cNvSpPr/>
          <p:nvPr/>
        </p:nvSpPr>
        <p:spPr>
          <a:xfrm>
            <a:off x="714421" y="536570"/>
            <a:ext cx="978865" cy="254020"/>
          </a:xfrm>
          <a:prstGeom prst="roundRect">
            <a:avLst>
              <a:gd name="adj" fmla="val 50000"/>
            </a:avLst>
          </a:prstGeom>
          <a:ln w="6350">
            <a:solidFill>
              <a:srgbClr val="155DFC"/>
            </a:solidFill>
            <a:prstDash val="solid"/>
          </a:ln>
        </p:spPr>
      </p:sp>
      <p:sp>
        <p:nvSpPr>
          <p:cNvPr id="3" name="Rule"/>
          <p:cNvSpPr/>
          <p:nvPr/>
        </p:nvSpPr>
        <p:spPr>
          <a:xfrm>
            <a:off x="711220" y="1855775"/>
            <a:ext cx="10769620" cy="0"/>
          </a:xfrm>
          <a:prstGeom prst="line">
            <a:avLst/>
          </a:prstGeom>
          <a:noFill/>
          <a:ln w="6350">
            <a:solidFill>
              <a:srgbClr val="E3E6EC"/>
            </a:solidFill>
            <a:prstDash val="solid"/>
          </a:ln>
        </p:spPr>
      </p:sp>
      <p:sp>
        <p:nvSpPr>
          <p:cNvPr id="4" name="Rule"/>
          <p:cNvSpPr/>
          <p:nvPr/>
        </p:nvSpPr>
        <p:spPr>
          <a:xfrm>
            <a:off x="711220" y="2516795"/>
            <a:ext cx="10769620" cy="0"/>
          </a:xfrm>
          <a:prstGeom prst="line">
            <a:avLst/>
          </a:prstGeom>
          <a:noFill/>
          <a:ln w="6350">
            <a:solidFill>
              <a:srgbClr val="E3E6EC"/>
            </a:solidFill>
            <a:prstDash val="solid"/>
          </a:ln>
        </p:spPr>
      </p:sp>
      <p:sp>
        <p:nvSpPr>
          <p:cNvPr id="5" name="Rule"/>
          <p:cNvSpPr/>
          <p:nvPr/>
        </p:nvSpPr>
        <p:spPr>
          <a:xfrm>
            <a:off x="711220" y="3177814"/>
            <a:ext cx="10769620" cy="0"/>
          </a:xfrm>
          <a:prstGeom prst="line">
            <a:avLst/>
          </a:prstGeom>
          <a:noFill/>
          <a:ln w="6350">
            <a:solidFill>
              <a:srgbClr val="E3E6EC"/>
            </a:solidFill>
            <a:prstDash val="solid"/>
          </a:ln>
        </p:spPr>
      </p:sp>
      <p:sp>
        <p:nvSpPr>
          <p:cNvPr id="6" name="Rule"/>
          <p:cNvSpPr/>
          <p:nvPr/>
        </p:nvSpPr>
        <p:spPr>
          <a:xfrm>
            <a:off x="711220" y="3838743"/>
            <a:ext cx="10769620" cy="0"/>
          </a:xfrm>
          <a:prstGeom prst="line">
            <a:avLst/>
          </a:prstGeom>
          <a:noFill/>
          <a:ln w="6350">
            <a:solidFill>
              <a:srgbClr val="E3E6EC"/>
            </a:solidFill>
            <a:prstDash val="solid"/>
          </a:ln>
        </p:spPr>
      </p:sp>
      <p:sp>
        <p:nvSpPr>
          <p:cNvPr id="7" name="Rule"/>
          <p:cNvSpPr/>
          <p:nvPr/>
        </p:nvSpPr>
        <p:spPr>
          <a:xfrm>
            <a:off x="711220" y="4499762"/>
            <a:ext cx="10769620" cy="0"/>
          </a:xfrm>
          <a:prstGeom prst="line">
            <a:avLst/>
          </a:prstGeom>
          <a:noFill/>
          <a:ln w="6350">
            <a:solidFill>
              <a:srgbClr val="E3E6EC"/>
            </a:solidFill>
            <a:prstDash val="solid"/>
          </a:ln>
        </p:spPr>
      </p:sp>
      <p:sp>
        <p:nvSpPr>
          <p:cNvPr id="8" name="Rule"/>
          <p:cNvSpPr/>
          <p:nvPr/>
        </p:nvSpPr>
        <p:spPr>
          <a:xfrm>
            <a:off x="711220" y="5355641"/>
            <a:ext cx="10769620" cy="0"/>
          </a:xfrm>
          <a:prstGeom prst="line">
            <a:avLst/>
          </a:prstGeom>
          <a:noFill/>
          <a:ln w="6350">
            <a:solidFill>
              <a:srgbClr val="E3E6EC"/>
            </a:solidFill>
            <a:prstDash val="solid"/>
          </a:ln>
        </p:spPr>
      </p:sp>
      <p:sp>
        <p:nvSpPr>
          <p:cNvPr id="9" name="Rule"/>
          <p:cNvSpPr/>
          <p:nvPr/>
        </p:nvSpPr>
        <p:spPr>
          <a:xfrm>
            <a:off x="711220" y="6016661"/>
            <a:ext cx="10769620" cy="0"/>
          </a:xfrm>
          <a:prstGeom prst="line">
            <a:avLst/>
          </a:prstGeom>
          <a:noFill/>
          <a:ln w="6350">
            <a:solidFill>
              <a:srgbClr val="E3E6EC"/>
            </a:solidFill>
            <a:prstDash val="solid"/>
          </a:ln>
        </p:spPr>
      </p:sp>
      <p:sp>
        <p:nvSpPr>
          <p:cNvPr id="10" name="Text"/>
          <p:cNvSpPr txBox="1"/>
          <p:nvPr/>
        </p:nvSpPr>
        <p:spPr>
          <a:xfrm>
            <a:off x="844540" y="603230"/>
            <a:ext cx="743956" cy="120609"/>
          </a:xfrm>
          <a:prstGeom prst="rect">
            <a:avLst/>
          </a:prstGeom>
          <a:noFill/>
          <a:ln/>
        </p:spPr>
        <p:txBody>
          <a:bodyPr wrap="none" lIns="0" tIns="0" rIns="0" bIns="0" rtlCol="0" anchor="t"/>
          <a:lstStyle/>
          <a:p>
            <a:pPr algn="l" indent="0" marL="0">
              <a:lnSpc>
                <a:spcPts val="950"/>
              </a:lnSpc>
              <a:buNone/>
            </a:pPr>
            <a:r>
              <a:rPr lang="en-US" sz="950" spc="10" kern="0" dirty="0">
                <a:solidFill>
                  <a:srgbClr val="155DFC"/>
                </a:solidFill>
                <a:latin typeface="Poppins Medium" pitchFamily="34" charset="0"/>
                <a:ea typeface="Poppins Medium" pitchFamily="34" charset="-122"/>
                <a:cs typeface="Poppins Medium" pitchFamily="34" charset="-120"/>
              </a:rPr>
              <a:t>Six sections</a:t>
            </a:r>
            <a:endParaRPr lang="en-US" sz="950" dirty="0"/>
          </a:p>
        </p:txBody>
      </p:sp>
      <p:sp>
        <p:nvSpPr>
          <p:cNvPr id="11" name="Title"/>
          <p:cNvSpPr txBox="1"/>
          <p:nvPr/>
        </p:nvSpPr>
        <p:spPr>
          <a:xfrm>
            <a:off x="711220" y="927750"/>
            <a:ext cx="9448312" cy="430500"/>
          </a:xfrm>
          <a:prstGeom prst="rect">
            <a:avLst/>
          </a:prstGeom>
          <a:noFill/>
          <a:ln/>
        </p:spPr>
        <p:txBody>
          <a:bodyPr wrap="square" lIns="0" tIns="0" rIns="0" bIns="0" rtlCol="0" anchor="t"/>
          <a:lstStyle/>
          <a:p>
            <a:pPr algn="l" indent="0" marL="0">
              <a:lnSpc>
                <a:spcPts val="3390"/>
              </a:lnSpc>
              <a:buNone/>
            </a:pPr>
            <a:r>
              <a:rPr lang="en-US" sz="3000" spc="-45" kern="0" dirty="0">
                <a:solidFill>
                  <a:srgbClr val="000000"/>
                </a:solidFill>
                <a:latin typeface="Poppins Medium" pitchFamily="34" charset="0"/>
                <a:ea typeface="Poppins Medium" pitchFamily="34" charset="-122"/>
                <a:cs typeface="Poppins Medium" pitchFamily="34" charset="-120"/>
              </a:rPr>
              <a:t>Contents</a:t>
            </a:r>
            <a:endParaRPr lang="en-US" sz="3000" dirty="0"/>
          </a:p>
        </p:txBody>
      </p:sp>
      <p:sp>
        <p:nvSpPr>
          <p:cNvPr id="12" name="Text"/>
          <p:cNvSpPr txBox="1"/>
          <p:nvPr/>
        </p:nvSpPr>
        <p:spPr>
          <a:xfrm>
            <a:off x="711220" y="2103120"/>
            <a:ext cx="624718" cy="216530"/>
          </a:xfrm>
          <a:prstGeom prst="rect">
            <a:avLst/>
          </a:prstGeom>
          <a:noFill/>
          <a:ln/>
        </p:spPr>
        <p:txBody>
          <a:bodyPr wrap="square" lIns="0" tIns="0" rIns="0" bIns="0" rtlCol="0" anchor="t"/>
          <a:lstStyle/>
          <a:p>
            <a:pPr algn="l" indent="0" marL="0">
              <a:lnSpc>
                <a:spcPts val="1705"/>
              </a:lnSpc>
              <a:buNone/>
            </a:pPr>
            <a:r>
              <a:rPr lang="en-US" sz="1100" dirty="0">
                <a:solidFill>
                  <a:srgbClr val="044BD9"/>
                </a:solidFill>
                <a:latin typeface="Poppins SemiBold" pitchFamily="34" charset="0"/>
                <a:ea typeface="Poppins SemiBold" pitchFamily="34" charset="-122"/>
                <a:cs typeface="Poppins SemiBold" pitchFamily="34" charset="-120"/>
              </a:rPr>
              <a:t>01</a:t>
            </a:r>
            <a:endParaRPr lang="en-US" sz="1100" dirty="0"/>
          </a:p>
        </p:txBody>
      </p:sp>
      <p:sp>
        <p:nvSpPr>
          <p:cNvPr id="13" name="Text"/>
          <p:cNvSpPr txBox="1"/>
          <p:nvPr/>
        </p:nvSpPr>
        <p:spPr>
          <a:xfrm>
            <a:off x="1435059" y="2047890"/>
            <a:ext cx="3009108" cy="269839"/>
          </a:xfrm>
          <a:prstGeom prst="rect">
            <a:avLst/>
          </a:prstGeom>
          <a:noFill/>
          <a:ln/>
        </p:spPr>
        <p:txBody>
          <a:bodyPr wrap="square" lIns="0" tIns="0" rIns="0" bIns="0" rtlCol="0" anchor="t"/>
          <a:lstStyle/>
          <a:p>
            <a:pPr algn="l" indent="0" marL="0">
              <a:lnSpc>
                <a:spcPts val="2125"/>
              </a:lnSpc>
              <a:buNone/>
            </a:pPr>
            <a:r>
              <a:rPr lang="en-US" sz="1700" dirty="0">
                <a:solidFill>
                  <a:srgbClr val="000000"/>
                </a:solidFill>
                <a:latin typeface="Poppins Medium" pitchFamily="34" charset="0"/>
                <a:ea typeface="Poppins Medium" pitchFamily="34" charset="-122"/>
                <a:cs typeface="Poppins Medium" pitchFamily="34" charset="-120"/>
              </a:rPr>
              <a:t>Point of view</a:t>
            </a:r>
            <a:endParaRPr lang="en-US" sz="1700" dirty="0"/>
          </a:p>
        </p:txBody>
      </p:sp>
      <p:sp>
        <p:nvSpPr>
          <p:cNvPr id="14" name="Text"/>
          <p:cNvSpPr txBox="1"/>
          <p:nvPr/>
        </p:nvSpPr>
        <p:spPr>
          <a:xfrm>
            <a:off x="4533870" y="2110069"/>
            <a:ext cx="5788792" cy="202540"/>
          </a:xfrm>
          <a:prstGeom prst="rect">
            <a:avLst/>
          </a:prstGeom>
          <a:noFill/>
          <a:ln/>
        </p:spPr>
        <p:txBody>
          <a:bodyPr wrap="square" lIns="0" tIns="0" rIns="0" bIns="0" rtlCol="0" anchor="t"/>
          <a:lstStyle/>
          <a:p>
            <a:pPr algn="l" indent="0" marL="0">
              <a:lnSpc>
                <a:spcPts val="1595"/>
              </a:lnSpc>
              <a:buNone/>
            </a:pPr>
            <a:r>
              <a:rPr lang="en-US" sz="1100" dirty="0">
                <a:solidFill>
                  <a:srgbClr val="6B6B6B"/>
                </a:solidFill>
                <a:latin typeface="Poppins Light" pitchFamily="34" charset="0"/>
                <a:ea typeface="Poppins Light" pitchFamily="34" charset="-122"/>
                <a:cs typeface="Poppins Light" pitchFamily="34" charset="-120"/>
              </a:rPr>
              <a:t>Why AI pays off after the pilot, and the principles we work by</a:t>
            </a:r>
            <a:endParaRPr lang="en-US" sz="1100" dirty="0"/>
          </a:p>
        </p:txBody>
      </p:sp>
      <p:sp>
        <p:nvSpPr>
          <p:cNvPr id="15" name="Text"/>
          <p:cNvSpPr txBox="1"/>
          <p:nvPr/>
        </p:nvSpPr>
        <p:spPr>
          <a:xfrm>
            <a:off x="10401300" y="2130278"/>
            <a:ext cx="1079541" cy="174925"/>
          </a:xfrm>
          <a:prstGeom prst="rect">
            <a:avLst/>
          </a:prstGeom>
          <a:noFill/>
          <a:ln/>
        </p:spPr>
        <p:txBody>
          <a:bodyPr wrap="square" lIns="0" tIns="0" rIns="0" bIns="0" rtlCol="0" anchor="t"/>
          <a:lstStyle/>
          <a:p>
            <a:pPr algn="r" indent="0" marL="0">
              <a:lnSpc>
                <a:spcPts val="1378"/>
              </a:lnSpc>
              <a:buNone/>
            </a:pPr>
            <a:r>
              <a:rPr lang="en-US" sz="950" dirty="0">
                <a:solidFill>
                  <a:srgbClr val="6B6B6B"/>
                </a:solidFill>
                <a:latin typeface="Poppins Light" pitchFamily="34" charset="0"/>
                <a:ea typeface="Poppins Light" pitchFamily="34" charset="-122"/>
                <a:cs typeface="Poppins Light" pitchFamily="34" charset="-120"/>
              </a:rPr>
              <a:t>Slides 04–06</a:t>
            </a:r>
            <a:endParaRPr lang="en-US" sz="950" dirty="0"/>
          </a:p>
        </p:txBody>
      </p:sp>
      <p:sp>
        <p:nvSpPr>
          <p:cNvPr id="16" name="Text"/>
          <p:cNvSpPr txBox="1"/>
          <p:nvPr/>
        </p:nvSpPr>
        <p:spPr>
          <a:xfrm>
            <a:off x="711220" y="2764140"/>
            <a:ext cx="624718" cy="216530"/>
          </a:xfrm>
          <a:prstGeom prst="rect">
            <a:avLst/>
          </a:prstGeom>
          <a:noFill/>
          <a:ln/>
        </p:spPr>
        <p:txBody>
          <a:bodyPr wrap="square" lIns="0" tIns="0" rIns="0" bIns="0" rtlCol="0" anchor="t"/>
          <a:lstStyle/>
          <a:p>
            <a:pPr algn="l" indent="0" marL="0">
              <a:lnSpc>
                <a:spcPts val="1705"/>
              </a:lnSpc>
              <a:buNone/>
            </a:pPr>
            <a:r>
              <a:rPr lang="en-US" sz="1100" dirty="0">
                <a:solidFill>
                  <a:srgbClr val="044BD9"/>
                </a:solidFill>
                <a:latin typeface="Poppins SemiBold" pitchFamily="34" charset="0"/>
                <a:ea typeface="Poppins SemiBold" pitchFamily="34" charset="-122"/>
                <a:cs typeface="Poppins SemiBold" pitchFamily="34" charset="-120"/>
              </a:rPr>
              <a:t>02</a:t>
            </a:r>
            <a:endParaRPr lang="en-US" sz="1100" dirty="0"/>
          </a:p>
        </p:txBody>
      </p:sp>
      <p:sp>
        <p:nvSpPr>
          <p:cNvPr id="17" name="Text"/>
          <p:cNvSpPr txBox="1"/>
          <p:nvPr/>
        </p:nvSpPr>
        <p:spPr>
          <a:xfrm>
            <a:off x="1435059" y="2708910"/>
            <a:ext cx="3009108" cy="269839"/>
          </a:xfrm>
          <a:prstGeom prst="rect">
            <a:avLst/>
          </a:prstGeom>
          <a:noFill/>
          <a:ln/>
        </p:spPr>
        <p:txBody>
          <a:bodyPr wrap="square" lIns="0" tIns="0" rIns="0" bIns="0" rtlCol="0" anchor="t"/>
          <a:lstStyle/>
          <a:p>
            <a:pPr algn="l" indent="0" marL="0">
              <a:lnSpc>
                <a:spcPts val="2125"/>
              </a:lnSpc>
              <a:buNone/>
            </a:pPr>
            <a:r>
              <a:rPr lang="en-US" sz="1700" dirty="0">
                <a:solidFill>
                  <a:srgbClr val="000000"/>
                </a:solidFill>
                <a:latin typeface="Poppins Medium" pitchFamily="34" charset="0"/>
                <a:ea typeface="Poppins Medium" pitchFamily="34" charset="-122"/>
                <a:cs typeface="Poppins Medium" pitchFamily="34" charset="-120"/>
              </a:rPr>
              <a:t>Who we are</a:t>
            </a:r>
            <a:endParaRPr lang="en-US" sz="1700" dirty="0"/>
          </a:p>
        </p:txBody>
      </p:sp>
      <p:sp>
        <p:nvSpPr>
          <p:cNvPr id="18" name="Text"/>
          <p:cNvSpPr txBox="1"/>
          <p:nvPr/>
        </p:nvSpPr>
        <p:spPr>
          <a:xfrm>
            <a:off x="4533870" y="2771089"/>
            <a:ext cx="5788792" cy="202540"/>
          </a:xfrm>
          <a:prstGeom prst="rect">
            <a:avLst/>
          </a:prstGeom>
          <a:noFill/>
          <a:ln/>
        </p:spPr>
        <p:txBody>
          <a:bodyPr wrap="square" lIns="0" tIns="0" rIns="0" bIns="0" rtlCol="0" anchor="t"/>
          <a:lstStyle/>
          <a:p>
            <a:pPr algn="l" indent="0" marL="0">
              <a:lnSpc>
                <a:spcPts val="1595"/>
              </a:lnSpc>
              <a:buNone/>
            </a:pPr>
            <a:r>
              <a:rPr lang="en-US" sz="1100" dirty="0">
                <a:solidFill>
                  <a:srgbClr val="6B6B6B"/>
                </a:solidFill>
                <a:latin typeface="Poppins Light" pitchFamily="34" charset="0"/>
                <a:ea typeface="Poppins Light" pitchFamily="34" charset="-122"/>
                <a:cs typeface="Poppins Light" pitchFamily="34" charset="-120"/>
              </a:rPr>
              <a:t>The team, the people, and the platforms and partners we build with</a:t>
            </a:r>
            <a:endParaRPr lang="en-US" sz="1100" dirty="0"/>
          </a:p>
        </p:txBody>
      </p:sp>
      <p:sp>
        <p:nvSpPr>
          <p:cNvPr id="19" name="Text"/>
          <p:cNvSpPr txBox="1"/>
          <p:nvPr/>
        </p:nvSpPr>
        <p:spPr>
          <a:xfrm>
            <a:off x="10401300" y="2791297"/>
            <a:ext cx="1079541" cy="174925"/>
          </a:xfrm>
          <a:prstGeom prst="rect">
            <a:avLst/>
          </a:prstGeom>
          <a:noFill/>
          <a:ln/>
        </p:spPr>
        <p:txBody>
          <a:bodyPr wrap="square" lIns="0" tIns="0" rIns="0" bIns="0" rtlCol="0" anchor="t"/>
          <a:lstStyle/>
          <a:p>
            <a:pPr algn="r" indent="0" marL="0">
              <a:lnSpc>
                <a:spcPts val="1378"/>
              </a:lnSpc>
              <a:buNone/>
            </a:pPr>
            <a:r>
              <a:rPr lang="en-US" sz="950" dirty="0">
                <a:solidFill>
                  <a:srgbClr val="6B6B6B"/>
                </a:solidFill>
                <a:latin typeface="Poppins Light" pitchFamily="34" charset="0"/>
                <a:ea typeface="Poppins Light" pitchFamily="34" charset="-122"/>
                <a:cs typeface="Poppins Light" pitchFamily="34" charset="-120"/>
              </a:rPr>
              <a:t>Slides 07–10</a:t>
            </a:r>
            <a:endParaRPr lang="en-US" sz="950" dirty="0"/>
          </a:p>
        </p:txBody>
      </p:sp>
      <p:sp>
        <p:nvSpPr>
          <p:cNvPr id="20" name="Text"/>
          <p:cNvSpPr txBox="1"/>
          <p:nvPr/>
        </p:nvSpPr>
        <p:spPr>
          <a:xfrm>
            <a:off x="711220" y="3425068"/>
            <a:ext cx="624718" cy="216530"/>
          </a:xfrm>
          <a:prstGeom prst="rect">
            <a:avLst/>
          </a:prstGeom>
          <a:noFill/>
          <a:ln/>
        </p:spPr>
        <p:txBody>
          <a:bodyPr wrap="square" lIns="0" tIns="0" rIns="0" bIns="0" rtlCol="0" anchor="t"/>
          <a:lstStyle/>
          <a:p>
            <a:pPr algn="l" indent="0" marL="0">
              <a:lnSpc>
                <a:spcPts val="1705"/>
              </a:lnSpc>
              <a:buNone/>
            </a:pPr>
            <a:r>
              <a:rPr lang="en-US" sz="1100" dirty="0">
                <a:solidFill>
                  <a:srgbClr val="044BD9"/>
                </a:solidFill>
                <a:latin typeface="Poppins SemiBold" pitchFamily="34" charset="0"/>
                <a:ea typeface="Poppins SemiBold" pitchFamily="34" charset="-122"/>
                <a:cs typeface="Poppins SemiBold" pitchFamily="34" charset="-120"/>
              </a:rPr>
              <a:t>03</a:t>
            </a:r>
            <a:endParaRPr lang="en-US" sz="1100" dirty="0"/>
          </a:p>
        </p:txBody>
      </p:sp>
      <p:sp>
        <p:nvSpPr>
          <p:cNvPr id="21" name="Text"/>
          <p:cNvSpPr txBox="1"/>
          <p:nvPr/>
        </p:nvSpPr>
        <p:spPr>
          <a:xfrm>
            <a:off x="1435059" y="3369838"/>
            <a:ext cx="3009108" cy="269839"/>
          </a:xfrm>
          <a:prstGeom prst="rect">
            <a:avLst/>
          </a:prstGeom>
          <a:noFill/>
          <a:ln/>
        </p:spPr>
        <p:txBody>
          <a:bodyPr wrap="square" lIns="0" tIns="0" rIns="0" bIns="0" rtlCol="0" anchor="t"/>
          <a:lstStyle/>
          <a:p>
            <a:pPr algn="l" indent="0" marL="0">
              <a:lnSpc>
                <a:spcPts val="2125"/>
              </a:lnSpc>
              <a:buNone/>
            </a:pPr>
            <a:r>
              <a:rPr lang="en-US" sz="1700" dirty="0">
                <a:solidFill>
                  <a:srgbClr val="000000"/>
                </a:solidFill>
                <a:latin typeface="Poppins Medium" pitchFamily="34" charset="0"/>
                <a:ea typeface="Poppins Medium" pitchFamily="34" charset="-122"/>
                <a:cs typeface="Poppins Medium" pitchFamily="34" charset="-120"/>
              </a:rPr>
              <a:t>What we do</a:t>
            </a:r>
            <a:endParaRPr lang="en-US" sz="1700" dirty="0"/>
          </a:p>
        </p:txBody>
      </p:sp>
      <p:sp>
        <p:nvSpPr>
          <p:cNvPr id="22" name="Text"/>
          <p:cNvSpPr txBox="1"/>
          <p:nvPr/>
        </p:nvSpPr>
        <p:spPr>
          <a:xfrm>
            <a:off x="4533870" y="3432109"/>
            <a:ext cx="5788792" cy="202540"/>
          </a:xfrm>
          <a:prstGeom prst="rect">
            <a:avLst/>
          </a:prstGeom>
          <a:noFill/>
          <a:ln/>
        </p:spPr>
        <p:txBody>
          <a:bodyPr wrap="square" lIns="0" tIns="0" rIns="0" bIns="0" rtlCol="0" anchor="t"/>
          <a:lstStyle/>
          <a:p>
            <a:pPr algn="l" indent="0" marL="0">
              <a:lnSpc>
                <a:spcPts val="1595"/>
              </a:lnSpc>
              <a:buNone/>
            </a:pPr>
            <a:r>
              <a:rPr lang="en-US" sz="1100" dirty="0">
                <a:solidFill>
                  <a:srgbClr val="6B6B6B"/>
                </a:solidFill>
                <a:latin typeface="Poppins Light" pitchFamily="34" charset="0"/>
                <a:ea typeface="Poppins Light" pitchFamily="34" charset="-122"/>
                <a:cs typeface="Poppins Light" pitchFamily="34" charset="-120"/>
              </a:rPr>
              <a:t>Six services, one team, from the first model to the last integration</a:t>
            </a:r>
            <a:endParaRPr lang="en-US" sz="1100" dirty="0"/>
          </a:p>
        </p:txBody>
      </p:sp>
      <p:sp>
        <p:nvSpPr>
          <p:cNvPr id="23" name="Text"/>
          <p:cNvSpPr txBox="1"/>
          <p:nvPr/>
        </p:nvSpPr>
        <p:spPr>
          <a:xfrm>
            <a:off x="10401300" y="3452226"/>
            <a:ext cx="1079541" cy="174925"/>
          </a:xfrm>
          <a:prstGeom prst="rect">
            <a:avLst/>
          </a:prstGeom>
          <a:noFill/>
          <a:ln/>
        </p:spPr>
        <p:txBody>
          <a:bodyPr wrap="square" lIns="0" tIns="0" rIns="0" bIns="0" rtlCol="0" anchor="t"/>
          <a:lstStyle/>
          <a:p>
            <a:pPr algn="r" indent="0" marL="0">
              <a:lnSpc>
                <a:spcPts val="1378"/>
              </a:lnSpc>
              <a:buNone/>
            </a:pPr>
            <a:r>
              <a:rPr lang="en-US" sz="950" dirty="0">
                <a:solidFill>
                  <a:srgbClr val="6B6B6B"/>
                </a:solidFill>
                <a:latin typeface="Poppins Light" pitchFamily="34" charset="0"/>
                <a:ea typeface="Poppins Light" pitchFamily="34" charset="-122"/>
                <a:cs typeface="Poppins Light" pitchFamily="34" charset="-120"/>
              </a:rPr>
              <a:t>Slides 11–17</a:t>
            </a:r>
            <a:endParaRPr lang="en-US" sz="950" dirty="0"/>
          </a:p>
        </p:txBody>
      </p:sp>
      <p:sp>
        <p:nvSpPr>
          <p:cNvPr id="24" name="Text"/>
          <p:cNvSpPr txBox="1"/>
          <p:nvPr/>
        </p:nvSpPr>
        <p:spPr>
          <a:xfrm>
            <a:off x="711220" y="4086088"/>
            <a:ext cx="624718" cy="216530"/>
          </a:xfrm>
          <a:prstGeom prst="rect">
            <a:avLst/>
          </a:prstGeom>
          <a:noFill/>
          <a:ln/>
        </p:spPr>
        <p:txBody>
          <a:bodyPr wrap="square" lIns="0" tIns="0" rIns="0" bIns="0" rtlCol="0" anchor="t"/>
          <a:lstStyle/>
          <a:p>
            <a:pPr algn="l" indent="0" marL="0">
              <a:lnSpc>
                <a:spcPts val="1705"/>
              </a:lnSpc>
              <a:buNone/>
            </a:pPr>
            <a:r>
              <a:rPr lang="en-US" sz="1100" dirty="0">
                <a:solidFill>
                  <a:srgbClr val="044BD9"/>
                </a:solidFill>
                <a:latin typeface="Poppins SemiBold" pitchFamily="34" charset="0"/>
                <a:ea typeface="Poppins SemiBold" pitchFamily="34" charset="-122"/>
                <a:cs typeface="Poppins SemiBold" pitchFamily="34" charset="-120"/>
              </a:rPr>
              <a:t>04</a:t>
            </a:r>
            <a:endParaRPr lang="en-US" sz="1100" dirty="0"/>
          </a:p>
        </p:txBody>
      </p:sp>
      <p:sp>
        <p:nvSpPr>
          <p:cNvPr id="25" name="Text"/>
          <p:cNvSpPr txBox="1"/>
          <p:nvPr/>
        </p:nvSpPr>
        <p:spPr>
          <a:xfrm>
            <a:off x="1435059" y="4030858"/>
            <a:ext cx="3009108" cy="269839"/>
          </a:xfrm>
          <a:prstGeom prst="rect">
            <a:avLst/>
          </a:prstGeom>
          <a:noFill/>
          <a:ln/>
        </p:spPr>
        <p:txBody>
          <a:bodyPr wrap="square" lIns="0" tIns="0" rIns="0" bIns="0" rtlCol="0" anchor="t"/>
          <a:lstStyle/>
          <a:p>
            <a:pPr algn="l" indent="0" marL="0">
              <a:lnSpc>
                <a:spcPts val="2125"/>
              </a:lnSpc>
              <a:buNone/>
            </a:pPr>
            <a:r>
              <a:rPr lang="en-US" sz="1700" dirty="0">
                <a:solidFill>
                  <a:srgbClr val="000000"/>
                </a:solidFill>
                <a:latin typeface="Poppins Medium" pitchFamily="34" charset="0"/>
                <a:ea typeface="Poppins Medium" pitchFamily="34" charset="-122"/>
                <a:cs typeface="Poppins Medium" pitchFamily="34" charset="-120"/>
              </a:rPr>
              <a:t>Sectors and products</a:t>
            </a:r>
            <a:endParaRPr lang="en-US" sz="1700" dirty="0"/>
          </a:p>
        </p:txBody>
      </p:sp>
      <p:sp>
        <p:nvSpPr>
          <p:cNvPr id="26" name="Text"/>
          <p:cNvSpPr txBox="1"/>
          <p:nvPr/>
        </p:nvSpPr>
        <p:spPr>
          <a:xfrm>
            <a:off x="4533870" y="4093129"/>
            <a:ext cx="5788792" cy="202540"/>
          </a:xfrm>
          <a:prstGeom prst="rect">
            <a:avLst/>
          </a:prstGeom>
          <a:noFill/>
          <a:ln/>
        </p:spPr>
        <p:txBody>
          <a:bodyPr wrap="square" lIns="0" tIns="0" rIns="0" bIns="0" rtlCol="0" anchor="t"/>
          <a:lstStyle/>
          <a:p>
            <a:pPr algn="l" indent="0" marL="0">
              <a:lnSpc>
                <a:spcPts val="1595"/>
              </a:lnSpc>
              <a:buNone/>
            </a:pPr>
            <a:r>
              <a:rPr lang="en-US" sz="1100" dirty="0">
                <a:solidFill>
                  <a:srgbClr val="6B6B6B"/>
                </a:solidFill>
                <a:latin typeface="Poppins Light" pitchFamily="34" charset="0"/>
                <a:ea typeface="Poppins Light" pitchFamily="34" charset="-122"/>
                <a:cs typeface="Poppins Light" pitchFamily="34" charset="-120"/>
              </a:rPr>
              <a:t>Six sectors with work to show, and five products ready to deploy</a:t>
            </a:r>
            <a:endParaRPr lang="en-US" sz="1100" dirty="0"/>
          </a:p>
        </p:txBody>
      </p:sp>
      <p:sp>
        <p:nvSpPr>
          <p:cNvPr id="27" name="Text"/>
          <p:cNvSpPr txBox="1"/>
          <p:nvPr/>
        </p:nvSpPr>
        <p:spPr>
          <a:xfrm>
            <a:off x="10401300" y="4113246"/>
            <a:ext cx="1079541" cy="174925"/>
          </a:xfrm>
          <a:prstGeom prst="rect">
            <a:avLst/>
          </a:prstGeom>
          <a:noFill/>
          <a:ln/>
        </p:spPr>
        <p:txBody>
          <a:bodyPr wrap="square" lIns="0" tIns="0" rIns="0" bIns="0" rtlCol="0" anchor="t"/>
          <a:lstStyle/>
          <a:p>
            <a:pPr algn="r" indent="0" marL="0">
              <a:lnSpc>
                <a:spcPts val="1378"/>
              </a:lnSpc>
              <a:buNone/>
            </a:pPr>
            <a:r>
              <a:rPr lang="en-US" sz="950" dirty="0">
                <a:solidFill>
                  <a:srgbClr val="6B6B6B"/>
                </a:solidFill>
                <a:latin typeface="Poppins Light" pitchFamily="34" charset="0"/>
                <a:ea typeface="Poppins Light" pitchFamily="34" charset="-122"/>
                <a:cs typeface="Poppins Light" pitchFamily="34" charset="-120"/>
              </a:rPr>
              <a:t>Slides 18–21</a:t>
            </a:r>
            <a:endParaRPr lang="en-US" sz="950" dirty="0"/>
          </a:p>
        </p:txBody>
      </p:sp>
      <p:sp>
        <p:nvSpPr>
          <p:cNvPr id="28" name="Text"/>
          <p:cNvSpPr txBox="1"/>
          <p:nvPr/>
        </p:nvSpPr>
        <p:spPr>
          <a:xfrm>
            <a:off x="711220" y="4747108"/>
            <a:ext cx="624718" cy="216530"/>
          </a:xfrm>
          <a:prstGeom prst="rect">
            <a:avLst/>
          </a:prstGeom>
          <a:noFill/>
          <a:ln/>
        </p:spPr>
        <p:txBody>
          <a:bodyPr wrap="square" lIns="0" tIns="0" rIns="0" bIns="0" rtlCol="0" anchor="t"/>
          <a:lstStyle/>
          <a:p>
            <a:pPr algn="l" indent="0" marL="0">
              <a:lnSpc>
                <a:spcPts val="1705"/>
              </a:lnSpc>
              <a:buNone/>
            </a:pPr>
            <a:r>
              <a:rPr lang="en-US" sz="1100" dirty="0">
                <a:solidFill>
                  <a:srgbClr val="044BD9"/>
                </a:solidFill>
                <a:latin typeface="Poppins SemiBold" pitchFamily="34" charset="0"/>
                <a:ea typeface="Poppins SemiBold" pitchFamily="34" charset="-122"/>
                <a:cs typeface="Poppins SemiBold" pitchFamily="34" charset="-120"/>
              </a:rPr>
              <a:t>05</a:t>
            </a:r>
            <a:endParaRPr lang="en-US" sz="1100" dirty="0"/>
          </a:p>
        </p:txBody>
      </p:sp>
      <p:sp>
        <p:nvSpPr>
          <p:cNvPr id="29" name="Text"/>
          <p:cNvSpPr txBox="1"/>
          <p:nvPr/>
        </p:nvSpPr>
        <p:spPr>
          <a:xfrm>
            <a:off x="1435059" y="4691878"/>
            <a:ext cx="3009108" cy="269839"/>
          </a:xfrm>
          <a:prstGeom prst="rect">
            <a:avLst/>
          </a:prstGeom>
          <a:noFill/>
          <a:ln/>
        </p:spPr>
        <p:txBody>
          <a:bodyPr wrap="square" lIns="0" tIns="0" rIns="0" bIns="0" rtlCol="0" anchor="t"/>
          <a:lstStyle/>
          <a:p>
            <a:pPr algn="l" indent="0" marL="0">
              <a:lnSpc>
                <a:spcPts val="2125"/>
              </a:lnSpc>
              <a:buNone/>
            </a:pPr>
            <a:r>
              <a:rPr lang="en-US" sz="1700" dirty="0">
                <a:solidFill>
                  <a:srgbClr val="000000"/>
                </a:solidFill>
                <a:latin typeface="Poppins Medium" pitchFamily="34" charset="0"/>
                <a:ea typeface="Poppins Medium" pitchFamily="34" charset="-122"/>
                <a:cs typeface="Poppins Medium" pitchFamily="34" charset="-120"/>
              </a:rPr>
              <a:t>Proof</a:t>
            </a:r>
            <a:endParaRPr lang="en-US" sz="1700" dirty="0"/>
          </a:p>
        </p:txBody>
      </p:sp>
      <p:sp>
        <p:nvSpPr>
          <p:cNvPr id="30" name="Text"/>
          <p:cNvSpPr txBox="1"/>
          <p:nvPr/>
        </p:nvSpPr>
        <p:spPr>
          <a:xfrm>
            <a:off x="4533870" y="4754057"/>
            <a:ext cx="5788792" cy="405171"/>
          </a:xfrm>
          <a:prstGeom prst="rect">
            <a:avLst/>
          </a:prstGeom>
          <a:noFill/>
          <a:ln/>
        </p:spPr>
        <p:txBody>
          <a:bodyPr wrap="square" lIns="0" tIns="0" rIns="0" bIns="0" rtlCol="0" anchor="t"/>
          <a:lstStyle/>
          <a:p>
            <a:pPr algn="l" indent="0" marL="0">
              <a:lnSpc>
                <a:spcPts val="1595"/>
              </a:lnSpc>
              <a:buNone/>
            </a:pPr>
            <a:r>
              <a:rPr lang="en-US" sz="1100" dirty="0">
                <a:solidFill>
                  <a:srgbClr val="6B6B6B"/>
                </a:solidFill>
                <a:latin typeface="Poppins Light" pitchFamily="34" charset="0"/>
                <a:ea typeface="Poppins Light" pitchFamily="34" charset="-122"/>
                <a:cs typeface="Poppins Light" pitchFamily="34" charset="-120"/>
              </a:rPr>
              <a:t>Nine engagements and a case note, what clients say, and the wins and stages around them</a:t>
            </a:r>
            <a:endParaRPr lang="en-US" sz="1100" dirty="0"/>
          </a:p>
        </p:txBody>
      </p:sp>
      <p:sp>
        <p:nvSpPr>
          <p:cNvPr id="31" name="Text"/>
          <p:cNvSpPr txBox="1"/>
          <p:nvPr/>
        </p:nvSpPr>
        <p:spPr>
          <a:xfrm>
            <a:off x="10401300" y="4774265"/>
            <a:ext cx="1079541" cy="174925"/>
          </a:xfrm>
          <a:prstGeom prst="rect">
            <a:avLst/>
          </a:prstGeom>
          <a:noFill/>
          <a:ln/>
        </p:spPr>
        <p:txBody>
          <a:bodyPr wrap="square" lIns="0" tIns="0" rIns="0" bIns="0" rtlCol="0" anchor="t"/>
          <a:lstStyle/>
          <a:p>
            <a:pPr algn="r" indent="0" marL="0">
              <a:lnSpc>
                <a:spcPts val="1378"/>
              </a:lnSpc>
              <a:buNone/>
            </a:pPr>
            <a:r>
              <a:rPr lang="en-US" sz="950" dirty="0">
                <a:solidFill>
                  <a:srgbClr val="6B6B6B"/>
                </a:solidFill>
                <a:latin typeface="Poppins Light" pitchFamily="34" charset="0"/>
                <a:ea typeface="Poppins Light" pitchFamily="34" charset="-122"/>
                <a:cs typeface="Poppins Light" pitchFamily="34" charset="-120"/>
              </a:rPr>
              <a:t>Slides 22–31</a:t>
            </a:r>
            <a:endParaRPr lang="en-US" sz="950" dirty="0"/>
          </a:p>
        </p:txBody>
      </p:sp>
      <p:sp>
        <p:nvSpPr>
          <p:cNvPr id="32" name="Text"/>
          <p:cNvSpPr txBox="1"/>
          <p:nvPr/>
        </p:nvSpPr>
        <p:spPr>
          <a:xfrm>
            <a:off x="711220" y="5602986"/>
            <a:ext cx="624718" cy="216530"/>
          </a:xfrm>
          <a:prstGeom prst="rect">
            <a:avLst/>
          </a:prstGeom>
          <a:noFill/>
          <a:ln/>
        </p:spPr>
        <p:txBody>
          <a:bodyPr wrap="square" lIns="0" tIns="0" rIns="0" bIns="0" rtlCol="0" anchor="t"/>
          <a:lstStyle/>
          <a:p>
            <a:pPr algn="l" indent="0" marL="0">
              <a:lnSpc>
                <a:spcPts val="1705"/>
              </a:lnSpc>
              <a:buNone/>
            </a:pPr>
            <a:r>
              <a:rPr lang="en-US" sz="1100" dirty="0">
                <a:solidFill>
                  <a:srgbClr val="044BD9"/>
                </a:solidFill>
                <a:latin typeface="Poppins SemiBold" pitchFamily="34" charset="0"/>
                <a:ea typeface="Poppins SemiBold" pitchFamily="34" charset="-122"/>
                <a:cs typeface="Poppins SemiBold" pitchFamily="34" charset="-120"/>
              </a:rPr>
              <a:t>06</a:t>
            </a:r>
            <a:endParaRPr lang="en-US" sz="1100" dirty="0"/>
          </a:p>
        </p:txBody>
      </p:sp>
      <p:sp>
        <p:nvSpPr>
          <p:cNvPr id="33" name="Text"/>
          <p:cNvSpPr txBox="1"/>
          <p:nvPr/>
        </p:nvSpPr>
        <p:spPr>
          <a:xfrm>
            <a:off x="1435059" y="5547756"/>
            <a:ext cx="3009108" cy="269839"/>
          </a:xfrm>
          <a:prstGeom prst="rect">
            <a:avLst/>
          </a:prstGeom>
          <a:noFill/>
          <a:ln/>
        </p:spPr>
        <p:txBody>
          <a:bodyPr wrap="square" lIns="0" tIns="0" rIns="0" bIns="0" rtlCol="0" anchor="t"/>
          <a:lstStyle/>
          <a:p>
            <a:pPr algn="l" indent="0" marL="0">
              <a:lnSpc>
                <a:spcPts val="2125"/>
              </a:lnSpc>
              <a:buNone/>
            </a:pPr>
            <a:r>
              <a:rPr lang="en-US" sz="1700" dirty="0">
                <a:solidFill>
                  <a:srgbClr val="000000"/>
                </a:solidFill>
                <a:latin typeface="Poppins Medium" pitchFamily="34" charset="0"/>
                <a:ea typeface="Poppins Medium" pitchFamily="34" charset="-122"/>
                <a:cs typeface="Poppins Medium" pitchFamily="34" charset="-120"/>
              </a:rPr>
              <a:t>Engage</a:t>
            </a:r>
            <a:endParaRPr lang="en-US" sz="1700" dirty="0"/>
          </a:p>
        </p:txBody>
      </p:sp>
      <p:sp>
        <p:nvSpPr>
          <p:cNvPr id="34" name="Text"/>
          <p:cNvSpPr txBox="1"/>
          <p:nvPr/>
        </p:nvSpPr>
        <p:spPr>
          <a:xfrm>
            <a:off x="4533870" y="5609935"/>
            <a:ext cx="5788792" cy="202540"/>
          </a:xfrm>
          <a:prstGeom prst="rect">
            <a:avLst/>
          </a:prstGeom>
          <a:noFill/>
          <a:ln/>
        </p:spPr>
        <p:txBody>
          <a:bodyPr wrap="square" lIns="0" tIns="0" rIns="0" bIns="0" rtlCol="0" anchor="t"/>
          <a:lstStyle/>
          <a:p>
            <a:pPr algn="l" indent="0" marL="0">
              <a:lnSpc>
                <a:spcPts val="1595"/>
              </a:lnSpc>
              <a:buNone/>
            </a:pPr>
            <a:r>
              <a:rPr lang="en-US" sz="1100" dirty="0">
                <a:solidFill>
                  <a:srgbClr val="6B6B6B"/>
                </a:solidFill>
                <a:latin typeface="Poppins Light" pitchFamily="34" charset="0"/>
                <a:ea typeface="Poppins Light" pitchFamily="34" charset="-122"/>
                <a:cs typeface="Poppins Light" pitchFamily="34" charset="-120"/>
              </a:rPr>
              <a:t>How our model differs, and how a first message turns into a plan</a:t>
            </a:r>
            <a:endParaRPr lang="en-US" sz="1100" dirty="0"/>
          </a:p>
        </p:txBody>
      </p:sp>
      <p:sp>
        <p:nvSpPr>
          <p:cNvPr id="35" name="Text"/>
          <p:cNvSpPr txBox="1"/>
          <p:nvPr/>
        </p:nvSpPr>
        <p:spPr>
          <a:xfrm>
            <a:off x="10401300" y="5630144"/>
            <a:ext cx="1079541" cy="174925"/>
          </a:xfrm>
          <a:prstGeom prst="rect">
            <a:avLst/>
          </a:prstGeom>
          <a:noFill/>
          <a:ln/>
        </p:spPr>
        <p:txBody>
          <a:bodyPr wrap="square" lIns="0" tIns="0" rIns="0" bIns="0" rtlCol="0" anchor="t"/>
          <a:lstStyle/>
          <a:p>
            <a:pPr algn="r" indent="0" marL="0">
              <a:lnSpc>
                <a:spcPts val="1378"/>
              </a:lnSpc>
              <a:buNone/>
            </a:pPr>
            <a:r>
              <a:rPr lang="en-US" sz="950" dirty="0">
                <a:solidFill>
                  <a:srgbClr val="6B6B6B"/>
                </a:solidFill>
                <a:latin typeface="Poppins Light" pitchFamily="34" charset="0"/>
                <a:ea typeface="Poppins Light" pitchFamily="34" charset="-122"/>
                <a:cs typeface="Poppins Light" pitchFamily="34" charset="-120"/>
              </a:rPr>
              <a:t>Slides 32–35</a:t>
            </a:r>
            <a:endParaRPr lang="en-US" sz="950" dirty="0"/>
          </a:p>
        </p:txBody>
      </p:sp>
      <p:sp>
        <p:nvSpPr>
          <p:cNvPr id="36" name="Text"/>
          <p:cNvSpPr txBox="1"/>
          <p:nvPr/>
        </p:nvSpPr>
        <p:spPr>
          <a:xfrm>
            <a:off x="9348003" y="6409030"/>
            <a:ext cx="393741" cy="151150"/>
          </a:xfrm>
          <a:prstGeom prst="rect">
            <a:avLst/>
          </a:prstGeom>
          <a:noFill/>
          <a:ln/>
        </p:spPr>
        <p:txBody>
          <a:bodyPr wrap="none" lIns="0" tIns="0" rIns="0" bIns="0" rtlCol="0" anchor="t"/>
          <a:lstStyle/>
          <a:p>
            <a:pPr algn="l" indent="0" marL="0">
              <a:lnSpc>
                <a:spcPts val="1190"/>
              </a:lnSpc>
              <a:buNone/>
            </a:pPr>
            <a:r>
              <a:rPr lang="en-US" sz="850" spc="34" kern="0" dirty="0">
                <a:solidFill>
                  <a:srgbClr val="000000"/>
                </a:solidFill>
                <a:latin typeface="Poppins SemiBold" pitchFamily="34" charset="0"/>
                <a:ea typeface="Poppins SemiBold" pitchFamily="34" charset="-122"/>
                <a:cs typeface="Poppins SemiBold" pitchFamily="34" charset="-120"/>
              </a:rPr>
              <a:t>ALPHV</a:t>
            </a:r>
            <a:endParaRPr lang="en-US" sz="850" dirty="0"/>
          </a:p>
        </p:txBody>
      </p:sp>
      <p:sp>
        <p:nvSpPr>
          <p:cNvPr id="37" name="Text"/>
          <p:cNvSpPr txBox="1"/>
          <p:nvPr/>
        </p:nvSpPr>
        <p:spPr>
          <a:xfrm>
            <a:off x="9855952" y="6409030"/>
            <a:ext cx="1377178" cy="151150"/>
          </a:xfrm>
          <a:prstGeom prst="rect">
            <a:avLst/>
          </a:prstGeom>
          <a:noFill/>
          <a:ln/>
        </p:spPr>
        <p:txBody>
          <a:bodyPr wrap="none" lIns="0" tIns="0" rIns="0" bIns="0" rtlCol="0" anchor="t"/>
          <a:lstStyle/>
          <a:p>
            <a:pPr algn="l" indent="0" marL="0">
              <a:lnSpc>
                <a:spcPts val="1190"/>
              </a:lnSpc>
              <a:buNone/>
            </a:pPr>
            <a:r>
              <a:rPr lang="en-US" sz="850" dirty="0">
                <a:solidFill>
                  <a:srgbClr val="6B6B6B"/>
                </a:solidFill>
                <a:latin typeface="Poppins" pitchFamily="34" charset="0"/>
                <a:ea typeface="Poppins" pitchFamily="34" charset="-122"/>
                <a:cs typeface="Poppins" pitchFamily="34" charset="-120"/>
              </a:rPr>
              <a:t>Corporate overview 2026</a:t>
            </a:r>
            <a:endParaRPr lang="en-US" sz="850" dirty="0"/>
          </a:p>
        </p:txBody>
      </p:sp>
      <p:sp>
        <p:nvSpPr>
          <p:cNvPr id="38" name="Text"/>
          <p:cNvSpPr txBox="1"/>
          <p:nvPr/>
        </p:nvSpPr>
        <p:spPr>
          <a:xfrm>
            <a:off x="11347430" y="6409030"/>
            <a:ext cx="158740" cy="151150"/>
          </a:xfrm>
          <a:prstGeom prst="rect">
            <a:avLst/>
          </a:prstGeom>
          <a:noFill/>
          <a:ln/>
        </p:spPr>
        <p:txBody>
          <a:bodyPr wrap="none" lIns="0" tIns="0" rIns="0" bIns="0" rtlCol="0" anchor="t"/>
          <a:lstStyle/>
          <a:p>
            <a:pPr algn="l" indent="0" marL="0">
              <a:lnSpc>
                <a:spcPts val="1190"/>
              </a:lnSpc>
              <a:buNone/>
            </a:pPr>
            <a:r>
              <a:rPr lang="en-US" sz="850" dirty="0">
                <a:solidFill>
                  <a:srgbClr val="000000"/>
                </a:solidFill>
                <a:latin typeface="Poppins Medium" pitchFamily="34" charset="0"/>
                <a:ea typeface="Poppins Medium" pitchFamily="34" charset="-122"/>
                <a:cs typeface="Poppins Medium" pitchFamily="34" charset="-120"/>
              </a:rPr>
              <a:t>03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p:cNvSpPr txBox="1"/>
          <p:nvPr/>
        </p:nvSpPr>
        <p:spPr>
          <a:xfrm>
            <a:off x="711220" y="2472720"/>
            <a:ext cx="10825399" cy="1257300"/>
          </a:xfrm>
          <a:prstGeom prst="rect">
            <a:avLst/>
          </a:prstGeom>
          <a:noFill/>
          <a:ln/>
        </p:spPr>
        <p:txBody>
          <a:bodyPr wrap="square" lIns="0" tIns="0" rIns="0" bIns="0" rtlCol="0" anchor="t"/>
          <a:lstStyle/>
          <a:p>
            <a:pPr algn="l" indent="0" marL="0">
              <a:lnSpc>
                <a:spcPts val="9900"/>
              </a:lnSpc>
              <a:buNone/>
            </a:pPr>
            <a:r>
              <a:rPr lang="en-US" sz="11000" spc="-440" kern="0" dirty="0">
                <a:solidFill>
                  <a:srgbClr val="F2F6FD"/>
                </a:solidFill>
                <a:latin typeface="Poppins SemiBold" pitchFamily="34" charset="0"/>
                <a:ea typeface="Poppins SemiBold" pitchFamily="34" charset="-122"/>
                <a:cs typeface="Poppins SemiBold" pitchFamily="34" charset="-120"/>
              </a:rPr>
              <a:t>01</a:t>
            </a:r>
            <a:endParaRPr lang="en-US" sz="11000" dirty="0"/>
          </a:p>
        </p:txBody>
      </p:sp>
      <p:sp>
        <p:nvSpPr>
          <p:cNvPr id="3" name="Text"/>
          <p:cNvSpPr txBox="1"/>
          <p:nvPr/>
        </p:nvSpPr>
        <p:spPr>
          <a:xfrm>
            <a:off x="711220" y="3952951"/>
            <a:ext cx="8889980" cy="1280160"/>
          </a:xfrm>
          <a:prstGeom prst="rect">
            <a:avLst/>
          </a:prstGeom>
          <a:noFill/>
          <a:ln/>
        </p:spPr>
        <p:txBody>
          <a:bodyPr wrap="square" lIns="0" tIns="0" rIns="0" bIns="0" rtlCol="0" anchor="t"/>
          <a:lstStyle/>
          <a:p>
            <a:pPr algn="l" indent="0" marL="0">
              <a:lnSpc>
                <a:spcPts val="5040"/>
              </a:lnSpc>
              <a:buNone/>
            </a:pPr>
            <a:r>
              <a:rPr lang="en-US" sz="4800" spc="-120" kern="0" dirty="0">
                <a:solidFill>
                  <a:srgbClr val="FFFFFF"/>
                </a:solidFill>
                <a:latin typeface="Poppins SemiBold" pitchFamily="34" charset="0"/>
                <a:ea typeface="Poppins SemiBold" pitchFamily="34" charset="-122"/>
                <a:cs typeface="Poppins SemiBold" pitchFamily="34" charset="-120"/>
              </a:rPr>
              <a:t>AI pays off after</a:t>
            </a:r>
            <a:endParaRPr lang="en-US" sz="4800" dirty="0"/>
          </a:p>
          <a:p>
            <a:pPr algn="l" indent="0" marL="0">
              <a:lnSpc>
                <a:spcPts val="5040"/>
              </a:lnSpc>
              <a:buNone/>
            </a:pPr>
            <a:r>
              <a:rPr lang="en-US" sz="4800" spc="-120" kern="0" dirty="0">
                <a:solidFill>
                  <a:srgbClr val="FFFFFF"/>
                </a:solidFill>
                <a:latin typeface="Poppins SemiBold" pitchFamily="34" charset="0"/>
                <a:ea typeface="Poppins SemiBold" pitchFamily="34" charset="-122"/>
                <a:cs typeface="Poppins SemiBold" pitchFamily="34" charset="-120"/>
              </a:rPr>
              <a:t>the pilot. Not in it.</a:t>
            </a:r>
            <a:endParaRPr lang="en-US" sz="4800" dirty="0"/>
          </a:p>
        </p:txBody>
      </p:sp>
      <p:sp>
        <p:nvSpPr>
          <p:cNvPr id="4" name="Text"/>
          <p:cNvSpPr txBox="1"/>
          <p:nvPr/>
        </p:nvSpPr>
        <p:spPr>
          <a:xfrm>
            <a:off x="711220" y="5462626"/>
            <a:ext cx="7153168" cy="552480"/>
          </a:xfrm>
          <a:prstGeom prst="rect">
            <a:avLst/>
          </a:prstGeom>
          <a:noFill/>
          <a:ln/>
        </p:spPr>
        <p:txBody>
          <a:bodyPr wrap="square" lIns="0" tIns="0" rIns="0" bIns="0" rtlCol="0" anchor="t"/>
          <a:lstStyle/>
          <a:p>
            <a:pPr algn="l" indent="0" marL="0">
              <a:lnSpc>
                <a:spcPts val="2175"/>
              </a:lnSpc>
              <a:buNone/>
            </a:pPr>
            <a:r>
              <a:rPr lang="en-US" sz="1450" dirty="0">
                <a:solidFill>
                  <a:srgbClr val="E1E9FA"/>
                </a:solidFill>
                <a:latin typeface="Poppins Light" pitchFamily="34" charset="0"/>
                <a:ea typeface="Poppins Light" pitchFamily="34" charset="-122"/>
                <a:cs typeface="Poppins Light" pitchFamily="34" charset="-120"/>
              </a:rPr>
              <a:t>Most companies have tried AI. Far fewer have it running inside the systems that earn their revenue.</a:t>
            </a:r>
            <a:endParaRPr lang="en-US" sz="14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badge"/>
          <p:cNvSpPr/>
          <p:nvPr/>
        </p:nvSpPr>
        <p:spPr>
          <a:xfrm>
            <a:off x="714421" y="536570"/>
            <a:ext cx="1072317" cy="254020"/>
          </a:xfrm>
          <a:prstGeom prst="roundRect">
            <a:avLst>
              <a:gd name="adj" fmla="val 50000"/>
            </a:avLst>
          </a:prstGeom>
          <a:ln w="6350">
            <a:solidFill>
              <a:srgbClr val="155DFC"/>
            </a:solidFill>
            <a:prstDash val="solid"/>
          </a:ln>
        </p:spPr>
      </p:sp>
      <p:sp>
        <p:nvSpPr>
          <p:cNvPr id="3" name="card"/>
          <p:cNvSpPr/>
          <p:nvPr/>
        </p:nvSpPr>
        <p:spPr>
          <a:xfrm>
            <a:off x="714421" y="2077060"/>
            <a:ext cx="1466880" cy="2894990"/>
          </a:xfrm>
          <a:prstGeom prst="roundRect">
            <a:avLst>
              <a:gd name="adj" fmla="val 10173"/>
            </a:avLst>
          </a:prstGeom>
          <a:solidFill>
            <a:srgbClr val="FBFBFB"/>
          </a:solidFill>
          <a:ln w="6350">
            <a:solidFill>
              <a:srgbClr val="F0F0F0"/>
            </a:solidFill>
            <a:prstDash val="solid"/>
          </a:ln>
        </p:spPr>
      </p:sp>
      <p:sp>
        <p:nvSpPr>
          <p:cNvPr id="4" name="tile"/>
          <p:cNvSpPr/>
          <p:nvPr/>
        </p:nvSpPr>
        <p:spPr>
          <a:xfrm>
            <a:off x="895380" y="2258019"/>
            <a:ext cx="381030" cy="381030"/>
          </a:xfrm>
          <a:prstGeom prst="roundRect">
            <a:avLst>
              <a:gd name="adj" fmla="val 29998"/>
            </a:avLst>
          </a:prstGeom>
          <a:solidFill>
            <a:srgbClr val="044BD9">
              <a:alpha val="8000"/>
            </a:srgbClr>
          </a:solidFill>
          <a:ln/>
        </p:spPr>
      </p:sp>
      <p:pic>
        <p:nvPicPr>
          <p:cNvPr id="5" name="Icon" descr="/tmp/deck-pptx-47cOtg/icon-2.png">    </p:cNvPr>
          <p:cNvPicPr>
            <a:picLocks noChangeAspect="1"/>
          </p:cNvPicPr>
          <p:nvPr/>
        </p:nvPicPr>
        <p:blipFill>
          <a:blip r:embed="rId1"/>
          <a:stretch>
            <a:fillRect/>
          </a:stretch>
        </p:blipFill>
        <p:spPr>
          <a:xfrm>
            <a:off x="996970" y="2359609"/>
            <a:ext cx="177759" cy="177759"/>
          </a:xfrm>
          <a:prstGeom prst="rect">
            <a:avLst/>
          </a:prstGeom>
        </p:spPr>
      </p:pic>
      <p:sp>
        <p:nvSpPr>
          <p:cNvPr id="6" name="Rule"/>
          <p:cNvSpPr/>
          <p:nvPr/>
        </p:nvSpPr>
        <p:spPr>
          <a:xfrm>
            <a:off x="895380" y="3518520"/>
            <a:ext cx="1104870" cy="0"/>
          </a:xfrm>
          <a:prstGeom prst="line">
            <a:avLst/>
          </a:prstGeom>
          <a:noFill/>
          <a:ln w="6350">
            <a:solidFill>
              <a:srgbClr val="E3E6EC"/>
            </a:solidFill>
            <a:prstDash val="solid"/>
          </a:ln>
        </p:spPr>
      </p:sp>
      <p:pic>
        <p:nvPicPr>
          <p:cNvPr id="7" name="Icon" descr="/tmp/deck-pptx-47cOtg/icon-3.png">    </p:cNvPr>
          <p:cNvPicPr>
            <a:picLocks noChangeAspect="1"/>
          </p:cNvPicPr>
          <p:nvPr/>
        </p:nvPicPr>
        <p:blipFill>
          <a:blip r:embed="rId2"/>
          <a:stretch>
            <a:fillRect/>
          </a:stretch>
        </p:blipFill>
        <p:spPr>
          <a:xfrm>
            <a:off x="2260580" y="3422965"/>
            <a:ext cx="203180" cy="203180"/>
          </a:xfrm>
          <a:prstGeom prst="rect">
            <a:avLst/>
          </a:prstGeom>
        </p:spPr>
      </p:pic>
      <p:sp>
        <p:nvSpPr>
          <p:cNvPr id="8" name="card"/>
          <p:cNvSpPr/>
          <p:nvPr/>
        </p:nvSpPr>
        <p:spPr>
          <a:xfrm>
            <a:off x="2492380" y="2077060"/>
            <a:ext cx="2194926" cy="2894990"/>
          </a:xfrm>
          <a:prstGeom prst="roundRect">
            <a:avLst>
              <a:gd name="adj" fmla="val 6799"/>
            </a:avLst>
          </a:prstGeom>
          <a:solidFill>
            <a:srgbClr val="FBFBFB"/>
          </a:solidFill>
          <a:ln w="6350">
            <a:solidFill>
              <a:srgbClr val="F0F0F0"/>
            </a:solidFill>
            <a:prstDash val="solid"/>
          </a:ln>
        </p:spPr>
      </p:sp>
      <p:sp>
        <p:nvSpPr>
          <p:cNvPr id="9" name="tile"/>
          <p:cNvSpPr/>
          <p:nvPr/>
        </p:nvSpPr>
        <p:spPr>
          <a:xfrm>
            <a:off x="2673340" y="2258019"/>
            <a:ext cx="381030" cy="381030"/>
          </a:xfrm>
          <a:prstGeom prst="roundRect">
            <a:avLst>
              <a:gd name="adj" fmla="val 29998"/>
            </a:avLst>
          </a:prstGeom>
          <a:solidFill>
            <a:srgbClr val="044BD9">
              <a:alpha val="8000"/>
            </a:srgbClr>
          </a:solidFill>
          <a:ln/>
        </p:spPr>
      </p:sp>
      <p:pic>
        <p:nvPicPr>
          <p:cNvPr id="10" name="Icon" descr="/tmp/deck-pptx-47cOtg/icon-4.png">    </p:cNvPr>
          <p:cNvPicPr>
            <a:picLocks noChangeAspect="1"/>
          </p:cNvPicPr>
          <p:nvPr/>
        </p:nvPicPr>
        <p:blipFill>
          <a:blip r:embed="rId3"/>
          <a:stretch>
            <a:fillRect/>
          </a:stretch>
        </p:blipFill>
        <p:spPr>
          <a:xfrm>
            <a:off x="2774930" y="2359609"/>
            <a:ext cx="177759" cy="177759"/>
          </a:xfrm>
          <a:prstGeom prst="rect">
            <a:avLst/>
          </a:prstGeom>
        </p:spPr>
      </p:pic>
      <p:sp>
        <p:nvSpPr>
          <p:cNvPr id="11" name="Rule"/>
          <p:cNvSpPr/>
          <p:nvPr/>
        </p:nvSpPr>
        <p:spPr>
          <a:xfrm>
            <a:off x="2673340" y="3518520"/>
            <a:ext cx="1833006" cy="0"/>
          </a:xfrm>
          <a:prstGeom prst="line">
            <a:avLst/>
          </a:prstGeom>
          <a:noFill/>
          <a:ln w="6350">
            <a:solidFill>
              <a:srgbClr val="E3E6EC"/>
            </a:solidFill>
            <a:prstDash val="solid"/>
          </a:ln>
        </p:spPr>
      </p:sp>
      <p:pic>
        <p:nvPicPr>
          <p:cNvPr id="12" name="Icon" descr="/tmp/deck-pptx-47cOtg/icon-5.png">    </p:cNvPr>
          <p:cNvPicPr>
            <a:picLocks noChangeAspect="1"/>
          </p:cNvPicPr>
          <p:nvPr/>
        </p:nvPicPr>
        <p:blipFill>
          <a:blip r:embed="rId4"/>
          <a:stretch>
            <a:fillRect/>
          </a:stretch>
        </p:blipFill>
        <p:spPr>
          <a:xfrm>
            <a:off x="4766676" y="3422965"/>
            <a:ext cx="203180" cy="203180"/>
          </a:xfrm>
          <a:prstGeom prst="rect">
            <a:avLst/>
          </a:prstGeom>
        </p:spPr>
      </p:pic>
      <p:sp>
        <p:nvSpPr>
          <p:cNvPr id="13" name="card"/>
          <p:cNvSpPr/>
          <p:nvPr/>
        </p:nvSpPr>
        <p:spPr>
          <a:xfrm>
            <a:off x="4998476" y="2077060"/>
            <a:ext cx="2195017" cy="2894990"/>
          </a:xfrm>
          <a:prstGeom prst="roundRect">
            <a:avLst>
              <a:gd name="adj" fmla="val 6799"/>
            </a:avLst>
          </a:prstGeom>
          <a:solidFill>
            <a:srgbClr val="FBFBFB"/>
          </a:solidFill>
          <a:ln w="6350">
            <a:solidFill>
              <a:srgbClr val="F0F0F0"/>
            </a:solidFill>
            <a:prstDash val="solid"/>
          </a:ln>
        </p:spPr>
      </p:sp>
      <p:sp>
        <p:nvSpPr>
          <p:cNvPr id="14" name="tile"/>
          <p:cNvSpPr/>
          <p:nvPr/>
        </p:nvSpPr>
        <p:spPr>
          <a:xfrm>
            <a:off x="5179436" y="2258019"/>
            <a:ext cx="381030" cy="381030"/>
          </a:xfrm>
          <a:prstGeom prst="roundRect">
            <a:avLst>
              <a:gd name="adj" fmla="val 29998"/>
            </a:avLst>
          </a:prstGeom>
          <a:solidFill>
            <a:srgbClr val="044BD9">
              <a:alpha val="8000"/>
            </a:srgbClr>
          </a:solidFill>
          <a:ln/>
        </p:spPr>
      </p:sp>
      <p:pic>
        <p:nvPicPr>
          <p:cNvPr id="15" name="Icon" descr="/tmp/deck-pptx-47cOtg/icon-6.png">    </p:cNvPr>
          <p:cNvPicPr>
            <a:picLocks noChangeAspect="1"/>
          </p:cNvPicPr>
          <p:nvPr/>
        </p:nvPicPr>
        <p:blipFill>
          <a:blip r:embed="rId5"/>
          <a:stretch>
            <a:fillRect/>
          </a:stretch>
        </p:blipFill>
        <p:spPr>
          <a:xfrm>
            <a:off x="5281026" y="2359609"/>
            <a:ext cx="177759" cy="177759"/>
          </a:xfrm>
          <a:prstGeom prst="rect">
            <a:avLst/>
          </a:prstGeom>
        </p:spPr>
      </p:pic>
      <p:sp>
        <p:nvSpPr>
          <p:cNvPr id="16" name="Rule"/>
          <p:cNvSpPr/>
          <p:nvPr/>
        </p:nvSpPr>
        <p:spPr>
          <a:xfrm>
            <a:off x="5179436" y="3518520"/>
            <a:ext cx="1833098" cy="0"/>
          </a:xfrm>
          <a:prstGeom prst="line">
            <a:avLst/>
          </a:prstGeom>
          <a:noFill/>
          <a:ln w="6350">
            <a:solidFill>
              <a:srgbClr val="E3E6EC"/>
            </a:solidFill>
            <a:prstDash val="solid"/>
          </a:ln>
        </p:spPr>
      </p:sp>
      <p:pic>
        <p:nvPicPr>
          <p:cNvPr id="17" name="Icon" descr="/tmp/deck-pptx-47cOtg/icon-7.png">    </p:cNvPr>
          <p:cNvPicPr>
            <a:picLocks noChangeAspect="1"/>
          </p:cNvPicPr>
          <p:nvPr/>
        </p:nvPicPr>
        <p:blipFill>
          <a:blip r:embed="rId6"/>
          <a:stretch>
            <a:fillRect/>
          </a:stretch>
        </p:blipFill>
        <p:spPr>
          <a:xfrm>
            <a:off x="7272863" y="3422965"/>
            <a:ext cx="203180" cy="203180"/>
          </a:xfrm>
          <a:prstGeom prst="rect">
            <a:avLst/>
          </a:prstGeom>
        </p:spPr>
      </p:pic>
      <p:sp>
        <p:nvSpPr>
          <p:cNvPr id="18" name="card"/>
          <p:cNvSpPr/>
          <p:nvPr/>
        </p:nvSpPr>
        <p:spPr>
          <a:xfrm>
            <a:off x="7504572" y="2077060"/>
            <a:ext cx="2194926" cy="2894990"/>
          </a:xfrm>
          <a:prstGeom prst="roundRect">
            <a:avLst>
              <a:gd name="adj" fmla="val 6799"/>
            </a:avLst>
          </a:prstGeom>
          <a:solidFill>
            <a:srgbClr val="FBFBFB"/>
          </a:solidFill>
          <a:ln w="6350">
            <a:solidFill>
              <a:srgbClr val="F0F0F0"/>
            </a:solidFill>
            <a:prstDash val="solid"/>
          </a:ln>
        </p:spPr>
      </p:sp>
      <p:sp>
        <p:nvSpPr>
          <p:cNvPr id="19" name="tile"/>
          <p:cNvSpPr/>
          <p:nvPr/>
        </p:nvSpPr>
        <p:spPr>
          <a:xfrm>
            <a:off x="7685623" y="2258019"/>
            <a:ext cx="381030" cy="381030"/>
          </a:xfrm>
          <a:prstGeom prst="roundRect">
            <a:avLst>
              <a:gd name="adj" fmla="val 29998"/>
            </a:avLst>
          </a:prstGeom>
          <a:solidFill>
            <a:srgbClr val="044BD9">
              <a:alpha val="8000"/>
            </a:srgbClr>
          </a:solidFill>
          <a:ln/>
        </p:spPr>
      </p:sp>
      <p:pic>
        <p:nvPicPr>
          <p:cNvPr id="20" name="Icon" descr="/tmp/deck-pptx-47cOtg/icon-8.png">    </p:cNvPr>
          <p:cNvPicPr>
            <a:picLocks noChangeAspect="1"/>
          </p:cNvPicPr>
          <p:nvPr/>
        </p:nvPicPr>
        <p:blipFill>
          <a:blip r:embed="rId7"/>
          <a:stretch>
            <a:fillRect/>
          </a:stretch>
        </p:blipFill>
        <p:spPr>
          <a:xfrm>
            <a:off x="7787213" y="2359609"/>
            <a:ext cx="177759" cy="177759"/>
          </a:xfrm>
          <a:prstGeom prst="rect">
            <a:avLst/>
          </a:prstGeom>
        </p:spPr>
      </p:pic>
      <p:sp>
        <p:nvSpPr>
          <p:cNvPr id="21" name="Rule"/>
          <p:cNvSpPr/>
          <p:nvPr/>
        </p:nvSpPr>
        <p:spPr>
          <a:xfrm>
            <a:off x="7685623" y="3518520"/>
            <a:ext cx="1833006" cy="0"/>
          </a:xfrm>
          <a:prstGeom prst="line">
            <a:avLst/>
          </a:prstGeom>
          <a:noFill/>
          <a:ln w="6350">
            <a:solidFill>
              <a:srgbClr val="E3E6EC"/>
            </a:solidFill>
            <a:prstDash val="solid"/>
          </a:ln>
        </p:spPr>
      </p:sp>
      <p:pic>
        <p:nvPicPr>
          <p:cNvPr id="22" name="Icon" descr="/tmp/deck-pptx-47cOtg/icon-9.png">    </p:cNvPr>
          <p:cNvPicPr>
            <a:picLocks noChangeAspect="1"/>
          </p:cNvPicPr>
          <p:nvPr/>
        </p:nvPicPr>
        <p:blipFill>
          <a:blip r:embed="rId8"/>
          <a:stretch>
            <a:fillRect/>
          </a:stretch>
        </p:blipFill>
        <p:spPr>
          <a:xfrm>
            <a:off x="9778868" y="3422965"/>
            <a:ext cx="203180" cy="203180"/>
          </a:xfrm>
          <a:prstGeom prst="rect">
            <a:avLst/>
          </a:prstGeom>
        </p:spPr>
      </p:pic>
      <p:sp>
        <p:nvSpPr>
          <p:cNvPr id="23" name="card"/>
          <p:cNvSpPr/>
          <p:nvPr/>
        </p:nvSpPr>
        <p:spPr>
          <a:xfrm>
            <a:off x="10010668" y="2077060"/>
            <a:ext cx="1466880" cy="2894990"/>
          </a:xfrm>
          <a:prstGeom prst="roundRect">
            <a:avLst>
              <a:gd name="adj" fmla="val 10173"/>
            </a:avLst>
          </a:prstGeom>
          <a:solidFill>
            <a:srgbClr val="044BD9"/>
          </a:solidFill>
          <a:ln w="6350">
            <a:solidFill>
              <a:srgbClr val="044BD9"/>
            </a:solidFill>
            <a:prstDash val="solid"/>
          </a:ln>
        </p:spPr>
      </p:sp>
      <p:sp>
        <p:nvSpPr>
          <p:cNvPr id="24" name="tile"/>
          <p:cNvSpPr/>
          <p:nvPr/>
        </p:nvSpPr>
        <p:spPr>
          <a:xfrm>
            <a:off x="10191628" y="2258019"/>
            <a:ext cx="381030" cy="381030"/>
          </a:xfrm>
          <a:prstGeom prst="roundRect">
            <a:avLst>
              <a:gd name="adj" fmla="val 29998"/>
            </a:avLst>
          </a:prstGeom>
          <a:solidFill>
            <a:srgbClr val="FFFFFF">
              <a:alpha val="14000"/>
            </a:srgbClr>
          </a:solidFill>
          <a:ln/>
        </p:spPr>
      </p:sp>
      <p:pic>
        <p:nvPicPr>
          <p:cNvPr id="25" name="Icon" descr="/tmp/deck-pptx-47cOtg/icon-10.png">    </p:cNvPr>
          <p:cNvPicPr>
            <a:picLocks noChangeAspect="1"/>
          </p:cNvPicPr>
          <p:nvPr/>
        </p:nvPicPr>
        <p:blipFill>
          <a:blip r:embed="rId9"/>
          <a:stretch>
            <a:fillRect/>
          </a:stretch>
        </p:blipFill>
        <p:spPr>
          <a:xfrm>
            <a:off x="10293218" y="2359609"/>
            <a:ext cx="177759" cy="177759"/>
          </a:xfrm>
          <a:prstGeom prst="rect">
            <a:avLst/>
          </a:prstGeom>
        </p:spPr>
      </p:pic>
      <p:sp>
        <p:nvSpPr>
          <p:cNvPr id="26" name="Rule"/>
          <p:cNvSpPr/>
          <p:nvPr/>
        </p:nvSpPr>
        <p:spPr>
          <a:xfrm>
            <a:off x="10191628" y="3518520"/>
            <a:ext cx="1104870" cy="0"/>
          </a:xfrm>
          <a:prstGeom prst="line">
            <a:avLst/>
          </a:prstGeom>
          <a:noFill/>
          <a:ln w="6350">
            <a:solidFill>
              <a:srgbClr val="FFFFFF">
                <a:alpha val="22000"/>
              </a:srgbClr>
            </a:solidFill>
            <a:prstDash val="solid"/>
          </a:ln>
        </p:spPr>
      </p:sp>
      <p:sp>
        <p:nvSpPr>
          <p:cNvPr id="27" name="sowhat"/>
          <p:cNvSpPr/>
          <p:nvPr/>
        </p:nvSpPr>
        <p:spPr>
          <a:xfrm>
            <a:off x="711220" y="5203850"/>
            <a:ext cx="10769620" cy="816011"/>
          </a:xfrm>
          <a:prstGeom prst="roundRect">
            <a:avLst>
              <a:gd name="adj" fmla="val 18680"/>
            </a:avLst>
          </a:prstGeom>
          <a:solidFill>
            <a:srgbClr val="044BD9"/>
          </a:solidFill>
          <a:ln/>
        </p:spPr>
      </p:sp>
      <p:sp>
        <p:nvSpPr>
          <p:cNvPr id="28" name="lbl"/>
          <p:cNvSpPr/>
          <p:nvPr/>
        </p:nvSpPr>
        <p:spPr>
          <a:xfrm>
            <a:off x="943021" y="5479542"/>
            <a:ext cx="674370" cy="264444"/>
          </a:xfrm>
          <a:prstGeom prst="roundRect">
            <a:avLst>
              <a:gd name="adj" fmla="val 50000"/>
            </a:avLst>
          </a:prstGeom>
          <a:ln w="6350">
            <a:solidFill>
              <a:srgbClr val="FFFFFF">
                <a:alpha val="55000"/>
              </a:srgbClr>
            </a:solidFill>
            <a:prstDash val="solid"/>
          </a:ln>
        </p:spPr>
      </p:sp>
      <p:sp>
        <p:nvSpPr>
          <p:cNvPr id="29" name="on::before"/>
          <p:cNvSpPr/>
          <p:nvPr/>
        </p:nvSpPr>
        <p:spPr>
          <a:xfrm>
            <a:off x="6191860" y="311170"/>
            <a:ext cx="44440" cy="44440"/>
          </a:xfrm>
          <a:prstGeom prst="rect">
            <a:avLst/>
          </a:prstGeom>
          <a:solidFill>
            <a:srgbClr val="044BD9"/>
          </a:solidFill>
          <a:ln/>
        </p:spPr>
      </p:sp>
      <p:sp>
        <p:nvSpPr>
          <p:cNvPr id="30" name="span::before"/>
          <p:cNvSpPr/>
          <p:nvPr/>
        </p:nvSpPr>
        <p:spPr>
          <a:xfrm>
            <a:off x="7145213" y="311170"/>
            <a:ext cx="44440" cy="44440"/>
          </a:xfrm>
          <a:prstGeom prst="rect">
            <a:avLst/>
          </a:prstGeom>
          <a:solidFill>
            <a:srgbClr val="A0A6AF">
              <a:alpha val="55000"/>
            </a:srgbClr>
          </a:solidFill>
          <a:ln/>
        </p:spPr>
      </p:sp>
      <p:sp>
        <p:nvSpPr>
          <p:cNvPr id="31" name="span::before"/>
          <p:cNvSpPr/>
          <p:nvPr/>
        </p:nvSpPr>
        <p:spPr>
          <a:xfrm>
            <a:off x="8056230" y="311170"/>
            <a:ext cx="44440" cy="44440"/>
          </a:xfrm>
          <a:prstGeom prst="rect">
            <a:avLst/>
          </a:prstGeom>
          <a:solidFill>
            <a:srgbClr val="A0A6AF">
              <a:alpha val="55000"/>
            </a:srgbClr>
          </a:solidFill>
          <a:ln/>
        </p:spPr>
      </p:sp>
      <p:sp>
        <p:nvSpPr>
          <p:cNvPr id="32" name="span::before"/>
          <p:cNvSpPr/>
          <p:nvPr/>
        </p:nvSpPr>
        <p:spPr>
          <a:xfrm>
            <a:off x="8972550" y="311170"/>
            <a:ext cx="44440" cy="44440"/>
          </a:xfrm>
          <a:prstGeom prst="rect">
            <a:avLst/>
          </a:prstGeom>
          <a:solidFill>
            <a:srgbClr val="A0A6AF">
              <a:alpha val="55000"/>
            </a:srgbClr>
          </a:solidFill>
          <a:ln/>
        </p:spPr>
      </p:sp>
      <p:sp>
        <p:nvSpPr>
          <p:cNvPr id="33" name="span::before"/>
          <p:cNvSpPr/>
          <p:nvPr/>
        </p:nvSpPr>
        <p:spPr>
          <a:xfrm>
            <a:off x="10421142" y="311170"/>
            <a:ext cx="44440" cy="44440"/>
          </a:xfrm>
          <a:prstGeom prst="rect">
            <a:avLst/>
          </a:prstGeom>
          <a:solidFill>
            <a:srgbClr val="A0A6AF">
              <a:alpha val="55000"/>
            </a:srgbClr>
          </a:solidFill>
          <a:ln/>
        </p:spPr>
      </p:sp>
      <p:sp>
        <p:nvSpPr>
          <p:cNvPr id="34" name="span::before"/>
          <p:cNvSpPr/>
          <p:nvPr/>
        </p:nvSpPr>
        <p:spPr>
          <a:xfrm>
            <a:off x="10966216" y="311170"/>
            <a:ext cx="44440" cy="44440"/>
          </a:xfrm>
          <a:prstGeom prst="rect">
            <a:avLst/>
          </a:prstGeom>
          <a:solidFill>
            <a:srgbClr val="A0A6AF">
              <a:alpha val="55000"/>
            </a:srgbClr>
          </a:solidFill>
          <a:ln/>
        </p:spPr>
      </p:sp>
      <p:sp>
        <p:nvSpPr>
          <p:cNvPr id="35" name="Text"/>
          <p:cNvSpPr txBox="1"/>
          <p:nvPr/>
        </p:nvSpPr>
        <p:spPr>
          <a:xfrm>
            <a:off x="844540" y="603230"/>
            <a:ext cx="837408" cy="120609"/>
          </a:xfrm>
          <a:prstGeom prst="rect">
            <a:avLst/>
          </a:prstGeom>
          <a:noFill/>
          <a:ln/>
        </p:spPr>
        <p:txBody>
          <a:bodyPr wrap="none" lIns="0" tIns="0" rIns="0" bIns="0" rtlCol="0" anchor="t"/>
          <a:lstStyle/>
          <a:p>
            <a:pPr algn="l" indent="0" marL="0">
              <a:lnSpc>
                <a:spcPts val="950"/>
              </a:lnSpc>
              <a:buNone/>
            </a:pPr>
            <a:r>
              <a:rPr lang="en-US" sz="950" spc="10" kern="0" dirty="0">
                <a:solidFill>
                  <a:srgbClr val="155DFC"/>
                </a:solidFill>
                <a:latin typeface="Poppins Medium" pitchFamily="34" charset="0"/>
                <a:ea typeface="Poppins Medium" pitchFamily="34" charset="-122"/>
                <a:cs typeface="Poppins Medium" pitchFamily="34" charset="-120"/>
              </a:rPr>
              <a:t>The pilot gap</a:t>
            </a:r>
            <a:endParaRPr lang="en-US" sz="950" dirty="0"/>
          </a:p>
        </p:txBody>
      </p:sp>
      <p:sp>
        <p:nvSpPr>
          <p:cNvPr id="36" name="Title"/>
          <p:cNvSpPr txBox="1"/>
          <p:nvPr/>
        </p:nvSpPr>
        <p:spPr>
          <a:xfrm>
            <a:off x="711220" y="927750"/>
            <a:ext cx="9398020" cy="861090"/>
          </a:xfrm>
          <a:prstGeom prst="rect">
            <a:avLst/>
          </a:prstGeom>
          <a:noFill/>
          <a:ln/>
        </p:spPr>
        <p:txBody>
          <a:bodyPr wrap="square" lIns="0" tIns="0" rIns="0" bIns="0" rtlCol="0" anchor="t"/>
          <a:lstStyle/>
          <a:p>
            <a:pPr algn="l" indent="0" marL="0">
              <a:lnSpc>
                <a:spcPts val="3390"/>
              </a:lnSpc>
              <a:buNone/>
            </a:pPr>
            <a:r>
              <a:rPr lang="en-US" sz="3000" spc="-45" kern="0" dirty="0">
                <a:solidFill>
                  <a:srgbClr val="000000"/>
                </a:solidFill>
                <a:latin typeface="Poppins Medium" pitchFamily="34" charset="0"/>
                <a:ea typeface="Poppins Medium" pitchFamily="34" charset="-122"/>
                <a:cs typeface="Poppins Medium" pitchFamily="34" charset="-120"/>
              </a:rPr>
              <a:t>Pilots stall where AI meets data silos,</a:t>
            </a:r>
            <a:endParaRPr lang="en-US" sz="3000" dirty="0"/>
          </a:p>
          <a:p>
            <a:pPr algn="l" indent="0" marL="0">
              <a:lnSpc>
                <a:spcPts val="3390"/>
              </a:lnSpc>
              <a:buNone/>
            </a:pPr>
            <a:r>
              <a:rPr lang="en-US" sz="3000" spc="-45" kern="0" dirty="0">
                <a:solidFill>
                  <a:srgbClr val="000000"/>
                </a:solidFill>
                <a:latin typeface="Poppins Medium" pitchFamily="34" charset="0"/>
                <a:ea typeface="Poppins Medium" pitchFamily="34" charset="-122"/>
                <a:cs typeface="Poppins Medium" pitchFamily="34" charset="-120"/>
              </a:rPr>
              <a:t>legacy systems and integration</a:t>
            </a:r>
            <a:endParaRPr lang="en-US" sz="3000" dirty="0"/>
          </a:p>
        </p:txBody>
      </p:sp>
      <p:sp>
        <p:nvSpPr>
          <p:cNvPr id="37" name="Text"/>
          <p:cNvSpPr txBox="1"/>
          <p:nvPr/>
        </p:nvSpPr>
        <p:spPr>
          <a:xfrm>
            <a:off x="895380" y="2714122"/>
            <a:ext cx="1122060" cy="167335"/>
          </a:xfrm>
          <a:prstGeom prst="rect">
            <a:avLst/>
          </a:prstGeom>
          <a:noFill/>
          <a:ln/>
        </p:spPr>
        <p:txBody>
          <a:bodyPr wrap="square" lIns="0" tIns="0" rIns="0" bIns="0" rtlCol="0" anchor="t"/>
          <a:lstStyle/>
          <a:p>
            <a:pPr algn="l" indent="0" marL="0">
              <a:lnSpc>
                <a:spcPts val="1318"/>
              </a:lnSpc>
              <a:buNone/>
            </a:pPr>
            <a:r>
              <a:rPr lang="en-US" sz="850" spc="17" kern="0" dirty="0">
                <a:solidFill>
                  <a:srgbClr val="044BD9"/>
                </a:solidFill>
                <a:latin typeface="Poppins Medium" pitchFamily="34" charset="0"/>
                <a:ea typeface="Poppins Medium" pitchFamily="34" charset="-122"/>
                <a:cs typeface="Poppins Medium" pitchFamily="34" charset="-120"/>
              </a:rPr>
              <a:t>Start</a:t>
            </a:r>
            <a:endParaRPr lang="en-US" sz="850" dirty="0"/>
          </a:p>
        </p:txBody>
      </p:sp>
      <p:sp>
        <p:nvSpPr>
          <p:cNvPr id="38" name="Text"/>
          <p:cNvSpPr txBox="1"/>
          <p:nvPr/>
        </p:nvSpPr>
        <p:spPr>
          <a:xfrm>
            <a:off x="895380" y="2953603"/>
            <a:ext cx="1122060" cy="232440"/>
          </a:xfrm>
          <a:prstGeom prst="rect">
            <a:avLst/>
          </a:prstGeom>
          <a:noFill/>
          <a:ln/>
        </p:spPr>
        <p:txBody>
          <a:bodyPr wrap="square" lIns="0" tIns="0" rIns="0" bIns="0" rtlCol="0" anchor="t"/>
          <a:lstStyle/>
          <a:p>
            <a:pPr algn="l" indent="0" marL="0">
              <a:lnSpc>
                <a:spcPts val="1830"/>
              </a:lnSpc>
              <a:buNone/>
            </a:pPr>
            <a:r>
              <a:rPr lang="en-US" sz="1500" dirty="0">
                <a:solidFill>
                  <a:srgbClr val="000000"/>
                </a:solidFill>
                <a:latin typeface="Poppins Medium" pitchFamily="34" charset="0"/>
                <a:ea typeface="Poppins Medium" pitchFamily="34" charset="-122"/>
                <a:cs typeface="Poppins Medium" pitchFamily="34" charset="-120"/>
              </a:rPr>
              <a:t>Pilot</a:t>
            </a:r>
            <a:endParaRPr lang="en-US" sz="1500" dirty="0"/>
          </a:p>
        </p:txBody>
      </p:sp>
      <p:sp>
        <p:nvSpPr>
          <p:cNvPr id="39" name="Text"/>
          <p:cNvSpPr txBox="1"/>
          <p:nvPr/>
        </p:nvSpPr>
        <p:spPr>
          <a:xfrm>
            <a:off x="895380" y="3634831"/>
            <a:ext cx="1122060" cy="167335"/>
          </a:xfrm>
          <a:prstGeom prst="rect">
            <a:avLst/>
          </a:prstGeom>
          <a:noFill/>
          <a:ln/>
        </p:spPr>
        <p:txBody>
          <a:bodyPr wrap="square" lIns="0" tIns="0" rIns="0" bIns="0" rtlCol="0" anchor="t"/>
          <a:lstStyle/>
          <a:p>
            <a:pPr algn="l" indent="0" marL="0">
              <a:lnSpc>
                <a:spcPts val="1318"/>
              </a:lnSpc>
              <a:buNone/>
            </a:pPr>
            <a:r>
              <a:rPr lang="en-US" sz="850" spc="17" kern="0" dirty="0">
                <a:solidFill>
                  <a:srgbClr val="044BD9"/>
                </a:solidFill>
                <a:latin typeface="Poppins Medium" pitchFamily="34" charset="0"/>
                <a:ea typeface="Poppins Medium" pitchFamily="34" charset="-122"/>
                <a:cs typeface="Poppins Medium" pitchFamily="34" charset="-120"/>
              </a:rPr>
              <a:t>Where most are</a:t>
            </a:r>
            <a:endParaRPr lang="en-US" sz="850" dirty="0"/>
          </a:p>
        </p:txBody>
      </p:sp>
      <p:sp>
        <p:nvSpPr>
          <p:cNvPr id="40" name="Text"/>
          <p:cNvSpPr txBox="1"/>
          <p:nvPr/>
        </p:nvSpPr>
        <p:spPr>
          <a:xfrm>
            <a:off x="895380" y="3850538"/>
            <a:ext cx="1122060" cy="649590"/>
          </a:xfrm>
          <a:prstGeom prst="rect">
            <a:avLst/>
          </a:prstGeom>
          <a:noFill/>
          <a:ln/>
        </p:spPr>
        <p:txBody>
          <a:bodyPr wrap="square" lIns="0" tIns="0" rIns="0" bIns="0" rtlCol="0" anchor="t"/>
          <a:lstStyle/>
          <a:p>
            <a:pPr algn="l" indent="0" marL="0">
              <a:lnSpc>
                <a:spcPts val="1705"/>
              </a:lnSpc>
              <a:buNone/>
            </a:pPr>
            <a:r>
              <a:rPr lang="en-US" sz="1100" dirty="0">
                <a:solidFill>
                  <a:srgbClr val="1F2937"/>
                </a:solidFill>
                <a:latin typeface="Poppins Light" pitchFamily="34" charset="0"/>
                <a:ea typeface="Poppins Light" pitchFamily="34" charset="-122"/>
                <a:cs typeface="Poppins Light" pitchFamily="34" charset="-120"/>
              </a:rPr>
              <a:t>Most companies have tried AI.</a:t>
            </a:r>
            <a:endParaRPr lang="en-US" sz="1100" dirty="0"/>
          </a:p>
        </p:txBody>
      </p:sp>
      <p:sp>
        <p:nvSpPr>
          <p:cNvPr id="41" name="Text"/>
          <p:cNvSpPr txBox="1"/>
          <p:nvPr/>
        </p:nvSpPr>
        <p:spPr>
          <a:xfrm>
            <a:off x="2673340" y="2714122"/>
            <a:ext cx="1853032" cy="167335"/>
          </a:xfrm>
          <a:prstGeom prst="rect">
            <a:avLst/>
          </a:prstGeom>
          <a:noFill/>
          <a:ln/>
        </p:spPr>
        <p:txBody>
          <a:bodyPr wrap="square" lIns="0" tIns="0" rIns="0" bIns="0" rtlCol="0" anchor="t"/>
          <a:lstStyle/>
          <a:p>
            <a:pPr algn="l" indent="0" marL="0">
              <a:lnSpc>
                <a:spcPts val="1318"/>
              </a:lnSpc>
              <a:buNone/>
            </a:pPr>
            <a:r>
              <a:rPr lang="en-US" sz="850" spc="17" kern="0" dirty="0">
                <a:solidFill>
                  <a:srgbClr val="044BD9"/>
                </a:solidFill>
                <a:latin typeface="Poppins Medium" pitchFamily="34" charset="0"/>
                <a:ea typeface="Poppins Medium" pitchFamily="34" charset="-122"/>
                <a:cs typeface="Poppins Medium" pitchFamily="34" charset="-120"/>
              </a:rPr>
              <a:t>Barrier 01</a:t>
            </a:r>
            <a:endParaRPr lang="en-US" sz="850" dirty="0"/>
          </a:p>
        </p:txBody>
      </p:sp>
      <p:sp>
        <p:nvSpPr>
          <p:cNvPr id="42" name="Text"/>
          <p:cNvSpPr txBox="1"/>
          <p:nvPr/>
        </p:nvSpPr>
        <p:spPr>
          <a:xfrm>
            <a:off x="2673340" y="2953603"/>
            <a:ext cx="1853032" cy="232440"/>
          </a:xfrm>
          <a:prstGeom prst="rect">
            <a:avLst/>
          </a:prstGeom>
          <a:noFill/>
          <a:ln/>
        </p:spPr>
        <p:txBody>
          <a:bodyPr wrap="square" lIns="0" tIns="0" rIns="0" bIns="0" rtlCol="0" anchor="t"/>
          <a:lstStyle/>
          <a:p>
            <a:pPr algn="l" indent="0" marL="0">
              <a:lnSpc>
                <a:spcPts val="1830"/>
              </a:lnSpc>
              <a:buNone/>
            </a:pPr>
            <a:r>
              <a:rPr lang="en-US" sz="1500" dirty="0">
                <a:solidFill>
                  <a:srgbClr val="000000"/>
                </a:solidFill>
                <a:latin typeface="Poppins Medium" pitchFamily="34" charset="0"/>
                <a:ea typeface="Poppins Medium" pitchFamily="34" charset="-122"/>
                <a:cs typeface="Poppins Medium" pitchFamily="34" charset="-120"/>
              </a:rPr>
              <a:t>Data sits in silos</a:t>
            </a:r>
            <a:endParaRPr lang="en-US" sz="1500" dirty="0"/>
          </a:p>
        </p:txBody>
      </p:sp>
      <p:sp>
        <p:nvSpPr>
          <p:cNvPr id="43" name="Text"/>
          <p:cNvSpPr txBox="1"/>
          <p:nvPr/>
        </p:nvSpPr>
        <p:spPr>
          <a:xfrm>
            <a:off x="2673340" y="3634831"/>
            <a:ext cx="1853032" cy="167335"/>
          </a:xfrm>
          <a:prstGeom prst="rect">
            <a:avLst/>
          </a:prstGeom>
          <a:noFill/>
          <a:ln/>
        </p:spPr>
        <p:txBody>
          <a:bodyPr wrap="square" lIns="0" tIns="0" rIns="0" bIns="0" rtlCol="0" anchor="t"/>
          <a:lstStyle/>
          <a:p>
            <a:pPr algn="l" indent="0" marL="0">
              <a:lnSpc>
                <a:spcPts val="1318"/>
              </a:lnSpc>
              <a:buNone/>
            </a:pPr>
            <a:r>
              <a:rPr lang="en-US" sz="850" spc="17" kern="0" dirty="0">
                <a:solidFill>
                  <a:srgbClr val="044BD9"/>
                </a:solidFill>
                <a:latin typeface="Poppins Medium" pitchFamily="34" charset="0"/>
                <a:ea typeface="Poppins Medium" pitchFamily="34" charset="-122"/>
                <a:cs typeface="Poppins Medium" pitchFamily="34" charset="-120"/>
              </a:rPr>
              <a:t>What closes it</a:t>
            </a:r>
            <a:endParaRPr lang="en-US" sz="850" dirty="0"/>
          </a:p>
        </p:txBody>
      </p:sp>
      <p:sp>
        <p:nvSpPr>
          <p:cNvPr id="44" name="Text"/>
          <p:cNvSpPr txBox="1"/>
          <p:nvPr/>
        </p:nvSpPr>
        <p:spPr>
          <a:xfrm>
            <a:off x="2673340" y="3850538"/>
            <a:ext cx="1853032" cy="866120"/>
          </a:xfrm>
          <a:prstGeom prst="rect">
            <a:avLst/>
          </a:prstGeom>
          <a:noFill/>
          <a:ln/>
        </p:spPr>
        <p:txBody>
          <a:bodyPr wrap="square" lIns="0" tIns="0" rIns="0" bIns="0" rtlCol="0" anchor="t"/>
          <a:lstStyle/>
          <a:p>
            <a:pPr algn="l" indent="0" marL="0">
              <a:lnSpc>
                <a:spcPts val="1705"/>
              </a:lnSpc>
              <a:buNone/>
            </a:pPr>
            <a:r>
              <a:rPr lang="en-US" sz="1100" dirty="0">
                <a:solidFill>
                  <a:srgbClr val="1F2937"/>
                </a:solidFill>
                <a:latin typeface="Poppins Light" pitchFamily="34" charset="0"/>
                <a:ea typeface="Poppins Light" pitchFamily="34" charset="-122"/>
                <a:cs typeface="Poppins Light" pitchFamily="34" charset="-120"/>
              </a:rPr>
              <a:t>A data audit of what you hold and where it sits, then retrieval over your own data.</a:t>
            </a:r>
            <a:endParaRPr lang="en-US" sz="1100" dirty="0"/>
          </a:p>
        </p:txBody>
      </p:sp>
      <p:sp>
        <p:nvSpPr>
          <p:cNvPr id="45" name="Text"/>
          <p:cNvSpPr txBox="1"/>
          <p:nvPr/>
        </p:nvSpPr>
        <p:spPr>
          <a:xfrm>
            <a:off x="5179436" y="2714122"/>
            <a:ext cx="1853123" cy="167335"/>
          </a:xfrm>
          <a:prstGeom prst="rect">
            <a:avLst/>
          </a:prstGeom>
          <a:noFill/>
          <a:ln/>
        </p:spPr>
        <p:txBody>
          <a:bodyPr wrap="square" lIns="0" tIns="0" rIns="0" bIns="0" rtlCol="0" anchor="t"/>
          <a:lstStyle/>
          <a:p>
            <a:pPr algn="l" indent="0" marL="0">
              <a:lnSpc>
                <a:spcPts val="1318"/>
              </a:lnSpc>
              <a:buNone/>
            </a:pPr>
            <a:r>
              <a:rPr lang="en-US" sz="850" spc="17" kern="0" dirty="0">
                <a:solidFill>
                  <a:srgbClr val="044BD9"/>
                </a:solidFill>
                <a:latin typeface="Poppins Medium" pitchFamily="34" charset="0"/>
                <a:ea typeface="Poppins Medium" pitchFamily="34" charset="-122"/>
                <a:cs typeface="Poppins Medium" pitchFamily="34" charset="-120"/>
              </a:rPr>
              <a:t>Barrier 02</a:t>
            </a:r>
            <a:endParaRPr lang="en-US" sz="850" dirty="0"/>
          </a:p>
        </p:txBody>
      </p:sp>
      <p:sp>
        <p:nvSpPr>
          <p:cNvPr id="46" name="Text"/>
          <p:cNvSpPr txBox="1"/>
          <p:nvPr/>
        </p:nvSpPr>
        <p:spPr>
          <a:xfrm>
            <a:off x="5179436" y="2953603"/>
            <a:ext cx="1833098" cy="464790"/>
          </a:xfrm>
          <a:prstGeom prst="rect">
            <a:avLst/>
          </a:prstGeom>
          <a:noFill/>
          <a:ln/>
        </p:spPr>
        <p:txBody>
          <a:bodyPr wrap="square" lIns="0" tIns="0" rIns="0" bIns="0" rtlCol="0" anchor="t"/>
          <a:lstStyle/>
          <a:p>
            <a:pPr algn="l" indent="0" marL="0">
              <a:lnSpc>
                <a:spcPts val="1830"/>
              </a:lnSpc>
              <a:buNone/>
            </a:pPr>
            <a:r>
              <a:rPr lang="en-US" sz="1500" dirty="0">
                <a:solidFill>
                  <a:srgbClr val="000000"/>
                </a:solidFill>
                <a:latin typeface="Poppins Medium" pitchFamily="34" charset="0"/>
                <a:ea typeface="Poppins Medium" pitchFamily="34" charset="-122"/>
                <a:cs typeface="Poppins Medium" pitchFamily="34" charset="-120"/>
              </a:rPr>
              <a:t>Legacy systems</a:t>
            </a:r>
            <a:endParaRPr lang="en-US" sz="1500" dirty="0"/>
          </a:p>
          <a:p>
            <a:pPr algn="l" indent="0" marL="0">
              <a:lnSpc>
                <a:spcPts val="1830"/>
              </a:lnSpc>
              <a:buNone/>
            </a:pPr>
            <a:r>
              <a:rPr lang="en-US" sz="1500" dirty="0">
                <a:solidFill>
                  <a:srgbClr val="000000"/>
                </a:solidFill>
                <a:latin typeface="Poppins Medium" pitchFamily="34" charset="0"/>
                <a:ea typeface="Poppins Medium" pitchFamily="34" charset="-122"/>
                <a:cs typeface="Poppins Medium" pitchFamily="34" charset="-120"/>
              </a:rPr>
              <a:t>resist change</a:t>
            </a:r>
            <a:endParaRPr lang="en-US" sz="1500" dirty="0"/>
          </a:p>
        </p:txBody>
      </p:sp>
      <p:sp>
        <p:nvSpPr>
          <p:cNvPr id="47" name="Text"/>
          <p:cNvSpPr txBox="1"/>
          <p:nvPr/>
        </p:nvSpPr>
        <p:spPr>
          <a:xfrm>
            <a:off x="5179436" y="3634831"/>
            <a:ext cx="1853123" cy="167335"/>
          </a:xfrm>
          <a:prstGeom prst="rect">
            <a:avLst/>
          </a:prstGeom>
          <a:noFill/>
          <a:ln/>
        </p:spPr>
        <p:txBody>
          <a:bodyPr wrap="square" lIns="0" tIns="0" rIns="0" bIns="0" rtlCol="0" anchor="t"/>
          <a:lstStyle/>
          <a:p>
            <a:pPr algn="l" indent="0" marL="0">
              <a:lnSpc>
                <a:spcPts val="1318"/>
              </a:lnSpc>
              <a:buNone/>
            </a:pPr>
            <a:r>
              <a:rPr lang="en-US" sz="850" spc="17" kern="0" dirty="0">
                <a:solidFill>
                  <a:srgbClr val="044BD9"/>
                </a:solidFill>
                <a:latin typeface="Poppins Medium" pitchFamily="34" charset="0"/>
                <a:ea typeface="Poppins Medium" pitchFamily="34" charset="-122"/>
                <a:cs typeface="Poppins Medium" pitchFamily="34" charset="-120"/>
              </a:rPr>
              <a:t>What closes it</a:t>
            </a:r>
            <a:endParaRPr lang="en-US" sz="850" dirty="0"/>
          </a:p>
        </p:txBody>
      </p:sp>
      <p:sp>
        <p:nvSpPr>
          <p:cNvPr id="48" name="Text"/>
          <p:cNvSpPr txBox="1"/>
          <p:nvPr/>
        </p:nvSpPr>
        <p:spPr>
          <a:xfrm>
            <a:off x="5179436" y="3850538"/>
            <a:ext cx="1853123" cy="866120"/>
          </a:xfrm>
          <a:prstGeom prst="rect">
            <a:avLst/>
          </a:prstGeom>
          <a:noFill/>
          <a:ln/>
        </p:spPr>
        <p:txBody>
          <a:bodyPr wrap="square" lIns="0" tIns="0" rIns="0" bIns="0" rtlCol="0" anchor="t"/>
          <a:lstStyle/>
          <a:p>
            <a:pPr algn="l" indent="0" marL="0">
              <a:lnSpc>
                <a:spcPts val="1705"/>
              </a:lnSpc>
              <a:buNone/>
            </a:pPr>
            <a:r>
              <a:rPr lang="en-US" sz="1100" dirty="0">
                <a:solidFill>
                  <a:srgbClr val="1F2937"/>
                </a:solidFill>
                <a:latin typeface="Poppins Light" pitchFamily="34" charset="0"/>
                <a:ea typeface="Poppins Light" pitchFamily="34" charset="-122"/>
                <a:cs typeface="Poppins Light" pitchFamily="34" charset="-120"/>
              </a:rPr>
              <a:t>Replace and connect legacy systems, and build AI into ERP, CRM and third-party portals.</a:t>
            </a:r>
            <a:endParaRPr lang="en-US" sz="1100" dirty="0"/>
          </a:p>
        </p:txBody>
      </p:sp>
      <p:sp>
        <p:nvSpPr>
          <p:cNvPr id="49" name="Text"/>
          <p:cNvSpPr txBox="1"/>
          <p:nvPr/>
        </p:nvSpPr>
        <p:spPr>
          <a:xfrm>
            <a:off x="7685623" y="2714122"/>
            <a:ext cx="1853032" cy="167335"/>
          </a:xfrm>
          <a:prstGeom prst="rect">
            <a:avLst/>
          </a:prstGeom>
          <a:noFill/>
          <a:ln/>
        </p:spPr>
        <p:txBody>
          <a:bodyPr wrap="square" lIns="0" tIns="0" rIns="0" bIns="0" rtlCol="0" anchor="t"/>
          <a:lstStyle/>
          <a:p>
            <a:pPr algn="l" indent="0" marL="0">
              <a:lnSpc>
                <a:spcPts val="1318"/>
              </a:lnSpc>
              <a:buNone/>
            </a:pPr>
            <a:r>
              <a:rPr lang="en-US" sz="850" spc="17" kern="0" dirty="0">
                <a:solidFill>
                  <a:srgbClr val="044BD9"/>
                </a:solidFill>
                <a:latin typeface="Poppins Medium" pitchFamily="34" charset="0"/>
                <a:ea typeface="Poppins Medium" pitchFamily="34" charset="-122"/>
                <a:cs typeface="Poppins Medium" pitchFamily="34" charset="-120"/>
              </a:rPr>
              <a:t>Barrier 03</a:t>
            </a:r>
            <a:endParaRPr lang="en-US" sz="850" dirty="0"/>
          </a:p>
        </p:txBody>
      </p:sp>
      <p:sp>
        <p:nvSpPr>
          <p:cNvPr id="50" name="Text"/>
          <p:cNvSpPr txBox="1"/>
          <p:nvPr/>
        </p:nvSpPr>
        <p:spPr>
          <a:xfrm>
            <a:off x="7685623" y="2953603"/>
            <a:ext cx="1833006" cy="464790"/>
          </a:xfrm>
          <a:prstGeom prst="rect">
            <a:avLst/>
          </a:prstGeom>
          <a:noFill/>
          <a:ln/>
        </p:spPr>
        <p:txBody>
          <a:bodyPr wrap="square" lIns="0" tIns="0" rIns="0" bIns="0" rtlCol="0" anchor="t"/>
          <a:lstStyle/>
          <a:p>
            <a:pPr algn="l" indent="0" marL="0">
              <a:lnSpc>
                <a:spcPts val="1830"/>
              </a:lnSpc>
              <a:buNone/>
            </a:pPr>
            <a:r>
              <a:rPr lang="en-US" sz="1500" dirty="0">
                <a:solidFill>
                  <a:srgbClr val="000000"/>
                </a:solidFill>
                <a:latin typeface="Poppins Medium" pitchFamily="34" charset="0"/>
                <a:ea typeface="Poppins Medium" pitchFamily="34" charset="-122"/>
                <a:cs typeface="Poppins Medium" pitchFamily="34" charset="-120"/>
              </a:rPr>
              <a:t>Pilots stall</a:t>
            </a:r>
            <a:endParaRPr lang="en-US" sz="1500" dirty="0"/>
          </a:p>
          <a:p>
            <a:pPr algn="l" indent="0" marL="0">
              <a:lnSpc>
                <a:spcPts val="1830"/>
              </a:lnSpc>
              <a:buNone/>
            </a:pPr>
            <a:r>
              <a:rPr lang="en-US" sz="1500" dirty="0">
                <a:solidFill>
                  <a:srgbClr val="000000"/>
                </a:solidFill>
                <a:latin typeface="Poppins Medium" pitchFamily="34" charset="0"/>
                <a:ea typeface="Poppins Medium" pitchFamily="34" charset="-122"/>
                <a:cs typeface="Poppins Medium" pitchFamily="34" charset="-120"/>
              </a:rPr>
              <a:t>at integration</a:t>
            </a:r>
            <a:endParaRPr lang="en-US" sz="1500" dirty="0"/>
          </a:p>
        </p:txBody>
      </p:sp>
      <p:sp>
        <p:nvSpPr>
          <p:cNvPr id="51" name="Text"/>
          <p:cNvSpPr txBox="1"/>
          <p:nvPr/>
        </p:nvSpPr>
        <p:spPr>
          <a:xfrm>
            <a:off x="7685623" y="3634831"/>
            <a:ext cx="1853032" cy="167335"/>
          </a:xfrm>
          <a:prstGeom prst="rect">
            <a:avLst/>
          </a:prstGeom>
          <a:noFill/>
          <a:ln/>
        </p:spPr>
        <p:txBody>
          <a:bodyPr wrap="square" lIns="0" tIns="0" rIns="0" bIns="0" rtlCol="0" anchor="t"/>
          <a:lstStyle/>
          <a:p>
            <a:pPr algn="l" indent="0" marL="0">
              <a:lnSpc>
                <a:spcPts val="1318"/>
              </a:lnSpc>
              <a:buNone/>
            </a:pPr>
            <a:r>
              <a:rPr lang="en-US" sz="850" spc="17" kern="0" dirty="0">
                <a:solidFill>
                  <a:srgbClr val="044BD9"/>
                </a:solidFill>
                <a:latin typeface="Poppins Medium" pitchFamily="34" charset="0"/>
                <a:ea typeface="Poppins Medium" pitchFamily="34" charset="-122"/>
                <a:cs typeface="Poppins Medium" pitchFamily="34" charset="-120"/>
              </a:rPr>
              <a:t>What closes it</a:t>
            </a:r>
            <a:endParaRPr lang="en-US" sz="850" dirty="0"/>
          </a:p>
        </p:txBody>
      </p:sp>
      <p:sp>
        <p:nvSpPr>
          <p:cNvPr id="52" name="Text"/>
          <p:cNvSpPr txBox="1"/>
          <p:nvPr/>
        </p:nvSpPr>
        <p:spPr>
          <a:xfrm>
            <a:off x="7685623" y="3850538"/>
            <a:ext cx="1853032" cy="649590"/>
          </a:xfrm>
          <a:prstGeom prst="rect">
            <a:avLst/>
          </a:prstGeom>
          <a:noFill/>
          <a:ln/>
        </p:spPr>
        <p:txBody>
          <a:bodyPr wrap="square" lIns="0" tIns="0" rIns="0" bIns="0" rtlCol="0" anchor="t"/>
          <a:lstStyle/>
          <a:p>
            <a:pPr algn="l" indent="0" marL="0">
              <a:lnSpc>
                <a:spcPts val="1705"/>
              </a:lnSpc>
              <a:buNone/>
            </a:pPr>
            <a:r>
              <a:rPr lang="en-US" sz="1100" dirty="0">
                <a:solidFill>
                  <a:srgbClr val="1F2937"/>
                </a:solidFill>
                <a:latin typeface="Poppins Light" pitchFamily="34" charset="0"/>
                <a:ea typeface="Poppins Light" pitchFamily="34" charset="-122"/>
                <a:cs typeface="Poppins Light" pitchFamily="34" charset="-120"/>
              </a:rPr>
              <a:t>One team from business case to production, with improvement scoped in.</a:t>
            </a:r>
            <a:endParaRPr lang="en-US" sz="1100" dirty="0"/>
          </a:p>
        </p:txBody>
      </p:sp>
      <p:sp>
        <p:nvSpPr>
          <p:cNvPr id="53" name="Text"/>
          <p:cNvSpPr txBox="1"/>
          <p:nvPr/>
        </p:nvSpPr>
        <p:spPr>
          <a:xfrm>
            <a:off x="10191628" y="2714122"/>
            <a:ext cx="1122060" cy="167335"/>
          </a:xfrm>
          <a:prstGeom prst="rect">
            <a:avLst/>
          </a:prstGeom>
          <a:noFill/>
          <a:ln/>
        </p:spPr>
        <p:txBody>
          <a:bodyPr wrap="square" lIns="0" tIns="0" rIns="0" bIns="0" rtlCol="0" anchor="t"/>
          <a:lstStyle/>
          <a:p>
            <a:pPr algn="l" indent="0" marL="0">
              <a:lnSpc>
                <a:spcPts val="1318"/>
              </a:lnSpc>
              <a:buNone/>
            </a:pPr>
            <a:r>
              <a:rPr lang="en-US" sz="850" spc="17" kern="0" dirty="0">
                <a:solidFill>
                  <a:srgbClr val="CDDBF7"/>
                </a:solidFill>
                <a:latin typeface="Poppins Medium" pitchFamily="34" charset="0"/>
                <a:ea typeface="Poppins Medium" pitchFamily="34" charset="-122"/>
                <a:cs typeface="Poppins Medium" pitchFamily="34" charset="-120"/>
              </a:rPr>
              <a:t>Goal</a:t>
            </a:r>
            <a:endParaRPr lang="en-US" sz="850" dirty="0"/>
          </a:p>
        </p:txBody>
      </p:sp>
      <p:sp>
        <p:nvSpPr>
          <p:cNvPr id="54" name="Text"/>
          <p:cNvSpPr txBox="1"/>
          <p:nvPr/>
        </p:nvSpPr>
        <p:spPr>
          <a:xfrm>
            <a:off x="10191628" y="2953603"/>
            <a:ext cx="1122060" cy="232440"/>
          </a:xfrm>
          <a:prstGeom prst="rect">
            <a:avLst/>
          </a:prstGeom>
          <a:noFill/>
          <a:ln/>
        </p:spPr>
        <p:txBody>
          <a:bodyPr wrap="square" lIns="0" tIns="0" rIns="0" bIns="0" rtlCol="0" anchor="t"/>
          <a:lstStyle/>
          <a:p>
            <a:pPr algn="l" indent="0" marL="0">
              <a:lnSpc>
                <a:spcPts val="1830"/>
              </a:lnSpc>
              <a:buNone/>
            </a:pPr>
            <a:r>
              <a:rPr lang="en-US" sz="1500" dirty="0">
                <a:solidFill>
                  <a:srgbClr val="FFFFFF"/>
                </a:solidFill>
                <a:latin typeface="Poppins Medium" pitchFamily="34" charset="0"/>
                <a:ea typeface="Poppins Medium" pitchFamily="34" charset="-122"/>
                <a:cs typeface="Poppins Medium" pitchFamily="34" charset="-120"/>
              </a:rPr>
              <a:t>Production</a:t>
            </a:r>
            <a:endParaRPr lang="en-US" sz="1500" dirty="0"/>
          </a:p>
        </p:txBody>
      </p:sp>
      <p:sp>
        <p:nvSpPr>
          <p:cNvPr id="55" name="Text"/>
          <p:cNvSpPr txBox="1"/>
          <p:nvPr/>
        </p:nvSpPr>
        <p:spPr>
          <a:xfrm>
            <a:off x="10191628" y="3634831"/>
            <a:ext cx="1122060" cy="167335"/>
          </a:xfrm>
          <a:prstGeom prst="rect">
            <a:avLst/>
          </a:prstGeom>
          <a:noFill/>
          <a:ln/>
        </p:spPr>
        <p:txBody>
          <a:bodyPr wrap="square" lIns="0" tIns="0" rIns="0" bIns="0" rtlCol="0" anchor="t"/>
          <a:lstStyle/>
          <a:p>
            <a:pPr algn="l" indent="0" marL="0">
              <a:lnSpc>
                <a:spcPts val="1318"/>
              </a:lnSpc>
              <a:buNone/>
            </a:pPr>
            <a:r>
              <a:rPr lang="en-US" sz="850" spc="17" kern="0" dirty="0">
                <a:solidFill>
                  <a:srgbClr val="CDDBF7"/>
                </a:solidFill>
                <a:latin typeface="Poppins Medium" pitchFamily="34" charset="0"/>
                <a:ea typeface="Poppins Medium" pitchFamily="34" charset="-122"/>
                <a:cs typeface="Poppins Medium" pitchFamily="34" charset="-120"/>
              </a:rPr>
              <a:t>Where few are</a:t>
            </a:r>
            <a:endParaRPr lang="en-US" sz="850" dirty="0"/>
          </a:p>
        </p:txBody>
      </p:sp>
      <p:sp>
        <p:nvSpPr>
          <p:cNvPr id="56" name="Text"/>
          <p:cNvSpPr txBox="1"/>
          <p:nvPr/>
        </p:nvSpPr>
        <p:spPr>
          <a:xfrm>
            <a:off x="10191628" y="3850538"/>
            <a:ext cx="1122060" cy="866120"/>
          </a:xfrm>
          <a:prstGeom prst="rect">
            <a:avLst/>
          </a:prstGeom>
          <a:noFill/>
          <a:ln/>
        </p:spPr>
        <p:txBody>
          <a:bodyPr wrap="square" lIns="0" tIns="0" rIns="0" bIns="0" rtlCol="0" anchor="t"/>
          <a:lstStyle/>
          <a:p>
            <a:pPr algn="l" indent="0" marL="0">
              <a:lnSpc>
                <a:spcPts val="1705"/>
              </a:lnSpc>
              <a:buNone/>
            </a:pPr>
            <a:r>
              <a:rPr lang="en-US" sz="1100" dirty="0">
                <a:solidFill>
                  <a:srgbClr val="E1E9FA"/>
                </a:solidFill>
                <a:latin typeface="Poppins Light" pitchFamily="34" charset="0"/>
                <a:ea typeface="Poppins Light" pitchFamily="34" charset="-122"/>
                <a:cs typeface="Poppins Light" pitchFamily="34" charset="-120"/>
              </a:rPr>
              <a:t>AI running inside the systems that earn revenue.</a:t>
            </a:r>
            <a:endParaRPr lang="en-US" sz="1100" dirty="0"/>
          </a:p>
        </p:txBody>
      </p:sp>
      <p:sp>
        <p:nvSpPr>
          <p:cNvPr id="57" name="Text"/>
          <p:cNvSpPr txBox="1"/>
          <p:nvPr/>
        </p:nvSpPr>
        <p:spPr>
          <a:xfrm>
            <a:off x="1047720" y="5531480"/>
            <a:ext cx="490210" cy="156545"/>
          </a:xfrm>
          <a:prstGeom prst="rect">
            <a:avLst/>
          </a:prstGeom>
          <a:noFill/>
          <a:ln/>
        </p:spPr>
        <p:txBody>
          <a:bodyPr wrap="none" lIns="0" tIns="0" rIns="0" bIns="0" rtlCol="0" anchor="t"/>
          <a:lstStyle/>
          <a:p>
            <a:pPr algn="l" indent="0" marL="0">
              <a:lnSpc>
                <a:spcPts val="1232"/>
              </a:lnSpc>
              <a:buNone/>
            </a:pPr>
            <a:r>
              <a:rPr lang="en-US" sz="850" spc="34" kern="0" dirty="0">
                <a:solidFill>
                  <a:srgbClr val="FFFFFF"/>
                </a:solidFill>
                <a:latin typeface="Poppins Medium" pitchFamily="34" charset="0"/>
                <a:ea typeface="Poppins Medium" pitchFamily="34" charset="-122"/>
                <a:cs typeface="Poppins Medium" pitchFamily="34" charset="-120"/>
              </a:rPr>
              <a:t>So what</a:t>
            </a:r>
            <a:endParaRPr lang="en-US" sz="850" dirty="0"/>
          </a:p>
        </p:txBody>
      </p:sp>
      <p:sp>
        <p:nvSpPr>
          <p:cNvPr id="58" name="Text"/>
          <p:cNvSpPr txBox="1"/>
          <p:nvPr/>
        </p:nvSpPr>
        <p:spPr>
          <a:xfrm>
            <a:off x="1798350" y="5377678"/>
            <a:ext cx="9504365" cy="460400"/>
          </a:xfrm>
          <a:prstGeom prst="rect">
            <a:avLst/>
          </a:prstGeom>
          <a:noFill/>
          <a:ln/>
        </p:spPr>
        <p:txBody>
          <a:bodyPr wrap="square" lIns="0" tIns="0" rIns="0" bIns="0" rtlCol="0" anchor="t"/>
          <a:lstStyle/>
          <a:p>
            <a:pPr algn="l" indent="0" marL="0">
              <a:lnSpc>
                <a:spcPts val="1813"/>
              </a:lnSpc>
              <a:buNone/>
            </a:pPr>
            <a:r>
              <a:rPr lang="en-US" sz="1250" dirty="0">
                <a:solidFill>
                  <a:srgbClr val="FFFFFF"/>
                </a:solidFill>
                <a:latin typeface="Poppins Medium" pitchFamily="34" charset="0"/>
                <a:ea typeface="Poppins Medium" pitchFamily="34" charset="-122"/>
                <a:cs typeface="Poppins Medium" pitchFamily="34" charset="-120"/>
              </a:rPr>
              <a:t>ALPHV was founded in 2023 to close that gap.</a:t>
            </a:r>
            <a:pPr algn="l" indent="0" marL="0">
              <a:lnSpc>
                <a:spcPts val="1813"/>
              </a:lnSpc>
              <a:buNone/>
            </a:pPr>
            <a:r>
              <a:rPr lang="en-US" sz="1250" dirty="0">
                <a:solidFill>
                  <a:srgbClr val="FFFFFF"/>
                </a:solidFill>
                <a:latin typeface="Poppins" pitchFamily="34" charset="0"/>
                <a:ea typeface="Poppins" pitchFamily="34" charset="-122"/>
                <a:cs typeface="Poppins" pitchFamily="34" charset="-120"/>
              </a:rPr>
              <a:t> We embed AI into the core systems you already run, then stay to improve it after go-live.</a:t>
            </a:r>
            <a:endParaRPr lang="en-US" sz="1250" dirty="0"/>
          </a:p>
        </p:txBody>
      </p:sp>
      <p:sp>
        <p:nvSpPr>
          <p:cNvPr id="59" name="Text"/>
          <p:cNvSpPr txBox="1"/>
          <p:nvPr/>
        </p:nvSpPr>
        <p:spPr>
          <a:xfrm>
            <a:off x="6287140" y="276240"/>
            <a:ext cx="708477"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044BD9"/>
                </a:solidFill>
                <a:latin typeface="Poppins Medium" pitchFamily="34" charset="0"/>
                <a:ea typeface="Poppins Medium" pitchFamily="34" charset="-122"/>
                <a:cs typeface="Poppins Medium" pitchFamily="34" charset="-120"/>
              </a:rPr>
              <a:t>Point of view</a:t>
            </a:r>
            <a:endParaRPr lang="en-US" sz="850" dirty="0"/>
          </a:p>
        </p:txBody>
      </p:sp>
      <p:sp>
        <p:nvSpPr>
          <p:cNvPr id="60" name="Text"/>
          <p:cNvSpPr txBox="1"/>
          <p:nvPr/>
        </p:nvSpPr>
        <p:spPr>
          <a:xfrm>
            <a:off x="7240494" y="276240"/>
            <a:ext cx="665958"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Who we are</a:t>
            </a:r>
            <a:endParaRPr lang="en-US" sz="850" dirty="0"/>
          </a:p>
        </p:txBody>
      </p:sp>
      <p:sp>
        <p:nvSpPr>
          <p:cNvPr id="61" name="Text"/>
          <p:cNvSpPr txBox="1"/>
          <p:nvPr/>
        </p:nvSpPr>
        <p:spPr>
          <a:xfrm>
            <a:off x="8151510" y="276240"/>
            <a:ext cx="671261"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What we do</a:t>
            </a:r>
            <a:endParaRPr lang="en-US" sz="850" dirty="0"/>
          </a:p>
        </p:txBody>
      </p:sp>
      <p:sp>
        <p:nvSpPr>
          <p:cNvPr id="62" name="Text"/>
          <p:cNvSpPr txBox="1"/>
          <p:nvPr/>
        </p:nvSpPr>
        <p:spPr>
          <a:xfrm>
            <a:off x="9067830" y="276240"/>
            <a:ext cx="1205728"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Sectors and products</a:t>
            </a:r>
            <a:endParaRPr lang="en-US" sz="850" dirty="0"/>
          </a:p>
        </p:txBody>
      </p:sp>
      <p:sp>
        <p:nvSpPr>
          <p:cNvPr id="63" name="Text"/>
          <p:cNvSpPr txBox="1"/>
          <p:nvPr/>
        </p:nvSpPr>
        <p:spPr>
          <a:xfrm>
            <a:off x="10516423" y="276240"/>
            <a:ext cx="298552"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Proof</a:t>
            </a:r>
            <a:endParaRPr lang="en-US" sz="850" dirty="0"/>
          </a:p>
        </p:txBody>
      </p:sp>
      <p:sp>
        <p:nvSpPr>
          <p:cNvPr id="64" name="Text"/>
          <p:cNvSpPr txBox="1"/>
          <p:nvPr/>
        </p:nvSpPr>
        <p:spPr>
          <a:xfrm>
            <a:off x="11061497" y="276240"/>
            <a:ext cx="433700"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Engage</a:t>
            </a:r>
            <a:endParaRPr lang="en-US" sz="850" dirty="0"/>
          </a:p>
        </p:txBody>
      </p:sp>
      <p:sp>
        <p:nvSpPr>
          <p:cNvPr id="65" name="Source"/>
          <p:cNvSpPr txBox="1"/>
          <p:nvPr/>
        </p:nvSpPr>
        <p:spPr>
          <a:xfrm>
            <a:off x="711220" y="6409030"/>
            <a:ext cx="8300740" cy="151150"/>
          </a:xfrm>
          <a:prstGeom prst="rect">
            <a:avLst/>
          </a:prstGeom>
          <a:noFill/>
          <a:ln/>
        </p:spPr>
        <p:txBody>
          <a:bodyPr wrap="square" lIns="0" tIns="0" rIns="0" bIns="0" rtlCol="0" anchor="t"/>
          <a:lstStyle/>
          <a:p>
            <a:pPr algn="l" indent="0" marL="0">
              <a:lnSpc>
                <a:spcPts val="1190"/>
              </a:lnSpc>
              <a:buNone/>
            </a:pPr>
            <a:r>
              <a:rPr lang="en-US" sz="850" dirty="0">
                <a:solidFill>
                  <a:srgbClr val="6B6B6B"/>
                </a:solidFill>
                <a:latin typeface="Poppins" pitchFamily="34" charset="0"/>
                <a:ea typeface="Poppins" pitchFamily="34" charset="-122"/>
                <a:cs typeface="Poppins" pitchFamily="34" charset="-120"/>
              </a:rPr>
              <a:t>Source: alphv.com; alphv.com/about; alphv.com/how-we-work; alphv.com/services (October 2026).</a:t>
            </a:r>
            <a:endParaRPr lang="en-US" sz="850" dirty="0"/>
          </a:p>
        </p:txBody>
      </p:sp>
      <p:sp>
        <p:nvSpPr>
          <p:cNvPr id="66" name="Text"/>
          <p:cNvSpPr txBox="1"/>
          <p:nvPr/>
        </p:nvSpPr>
        <p:spPr>
          <a:xfrm>
            <a:off x="9343156" y="6409030"/>
            <a:ext cx="393741" cy="151150"/>
          </a:xfrm>
          <a:prstGeom prst="rect">
            <a:avLst/>
          </a:prstGeom>
          <a:noFill/>
          <a:ln/>
        </p:spPr>
        <p:txBody>
          <a:bodyPr wrap="none" lIns="0" tIns="0" rIns="0" bIns="0" rtlCol="0" anchor="t"/>
          <a:lstStyle/>
          <a:p>
            <a:pPr algn="l" indent="0" marL="0">
              <a:lnSpc>
                <a:spcPts val="1190"/>
              </a:lnSpc>
              <a:buNone/>
            </a:pPr>
            <a:r>
              <a:rPr lang="en-US" sz="850" spc="34" kern="0" dirty="0">
                <a:solidFill>
                  <a:srgbClr val="000000"/>
                </a:solidFill>
                <a:latin typeface="Poppins SemiBold" pitchFamily="34" charset="0"/>
                <a:ea typeface="Poppins SemiBold" pitchFamily="34" charset="-122"/>
                <a:cs typeface="Poppins SemiBold" pitchFamily="34" charset="-120"/>
              </a:rPr>
              <a:t>ALPHV</a:t>
            </a:r>
            <a:endParaRPr lang="en-US" sz="850" dirty="0"/>
          </a:p>
        </p:txBody>
      </p:sp>
      <p:sp>
        <p:nvSpPr>
          <p:cNvPr id="67" name="Text"/>
          <p:cNvSpPr txBox="1"/>
          <p:nvPr/>
        </p:nvSpPr>
        <p:spPr>
          <a:xfrm>
            <a:off x="9851106" y="6409030"/>
            <a:ext cx="1377178" cy="151150"/>
          </a:xfrm>
          <a:prstGeom prst="rect">
            <a:avLst/>
          </a:prstGeom>
          <a:noFill/>
          <a:ln/>
        </p:spPr>
        <p:txBody>
          <a:bodyPr wrap="none" lIns="0" tIns="0" rIns="0" bIns="0" rtlCol="0" anchor="t"/>
          <a:lstStyle/>
          <a:p>
            <a:pPr algn="l" indent="0" marL="0">
              <a:lnSpc>
                <a:spcPts val="1190"/>
              </a:lnSpc>
              <a:buNone/>
            </a:pPr>
            <a:r>
              <a:rPr lang="en-US" sz="850" dirty="0">
                <a:solidFill>
                  <a:srgbClr val="6B6B6B"/>
                </a:solidFill>
                <a:latin typeface="Poppins" pitchFamily="34" charset="0"/>
                <a:ea typeface="Poppins" pitchFamily="34" charset="-122"/>
                <a:cs typeface="Poppins" pitchFamily="34" charset="-120"/>
              </a:rPr>
              <a:t>Corporate overview 2026</a:t>
            </a:r>
            <a:endParaRPr lang="en-US" sz="850" dirty="0"/>
          </a:p>
        </p:txBody>
      </p:sp>
      <p:sp>
        <p:nvSpPr>
          <p:cNvPr id="68" name="Text"/>
          <p:cNvSpPr txBox="1"/>
          <p:nvPr/>
        </p:nvSpPr>
        <p:spPr>
          <a:xfrm>
            <a:off x="11342583" y="6409030"/>
            <a:ext cx="163586" cy="151150"/>
          </a:xfrm>
          <a:prstGeom prst="rect">
            <a:avLst/>
          </a:prstGeom>
          <a:noFill/>
          <a:ln/>
        </p:spPr>
        <p:txBody>
          <a:bodyPr wrap="none" lIns="0" tIns="0" rIns="0" bIns="0" rtlCol="0" anchor="t"/>
          <a:lstStyle/>
          <a:p>
            <a:pPr algn="l" indent="0" marL="0">
              <a:lnSpc>
                <a:spcPts val="1190"/>
              </a:lnSpc>
              <a:buNone/>
            </a:pPr>
            <a:r>
              <a:rPr lang="en-US" sz="850" dirty="0">
                <a:solidFill>
                  <a:srgbClr val="000000"/>
                </a:solidFill>
                <a:latin typeface="Poppins Medium" pitchFamily="34" charset="0"/>
                <a:ea typeface="Poppins Medium" pitchFamily="34" charset="-122"/>
                <a:cs typeface="Poppins Medium" pitchFamily="34" charset="-120"/>
              </a:rPr>
              <a:t>05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9FA"/>
        </a:solidFill>
      </p:bgPr>
    </p:bg>
    <p:spTree>
      <p:nvGrpSpPr>
        <p:cNvPr id="1" name=""/>
        <p:cNvGrpSpPr/>
        <p:nvPr/>
      </p:nvGrpSpPr>
      <p:grpSpPr>
        <a:xfrm>
          <a:off x="0" y="0"/>
          <a:ext cx="0" cy="0"/>
          <a:chOff x="0" y="0"/>
          <a:chExt cx="0" cy="0"/>
        </a:xfrm>
      </p:grpSpPr>
      <p:sp>
        <p:nvSpPr>
          <p:cNvPr id="2" name="badge"/>
          <p:cNvSpPr/>
          <p:nvPr/>
        </p:nvSpPr>
        <p:spPr>
          <a:xfrm>
            <a:off x="714421" y="536570"/>
            <a:ext cx="1279063" cy="254020"/>
          </a:xfrm>
          <a:prstGeom prst="roundRect">
            <a:avLst>
              <a:gd name="adj" fmla="val 50000"/>
            </a:avLst>
          </a:prstGeom>
          <a:ln w="6350">
            <a:solidFill>
              <a:srgbClr val="155DFC"/>
            </a:solidFill>
            <a:prstDash val="solid"/>
          </a:ln>
        </p:spPr>
      </p:sp>
      <p:sp>
        <p:nvSpPr>
          <p:cNvPr id="3" name="card"/>
          <p:cNvSpPr/>
          <p:nvPr/>
        </p:nvSpPr>
        <p:spPr>
          <a:xfrm>
            <a:off x="714421" y="2077060"/>
            <a:ext cx="2571750" cy="3939601"/>
          </a:xfrm>
          <a:prstGeom prst="roundRect">
            <a:avLst>
              <a:gd name="adj" fmla="val 5803"/>
            </a:avLst>
          </a:prstGeom>
          <a:solidFill>
            <a:srgbClr val="FFFFFF"/>
          </a:solidFill>
          <a:ln w="6350">
            <a:solidFill>
              <a:srgbClr val="F0F0F0"/>
            </a:solidFill>
            <a:prstDash val="solid"/>
          </a:ln>
        </p:spPr>
      </p:sp>
      <p:sp>
        <p:nvSpPr>
          <p:cNvPr id="4" name="tile"/>
          <p:cNvSpPr/>
          <p:nvPr/>
        </p:nvSpPr>
        <p:spPr>
          <a:xfrm>
            <a:off x="946130" y="2308860"/>
            <a:ext cx="381030" cy="381030"/>
          </a:xfrm>
          <a:prstGeom prst="roundRect">
            <a:avLst>
              <a:gd name="adj" fmla="val 29998"/>
            </a:avLst>
          </a:prstGeom>
          <a:solidFill>
            <a:srgbClr val="044BD9"/>
          </a:solidFill>
          <a:ln/>
        </p:spPr>
      </p:sp>
      <p:pic>
        <p:nvPicPr>
          <p:cNvPr id="5" name="Icon" descr="/tmp/deck-pptx-47cOtg/icon-11.png">    </p:cNvPr>
          <p:cNvPicPr>
            <a:picLocks noChangeAspect="1"/>
          </p:cNvPicPr>
          <p:nvPr/>
        </p:nvPicPr>
        <p:blipFill>
          <a:blip r:embed="rId1"/>
          <a:stretch>
            <a:fillRect/>
          </a:stretch>
        </p:blipFill>
        <p:spPr>
          <a:xfrm>
            <a:off x="1047720" y="2410450"/>
            <a:ext cx="177759" cy="177759"/>
          </a:xfrm>
          <a:prstGeom prst="rect">
            <a:avLst/>
          </a:prstGeom>
        </p:spPr>
      </p:pic>
      <p:sp>
        <p:nvSpPr>
          <p:cNvPr id="6" name="Rule"/>
          <p:cNvSpPr/>
          <p:nvPr/>
        </p:nvSpPr>
        <p:spPr>
          <a:xfrm>
            <a:off x="946130" y="5113508"/>
            <a:ext cx="2108241" cy="0"/>
          </a:xfrm>
          <a:prstGeom prst="line">
            <a:avLst/>
          </a:prstGeom>
          <a:noFill/>
          <a:ln w="6350">
            <a:solidFill>
              <a:srgbClr val="F0F0F0"/>
            </a:solidFill>
            <a:prstDash val="solid"/>
          </a:ln>
        </p:spPr>
      </p:sp>
      <p:sp>
        <p:nvSpPr>
          <p:cNvPr id="7" name="card"/>
          <p:cNvSpPr/>
          <p:nvPr/>
        </p:nvSpPr>
        <p:spPr>
          <a:xfrm>
            <a:off x="3444911" y="2077060"/>
            <a:ext cx="2571750" cy="3939601"/>
          </a:xfrm>
          <a:prstGeom prst="roundRect">
            <a:avLst>
              <a:gd name="adj" fmla="val 5803"/>
            </a:avLst>
          </a:prstGeom>
          <a:solidFill>
            <a:srgbClr val="FFFFFF"/>
          </a:solidFill>
          <a:ln w="6350">
            <a:solidFill>
              <a:srgbClr val="F0F0F0"/>
            </a:solidFill>
            <a:prstDash val="solid"/>
          </a:ln>
        </p:spPr>
      </p:sp>
      <p:sp>
        <p:nvSpPr>
          <p:cNvPr id="8" name="tile"/>
          <p:cNvSpPr/>
          <p:nvPr/>
        </p:nvSpPr>
        <p:spPr>
          <a:xfrm>
            <a:off x="3676620" y="2308860"/>
            <a:ext cx="381030" cy="381030"/>
          </a:xfrm>
          <a:prstGeom prst="roundRect">
            <a:avLst>
              <a:gd name="adj" fmla="val 29998"/>
            </a:avLst>
          </a:prstGeom>
          <a:solidFill>
            <a:srgbClr val="044BD9"/>
          </a:solidFill>
          <a:ln/>
        </p:spPr>
      </p:sp>
      <p:pic>
        <p:nvPicPr>
          <p:cNvPr id="9" name="Icon" descr="/tmp/deck-pptx-47cOtg/icon-12.png">    </p:cNvPr>
          <p:cNvPicPr>
            <a:picLocks noChangeAspect="1"/>
          </p:cNvPicPr>
          <p:nvPr/>
        </p:nvPicPr>
        <p:blipFill>
          <a:blip r:embed="rId2"/>
          <a:stretch>
            <a:fillRect/>
          </a:stretch>
        </p:blipFill>
        <p:spPr>
          <a:xfrm>
            <a:off x="3778209" y="2410450"/>
            <a:ext cx="177759" cy="177759"/>
          </a:xfrm>
          <a:prstGeom prst="rect">
            <a:avLst/>
          </a:prstGeom>
        </p:spPr>
      </p:pic>
      <p:sp>
        <p:nvSpPr>
          <p:cNvPr id="10" name="Rule"/>
          <p:cNvSpPr/>
          <p:nvPr/>
        </p:nvSpPr>
        <p:spPr>
          <a:xfrm>
            <a:off x="3676620" y="5300502"/>
            <a:ext cx="2108241" cy="0"/>
          </a:xfrm>
          <a:prstGeom prst="line">
            <a:avLst/>
          </a:prstGeom>
          <a:noFill/>
          <a:ln w="6350">
            <a:solidFill>
              <a:srgbClr val="F0F0F0"/>
            </a:solidFill>
            <a:prstDash val="solid"/>
          </a:ln>
        </p:spPr>
      </p:sp>
      <p:sp>
        <p:nvSpPr>
          <p:cNvPr id="11" name="card"/>
          <p:cNvSpPr/>
          <p:nvPr/>
        </p:nvSpPr>
        <p:spPr>
          <a:xfrm>
            <a:off x="6175400" y="2077060"/>
            <a:ext cx="2571750" cy="3939601"/>
          </a:xfrm>
          <a:prstGeom prst="roundRect">
            <a:avLst>
              <a:gd name="adj" fmla="val 5803"/>
            </a:avLst>
          </a:prstGeom>
          <a:solidFill>
            <a:srgbClr val="FFFFFF"/>
          </a:solidFill>
          <a:ln w="6350">
            <a:solidFill>
              <a:srgbClr val="F0F0F0"/>
            </a:solidFill>
            <a:prstDash val="solid"/>
          </a:ln>
        </p:spPr>
      </p:sp>
      <p:sp>
        <p:nvSpPr>
          <p:cNvPr id="12" name="tile"/>
          <p:cNvSpPr/>
          <p:nvPr/>
        </p:nvSpPr>
        <p:spPr>
          <a:xfrm>
            <a:off x="6407109" y="2308860"/>
            <a:ext cx="381030" cy="381030"/>
          </a:xfrm>
          <a:prstGeom prst="roundRect">
            <a:avLst>
              <a:gd name="adj" fmla="val 29998"/>
            </a:avLst>
          </a:prstGeom>
          <a:solidFill>
            <a:srgbClr val="044BD9"/>
          </a:solidFill>
          <a:ln/>
        </p:spPr>
      </p:sp>
      <p:pic>
        <p:nvPicPr>
          <p:cNvPr id="13" name="Icon" descr="/tmp/deck-pptx-47cOtg/icon-13.png">    </p:cNvPr>
          <p:cNvPicPr>
            <a:picLocks noChangeAspect="1"/>
          </p:cNvPicPr>
          <p:nvPr/>
        </p:nvPicPr>
        <p:blipFill>
          <a:blip r:embed="rId3"/>
          <a:stretch>
            <a:fillRect/>
          </a:stretch>
        </p:blipFill>
        <p:spPr>
          <a:xfrm>
            <a:off x="6508791" y="2410450"/>
            <a:ext cx="177759" cy="177759"/>
          </a:xfrm>
          <a:prstGeom prst="rect">
            <a:avLst/>
          </a:prstGeom>
        </p:spPr>
      </p:pic>
      <p:sp>
        <p:nvSpPr>
          <p:cNvPr id="14" name="Rule"/>
          <p:cNvSpPr/>
          <p:nvPr/>
        </p:nvSpPr>
        <p:spPr>
          <a:xfrm>
            <a:off x="6407109" y="5113508"/>
            <a:ext cx="2108241" cy="0"/>
          </a:xfrm>
          <a:prstGeom prst="line">
            <a:avLst/>
          </a:prstGeom>
          <a:noFill/>
          <a:ln w="6350">
            <a:solidFill>
              <a:srgbClr val="F0F0F0"/>
            </a:solidFill>
            <a:prstDash val="solid"/>
          </a:ln>
        </p:spPr>
      </p:sp>
      <p:sp>
        <p:nvSpPr>
          <p:cNvPr id="15" name="card"/>
          <p:cNvSpPr/>
          <p:nvPr/>
        </p:nvSpPr>
        <p:spPr>
          <a:xfrm>
            <a:off x="8905890" y="2077060"/>
            <a:ext cx="2571750" cy="3939601"/>
          </a:xfrm>
          <a:prstGeom prst="roundRect">
            <a:avLst>
              <a:gd name="adj" fmla="val 5803"/>
            </a:avLst>
          </a:prstGeom>
          <a:solidFill>
            <a:srgbClr val="FFFFFF"/>
          </a:solidFill>
          <a:ln w="6350">
            <a:solidFill>
              <a:srgbClr val="F0F0F0"/>
            </a:solidFill>
            <a:prstDash val="solid"/>
          </a:ln>
        </p:spPr>
      </p:sp>
      <p:sp>
        <p:nvSpPr>
          <p:cNvPr id="16" name="tile"/>
          <p:cNvSpPr/>
          <p:nvPr/>
        </p:nvSpPr>
        <p:spPr>
          <a:xfrm>
            <a:off x="9137691" y="2308860"/>
            <a:ext cx="381030" cy="381030"/>
          </a:xfrm>
          <a:prstGeom prst="roundRect">
            <a:avLst>
              <a:gd name="adj" fmla="val 29998"/>
            </a:avLst>
          </a:prstGeom>
          <a:solidFill>
            <a:srgbClr val="044BD9"/>
          </a:solidFill>
          <a:ln/>
        </p:spPr>
      </p:sp>
      <p:pic>
        <p:nvPicPr>
          <p:cNvPr id="17" name="Icon" descr="/tmp/deck-pptx-47cOtg/icon-14.png">    </p:cNvPr>
          <p:cNvPicPr>
            <a:picLocks noChangeAspect="1"/>
          </p:cNvPicPr>
          <p:nvPr/>
        </p:nvPicPr>
        <p:blipFill>
          <a:blip r:embed="rId4"/>
          <a:stretch>
            <a:fillRect/>
          </a:stretch>
        </p:blipFill>
        <p:spPr>
          <a:xfrm>
            <a:off x="9239280" y="2410450"/>
            <a:ext cx="177759" cy="177759"/>
          </a:xfrm>
          <a:prstGeom prst="rect">
            <a:avLst/>
          </a:prstGeom>
        </p:spPr>
      </p:pic>
      <p:sp>
        <p:nvSpPr>
          <p:cNvPr id="18" name="Rule"/>
          <p:cNvSpPr/>
          <p:nvPr/>
        </p:nvSpPr>
        <p:spPr>
          <a:xfrm>
            <a:off x="9137691" y="5113508"/>
            <a:ext cx="2108241" cy="0"/>
          </a:xfrm>
          <a:prstGeom prst="line">
            <a:avLst/>
          </a:prstGeom>
          <a:noFill/>
          <a:ln w="6350">
            <a:solidFill>
              <a:srgbClr val="F0F0F0"/>
            </a:solidFill>
            <a:prstDash val="solid"/>
          </a:ln>
        </p:spPr>
      </p:sp>
      <p:sp>
        <p:nvSpPr>
          <p:cNvPr id="19" name="on::before"/>
          <p:cNvSpPr/>
          <p:nvPr/>
        </p:nvSpPr>
        <p:spPr>
          <a:xfrm>
            <a:off x="6191860" y="311170"/>
            <a:ext cx="44440" cy="44440"/>
          </a:xfrm>
          <a:prstGeom prst="rect">
            <a:avLst/>
          </a:prstGeom>
          <a:solidFill>
            <a:srgbClr val="044BD9"/>
          </a:solidFill>
          <a:ln/>
        </p:spPr>
      </p:sp>
      <p:sp>
        <p:nvSpPr>
          <p:cNvPr id="20" name="span::before"/>
          <p:cNvSpPr/>
          <p:nvPr/>
        </p:nvSpPr>
        <p:spPr>
          <a:xfrm>
            <a:off x="7145213" y="311170"/>
            <a:ext cx="44440" cy="44440"/>
          </a:xfrm>
          <a:prstGeom prst="rect">
            <a:avLst/>
          </a:prstGeom>
          <a:solidFill>
            <a:srgbClr val="A0A6AF">
              <a:alpha val="55000"/>
            </a:srgbClr>
          </a:solidFill>
          <a:ln/>
        </p:spPr>
      </p:sp>
      <p:sp>
        <p:nvSpPr>
          <p:cNvPr id="21" name="span::before"/>
          <p:cNvSpPr/>
          <p:nvPr/>
        </p:nvSpPr>
        <p:spPr>
          <a:xfrm>
            <a:off x="8056230" y="311170"/>
            <a:ext cx="44440" cy="44440"/>
          </a:xfrm>
          <a:prstGeom prst="rect">
            <a:avLst/>
          </a:prstGeom>
          <a:solidFill>
            <a:srgbClr val="A0A6AF">
              <a:alpha val="55000"/>
            </a:srgbClr>
          </a:solidFill>
          <a:ln/>
        </p:spPr>
      </p:sp>
      <p:sp>
        <p:nvSpPr>
          <p:cNvPr id="22" name="span::before"/>
          <p:cNvSpPr/>
          <p:nvPr/>
        </p:nvSpPr>
        <p:spPr>
          <a:xfrm>
            <a:off x="8972550" y="311170"/>
            <a:ext cx="44440" cy="44440"/>
          </a:xfrm>
          <a:prstGeom prst="rect">
            <a:avLst/>
          </a:prstGeom>
          <a:solidFill>
            <a:srgbClr val="A0A6AF">
              <a:alpha val="55000"/>
            </a:srgbClr>
          </a:solidFill>
          <a:ln/>
        </p:spPr>
      </p:sp>
      <p:sp>
        <p:nvSpPr>
          <p:cNvPr id="23" name="span::before"/>
          <p:cNvSpPr/>
          <p:nvPr/>
        </p:nvSpPr>
        <p:spPr>
          <a:xfrm>
            <a:off x="10421142" y="311170"/>
            <a:ext cx="44440" cy="44440"/>
          </a:xfrm>
          <a:prstGeom prst="rect">
            <a:avLst/>
          </a:prstGeom>
          <a:solidFill>
            <a:srgbClr val="A0A6AF">
              <a:alpha val="55000"/>
            </a:srgbClr>
          </a:solidFill>
          <a:ln/>
        </p:spPr>
      </p:sp>
      <p:sp>
        <p:nvSpPr>
          <p:cNvPr id="24" name="span::before"/>
          <p:cNvSpPr/>
          <p:nvPr/>
        </p:nvSpPr>
        <p:spPr>
          <a:xfrm>
            <a:off x="10966216" y="311170"/>
            <a:ext cx="44440" cy="44440"/>
          </a:xfrm>
          <a:prstGeom prst="rect">
            <a:avLst/>
          </a:prstGeom>
          <a:solidFill>
            <a:srgbClr val="A0A6AF">
              <a:alpha val="55000"/>
            </a:srgbClr>
          </a:solidFill>
          <a:ln/>
        </p:spPr>
      </p:sp>
      <p:sp>
        <p:nvSpPr>
          <p:cNvPr id="25" name="Text"/>
          <p:cNvSpPr txBox="1"/>
          <p:nvPr/>
        </p:nvSpPr>
        <p:spPr>
          <a:xfrm>
            <a:off x="844540" y="603230"/>
            <a:ext cx="1044062" cy="120609"/>
          </a:xfrm>
          <a:prstGeom prst="rect">
            <a:avLst/>
          </a:prstGeom>
          <a:noFill/>
          <a:ln/>
        </p:spPr>
        <p:txBody>
          <a:bodyPr wrap="none" lIns="0" tIns="0" rIns="0" bIns="0" rtlCol="0" anchor="t"/>
          <a:lstStyle/>
          <a:p>
            <a:pPr algn="l" indent="0" marL="0">
              <a:lnSpc>
                <a:spcPts val="950"/>
              </a:lnSpc>
              <a:buNone/>
            </a:pPr>
            <a:r>
              <a:rPr lang="en-US" sz="950" spc="10" kern="0" dirty="0">
                <a:solidFill>
                  <a:srgbClr val="155DFC"/>
                </a:solidFill>
                <a:latin typeface="Poppins Medium" pitchFamily="34" charset="0"/>
                <a:ea typeface="Poppins Medium" pitchFamily="34" charset="-122"/>
                <a:cs typeface="Poppins Medium" pitchFamily="34" charset="-120"/>
              </a:rPr>
              <a:t>What we believe</a:t>
            </a:r>
            <a:endParaRPr lang="en-US" sz="950" dirty="0"/>
          </a:p>
        </p:txBody>
      </p:sp>
      <p:sp>
        <p:nvSpPr>
          <p:cNvPr id="26" name="Title"/>
          <p:cNvSpPr txBox="1"/>
          <p:nvPr/>
        </p:nvSpPr>
        <p:spPr>
          <a:xfrm>
            <a:off x="711220" y="927750"/>
            <a:ext cx="6730990" cy="861090"/>
          </a:xfrm>
          <a:prstGeom prst="rect">
            <a:avLst/>
          </a:prstGeom>
          <a:noFill/>
          <a:ln/>
        </p:spPr>
        <p:txBody>
          <a:bodyPr wrap="square" lIns="0" tIns="0" rIns="0" bIns="0" rtlCol="0" anchor="t"/>
          <a:lstStyle/>
          <a:p>
            <a:pPr algn="l" indent="0" marL="0">
              <a:lnSpc>
                <a:spcPts val="3390"/>
              </a:lnSpc>
              <a:buNone/>
            </a:pPr>
            <a:r>
              <a:rPr lang="en-US" sz="3000" spc="-45" kern="0" dirty="0">
                <a:solidFill>
                  <a:srgbClr val="000000"/>
                </a:solidFill>
                <a:latin typeface="Poppins Medium" pitchFamily="34" charset="0"/>
                <a:ea typeface="Poppins Medium" pitchFamily="34" charset="-122"/>
                <a:cs typeface="Poppins Medium" pitchFamily="34" charset="-120"/>
              </a:rPr>
              <a:t>Four principles shape how we</a:t>
            </a:r>
            <a:endParaRPr lang="en-US" sz="3000" dirty="0"/>
          </a:p>
          <a:p>
            <a:pPr algn="l" indent="0" marL="0">
              <a:lnSpc>
                <a:spcPts val="3390"/>
              </a:lnSpc>
              <a:buNone/>
            </a:pPr>
            <a:r>
              <a:rPr lang="en-US" sz="3000" spc="-45" kern="0" dirty="0">
                <a:solidFill>
                  <a:srgbClr val="000000"/>
                </a:solidFill>
                <a:latin typeface="Poppins Medium" pitchFamily="34" charset="0"/>
                <a:ea typeface="Poppins Medium" pitchFamily="34" charset="-122"/>
                <a:cs typeface="Poppins Medium" pitchFamily="34" charset="-120"/>
              </a:rPr>
              <a:t>scope, build and run every system</a:t>
            </a:r>
            <a:endParaRPr lang="en-US" sz="3000" dirty="0"/>
          </a:p>
        </p:txBody>
      </p:sp>
      <p:sp>
        <p:nvSpPr>
          <p:cNvPr id="27" name="Text"/>
          <p:cNvSpPr txBox="1"/>
          <p:nvPr/>
        </p:nvSpPr>
        <p:spPr>
          <a:xfrm>
            <a:off x="8178759" y="1141537"/>
            <a:ext cx="3327867" cy="649590"/>
          </a:xfrm>
          <a:prstGeom prst="rect">
            <a:avLst/>
          </a:prstGeom>
          <a:noFill/>
          <a:ln/>
        </p:spPr>
        <p:txBody>
          <a:bodyPr wrap="square" lIns="0" tIns="0" rIns="0" bIns="0" rtlCol="0" anchor="t"/>
          <a:lstStyle/>
          <a:p>
            <a:pPr algn="l" indent="0" marL="0">
              <a:lnSpc>
                <a:spcPts val="1705"/>
              </a:lnSpc>
              <a:buNone/>
            </a:pPr>
            <a:r>
              <a:rPr lang="en-US" sz="1100" dirty="0">
                <a:solidFill>
                  <a:srgbClr val="6B6B6B"/>
                </a:solidFill>
                <a:latin typeface="Poppins Light" pitchFamily="34" charset="0"/>
                <a:ea typeface="Poppins Light" pitchFamily="34" charset="-122"/>
                <a:cs typeface="Poppins Light" pitchFamily="34" charset="-120"/>
              </a:rPr>
              <a:t>From a first model to a legacy system replacement, the same four principles apply to every engagement.</a:t>
            </a:r>
            <a:endParaRPr lang="en-US" sz="1100" dirty="0"/>
          </a:p>
        </p:txBody>
      </p:sp>
      <p:sp>
        <p:nvSpPr>
          <p:cNvPr id="28" name="Text"/>
          <p:cNvSpPr txBox="1"/>
          <p:nvPr/>
        </p:nvSpPr>
        <p:spPr>
          <a:xfrm>
            <a:off x="946130" y="2786360"/>
            <a:ext cx="2108241" cy="464790"/>
          </a:xfrm>
          <a:prstGeom prst="rect">
            <a:avLst/>
          </a:prstGeom>
          <a:noFill/>
          <a:ln/>
        </p:spPr>
        <p:txBody>
          <a:bodyPr wrap="square" lIns="0" tIns="0" rIns="0" bIns="0" rtlCol="0" anchor="t"/>
          <a:lstStyle/>
          <a:p>
            <a:pPr algn="l" indent="0" marL="0">
              <a:lnSpc>
                <a:spcPts val="1830"/>
              </a:lnSpc>
              <a:buNone/>
            </a:pPr>
            <a:r>
              <a:rPr lang="en-US" sz="1500" dirty="0">
                <a:solidFill>
                  <a:srgbClr val="000000"/>
                </a:solidFill>
                <a:latin typeface="Poppins Medium" pitchFamily="34" charset="0"/>
                <a:ea typeface="Poppins Medium" pitchFamily="34" charset="-122"/>
                <a:cs typeface="Poppins Medium" pitchFamily="34" charset="-120"/>
              </a:rPr>
              <a:t>Start from the</a:t>
            </a:r>
            <a:endParaRPr lang="en-US" sz="1500" dirty="0"/>
          </a:p>
          <a:p>
            <a:pPr algn="l" indent="0" marL="0">
              <a:lnSpc>
                <a:spcPts val="1830"/>
              </a:lnSpc>
              <a:buNone/>
            </a:pPr>
            <a:r>
              <a:rPr lang="en-US" sz="1500" dirty="0">
                <a:solidFill>
                  <a:srgbClr val="000000"/>
                </a:solidFill>
                <a:latin typeface="Poppins Medium" pitchFamily="34" charset="0"/>
                <a:ea typeface="Poppins Medium" pitchFamily="34" charset="-122"/>
                <a:cs typeface="Poppins Medium" pitchFamily="34" charset="-120"/>
              </a:rPr>
              <a:t>business case</a:t>
            </a:r>
            <a:endParaRPr lang="en-US" sz="1500" dirty="0"/>
          </a:p>
        </p:txBody>
      </p:sp>
      <p:sp>
        <p:nvSpPr>
          <p:cNvPr id="29" name="Text"/>
          <p:cNvSpPr txBox="1"/>
          <p:nvPr/>
        </p:nvSpPr>
        <p:spPr>
          <a:xfrm>
            <a:off x="946130" y="3597250"/>
            <a:ext cx="2129363" cy="944850"/>
          </a:xfrm>
          <a:prstGeom prst="rect">
            <a:avLst/>
          </a:prstGeom>
          <a:noFill/>
          <a:ln/>
        </p:spPr>
        <p:txBody>
          <a:bodyPr wrap="square" lIns="0" tIns="0" rIns="0" bIns="0" rtlCol="0" anchor="t"/>
          <a:lstStyle/>
          <a:p>
            <a:pPr algn="l" indent="0" marL="0">
              <a:lnSpc>
                <a:spcPts val="1860"/>
              </a:lnSpc>
              <a:buNone/>
            </a:pPr>
            <a:r>
              <a:rPr lang="en-US" sz="1200" dirty="0">
                <a:solidFill>
                  <a:srgbClr val="1F2937"/>
                </a:solidFill>
                <a:latin typeface="Poppins Light" pitchFamily="34" charset="0"/>
                <a:ea typeface="Poppins Light" pitchFamily="34" charset="-122"/>
                <a:cs typeface="Poppins Light" pitchFamily="34" charset="-120"/>
              </a:rPr>
              <a:t>Tech advisory, a data audit and AI strategy research come first, so the build goes where AI pays back.</a:t>
            </a:r>
            <a:endParaRPr lang="en-US" sz="1200" dirty="0"/>
          </a:p>
        </p:txBody>
      </p:sp>
      <p:sp>
        <p:nvSpPr>
          <p:cNvPr id="30" name="Text"/>
          <p:cNvSpPr txBox="1"/>
          <p:nvPr/>
        </p:nvSpPr>
        <p:spPr>
          <a:xfrm>
            <a:off x="946130" y="5217201"/>
            <a:ext cx="2129363" cy="167335"/>
          </a:xfrm>
          <a:prstGeom prst="rect">
            <a:avLst/>
          </a:prstGeom>
          <a:noFill/>
          <a:ln/>
        </p:spPr>
        <p:txBody>
          <a:bodyPr wrap="square" lIns="0" tIns="0" rIns="0" bIns="0" rtlCol="0" anchor="t"/>
          <a:lstStyle/>
          <a:p>
            <a:pPr algn="l" indent="0" marL="0">
              <a:lnSpc>
                <a:spcPts val="1318"/>
              </a:lnSpc>
              <a:buNone/>
            </a:pPr>
            <a:r>
              <a:rPr lang="en-US" sz="850" spc="17" kern="0" dirty="0">
                <a:solidFill>
                  <a:srgbClr val="044BD9"/>
                </a:solidFill>
                <a:latin typeface="Poppins Medium" pitchFamily="34" charset="0"/>
                <a:ea typeface="Poppins Medium" pitchFamily="34" charset="-122"/>
                <a:cs typeface="Poppins Medium" pitchFamily="34" charset="-120"/>
              </a:rPr>
              <a:t>In practice</a:t>
            </a:r>
            <a:endParaRPr lang="en-US" sz="850" dirty="0"/>
          </a:p>
        </p:txBody>
      </p:sp>
      <p:sp>
        <p:nvSpPr>
          <p:cNvPr id="31" name="Text"/>
          <p:cNvSpPr txBox="1"/>
          <p:nvPr/>
        </p:nvSpPr>
        <p:spPr>
          <a:xfrm>
            <a:off x="946130" y="5409590"/>
            <a:ext cx="2129363" cy="373990"/>
          </a:xfrm>
          <a:prstGeom prst="rect">
            <a:avLst/>
          </a:prstGeom>
          <a:noFill/>
          <a:ln/>
        </p:spPr>
        <p:txBody>
          <a:bodyPr wrap="square" lIns="0" tIns="0" rIns="0" bIns="0" rtlCol="0" anchor="t"/>
          <a:lstStyle/>
          <a:p>
            <a:pPr algn="l" indent="0" marL="0">
              <a:lnSpc>
                <a:spcPts val="1472"/>
              </a:lnSpc>
              <a:buNone/>
            </a:pPr>
            <a:r>
              <a:rPr lang="en-US" sz="950" dirty="0">
                <a:solidFill>
                  <a:srgbClr val="6B6B6B"/>
                </a:solidFill>
                <a:latin typeface="Poppins Light" pitchFamily="34" charset="0"/>
                <a:ea typeface="Poppins Light" pitchFamily="34" charset="-122"/>
                <a:cs typeface="Poppins Light" pitchFamily="34" charset="-120"/>
              </a:rPr>
              <a:t>Tech advisory, data audit and AI strategy for EasyRenz</a:t>
            </a:r>
            <a:endParaRPr lang="en-US" sz="950" dirty="0"/>
          </a:p>
        </p:txBody>
      </p:sp>
      <p:sp>
        <p:nvSpPr>
          <p:cNvPr id="32" name="Text"/>
          <p:cNvSpPr txBox="1"/>
          <p:nvPr/>
        </p:nvSpPr>
        <p:spPr>
          <a:xfrm>
            <a:off x="3676620" y="2786360"/>
            <a:ext cx="2108241" cy="464790"/>
          </a:xfrm>
          <a:prstGeom prst="rect">
            <a:avLst/>
          </a:prstGeom>
          <a:noFill/>
          <a:ln/>
        </p:spPr>
        <p:txBody>
          <a:bodyPr wrap="square" lIns="0" tIns="0" rIns="0" bIns="0" rtlCol="0" anchor="t"/>
          <a:lstStyle/>
          <a:p>
            <a:pPr algn="l" indent="0" marL="0">
              <a:lnSpc>
                <a:spcPts val="1830"/>
              </a:lnSpc>
              <a:buNone/>
            </a:pPr>
            <a:r>
              <a:rPr lang="en-US" sz="1500" dirty="0">
                <a:solidFill>
                  <a:srgbClr val="000000"/>
                </a:solidFill>
                <a:latin typeface="Poppins Medium" pitchFamily="34" charset="0"/>
                <a:ea typeface="Poppins Medium" pitchFamily="34" charset="-122"/>
                <a:cs typeface="Poppins Medium" pitchFamily="34" charset="-120"/>
              </a:rPr>
              <a:t>One team,</a:t>
            </a:r>
            <a:endParaRPr lang="en-US" sz="1500" dirty="0"/>
          </a:p>
          <a:p>
            <a:pPr algn="l" indent="0" marL="0">
              <a:lnSpc>
                <a:spcPts val="1830"/>
              </a:lnSpc>
              <a:buNone/>
            </a:pPr>
            <a:r>
              <a:rPr lang="en-US" sz="1500" dirty="0">
                <a:solidFill>
                  <a:srgbClr val="000000"/>
                </a:solidFill>
                <a:latin typeface="Poppins Medium" pitchFamily="34" charset="0"/>
                <a:ea typeface="Poppins Medium" pitchFamily="34" charset="-122"/>
                <a:cs typeface="Poppins Medium" pitchFamily="34" charset="-120"/>
              </a:rPr>
              <a:t>no hand-offs</a:t>
            </a:r>
            <a:endParaRPr lang="en-US" sz="1500" dirty="0"/>
          </a:p>
        </p:txBody>
      </p:sp>
      <p:sp>
        <p:nvSpPr>
          <p:cNvPr id="33" name="Text"/>
          <p:cNvSpPr txBox="1"/>
          <p:nvPr/>
        </p:nvSpPr>
        <p:spPr>
          <a:xfrm>
            <a:off x="3676620" y="3597250"/>
            <a:ext cx="2129363" cy="1181130"/>
          </a:xfrm>
          <a:prstGeom prst="rect">
            <a:avLst/>
          </a:prstGeom>
          <a:noFill/>
          <a:ln/>
        </p:spPr>
        <p:txBody>
          <a:bodyPr wrap="square" lIns="0" tIns="0" rIns="0" bIns="0" rtlCol="0" anchor="t"/>
          <a:lstStyle/>
          <a:p>
            <a:pPr algn="l" indent="0" marL="0">
              <a:lnSpc>
                <a:spcPts val="1860"/>
              </a:lnSpc>
              <a:buNone/>
            </a:pPr>
            <a:r>
              <a:rPr lang="en-US" sz="1200" dirty="0">
                <a:solidFill>
                  <a:srgbClr val="1F2937"/>
                </a:solidFill>
                <a:latin typeface="Poppins Light" pitchFamily="34" charset="0"/>
                <a:ea typeface="Poppins Light" pitchFamily="34" charset="-122"/>
                <a:cs typeface="Poppins Light" pitchFamily="34" charset="-120"/>
              </a:rPr>
              <a:t>The engineers who scope your AI are the ones who ship and improve it. You keep one point of accountability throughout.</a:t>
            </a:r>
            <a:endParaRPr lang="en-US" sz="1200" dirty="0"/>
          </a:p>
        </p:txBody>
      </p:sp>
      <p:sp>
        <p:nvSpPr>
          <p:cNvPr id="34" name="Text"/>
          <p:cNvSpPr txBox="1"/>
          <p:nvPr/>
        </p:nvSpPr>
        <p:spPr>
          <a:xfrm>
            <a:off x="3676620" y="5404104"/>
            <a:ext cx="2129363" cy="167335"/>
          </a:xfrm>
          <a:prstGeom prst="rect">
            <a:avLst/>
          </a:prstGeom>
          <a:noFill/>
          <a:ln/>
        </p:spPr>
        <p:txBody>
          <a:bodyPr wrap="square" lIns="0" tIns="0" rIns="0" bIns="0" rtlCol="0" anchor="t"/>
          <a:lstStyle/>
          <a:p>
            <a:pPr algn="l" indent="0" marL="0">
              <a:lnSpc>
                <a:spcPts val="1318"/>
              </a:lnSpc>
              <a:buNone/>
            </a:pPr>
            <a:r>
              <a:rPr lang="en-US" sz="850" spc="17" kern="0" dirty="0">
                <a:solidFill>
                  <a:srgbClr val="044BD9"/>
                </a:solidFill>
                <a:latin typeface="Poppins Medium" pitchFamily="34" charset="0"/>
                <a:ea typeface="Poppins Medium" pitchFamily="34" charset="-122"/>
                <a:cs typeface="Poppins Medium" pitchFamily="34" charset="-120"/>
              </a:rPr>
              <a:t>In practice</a:t>
            </a:r>
            <a:endParaRPr lang="en-US" sz="850" dirty="0"/>
          </a:p>
        </p:txBody>
      </p:sp>
      <p:sp>
        <p:nvSpPr>
          <p:cNvPr id="35" name="Text"/>
          <p:cNvSpPr txBox="1"/>
          <p:nvPr/>
        </p:nvSpPr>
        <p:spPr>
          <a:xfrm>
            <a:off x="3676620" y="5596494"/>
            <a:ext cx="2133570" cy="186995"/>
          </a:xfrm>
          <a:prstGeom prst="rect">
            <a:avLst/>
          </a:prstGeom>
          <a:noFill/>
          <a:ln/>
        </p:spPr>
        <p:txBody>
          <a:bodyPr wrap="none" lIns="0" tIns="0" rIns="0" bIns="0" rtlCol="0" anchor="t"/>
          <a:lstStyle/>
          <a:p>
            <a:pPr algn="l" indent="0" marL="0">
              <a:lnSpc>
                <a:spcPts val="1472"/>
              </a:lnSpc>
              <a:buNone/>
            </a:pPr>
            <a:r>
              <a:rPr lang="en-US" sz="950" dirty="0">
                <a:solidFill>
                  <a:srgbClr val="6B6B6B"/>
                </a:solidFill>
                <a:latin typeface="Poppins Light" pitchFamily="34" charset="0"/>
                <a:ea typeface="Poppins Light" pitchFamily="34" charset="-122"/>
                <a:cs typeface="Poppins Light" pitchFamily="34" charset="-120"/>
              </a:rPr>
              <a:t>Six services, delivered by one team</a:t>
            </a:r>
            <a:endParaRPr lang="en-US" sz="950" dirty="0"/>
          </a:p>
        </p:txBody>
      </p:sp>
      <p:sp>
        <p:nvSpPr>
          <p:cNvPr id="36" name="Text"/>
          <p:cNvSpPr txBox="1"/>
          <p:nvPr/>
        </p:nvSpPr>
        <p:spPr>
          <a:xfrm>
            <a:off x="6407109" y="2786360"/>
            <a:ext cx="2108241" cy="697230"/>
          </a:xfrm>
          <a:prstGeom prst="rect">
            <a:avLst/>
          </a:prstGeom>
          <a:noFill/>
          <a:ln/>
        </p:spPr>
        <p:txBody>
          <a:bodyPr wrap="square" lIns="0" tIns="0" rIns="0" bIns="0" rtlCol="0" anchor="t"/>
          <a:lstStyle/>
          <a:p>
            <a:pPr algn="l" indent="0" marL="0">
              <a:lnSpc>
                <a:spcPts val="1830"/>
              </a:lnSpc>
              <a:buNone/>
            </a:pPr>
            <a:r>
              <a:rPr lang="en-US" sz="1500" dirty="0">
                <a:solidFill>
                  <a:srgbClr val="000000"/>
                </a:solidFill>
                <a:latin typeface="Poppins Medium" pitchFamily="34" charset="0"/>
                <a:ea typeface="Poppins Medium" pitchFamily="34" charset="-122"/>
                <a:cs typeface="Poppins Medium" pitchFamily="34" charset="-120"/>
              </a:rPr>
              <a:t>Built around your</a:t>
            </a:r>
            <a:endParaRPr lang="en-US" sz="1500" dirty="0"/>
          </a:p>
          <a:p>
            <a:pPr algn="l" indent="0" marL="0">
              <a:lnSpc>
                <a:spcPts val="1830"/>
              </a:lnSpc>
              <a:buNone/>
            </a:pPr>
            <a:r>
              <a:rPr lang="en-US" sz="1500" dirty="0">
                <a:solidFill>
                  <a:srgbClr val="000000"/>
                </a:solidFill>
                <a:latin typeface="Poppins Medium" pitchFamily="34" charset="0"/>
                <a:ea typeface="Poppins Medium" pitchFamily="34" charset="-122"/>
                <a:cs typeface="Poppins Medium" pitchFamily="34" charset="-120"/>
              </a:rPr>
              <a:t>systems, data</a:t>
            </a:r>
            <a:endParaRPr lang="en-US" sz="1500" dirty="0"/>
          </a:p>
          <a:p>
            <a:pPr algn="l" indent="0" marL="0">
              <a:lnSpc>
                <a:spcPts val="1830"/>
              </a:lnSpc>
              <a:buNone/>
            </a:pPr>
            <a:r>
              <a:rPr lang="en-US" sz="1500" dirty="0">
                <a:solidFill>
                  <a:srgbClr val="000000"/>
                </a:solidFill>
                <a:latin typeface="Poppins Medium" pitchFamily="34" charset="0"/>
                <a:ea typeface="Poppins Medium" pitchFamily="34" charset="-122"/>
                <a:cs typeface="Poppins Medium" pitchFamily="34" charset="-120"/>
              </a:rPr>
              <a:t>and regulator</a:t>
            </a:r>
            <a:endParaRPr lang="en-US" sz="1500" dirty="0"/>
          </a:p>
        </p:txBody>
      </p:sp>
      <p:sp>
        <p:nvSpPr>
          <p:cNvPr id="37" name="Text"/>
          <p:cNvSpPr txBox="1"/>
          <p:nvPr/>
        </p:nvSpPr>
        <p:spPr>
          <a:xfrm>
            <a:off x="6407109" y="3597250"/>
            <a:ext cx="2129363" cy="1181130"/>
          </a:xfrm>
          <a:prstGeom prst="rect">
            <a:avLst/>
          </a:prstGeom>
          <a:noFill/>
          <a:ln/>
        </p:spPr>
        <p:txBody>
          <a:bodyPr wrap="square" lIns="0" tIns="0" rIns="0" bIns="0" rtlCol="0" anchor="t"/>
          <a:lstStyle/>
          <a:p>
            <a:pPr algn="l" indent="0" marL="0">
              <a:lnSpc>
                <a:spcPts val="1860"/>
              </a:lnSpc>
              <a:buNone/>
            </a:pPr>
            <a:r>
              <a:rPr lang="en-US" sz="1200" dirty="0">
                <a:solidFill>
                  <a:srgbClr val="1F2937"/>
                </a:solidFill>
                <a:latin typeface="Poppins Light" pitchFamily="34" charset="0"/>
                <a:ea typeface="Poppins Light" pitchFamily="34" charset="-122"/>
                <a:cs typeface="Poppins Light" pitchFamily="34" charset="-120"/>
              </a:rPr>
              <a:t>Models, hosting and guardrails are chosen to fit the systems you already run, the data you hold and the rules you answer to.</a:t>
            </a:r>
            <a:endParaRPr lang="en-US" sz="1200" dirty="0"/>
          </a:p>
        </p:txBody>
      </p:sp>
      <p:sp>
        <p:nvSpPr>
          <p:cNvPr id="38" name="Text"/>
          <p:cNvSpPr txBox="1"/>
          <p:nvPr/>
        </p:nvSpPr>
        <p:spPr>
          <a:xfrm>
            <a:off x="6407109" y="5217201"/>
            <a:ext cx="2129363" cy="167335"/>
          </a:xfrm>
          <a:prstGeom prst="rect">
            <a:avLst/>
          </a:prstGeom>
          <a:noFill/>
          <a:ln/>
        </p:spPr>
        <p:txBody>
          <a:bodyPr wrap="square" lIns="0" tIns="0" rIns="0" bIns="0" rtlCol="0" anchor="t"/>
          <a:lstStyle/>
          <a:p>
            <a:pPr algn="l" indent="0" marL="0">
              <a:lnSpc>
                <a:spcPts val="1318"/>
              </a:lnSpc>
              <a:buNone/>
            </a:pPr>
            <a:r>
              <a:rPr lang="en-US" sz="850" spc="17" kern="0" dirty="0">
                <a:solidFill>
                  <a:srgbClr val="044BD9"/>
                </a:solidFill>
                <a:latin typeface="Poppins Medium" pitchFamily="34" charset="0"/>
                <a:ea typeface="Poppins Medium" pitchFamily="34" charset="-122"/>
                <a:cs typeface="Poppins Medium" pitchFamily="34" charset="-120"/>
              </a:rPr>
              <a:t>In practice</a:t>
            </a:r>
            <a:endParaRPr lang="en-US" sz="850" dirty="0"/>
          </a:p>
        </p:txBody>
      </p:sp>
      <p:sp>
        <p:nvSpPr>
          <p:cNvPr id="39" name="Text"/>
          <p:cNvSpPr txBox="1"/>
          <p:nvPr/>
        </p:nvSpPr>
        <p:spPr>
          <a:xfrm>
            <a:off x="6407109" y="5409590"/>
            <a:ext cx="2129363" cy="373990"/>
          </a:xfrm>
          <a:prstGeom prst="rect">
            <a:avLst/>
          </a:prstGeom>
          <a:noFill/>
          <a:ln/>
        </p:spPr>
        <p:txBody>
          <a:bodyPr wrap="square" lIns="0" tIns="0" rIns="0" bIns="0" rtlCol="0" anchor="t"/>
          <a:lstStyle/>
          <a:p>
            <a:pPr algn="l" indent="0" marL="0">
              <a:lnSpc>
                <a:spcPts val="1472"/>
              </a:lnSpc>
              <a:buNone/>
            </a:pPr>
            <a:r>
              <a:rPr lang="en-US" sz="950" dirty="0">
                <a:solidFill>
                  <a:srgbClr val="6B6B6B"/>
                </a:solidFill>
                <a:latin typeface="Poppins Light" pitchFamily="34" charset="0"/>
                <a:ea typeface="Poppins Light" pitchFamily="34" charset="-122"/>
                <a:cs typeface="Poppins Light" pitchFamily="34" charset="-120"/>
              </a:rPr>
              <a:t>A law firm’s models run on a locally hosted NVIDIA GPU workstation</a:t>
            </a:r>
            <a:endParaRPr lang="en-US" sz="950" dirty="0"/>
          </a:p>
        </p:txBody>
      </p:sp>
      <p:sp>
        <p:nvSpPr>
          <p:cNvPr id="40" name="Text"/>
          <p:cNvSpPr txBox="1"/>
          <p:nvPr/>
        </p:nvSpPr>
        <p:spPr>
          <a:xfrm>
            <a:off x="9137691" y="2786360"/>
            <a:ext cx="2108241" cy="464790"/>
          </a:xfrm>
          <a:prstGeom prst="rect">
            <a:avLst/>
          </a:prstGeom>
          <a:noFill/>
          <a:ln/>
        </p:spPr>
        <p:txBody>
          <a:bodyPr wrap="square" lIns="0" tIns="0" rIns="0" bIns="0" rtlCol="0" anchor="t"/>
          <a:lstStyle/>
          <a:p>
            <a:pPr algn="l" indent="0" marL="0">
              <a:lnSpc>
                <a:spcPts val="1830"/>
              </a:lnSpc>
              <a:buNone/>
            </a:pPr>
            <a:r>
              <a:rPr lang="en-US" sz="1500" dirty="0">
                <a:solidFill>
                  <a:srgbClr val="000000"/>
                </a:solidFill>
                <a:latin typeface="Poppins Medium" pitchFamily="34" charset="0"/>
                <a:ea typeface="Poppins Medium" pitchFamily="34" charset="-122"/>
                <a:cs typeface="Poppins Medium" pitchFamily="34" charset="-120"/>
              </a:rPr>
              <a:t>Improvement scoped</a:t>
            </a:r>
            <a:endParaRPr lang="en-US" sz="1500" dirty="0"/>
          </a:p>
          <a:p>
            <a:pPr algn="l" indent="0" marL="0">
              <a:lnSpc>
                <a:spcPts val="1830"/>
              </a:lnSpc>
              <a:buNone/>
            </a:pPr>
            <a:r>
              <a:rPr lang="en-US" sz="1500" dirty="0">
                <a:solidFill>
                  <a:srgbClr val="000000"/>
                </a:solidFill>
                <a:latin typeface="Poppins Medium" pitchFamily="34" charset="0"/>
                <a:ea typeface="Poppins Medium" pitchFamily="34" charset="-122"/>
                <a:cs typeface="Poppins Medium" pitchFamily="34" charset="-120"/>
              </a:rPr>
              <a:t>in from day one</a:t>
            </a:r>
            <a:endParaRPr lang="en-US" sz="1500" dirty="0"/>
          </a:p>
        </p:txBody>
      </p:sp>
      <p:sp>
        <p:nvSpPr>
          <p:cNvPr id="41" name="Text"/>
          <p:cNvSpPr txBox="1"/>
          <p:nvPr/>
        </p:nvSpPr>
        <p:spPr>
          <a:xfrm>
            <a:off x="9137691" y="3597250"/>
            <a:ext cx="2129363" cy="1181130"/>
          </a:xfrm>
          <a:prstGeom prst="rect">
            <a:avLst/>
          </a:prstGeom>
          <a:noFill/>
          <a:ln/>
        </p:spPr>
        <p:txBody>
          <a:bodyPr wrap="square" lIns="0" tIns="0" rIns="0" bIns="0" rtlCol="0" anchor="t"/>
          <a:lstStyle/>
          <a:p>
            <a:pPr algn="l" indent="0" marL="0">
              <a:lnSpc>
                <a:spcPts val="1860"/>
              </a:lnSpc>
              <a:buNone/>
            </a:pPr>
            <a:r>
              <a:rPr lang="en-US" sz="1200" dirty="0">
                <a:solidFill>
                  <a:srgbClr val="1F2937"/>
                </a:solidFill>
                <a:latin typeface="Poppins Light" pitchFamily="34" charset="0"/>
                <a:ea typeface="Poppins Light" pitchFamily="34" charset="-122"/>
                <a:cs typeface="Poppins Light" pitchFamily="34" charset="-120"/>
              </a:rPr>
              <a:t>Monitoring adoption and model performance is part of the build. After go-live, we stay to review, iterate and improve.</a:t>
            </a:r>
            <a:endParaRPr lang="en-US" sz="1200" dirty="0"/>
          </a:p>
        </p:txBody>
      </p:sp>
      <p:sp>
        <p:nvSpPr>
          <p:cNvPr id="42" name="Text"/>
          <p:cNvSpPr txBox="1"/>
          <p:nvPr/>
        </p:nvSpPr>
        <p:spPr>
          <a:xfrm>
            <a:off x="9137691" y="5217201"/>
            <a:ext cx="2129363" cy="167335"/>
          </a:xfrm>
          <a:prstGeom prst="rect">
            <a:avLst/>
          </a:prstGeom>
          <a:noFill/>
          <a:ln/>
        </p:spPr>
        <p:txBody>
          <a:bodyPr wrap="square" lIns="0" tIns="0" rIns="0" bIns="0" rtlCol="0" anchor="t"/>
          <a:lstStyle/>
          <a:p>
            <a:pPr algn="l" indent="0" marL="0">
              <a:lnSpc>
                <a:spcPts val="1318"/>
              </a:lnSpc>
              <a:buNone/>
            </a:pPr>
            <a:r>
              <a:rPr lang="en-US" sz="850" spc="17" kern="0" dirty="0">
                <a:solidFill>
                  <a:srgbClr val="044BD9"/>
                </a:solidFill>
                <a:latin typeface="Poppins Medium" pitchFamily="34" charset="0"/>
                <a:ea typeface="Poppins Medium" pitchFamily="34" charset="-122"/>
                <a:cs typeface="Poppins Medium" pitchFamily="34" charset="-120"/>
              </a:rPr>
              <a:t>In practice</a:t>
            </a:r>
            <a:endParaRPr lang="en-US" sz="850" dirty="0"/>
          </a:p>
        </p:txBody>
      </p:sp>
      <p:sp>
        <p:nvSpPr>
          <p:cNvPr id="43" name="Text"/>
          <p:cNvSpPr txBox="1"/>
          <p:nvPr/>
        </p:nvSpPr>
        <p:spPr>
          <a:xfrm>
            <a:off x="9137691" y="5409590"/>
            <a:ext cx="2129363" cy="373990"/>
          </a:xfrm>
          <a:prstGeom prst="rect">
            <a:avLst/>
          </a:prstGeom>
          <a:noFill/>
          <a:ln/>
        </p:spPr>
        <p:txBody>
          <a:bodyPr wrap="square" lIns="0" tIns="0" rIns="0" bIns="0" rtlCol="0" anchor="t"/>
          <a:lstStyle/>
          <a:p>
            <a:pPr algn="l" indent="0" marL="0">
              <a:lnSpc>
                <a:spcPts val="1472"/>
              </a:lnSpc>
              <a:buNone/>
            </a:pPr>
            <a:r>
              <a:rPr lang="en-US" sz="950" dirty="0">
                <a:solidFill>
                  <a:srgbClr val="6B6B6B"/>
                </a:solidFill>
                <a:latin typeface="Poppins Light" pitchFamily="34" charset="0"/>
                <a:ea typeface="Poppins Light" pitchFamily="34" charset="-122"/>
                <a:cs typeface="Poppins Light" pitchFamily="34" charset="-120"/>
              </a:rPr>
              <a:t>After go-live, we stay to review, iterate and improve</a:t>
            </a:r>
            <a:endParaRPr lang="en-US" sz="950" dirty="0"/>
          </a:p>
        </p:txBody>
      </p:sp>
      <p:sp>
        <p:nvSpPr>
          <p:cNvPr id="44" name="Text"/>
          <p:cNvSpPr txBox="1"/>
          <p:nvPr/>
        </p:nvSpPr>
        <p:spPr>
          <a:xfrm>
            <a:off x="6287140" y="276240"/>
            <a:ext cx="708477"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044BD9"/>
                </a:solidFill>
                <a:latin typeface="Poppins Medium" pitchFamily="34" charset="0"/>
                <a:ea typeface="Poppins Medium" pitchFamily="34" charset="-122"/>
                <a:cs typeface="Poppins Medium" pitchFamily="34" charset="-120"/>
              </a:rPr>
              <a:t>Point of view</a:t>
            </a:r>
            <a:endParaRPr lang="en-US" sz="850" dirty="0"/>
          </a:p>
        </p:txBody>
      </p:sp>
      <p:sp>
        <p:nvSpPr>
          <p:cNvPr id="45" name="Text"/>
          <p:cNvSpPr txBox="1"/>
          <p:nvPr/>
        </p:nvSpPr>
        <p:spPr>
          <a:xfrm>
            <a:off x="7240494" y="276240"/>
            <a:ext cx="665958"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Who we are</a:t>
            </a:r>
            <a:endParaRPr lang="en-US" sz="850" dirty="0"/>
          </a:p>
        </p:txBody>
      </p:sp>
      <p:sp>
        <p:nvSpPr>
          <p:cNvPr id="46" name="Text"/>
          <p:cNvSpPr txBox="1"/>
          <p:nvPr/>
        </p:nvSpPr>
        <p:spPr>
          <a:xfrm>
            <a:off x="8151510" y="276240"/>
            <a:ext cx="671261"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What we do</a:t>
            </a:r>
            <a:endParaRPr lang="en-US" sz="850" dirty="0"/>
          </a:p>
        </p:txBody>
      </p:sp>
      <p:sp>
        <p:nvSpPr>
          <p:cNvPr id="47" name="Text"/>
          <p:cNvSpPr txBox="1"/>
          <p:nvPr/>
        </p:nvSpPr>
        <p:spPr>
          <a:xfrm>
            <a:off x="9067830" y="276240"/>
            <a:ext cx="1205728"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Sectors and products</a:t>
            </a:r>
            <a:endParaRPr lang="en-US" sz="850" dirty="0"/>
          </a:p>
        </p:txBody>
      </p:sp>
      <p:sp>
        <p:nvSpPr>
          <p:cNvPr id="48" name="Text"/>
          <p:cNvSpPr txBox="1"/>
          <p:nvPr/>
        </p:nvSpPr>
        <p:spPr>
          <a:xfrm>
            <a:off x="10516423" y="276240"/>
            <a:ext cx="298552"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Proof</a:t>
            </a:r>
            <a:endParaRPr lang="en-US" sz="850" dirty="0"/>
          </a:p>
        </p:txBody>
      </p:sp>
      <p:sp>
        <p:nvSpPr>
          <p:cNvPr id="49" name="Text"/>
          <p:cNvSpPr txBox="1"/>
          <p:nvPr/>
        </p:nvSpPr>
        <p:spPr>
          <a:xfrm>
            <a:off x="11061497" y="276240"/>
            <a:ext cx="433700"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Engage</a:t>
            </a:r>
            <a:endParaRPr lang="en-US" sz="850" dirty="0"/>
          </a:p>
        </p:txBody>
      </p:sp>
      <p:sp>
        <p:nvSpPr>
          <p:cNvPr id="50" name="Source"/>
          <p:cNvSpPr txBox="1"/>
          <p:nvPr/>
        </p:nvSpPr>
        <p:spPr>
          <a:xfrm>
            <a:off x="711220" y="6409030"/>
            <a:ext cx="8300740" cy="151150"/>
          </a:xfrm>
          <a:prstGeom prst="rect">
            <a:avLst/>
          </a:prstGeom>
          <a:noFill/>
          <a:ln/>
        </p:spPr>
        <p:txBody>
          <a:bodyPr wrap="square" lIns="0" tIns="0" rIns="0" bIns="0" rtlCol="0" anchor="t"/>
          <a:lstStyle/>
          <a:p>
            <a:pPr algn="l" indent="0" marL="0">
              <a:lnSpc>
                <a:spcPts val="1190"/>
              </a:lnSpc>
              <a:buNone/>
            </a:pPr>
            <a:r>
              <a:rPr lang="en-US" sz="850" dirty="0">
                <a:solidFill>
                  <a:srgbClr val="6B6B6B"/>
                </a:solidFill>
                <a:latin typeface="Poppins" pitchFamily="34" charset="0"/>
                <a:ea typeface="Poppins" pitchFamily="34" charset="-122"/>
                <a:cs typeface="Poppins" pitchFamily="34" charset="-120"/>
              </a:rPr>
              <a:t>Source: alphv.com/how-we-work; alphv.com/services and service pages (October 2026).</a:t>
            </a:r>
            <a:endParaRPr lang="en-US" sz="850" dirty="0"/>
          </a:p>
        </p:txBody>
      </p:sp>
      <p:sp>
        <p:nvSpPr>
          <p:cNvPr id="51" name="Text"/>
          <p:cNvSpPr txBox="1"/>
          <p:nvPr/>
        </p:nvSpPr>
        <p:spPr>
          <a:xfrm>
            <a:off x="9342791" y="6409030"/>
            <a:ext cx="393741" cy="151150"/>
          </a:xfrm>
          <a:prstGeom prst="rect">
            <a:avLst/>
          </a:prstGeom>
          <a:noFill/>
          <a:ln/>
        </p:spPr>
        <p:txBody>
          <a:bodyPr wrap="none" lIns="0" tIns="0" rIns="0" bIns="0" rtlCol="0" anchor="t"/>
          <a:lstStyle/>
          <a:p>
            <a:pPr algn="l" indent="0" marL="0">
              <a:lnSpc>
                <a:spcPts val="1190"/>
              </a:lnSpc>
              <a:buNone/>
            </a:pPr>
            <a:r>
              <a:rPr lang="en-US" sz="850" spc="34" kern="0" dirty="0">
                <a:solidFill>
                  <a:srgbClr val="000000"/>
                </a:solidFill>
                <a:latin typeface="Poppins SemiBold" pitchFamily="34" charset="0"/>
                <a:ea typeface="Poppins SemiBold" pitchFamily="34" charset="-122"/>
                <a:cs typeface="Poppins SemiBold" pitchFamily="34" charset="-120"/>
              </a:rPr>
              <a:t>ALPHV</a:t>
            </a:r>
            <a:endParaRPr lang="en-US" sz="850" dirty="0"/>
          </a:p>
        </p:txBody>
      </p:sp>
      <p:sp>
        <p:nvSpPr>
          <p:cNvPr id="52" name="Text"/>
          <p:cNvSpPr txBox="1"/>
          <p:nvPr/>
        </p:nvSpPr>
        <p:spPr>
          <a:xfrm>
            <a:off x="9850831" y="6409030"/>
            <a:ext cx="1377178" cy="151150"/>
          </a:xfrm>
          <a:prstGeom prst="rect">
            <a:avLst/>
          </a:prstGeom>
          <a:noFill/>
          <a:ln/>
        </p:spPr>
        <p:txBody>
          <a:bodyPr wrap="none" lIns="0" tIns="0" rIns="0" bIns="0" rtlCol="0" anchor="t"/>
          <a:lstStyle/>
          <a:p>
            <a:pPr algn="l" indent="0" marL="0">
              <a:lnSpc>
                <a:spcPts val="1190"/>
              </a:lnSpc>
              <a:buNone/>
            </a:pPr>
            <a:r>
              <a:rPr lang="en-US" sz="850" dirty="0">
                <a:solidFill>
                  <a:srgbClr val="6B6B6B"/>
                </a:solidFill>
                <a:latin typeface="Poppins" pitchFamily="34" charset="0"/>
                <a:ea typeface="Poppins" pitchFamily="34" charset="-122"/>
                <a:cs typeface="Poppins" pitchFamily="34" charset="-120"/>
              </a:rPr>
              <a:t>Corporate overview 2026</a:t>
            </a:r>
            <a:endParaRPr lang="en-US" sz="850" dirty="0"/>
          </a:p>
        </p:txBody>
      </p:sp>
      <p:sp>
        <p:nvSpPr>
          <p:cNvPr id="53" name="Text"/>
          <p:cNvSpPr txBox="1"/>
          <p:nvPr/>
        </p:nvSpPr>
        <p:spPr>
          <a:xfrm>
            <a:off x="11342309" y="6409030"/>
            <a:ext cx="163952" cy="151150"/>
          </a:xfrm>
          <a:prstGeom prst="rect">
            <a:avLst/>
          </a:prstGeom>
          <a:noFill/>
          <a:ln/>
        </p:spPr>
        <p:txBody>
          <a:bodyPr wrap="none" lIns="0" tIns="0" rIns="0" bIns="0" rtlCol="0" anchor="t"/>
          <a:lstStyle/>
          <a:p>
            <a:pPr algn="l" indent="0" marL="0">
              <a:lnSpc>
                <a:spcPts val="1190"/>
              </a:lnSpc>
              <a:buNone/>
            </a:pPr>
            <a:r>
              <a:rPr lang="en-US" sz="850" dirty="0">
                <a:solidFill>
                  <a:srgbClr val="000000"/>
                </a:solidFill>
                <a:latin typeface="Poppins Medium" pitchFamily="34" charset="0"/>
                <a:ea typeface="Poppins Medium" pitchFamily="34" charset="-122"/>
                <a:cs typeface="Poppins Medium" pitchFamily="34" charset="-120"/>
              </a:rPr>
              <a:t>06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p:cNvSpPr txBox="1"/>
          <p:nvPr/>
        </p:nvSpPr>
        <p:spPr>
          <a:xfrm>
            <a:off x="711220" y="2472720"/>
            <a:ext cx="10825399" cy="1257300"/>
          </a:xfrm>
          <a:prstGeom prst="rect">
            <a:avLst/>
          </a:prstGeom>
          <a:noFill/>
          <a:ln/>
        </p:spPr>
        <p:txBody>
          <a:bodyPr wrap="square" lIns="0" tIns="0" rIns="0" bIns="0" rtlCol="0" anchor="t"/>
          <a:lstStyle/>
          <a:p>
            <a:pPr algn="l" indent="0" marL="0">
              <a:lnSpc>
                <a:spcPts val="9900"/>
              </a:lnSpc>
              <a:buNone/>
            </a:pPr>
            <a:r>
              <a:rPr lang="en-US" sz="11000" spc="-440" kern="0" dirty="0">
                <a:solidFill>
                  <a:srgbClr val="F2F6FD"/>
                </a:solidFill>
                <a:latin typeface="Poppins SemiBold" pitchFamily="34" charset="0"/>
                <a:ea typeface="Poppins SemiBold" pitchFamily="34" charset="-122"/>
                <a:cs typeface="Poppins SemiBold" pitchFamily="34" charset="-120"/>
              </a:rPr>
              <a:t>02</a:t>
            </a:r>
            <a:endParaRPr lang="en-US" sz="11000" dirty="0"/>
          </a:p>
        </p:txBody>
      </p:sp>
      <p:sp>
        <p:nvSpPr>
          <p:cNvPr id="3" name="Text"/>
          <p:cNvSpPr txBox="1"/>
          <p:nvPr/>
        </p:nvSpPr>
        <p:spPr>
          <a:xfrm>
            <a:off x="711220" y="3952951"/>
            <a:ext cx="8889980" cy="1280160"/>
          </a:xfrm>
          <a:prstGeom prst="rect">
            <a:avLst/>
          </a:prstGeom>
          <a:noFill/>
          <a:ln/>
        </p:spPr>
        <p:txBody>
          <a:bodyPr wrap="square" lIns="0" tIns="0" rIns="0" bIns="0" rtlCol="0" anchor="t"/>
          <a:lstStyle/>
          <a:p>
            <a:pPr algn="l" indent="0" marL="0">
              <a:lnSpc>
                <a:spcPts val="5040"/>
              </a:lnSpc>
              <a:buNone/>
            </a:pPr>
            <a:r>
              <a:rPr lang="en-US" sz="4800" spc="-120" kern="0" dirty="0">
                <a:solidFill>
                  <a:srgbClr val="FFFFFF"/>
                </a:solidFill>
                <a:latin typeface="Poppins SemiBold" pitchFamily="34" charset="0"/>
                <a:ea typeface="Poppins SemiBold" pitchFamily="34" charset="-122"/>
                <a:cs typeface="Poppins SemiBold" pitchFamily="34" charset="-120"/>
              </a:rPr>
              <a:t>An AI-native systems</a:t>
            </a:r>
            <a:endParaRPr lang="en-US" sz="4800" dirty="0"/>
          </a:p>
          <a:p>
            <a:pPr algn="l" indent="0" marL="0">
              <a:lnSpc>
                <a:spcPts val="5040"/>
              </a:lnSpc>
              <a:buNone/>
            </a:pPr>
            <a:r>
              <a:rPr lang="en-US" sz="4800" spc="-120" kern="0" dirty="0">
                <a:solidFill>
                  <a:srgbClr val="FFFFFF"/>
                </a:solidFill>
                <a:latin typeface="Poppins SemiBold" pitchFamily="34" charset="0"/>
                <a:ea typeface="Poppins SemiBold" pitchFamily="34" charset="-122"/>
                <a:cs typeface="Poppins SemiBold" pitchFamily="34" charset="-120"/>
              </a:rPr>
              <a:t>integrator from Kuala Lumpur</a:t>
            </a:r>
            <a:endParaRPr lang="en-US" sz="4800" dirty="0"/>
          </a:p>
        </p:txBody>
      </p:sp>
      <p:sp>
        <p:nvSpPr>
          <p:cNvPr id="4" name="Text"/>
          <p:cNvSpPr txBox="1"/>
          <p:nvPr/>
        </p:nvSpPr>
        <p:spPr>
          <a:xfrm>
            <a:off x="711220" y="5462626"/>
            <a:ext cx="7153168" cy="552480"/>
          </a:xfrm>
          <a:prstGeom prst="rect">
            <a:avLst/>
          </a:prstGeom>
          <a:noFill/>
          <a:ln/>
        </p:spPr>
        <p:txBody>
          <a:bodyPr wrap="square" lIns="0" tIns="0" rIns="0" bIns="0" rtlCol="0" anchor="t"/>
          <a:lstStyle/>
          <a:p>
            <a:pPr algn="l" indent="0" marL="0">
              <a:lnSpc>
                <a:spcPts val="2175"/>
              </a:lnSpc>
              <a:buNone/>
            </a:pPr>
            <a:r>
              <a:rPr lang="en-US" sz="1450" dirty="0">
                <a:solidFill>
                  <a:srgbClr val="E1E9FA"/>
                </a:solidFill>
                <a:latin typeface="Poppins Light" pitchFamily="34" charset="0"/>
                <a:ea typeface="Poppins Light" pitchFamily="34" charset="-122"/>
                <a:cs typeface="Poppins Light" pitchFamily="34" charset="-120"/>
              </a:rPr>
              <a:t>ALPHV designs, integrates and runs production AI inside the core systems that legal, insurance, healthcare, hospitality, finance and retail teams already run.</a:t>
            </a:r>
            <a:endParaRPr lang="en-US" sz="14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badge"/>
          <p:cNvSpPr/>
          <p:nvPr/>
        </p:nvSpPr>
        <p:spPr>
          <a:xfrm>
            <a:off x="714421" y="536570"/>
            <a:ext cx="1382298" cy="254020"/>
          </a:xfrm>
          <a:prstGeom prst="roundRect">
            <a:avLst>
              <a:gd name="adj" fmla="val 50000"/>
            </a:avLst>
          </a:prstGeom>
          <a:ln w="6350">
            <a:solidFill>
              <a:srgbClr val="155DFC"/>
            </a:solidFill>
            <a:prstDash val="solid"/>
          </a:ln>
        </p:spPr>
      </p:sp>
      <p:pic>
        <p:nvPicPr>
          <p:cNvPr id="3" name="Picture" descr="The ALPHV team together in a high-rise office">    </p:cNvPr>
          <p:cNvPicPr>
            <a:picLocks noChangeAspect="1"/>
          </p:cNvPicPr>
          <p:nvPr/>
        </p:nvPicPr>
        <p:blipFill>
          <a:blip r:embed="rId1"/>
          <a:stretch>
            <a:fillRect/>
          </a:stretch>
        </p:blipFill>
        <p:spPr>
          <a:xfrm>
            <a:off x="711220" y="2073859"/>
            <a:ext cx="4296766" cy="3945910"/>
          </a:xfrm>
          <a:prstGeom prst="roundRect">
            <a:avLst>
              <a:gd name="adj" fmla="val 3862"/>
            </a:avLst>
          </a:prstGeom>
        </p:spPr>
      </p:pic>
      <p:sp>
        <p:nvSpPr>
          <p:cNvPr id="4" name="tag"/>
          <p:cNvSpPr/>
          <p:nvPr/>
        </p:nvSpPr>
        <p:spPr>
          <a:xfrm>
            <a:off x="838230" y="5657850"/>
            <a:ext cx="2794955" cy="234909"/>
          </a:xfrm>
          <a:prstGeom prst="roundRect">
            <a:avLst>
              <a:gd name="adj" fmla="val 50020"/>
            </a:avLst>
          </a:prstGeom>
          <a:solidFill>
            <a:srgbClr val="FFFFFF">
              <a:alpha val="92000"/>
            </a:srgbClr>
          </a:solidFill>
          <a:ln/>
        </p:spPr>
      </p:sp>
      <p:sp>
        <p:nvSpPr>
          <p:cNvPr id="5" name="Rule"/>
          <p:cNvSpPr/>
          <p:nvPr/>
        </p:nvSpPr>
        <p:spPr>
          <a:xfrm>
            <a:off x="5465186" y="2077060"/>
            <a:ext cx="2880726" cy="0"/>
          </a:xfrm>
          <a:prstGeom prst="line">
            <a:avLst/>
          </a:prstGeom>
          <a:noFill/>
          <a:ln w="6350">
            <a:solidFill>
              <a:srgbClr val="E3E6EC"/>
            </a:solidFill>
            <a:prstDash val="solid"/>
          </a:ln>
        </p:spPr>
      </p:sp>
      <p:sp>
        <p:nvSpPr>
          <p:cNvPr id="6" name="Rule"/>
          <p:cNvSpPr/>
          <p:nvPr/>
        </p:nvSpPr>
        <p:spPr>
          <a:xfrm>
            <a:off x="8599841" y="2077060"/>
            <a:ext cx="2880817" cy="0"/>
          </a:xfrm>
          <a:prstGeom prst="line">
            <a:avLst/>
          </a:prstGeom>
          <a:noFill/>
          <a:ln w="6350">
            <a:solidFill>
              <a:srgbClr val="E3E6EC"/>
            </a:solidFill>
            <a:prstDash val="solid"/>
          </a:ln>
        </p:spPr>
      </p:sp>
      <p:sp>
        <p:nvSpPr>
          <p:cNvPr id="7" name="Rule"/>
          <p:cNvSpPr/>
          <p:nvPr/>
        </p:nvSpPr>
        <p:spPr>
          <a:xfrm>
            <a:off x="5465186" y="3187598"/>
            <a:ext cx="2880726" cy="0"/>
          </a:xfrm>
          <a:prstGeom prst="line">
            <a:avLst/>
          </a:prstGeom>
          <a:noFill/>
          <a:ln w="6350">
            <a:solidFill>
              <a:srgbClr val="E3E6EC"/>
            </a:solidFill>
            <a:prstDash val="solid"/>
          </a:ln>
        </p:spPr>
      </p:sp>
      <p:sp>
        <p:nvSpPr>
          <p:cNvPr id="8" name="Rule"/>
          <p:cNvSpPr/>
          <p:nvPr/>
        </p:nvSpPr>
        <p:spPr>
          <a:xfrm>
            <a:off x="8599841" y="3187598"/>
            <a:ext cx="2880817" cy="0"/>
          </a:xfrm>
          <a:prstGeom prst="line">
            <a:avLst/>
          </a:prstGeom>
          <a:noFill/>
          <a:ln w="6350">
            <a:solidFill>
              <a:srgbClr val="E3E6EC"/>
            </a:solidFill>
            <a:prstDash val="solid"/>
          </a:ln>
        </p:spPr>
      </p:sp>
      <p:sp>
        <p:nvSpPr>
          <p:cNvPr id="9" name="card"/>
          <p:cNvSpPr/>
          <p:nvPr/>
        </p:nvSpPr>
        <p:spPr>
          <a:xfrm>
            <a:off x="5468386" y="4526097"/>
            <a:ext cx="6009162" cy="1468069"/>
          </a:xfrm>
          <a:prstGeom prst="roundRect">
            <a:avLst>
              <a:gd name="adj" fmla="val 10165"/>
            </a:avLst>
          </a:prstGeom>
          <a:solidFill>
            <a:srgbClr val="FBFBFB"/>
          </a:solidFill>
          <a:ln w="6350">
            <a:solidFill>
              <a:srgbClr val="F0F0F0"/>
            </a:solidFill>
            <a:prstDash val="solid"/>
          </a:ln>
        </p:spPr>
      </p:sp>
      <p:sp>
        <p:nvSpPr>
          <p:cNvPr id="10" name="span::before"/>
          <p:cNvSpPr/>
          <p:nvPr/>
        </p:nvSpPr>
        <p:spPr>
          <a:xfrm>
            <a:off x="6191860" y="311170"/>
            <a:ext cx="44440" cy="44440"/>
          </a:xfrm>
          <a:prstGeom prst="rect">
            <a:avLst/>
          </a:prstGeom>
          <a:solidFill>
            <a:srgbClr val="A0A6AF">
              <a:alpha val="55000"/>
            </a:srgbClr>
          </a:solidFill>
          <a:ln/>
        </p:spPr>
      </p:sp>
      <p:sp>
        <p:nvSpPr>
          <p:cNvPr id="11" name="on::before"/>
          <p:cNvSpPr/>
          <p:nvPr/>
        </p:nvSpPr>
        <p:spPr>
          <a:xfrm>
            <a:off x="7145213" y="311170"/>
            <a:ext cx="44440" cy="44440"/>
          </a:xfrm>
          <a:prstGeom prst="rect">
            <a:avLst/>
          </a:prstGeom>
          <a:solidFill>
            <a:srgbClr val="044BD9"/>
          </a:solidFill>
          <a:ln/>
        </p:spPr>
      </p:sp>
      <p:sp>
        <p:nvSpPr>
          <p:cNvPr id="12" name="span::before"/>
          <p:cNvSpPr/>
          <p:nvPr/>
        </p:nvSpPr>
        <p:spPr>
          <a:xfrm>
            <a:off x="8056230" y="311170"/>
            <a:ext cx="44440" cy="44440"/>
          </a:xfrm>
          <a:prstGeom prst="rect">
            <a:avLst/>
          </a:prstGeom>
          <a:solidFill>
            <a:srgbClr val="A0A6AF">
              <a:alpha val="55000"/>
            </a:srgbClr>
          </a:solidFill>
          <a:ln/>
        </p:spPr>
      </p:sp>
      <p:sp>
        <p:nvSpPr>
          <p:cNvPr id="13" name="span::before"/>
          <p:cNvSpPr/>
          <p:nvPr/>
        </p:nvSpPr>
        <p:spPr>
          <a:xfrm>
            <a:off x="8972550" y="311170"/>
            <a:ext cx="44440" cy="44440"/>
          </a:xfrm>
          <a:prstGeom prst="rect">
            <a:avLst/>
          </a:prstGeom>
          <a:solidFill>
            <a:srgbClr val="A0A6AF">
              <a:alpha val="55000"/>
            </a:srgbClr>
          </a:solidFill>
          <a:ln/>
        </p:spPr>
      </p:sp>
      <p:sp>
        <p:nvSpPr>
          <p:cNvPr id="14" name="span::before"/>
          <p:cNvSpPr/>
          <p:nvPr/>
        </p:nvSpPr>
        <p:spPr>
          <a:xfrm>
            <a:off x="10421142" y="311170"/>
            <a:ext cx="44440" cy="44440"/>
          </a:xfrm>
          <a:prstGeom prst="rect">
            <a:avLst/>
          </a:prstGeom>
          <a:solidFill>
            <a:srgbClr val="A0A6AF">
              <a:alpha val="55000"/>
            </a:srgbClr>
          </a:solidFill>
          <a:ln/>
        </p:spPr>
      </p:sp>
      <p:sp>
        <p:nvSpPr>
          <p:cNvPr id="15" name="span::before"/>
          <p:cNvSpPr/>
          <p:nvPr/>
        </p:nvSpPr>
        <p:spPr>
          <a:xfrm>
            <a:off x="10966216" y="311170"/>
            <a:ext cx="44440" cy="44440"/>
          </a:xfrm>
          <a:prstGeom prst="rect">
            <a:avLst/>
          </a:prstGeom>
          <a:solidFill>
            <a:srgbClr val="A0A6AF">
              <a:alpha val="55000"/>
            </a:srgbClr>
          </a:solidFill>
          <a:ln/>
        </p:spPr>
      </p:sp>
      <p:sp>
        <p:nvSpPr>
          <p:cNvPr id="16" name="Text"/>
          <p:cNvSpPr txBox="1"/>
          <p:nvPr/>
        </p:nvSpPr>
        <p:spPr>
          <a:xfrm>
            <a:off x="844540" y="603230"/>
            <a:ext cx="1147389" cy="120609"/>
          </a:xfrm>
          <a:prstGeom prst="rect">
            <a:avLst/>
          </a:prstGeom>
          <a:noFill/>
          <a:ln/>
        </p:spPr>
        <p:txBody>
          <a:bodyPr wrap="none" lIns="0" tIns="0" rIns="0" bIns="0" rtlCol="0" anchor="t"/>
          <a:lstStyle/>
          <a:p>
            <a:pPr algn="l" indent="0" marL="0">
              <a:lnSpc>
                <a:spcPts val="950"/>
              </a:lnSpc>
              <a:buNone/>
            </a:pPr>
            <a:r>
              <a:rPr lang="en-US" sz="950" spc="10" kern="0" dirty="0">
                <a:solidFill>
                  <a:srgbClr val="155DFC"/>
                </a:solidFill>
                <a:latin typeface="Poppins Medium" pitchFamily="34" charset="0"/>
                <a:ea typeface="Poppins Medium" pitchFamily="34" charset="-122"/>
                <a:cs typeface="Poppins Medium" pitchFamily="34" charset="-120"/>
              </a:rPr>
              <a:t>ALPHV at a glance</a:t>
            </a:r>
            <a:endParaRPr lang="en-US" sz="950" dirty="0"/>
          </a:p>
        </p:txBody>
      </p:sp>
      <p:sp>
        <p:nvSpPr>
          <p:cNvPr id="17" name="Title"/>
          <p:cNvSpPr txBox="1"/>
          <p:nvPr/>
        </p:nvSpPr>
        <p:spPr>
          <a:xfrm>
            <a:off x="711220" y="927750"/>
            <a:ext cx="9398020" cy="861090"/>
          </a:xfrm>
          <a:prstGeom prst="rect">
            <a:avLst/>
          </a:prstGeom>
          <a:noFill/>
          <a:ln/>
        </p:spPr>
        <p:txBody>
          <a:bodyPr wrap="square" lIns="0" tIns="0" rIns="0" bIns="0" rtlCol="0" anchor="t"/>
          <a:lstStyle/>
          <a:p>
            <a:pPr algn="l" indent="0" marL="0">
              <a:lnSpc>
                <a:spcPts val="3390"/>
              </a:lnSpc>
              <a:buNone/>
            </a:pPr>
            <a:r>
              <a:rPr lang="en-US" sz="3000" spc="-45" kern="0" dirty="0">
                <a:solidFill>
                  <a:srgbClr val="000000"/>
                </a:solidFill>
                <a:latin typeface="Poppins Medium" pitchFamily="34" charset="0"/>
                <a:ea typeface="Poppins Medium" pitchFamily="34" charset="-122"/>
                <a:cs typeface="Poppins Medium" pitchFamily="34" charset="-120"/>
              </a:rPr>
              <a:t>A founder-led team of 15+ builds production AI</a:t>
            </a:r>
            <a:endParaRPr lang="en-US" sz="3000" dirty="0"/>
          </a:p>
          <a:p>
            <a:pPr algn="l" indent="0" marL="0">
              <a:lnSpc>
                <a:spcPts val="3390"/>
              </a:lnSpc>
              <a:buNone/>
            </a:pPr>
            <a:r>
              <a:rPr lang="en-US" sz="3000" spc="-45" kern="0" dirty="0">
                <a:solidFill>
                  <a:srgbClr val="000000"/>
                </a:solidFill>
                <a:latin typeface="Poppins Medium" pitchFamily="34" charset="0"/>
                <a:ea typeface="Poppins Medium" pitchFamily="34" charset="-122"/>
                <a:cs typeface="Poppins Medium" pitchFamily="34" charset="-120"/>
              </a:rPr>
              <a:t>from</a:t>
            </a:r>
            <a:pPr algn="l" indent="0" marL="0">
              <a:lnSpc>
                <a:spcPts val="3390"/>
              </a:lnSpc>
              <a:buNone/>
            </a:pPr>
            <a:r>
              <a:rPr lang="en-US" sz="3000" spc="-45" kern="0" dirty="0">
                <a:solidFill>
                  <a:srgbClr val="044BD9"/>
                </a:solidFill>
                <a:latin typeface="Poppins Medium" pitchFamily="34" charset="0"/>
                <a:ea typeface="Poppins Medium" pitchFamily="34" charset="-122"/>
                <a:cs typeface="Poppins Medium" pitchFamily="34" charset="-120"/>
              </a:rPr>
              <a:t> Kuala Lumpur</a:t>
            </a:r>
            <a:pPr algn="l" indent="0" marL="0">
              <a:lnSpc>
                <a:spcPts val="3390"/>
              </a:lnSpc>
              <a:buNone/>
            </a:pPr>
            <a:r>
              <a:rPr lang="en-US" sz="3000" spc="-45" kern="0" dirty="0">
                <a:solidFill>
                  <a:srgbClr val="000000"/>
                </a:solidFill>
                <a:latin typeface="Poppins Medium" pitchFamily="34" charset="0"/>
                <a:ea typeface="Poppins Medium" pitchFamily="34" charset="-122"/>
                <a:cs typeface="Poppins Medium" pitchFamily="34" charset="-120"/>
              </a:rPr>
              <a:t>, with an office in Singapore</a:t>
            </a:r>
            <a:endParaRPr lang="en-US" sz="3000" dirty="0"/>
          </a:p>
        </p:txBody>
      </p:sp>
      <p:sp>
        <p:nvSpPr>
          <p:cNvPr id="18" name="Text"/>
          <p:cNvSpPr txBox="1"/>
          <p:nvPr/>
        </p:nvSpPr>
        <p:spPr>
          <a:xfrm>
            <a:off x="946130" y="5718200"/>
            <a:ext cx="2604486" cy="107991"/>
          </a:xfrm>
          <a:prstGeom prst="rect">
            <a:avLst/>
          </a:prstGeom>
          <a:noFill/>
          <a:ln/>
        </p:spPr>
        <p:txBody>
          <a:bodyPr wrap="none" lIns="0" tIns="0" rIns="0" bIns="0" rtlCol="0" anchor="t"/>
          <a:lstStyle/>
          <a:p>
            <a:pPr algn="l" indent="0" marL="0">
              <a:lnSpc>
                <a:spcPts val="850"/>
              </a:lnSpc>
              <a:buNone/>
            </a:pPr>
            <a:r>
              <a:rPr lang="en-US" sz="850" dirty="0">
                <a:solidFill>
                  <a:srgbClr val="1F2937"/>
                </a:solidFill>
                <a:latin typeface="Poppins Medium" pitchFamily="34" charset="0"/>
                <a:ea typeface="Poppins Medium" pitchFamily="34" charset="-122"/>
                <a:cs typeface="Poppins Medium" pitchFamily="34" charset="-120"/>
              </a:rPr>
              <a:t>The ALPHV team, 100% Malaysian and fully local</a:t>
            </a:r>
            <a:endParaRPr lang="en-US" sz="850" dirty="0"/>
          </a:p>
        </p:txBody>
      </p:sp>
      <p:sp>
        <p:nvSpPr>
          <p:cNvPr id="19" name="Text"/>
          <p:cNvSpPr txBox="1"/>
          <p:nvPr/>
        </p:nvSpPr>
        <p:spPr>
          <a:xfrm>
            <a:off x="5465186" y="2219889"/>
            <a:ext cx="2904957" cy="508041"/>
          </a:xfrm>
          <a:prstGeom prst="rect">
            <a:avLst/>
          </a:prstGeom>
          <a:noFill/>
          <a:ln/>
        </p:spPr>
        <p:txBody>
          <a:bodyPr wrap="square" lIns="0" tIns="0" rIns="0" bIns="0" rtlCol="0" anchor="t"/>
          <a:lstStyle/>
          <a:p>
            <a:pPr algn="l" indent="0" marL="0">
              <a:lnSpc>
                <a:spcPts val="4000"/>
              </a:lnSpc>
              <a:buNone/>
            </a:pPr>
            <a:r>
              <a:rPr lang="en-US" sz="4000" spc="-80" kern="0" dirty="0">
                <a:solidFill>
                  <a:srgbClr val="044BD9"/>
                </a:solidFill>
                <a:latin typeface="Poppins Medium" pitchFamily="34" charset="0"/>
                <a:ea typeface="Poppins Medium" pitchFamily="34" charset="-122"/>
                <a:cs typeface="Poppins Medium" pitchFamily="34" charset="-120"/>
              </a:rPr>
              <a:t>16</a:t>
            </a:r>
            <a:endParaRPr lang="en-US" sz="4000" dirty="0"/>
          </a:p>
        </p:txBody>
      </p:sp>
      <p:sp>
        <p:nvSpPr>
          <p:cNvPr id="20" name="Text"/>
          <p:cNvSpPr txBox="1"/>
          <p:nvPr/>
        </p:nvSpPr>
        <p:spPr>
          <a:xfrm>
            <a:off x="5465186" y="2813975"/>
            <a:ext cx="2904957" cy="202540"/>
          </a:xfrm>
          <a:prstGeom prst="rect">
            <a:avLst/>
          </a:prstGeom>
          <a:noFill/>
          <a:ln/>
        </p:spPr>
        <p:txBody>
          <a:bodyPr wrap="square" lIns="0" tIns="0" rIns="0" bIns="0" rtlCol="0" anchor="t"/>
          <a:lstStyle/>
          <a:p>
            <a:pPr algn="l" indent="0" marL="0">
              <a:lnSpc>
                <a:spcPts val="1595"/>
              </a:lnSpc>
              <a:buNone/>
            </a:pPr>
            <a:r>
              <a:rPr lang="en-US" sz="1100" dirty="0">
                <a:solidFill>
                  <a:srgbClr val="6B6B6B"/>
                </a:solidFill>
                <a:latin typeface="Poppins Light" pitchFamily="34" charset="0"/>
                <a:ea typeface="Poppins Light" pitchFamily="34" charset="-122"/>
                <a:cs typeface="Poppins Light" pitchFamily="34" charset="-120"/>
              </a:rPr>
              <a:t>Industry verticals served</a:t>
            </a:r>
            <a:endParaRPr lang="en-US" sz="1100" dirty="0"/>
          </a:p>
        </p:txBody>
      </p:sp>
      <p:sp>
        <p:nvSpPr>
          <p:cNvPr id="21" name="Text"/>
          <p:cNvSpPr txBox="1"/>
          <p:nvPr/>
        </p:nvSpPr>
        <p:spPr>
          <a:xfrm>
            <a:off x="8599841" y="2219889"/>
            <a:ext cx="2905049" cy="508041"/>
          </a:xfrm>
          <a:prstGeom prst="rect">
            <a:avLst/>
          </a:prstGeom>
          <a:noFill/>
          <a:ln/>
        </p:spPr>
        <p:txBody>
          <a:bodyPr wrap="square" lIns="0" tIns="0" rIns="0" bIns="0" rtlCol="0" anchor="t"/>
          <a:lstStyle/>
          <a:p>
            <a:pPr algn="l" indent="0" marL="0">
              <a:lnSpc>
                <a:spcPts val="4000"/>
              </a:lnSpc>
              <a:buNone/>
            </a:pPr>
            <a:r>
              <a:rPr lang="en-US" sz="4000" spc="-80" kern="0" dirty="0">
                <a:solidFill>
                  <a:srgbClr val="044BD9"/>
                </a:solidFill>
                <a:latin typeface="Poppins Medium" pitchFamily="34" charset="0"/>
                <a:ea typeface="Poppins Medium" pitchFamily="34" charset="-122"/>
                <a:cs typeface="Poppins Medium" pitchFamily="34" charset="-120"/>
              </a:rPr>
              <a:t>12</a:t>
            </a:r>
            <a:endParaRPr lang="en-US" sz="4000" dirty="0"/>
          </a:p>
        </p:txBody>
      </p:sp>
      <p:sp>
        <p:nvSpPr>
          <p:cNvPr id="22" name="Text"/>
          <p:cNvSpPr txBox="1"/>
          <p:nvPr/>
        </p:nvSpPr>
        <p:spPr>
          <a:xfrm>
            <a:off x="8599841" y="2813975"/>
            <a:ext cx="2905049" cy="202540"/>
          </a:xfrm>
          <a:prstGeom prst="rect">
            <a:avLst/>
          </a:prstGeom>
          <a:noFill/>
          <a:ln/>
        </p:spPr>
        <p:txBody>
          <a:bodyPr wrap="square" lIns="0" tIns="0" rIns="0" bIns="0" rtlCol="0" anchor="t"/>
          <a:lstStyle/>
          <a:p>
            <a:pPr algn="l" indent="0" marL="0">
              <a:lnSpc>
                <a:spcPts val="1595"/>
              </a:lnSpc>
              <a:buNone/>
            </a:pPr>
            <a:r>
              <a:rPr lang="en-US" sz="1100" dirty="0">
                <a:solidFill>
                  <a:srgbClr val="6B6B6B"/>
                </a:solidFill>
                <a:latin typeface="Poppins Light" pitchFamily="34" charset="0"/>
                <a:ea typeface="Poppins Light" pitchFamily="34" charset="-122"/>
                <a:cs typeface="Poppins Light" pitchFamily="34" charset="-120"/>
              </a:rPr>
              <a:t>Projects delivered and in delivery</a:t>
            </a:r>
            <a:endParaRPr lang="en-US" sz="1100" dirty="0"/>
          </a:p>
        </p:txBody>
      </p:sp>
      <p:sp>
        <p:nvSpPr>
          <p:cNvPr id="23" name="Text"/>
          <p:cNvSpPr txBox="1"/>
          <p:nvPr/>
        </p:nvSpPr>
        <p:spPr>
          <a:xfrm>
            <a:off x="5465186" y="3330519"/>
            <a:ext cx="2904957" cy="508041"/>
          </a:xfrm>
          <a:prstGeom prst="rect">
            <a:avLst/>
          </a:prstGeom>
          <a:noFill/>
          <a:ln/>
        </p:spPr>
        <p:txBody>
          <a:bodyPr wrap="square" lIns="0" tIns="0" rIns="0" bIns="0" rtlCol="0" anchor="t"/>
          <a:lstStyle/>
          <a:p>
            <a:pPr algn="l" indent="0" marL="0">
              <a:lnSpc>
                <a:spcPts val="4000"/>
              </a:lnSpc>
              <a:buNone/>
            </a:pPr>
            <a:r>
              <a:rPr lang="en-US" sz="4000" spc="-80" kern="0" dirty="0">
                <a:solidFill>
                  <a:srgbClr val="044BD9"/>
                </a:solidFill>
                <a:latin typeface="Poppins Medium" pitchFamily="34" charset="0"/>
                <a:ea typeface="Poppins Medium" pitchFamily="34" charset="-122"/>
                <a:cs typeface="Poppins Medium" pitchFamily="34" charset="-120"/>
              </a:rPr>
              <a:t>15</a:t>
            </a:r>
            <a:pPr algn="l" indent="0" marL="0">
              <a:lnSpc>
                <a:spcPts val="4000"/>
              </a:lnSpc>
              <a:buNone/>
            </a:pPr>
            <a:r>
              <a:rPr lang="en-US" sz="2000" dirty="0">
                <a:solidFill>
                  <a:srgbClr val="044BD9"/>
                </a:solidFill>
                <a:latin typeface="Poppins Medium" pitchFamily="34" charset="0"/>
                <a:ea typeface="Poppins Medium" pitchFamily="34" charset="-122"/>
                <a:cs typeface="Poppins Medium" pitchFamily="34" charset="-120"/>
              </a:rPr>
              <a:t>+</a:t>
            </a:r>
            <a:endParaRPr lang="en-US" sz="4000" dirty="0"/>
          </a:p>
        </p:txBody>
      </p:sp>
      <p:sp>
        <p:nvSpPr>
          <p:cNvPr id="24" name="Text"/>
          <p:cNvSpPr txBox="1"/>
          <p:nvPr/>
        </p:nvSpPr>
        <p:spPr>
          <a:xfrm>
            <a:off x="5465186" y="3924513"/>
            <a:ext cx="2904957" cy="405171"/>
          </a:xfrm>
          <a:prstGeom prst="rect">
            <a:avLst/>
          </a:prstGeom>
          <a:noFill/>
          <a:ln/>
        </p:spPr>
        <p:txBody>
          <a:bodyPr wrap="square" lIns="0" tIns="0" rIns="0" bIns="0" rtlCol="0" anchor="t"/>
          <a:lstStyle/>
          <a:p>
            <a:pPr algn="l" indent="0" marL="0">
              <a:lnSpc>
                <a:spcPts val="1595"/>
              </a:lnSpc>
              <a:buNone/>
            </a:pPr>
            <a:r>
              <a:rPr lang="en-US" sz="1100" dirty="0">
                <a:solidFill>
                  <a:srgbClr val="6B6B6B"/>
                </a:solidFill>
                <a:latin typeface="Poppins Light" pitchFamily="34" charset="0"/>
                <a:ea typeface="Poppins Light" pitchFamily="34" charset="-122"/>
                <a:cs typeface="Poppins Light" pitchFamily="34" charset="-120"/>
              </a:rPr>
              <a:t>Solutions architects, engineers and consultants</a:t>
            </a:r>
            <a:endParaRPr lang="en-US" sz="1100" dirty="0"/>
          </a:p>
        </p:txBody>
      </p:sp>
      <p:sp>
        <p:nvSpPr>
          <p:cNvPr id="25" name="Text"/>
          <p:cNvSpPr txBox="1"/>
          <p:nvPr/>
        </p:nvSpPr>
        <p:spPr>
          <a:xfrm>
            <a:off x="8599841" y="3330519"/>
            <a:ext cx="2905049" cy="508041"/>
          </a:xfrm>
          <a:prstGeom prst="rect">
            <a:avLst/>
          </a:prstGeom>
          <a:noFill/>
          <a:ln/>
        </p:spPr>
        <p:txBody>
          <a:bodyPr wrap="square" lIns="0" tIns="0" rIns="0" bIns="0" rtlCol="0" anchor="t"/>
          <a:lstStyle/>
          <a:p>
            <a:pPr algn="l" indent="0" marL="0">
              <a:lnSpc>
                <a:spcPts val="4000"/>
              </a:lnSpc>
              <a:buNone/>
            </a:pPr>
            <a:r>
              <a:rPr lang="en-US" sz="4000" spc="-80" kern="0" dirty="0">
                <a:solidFill>
                  <a:srgbClr val="044BD9"/>
                </a:solidFill>
                <a:latin typeface="Poppins Medium" pitchFamily="34" charset="0"/>
                <a:ea typeface="Poppins Medium" pitchFamily="34" charset="-122"/>
                <a:cs typeface="Poppins Medium" pitchFamily="34" charset="-120"/>
              </a:rPr>
              <a:t>2</a:t>
            </a:r>
            <a:endParaRPr lang="en-US" sz="4000" dirty="0"/>
          </a:p>
        </p:txBody>
      </p:sp>
      <p:sp>
        <p:nvSpPr>
          <p:cNvPr id="26" name="Text"/>
          <p:cNvSpPr txBox="1"/>
          <p:nvPr/>
        </p:nvSpPr>
        <p:spPr>
          <a:xfrm>
            <a:off x="8599841" y="3924513"/>
            <a:ext cx="2905049" cy="405171"/>
          </a:xfrm>
          <a:prstGeom prst="rect">
            <a:avLst/>
          </a:prstGeom>
          <a:noFill/>
          <a:ln/>
        </p:spPr>
        <p:txBody>
          <a:bodyPr wrap="square" lIns="0" tIns="0" rIns="0" bIns="0" rtlCol="0" anchor="t"/>
          <a:lstStyle/>
          <a:p>
            <a:pPr algn="l" indent="0" marL="0">
              <a:lnSpc>
                <a:spcPts val="1595"/>
              </a:lnSpc>
              <a:buNone/>
            </a:pPr>
            <a:r>
              <a:rPr lang="en-US" sz="1100" dirty="0">
                <a:solidFill>
                  <a:srgbClr val="6B6B6B"/>
                </a:solidFill>
                <a:latin typeface="Poppins Light" pitchFamily="34" charset="0"/>
                <a:ea typeface="Poppins Light" pitchFamily="34" charset="-122"/>
                <a:cs typeface="Poppins Light" pitchFamily="34" charset="-120"/>
              </a:rPr>
              <a:t>Office countries: Malaysia (HQ) and Singapore</a:t>
            </a:r>
            <a:endParaRPr lang="en-US" sz="1100" dirty="0"/>
          </a:p>
        </p:txBody>
      </p:sp>
      <p:sp>
        <p:nvSpPr>
          <p:cNvPr id="27" name="Text"/>
          <p:cNvSpPr txBox="1"/>
          <p:nvPr/>
        </p:nvSpPr>
        <p:spPr>
          <a:xfrm>
            <a:off x="5662056" y="4689409"/>
            <a:ext cx="2707264" cy="206654"/>
          </a:xfrm>
          <a:prstGeom prst="rect">
            <a:avLst/>
          </a:prstGeom>
          <a:noFill/>
          <a:ln/>
        </p:spPr>
        <p:txBody>
          <a:bodyPr wrap="square" lIns="0" tIns="0" rIns="0" bIns="0" rtlCol="0" anchor="t"/>
          <a:lstStyle/>
          <a:p>
            <a:pPr algn="l" indent="0" marL="0">
              <a:lnSpc>
                <a:spcPts val="1627"/>
              </a:lnSpc>
              <a:buNone/>
            </a:pPr>
            <a:r>
              <a:rPr lang="en-US" sz="850" spc="17" kern="0" dirty="0">
                <a:solidFill>
                  <a:srgbClr val="044BD9"/>
                </a:solidFill>
                <a:latin typeface="Poppins Medium" pitchFamily="34" charset="0"/>
                <a:ea typeface="Poppins Medium" pitchFamily="34" charset="-122"/>
                <a:cs typeface="Poppins Medium" pitchFamily="34" charset="-120"/>
              </a:rPr>
              <a:t>Company</a:t>
            </a:r>
            <a:pPr algn="l" indent="0" marL="0">
              <a:lnSpc>
                <a:spcPts val="1627"/>
              </a:lnSpc>
              <a:buNone/>
            </a:pPr>
            <a:r>
              <a:rPr lang="en-US" sz="1050" dirty="0">
                <a:solidFill>
                  <a:srgbClr val="000000"/>
                </a:solidFill>
                <a:latin typeface="Poppins Light" pitchFamily="34" charset="0"/>
                <a:ea typeface="Poppins Light" pitchFamily="34" charset="-122"/>
                <a:cs typeface="Poppins Light" pitchFamily="34" charset="-120"/>
              </a:rPr>
              <a:t>  ALPHV Technologies Sdn Bhd</a:t>
            </a:r>
            <a:endParaRPr lang="en-US" sz="850" dirty="0"/>
          </a:p>
        </p:txBody>
      </p:sp>
      <p:sp>
        <p:nvSpPr>
          <p:cNvPr id="28" name="Text"/>
          <p:cNvSpPr txBox="1"/>
          <p:nvPr/>
        </p:nvSpPr>
        <p:spPr>
          <a:xfrm>
            <a:off x="8599841" y="4689409"/>
            <a:ext cx="2707447" cy="206654"/>
          </a:xfrm>
          <a:prstGeom prst="rect">
            <a:avLst/>
          </a:prstGeom>
          <a:noFill/>
          <a:ln/>
        </p:spPr>
        <p:txBody>
          <a:bodyPr wrap="square" lIns="0" tIns="0" rIns="0" bIns="0" rtlCol="0" anchor="t"/>
          <a:lstStyle/>
          <a:p>
            <a:pPr algn="l" indent="0" marL="0">
              <a:lnSpc>
                <a:spcPts val="1627"/>
              </a:lnSpc>
              <a:buNone/>
            </a:pPr>
            <a:r>
              <a:rPr lang="en-US" sz="850" spc="17" kern="0" dirty="0">
                <a:solidFill>
                  <a:srgbClr val="044BD9"/>
                </a:solidFill>
                <a:latin typeface="Poppins Medium" pitchFamily="34" charset="0"/>
                <a:ea typeface="Poppins Medium" pitchFamily="34" charset="-122"/>
                <a:cs typeface="Poppins Medium" pitchFamily="34" charset="-120"/>
              </a:rPr>
              <a:t>Reg. No.</a:t>
            </a:r>
            <a:pPr algn="l" indent="0" marL="0">
              <a:lnSpc>
                <a:spcPts val="1627"/>
              </a:lnSpc>
              <a:buNone/>
            </a:pPr>
            <a:r>
              <a:rPr lang="en-US" sz="1050" dirty="0">
                <a:solidFill>
                  <a:srgbClr val="000000"/>
                </a:solidFill>
                <a:latin typeface="Poppins Light" pitchFamily="34" charset="0"/>
                <a:ea typeface="Poppins Light" pitchFamily="34" charset="-122"/>
                <a:cs typeface="Poppins Light" pitchFamily="34" charset="-120"/>
              </a:rPr>
              <a:t>  202301015604 (1509526-V)</a:t>
            </a:r>
            <a:endParaRPr lang="en-US" sz="850" dirty="0"/>
          </a:p>
        </p:txBody>
      </p:sp>
      <p:sp>
        <p:nvSpPr>
          <p:cNvPr id="29" name="Text"/>
          <p:cNvSpPr txBox="1"/>
          <p:nvPr/>
        </p:nvSpPr>
        <p:spPr>
          <a:xfrm>
            <a:off x="5662056" y="4997653"/>
            <a:ext cx="2707264" cy="206654"/>
          </a:xfrm>
          <a:prstGeom prst="rect">
            <a:avLst/>
          </a:prstGeom>
          <a:noFill/>
          <a:ln/>
        </p:spPr>
        <p:txBody>
          <a:bodyPr wrap="square" lIns="0" tIns="0" rIns="0" bIns="0" rtlCol="0" anchor="t"/>
          <a:lstStyle/>
          <a:p>
            <a:pPr algn="l" indent="0" marL="0">
              <a:lnSpc>
                <a:spcPts val="1627"/>
              </a:lnSpc>
              <a:buNone/>
            </a:pPr>
            <a:r>
              <a:rPr lang="en-US" sz="850" spc="17" kern="0" dirty="0">
                <a:solidFill>
                  <a:srgbClr val="044BD9"/>
                </a:solidFill>
                <a:latin typeface="Poppins Medium" pitchFamily="34" charset="0"/>
                <a:ea typeface="Poppins Medium" pitchFamily="34" charset="-122"/>
                <a:cs typeface="Poppins Medium" pitchFamily="34" charset="-120"/>
              </a:rPr>
              <a:t>Founded</a:t>
            </a:r>
            <a:pPr algn="l" indent="0" marL="0">
              <a:lnSpc>
                <a:spcPts val="1627"/>
              </a:lnSpc>
              <a:buNone/>
            </a:pPr>
            <a:r>
              <a:rPr lang="en-US" sz="1050" dirty="0">
                <a:solidFill>
                  <a:srgbClr val="000000"/>
                </a:solidFill>
                <a:latin typeface="Poppins Light" pitchFamily="34" charset="0"/>
                <a:ea typeface="Poppins Light" pitchFamily="34" charset="-122"/>
                <a:cs typeface="Poppins Light" pitchFamily="34" charset="-120"/>
              </a:rPr>
              <a:t>  2023</a:t>
            </a:r>
            <a:endParaRPr lang="en-US" sz="850" dirty="0"/>
          </a:p>
        </p:txBody>
      </p:sp>
      <p:sp>
        <p:nvSpPr>
          <p:cNvPr id="30" name="Text"/>
          <p:cNvSpPr txBox="1"/>
          <p:nvPr/>
        </p:nvSpPr>
        <p:spPr>
          <a:xfrm>
            <a:off x="8599841" y="4997653"/>
            <a:ext cx="2707447" cy="206654"/>
          </a:xfrm>
          <a:prstGeom prst="rect">
            <a:avLst/>
          </a:prstGeom>
          <a:noFill/>
          <a:ln/>
        </p:spPr>
        <p:txBody>
          <a:bodyPr wrap="square" lIns="0" tIns="0" rIns="0" bIns="0" rtlCol="0" anchor="t"/>
          <a:lstStyle/>
          <a:p>
            <a:pPr algn="l" indent="0" marL="0">
              <a:lnSpc>
                <a:spcPts val="1627"/>
              </a:lnSpc>
              <a:buNone/>
            </a:pPr>
            <a:r>
              <a:rPr lang="en-US" sz="850" spc="17" kern="0" dirty="0">
                <a:solidFill>
                  <a:srgbClr val="044BD9"/>
                </a:solidFill>
                <a:latin typeface="Poppins Medium" pitchFamily="34" charset="0"/>
                <a:ea typeface="Poppins Medium" pitchFamily="34" charset="-122"/>
                <a:cs typeface="Poppins Medium" pitchFamily="34" charset="-120"/>
              </a:rPr>
              <a:t>Status</a:t>
            </a:r>
            <a:pPr algn="l" indent="0" marL="0">
              <a:lnSpc>
                <a:spcPts val="1627"/>
              </a:lnSpc>
              <a:buNone/>
            </a:pPr>
            <a:r>
              <a:rPr lang="en-US" sz="1050" dirty="0">
                <a:solidFill>
                  <a:srgbClr val="000000"/>
                </a:solidFill>
                <a:latin typeface="Poppins Light" pitchFamily="34" charset="0"/>
                <a:ea typeface="Poppins Light" pitchFamily="34" charset="-122"/>
                <a:cs typeface="Poppins Light" pitchFamily="34" charset="-120"/>
              </a:rPr>
              <a:t>  MDEC Malaysia Digital</a:t>
            </a:r>
            <a:endParaRPr lang="en-US" sz="850" dirty="0"/>
          </a:p>
        </p:txBody>
      </p:sp>
      <p:sp>
        <p:nvSpPr>
          <p:cNvPr id="31" name="Text"/>
          <p:cNvSpPr txBox="1"/>
          <p:nvPr/>
        </p:nvSpPr>
        <p:spPr>
          <a:xfrm>
            <a:off x="5662056" y="5305989"/>
            <a:ext cx="2707264" cy="206654"/>
          </a:xfrm>
          <a:prstGeom prst="rect">
            <a:avLst/>
          </a:prstGeom>
          <a:noFill/>
          <a:ln/>
        </p:spPr>
        <p:txBody>
          <a:bodyPr wrap="square" lIns="0" tIns="0" rIns="0" bIns="0" rtlCol="0" anchor="t"/>
          <a:lstStyle/>
          <a:p>
            <a:pPr algn="l" indent="0" marL="0">
              <a:lnSpc>
                <a:spcPts val="1627"/>
              </a:lnSpc>
              <a:buNone/>
            </a:pPr>
            <a:r>
              <a:rPr lang="en-US" sz="850" spc="17" kern="0" dirty="0">
                <a:solidFill>
                  <a:srgbClr val="044BD9"/>
                </a:solidFill>
                <a:latin typeface="Poppins Medium" pitchFamily="34" charset="0"/>
                <a:ea typeface="Poppins Medium" pitchFamily="34" charset="-122"/>
                <a:cs typeface="Poppins Medium" pitchFamily="34" charset="-120"/>
              </a:rPr>
              <a:t>HQ</a:t>
            </a:r>
            <a:pPr algn="l" indent="0" marL="0">
              <a:lnSpc>
                <a:spcPts val="1627"/>
              </a:lnSpc>
              <a:buNone/>
            </a:pPr>
            <a:r>
              <a:rPr lang="en-US" sz="1050" dirty="0">
                <a:solidFill>
                  <a:srgbClr val="000000"/>
                </a:solidFill>
                <a:latin typeface="Poppins Light" pitchFamily="34" charset="0"/>
                <a:ea typeface="Poppins Light" pitchFamily="34" charset="-122"/>
                <a:cs typeface="Poppins Light" pitchFamily="34" charset="-120"/>
              </a:rPr>
              <a:t>  Bangsar South, Kuala Lumpur</a:t>
            </a:r>
            <a:endParaRPr lang="en-US" sz="850" dirty="0"/>
          </a:p>
        </p:txBody>
      </p:sp>
      <p:sp>
        <p:nvSpPr>
          <p:cNvPr id="32" name="Text"/>
          <p:cNvSpPr txBox="1"/>
          <p:nvPr/>
        </p:nvSpPr>
        <p:spPr>
          <a:xfrm>
            <a:off x="8599841" y="5305989"/>
            <a:ext cx="2707447" cy="206654"/>
          </a:xfrm>
          <a:prstGeom prst="rect">
            <a:avLst/>
          </a:prstGeom>
          <a:noFill/>
          <a:ln/>
        </p:spPr>
        <p:txBody>
          <a:bodyPr wrap="square" lIns="0" tIns="0" rIns="0" bIns="0" rtlCol="0" anchor="t"/>
          <a:lstStyle/>
          <a:p>
            <a:pPr algn="l" indent="0" marL="0">
              <a:lnSpc>
                <a:spcPts val="1627"/>
              </a:lnSpc>
              <a:buNone/>
            </a:pPr>
            <a:r>
              <a:rPr lang="en-US" sz="850" spc="17" kern="0" dirty="0">
                <a:solidFill>
                  <a:srgbClr val="044BD9"/>
                </a:solidFill>
                <a:latin typeface="Poppins Medium" pitchFamily="34" charset="0"/>
                <a:ea typeface="Poppins Medium" pitchFamily="34" charset="-122"/>
                <a:cs typeface="Poppins Medium" pitchFamily="34" charset="-120"/>
              </a:rPr>
              <a:t>Office</a:t>
            </a:r>
            <a:pPr algn="l" indent="0" marL="0">
              <a:lnSpc>
                <a:spcPts val="1627"/>
              </a:lnSpc>
              <a:buNone/>
            </a:pPr>
            <a:r>
              <a:rPr lang="en-US" sz="1050" dirty="0">
                <a:solidFill>
                  <a:srgbClr val="000000"/>
                </a:solidFill>
                <a:latin typeface="Poppins Light" pitchFamily="34" charset="0"/>
                <a:ea typeface="Poppins Light" pitchFamily="34" charset="-122"/>
                <a:cs typeface="Poppins Light" pitchFamily="34" charset="-120"/>
              </a:rPr>
              <a:t>  WCEGA Tower, Singapore</a:t>
            </a:r>
            <a:endParaRPr lang="en-US" sz="850" dirty="0"/>
          </a:p>
        </p:txBody>
      </p:sp>
      <p:sp>
        <p:nvSpPr>
          <p:cNvPr id="33" name="Text"/>
          <p:cNvSpPr txBox="1"/>
          <p:nvPr/>
        </p:nvSpPr>
        <p:spPr>
          <a:xfrm>
            <a:off x="5662056" y="5614233"/>
            <a:ext cx="5657027" cy="206654"/>
          </a:xfrm>
          <a:prstGeom prst="rect">
            <a:avLst/>
          </a:prstGeom>
          <a:noFill/>
          <a:ln/>
        </p:spPr>
        <p:txBody>
          <a:bodyPr wrap="square" lIns="0" tIns="0" rIns="0" bIns="0" rtlCol="0" anchor="t"/>
          <a:lstStyle/>
          <a:p>
            <a:pPr algn="l" indent="0" marL="0">
              <a:lnSpc>
                <a:spcPts val="1627"/>
              </a:lnSpc>
              <a:buNone/>
            </a:pPr>
            <a:r>
              <a:rPr lang="en-US" sz="850" spc="17" kern="0" dirty="0">
                <a:solidFill>
                  <a:srgbClr val="044BD9"/>
                </a:solidFill>
                <a:latin typeface="Poppins Medium" pitchFamily="34" charset="0"/>
                <a:ea typeface="Poppins Medium" pitchFamily="34" charset="-122"/>
                <a:cs typeface="Poppins Medium" pitchFamily="34" charset="-120"/>
              </a:rPr>
              <a:t>Clients in</a:t>
            </a:r>
            <a:pPr algn="l" indent="0" marL="0">
              <a:lnSpc>
                <a:spcPts val="1627"/>
              </a:lnSpc>
              <a:buNone/>
            </a:pPr>
            <a:r>
              <a:rPr lang="en-US" sz="1050" dirty="0">
                <a:solidFill>
                  <a:srgbClr val="000000"/>
                </a:solidFill>
                <a:latin typeface="Poppins Light" pitchFamily="34" charset="0"/>
                <a:ea typeface="Poppins Light" pitchFamily="34" charset="-122"/>
                <a:cs typeface="Poppins Light" pitchFamily="34" charset="-120"/>
              </a:rPr>
              <a:t>  Malaysia, Singapore and Vietnam</a:t>
            </a:r>
            <a:endParaRPr lang="en-US" sz="850" dirty="0"/>
          </a:p>
        </p:txBody>
      </p:sp>
      <p:sp>
        <p:nvSpPr>
          <p:cNvPr id="34" name="Text"/>
          <p:cNvSpPr txBox="1"/>
          <p:nvPr/>
        </p:nvSpPr>
        <p:spPr>
          <a:xfrm>
            <a:off x="6287140" y="276240"/>
            <a:ext cx="708477"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Point of view</a:t>
            </a:r>
            <a:endParaRPr lang="en-US" sz="850" dirty="0"/>
          </a:p>
        </p:txBody>
      </p:sp>
      <p:sp>
        <p:nvSpPr>
          <p:cNvPr id="35" name="Text"/>
          <p:cNvSpPr txBox="1"/>
          <p:nvPr/>
        </p:nvSpPr>
        <p:spPr>
          <a:xfrm>
            <a:off x="7240494" y="276240"/>
            <a:ext cx="665958"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044BD9"/>
                </a:solidFill>
                <a:latin typeface="Poppins Medium" pitchFamily="34" charset="0"/>
                <a:ea typeface="Poppins Medium" pitchFamily="34" charset="-122"/>
                <a:cs typeface="Poppins Medium" pitchFamily="34" charset="-120"/>
              </a:rPr>
              <a:t>Who we are</a:t>
            </a:r>
            <a:endParaRPr lang="en-US" sz="850" dirty="0"/>
          </a:p>
        </p:txBody>
      </p:sp>
      <p:sp>
        <p:nvSpPr>
          <p:cNvPr id="36" name="Text"/>
          <p:cNvSpPr txBox="1"/>
          <p:nvPr/>
        </p:nvSpPr>
        <p:spPr>
          <a:xfrm>
            <a:off x="8151510" y="276240"/>
            <a:ext cx="671261"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What we do</a:t>
            </a:r>
            <a:endParaRPr lang="en-US" sz="850" dirty="0"/>
          </a:p>
        </p:txBody>
      </p:sp>
      <p:sp>
        <p:nvSpPr>
          <p:cNvPr id="37" name="Text"/>
          <p:cNvSpPr txBox="1"/>
          <p:nvPr/>
        </p:nvSpPr>
        <p:spPr>
          <a:xfrm>
            <a:off x="9067830" y="276240"/>
            <a:ext cx="1205728"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Sectors and products</a:t>
            </a:r>
            <a:endParaRPr lang="en-US" sz="850" dirty="0"/>
          </a:p>
        </p:txBody>
      </p:sp>
      <p:sp>
        <p:nvSpPr>
          <p:cNvPr id="38" name="Text"/>
          <p:cNvSpPr txBox="1"/>
          <p:nvPr/>
        </p:nvSpPr>
        <p:spPr>
          <a:xfrm>
            <a:off x="10516423" y="276240"/>
            <a:ext cx="298552"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Proof</a:t>
            </a:r>
            <a:endParaRPr lang="en-US" sz="850" dirty="0"/>
          </a:p>
        </p:txBody>
      </p:sp>
      <p:sp>
        <p:nvSpPr>
          <p:cNvPr id="39" name="Text"/>
          <p:cNvSpPr txBox="1"/>
          <p:nvPr/>
        </p:nvSpPr>
        <p:spPr>
          <a:xfrm>
            <a:off x="11061497" y="276240"/>
            <a:ext cx="433700"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Engage</a:t>
            </a:r>
            <a:endParaRPr lang="en-US" sz="850" dirty="0"/>
          </a:p>
        </p:txBody>
      </p:sp>
      <p:sp>
        <p:nvSpPr>
          <p:cNvPr id="40" name="Source"/>
          <p:cNvSpPr txBox="1"/>
          <p:nvPr/>
        </p:nvSpPr>
        <p:spPr>
          <a:xfrm>
            <a:off x="711220" y="6409030"/>
            <a:ext cx="8300740" cy="151150"/>
          </a:xfrm>
          <a:prstGeom prst="rect">
            <a:avLst/>
          </a:prstGeom>
          <a:noFill/>
          <a:ln/>
        </p:spPr>
        <p:txBody>
          <a:bodyPr wrap="square" lIns="0" tIns="0" rIns="0" bIns="0" rtlCol="0" anchor="t"/>
          <a:lstStyle/>
          <a:p>
            <a:pPr algn="l" indent="0" marL="0">
              <a:lnSpc>
                <a:spcPts val="1190"/>
              </a:lnSpc>
              <a:buNone/>
            </a:pPr>
            <a:r>
              <a:rPr lang="en-US" sz="850" dirty="0">
                <a:solidFill>
                  <a:srgbClr val="6B6B6B"/>
                </a:solidFill>
                <a:latin typeface="Poppins" pitchFamily="34" charset="0"/>
                <a:ea typeface="Poppins" pitchFamily="34" charset="-122"/>
                <a:cs typeface="Poppins" pitchFamily="34" charset="-120"/>
              </a:rPr>
              <a:t>Source: alphv.com; alphv.com/about (October 2026).</a:t>
            </a:r>
            <a:endParaRPr lang="en-US" sz="850" dirty="0"/>
          </a:p>
        </p:txBody>
      </p:sp>
      <p:sp>
        <p:nvSpPr>
          <p:cNvPr id="41" name="Text"/>
          <p:cNvSpPr txBox="1"/>
          <p:nvPr/>
        </p:nvSpPr>
        <p:spPr>
          <a:xfrm>
            <a:off x="9343248" y="6409030"/>
            <a:ext cx="393741" cy="151150"/>
          </a:xfrm>
          <a:prstGeom prst="rect">
            <a:avLst/>
          </a:prstGeom>
          <a:noFill/>
          <a:ln/>
        </p:spPr>
        <p:txBody>
          <a:bodyPr wrap="none" lIns="0" tIns="0" rIns="0" bIns="0" rtlCol="0" anchor="t"/>
          <a:lstStyle/>
          <a:p>
            <a:pPr algn="l" indent="0" marL="0">
              <a:lnSpc>
                <a:spcPts val="1190"/>
              </a:lnSpc>
              <a:buNone/>
            </a:pPr>
            <a:r>
              <a:rPr lang="en-US" sz="850" spc="34" kern="0" dirty="0">
                <a:solidFill>
                  <a:srgbClr val="000000"/>
                </a:solidFill>
                <a:latin typeface="Poppins SemiBold" pitchFamily="34" charset="0"/>
                <a:ea typeface="Poppins SemiBold" pitchFamily="34" charset="-122"/>
                <a:cs typeface="Poppins SemiBold" pitchFamily="34" charset="-120"/>
              </a:rPr>
              <a:t>ALPHV</a:t>
            </a:r>
            <a:endParaRPr lang="en-US" sz="850" dirty="0"/>
          </a:p>
        </p:txBody>
      </p:sp>
      <p:sp>
        <p:nvSpPr>
          <p:cNvPr id="42" name="Text"/>
          <p:cNvSpPr txBox="1"/>
          <p:nvPr/>
        </p:nvSpPr>
        <p:spPr>
          <a:xfrm>
            <a:off x="9851197" y="6409030"/>
            <a:ext cx="1377178" cy="151150"/>
          </a:xfrm>
          <a:prstGeom prst="rect">
            <a:avLst/>
          </a:prstGeom>
          <a:noFill/>
          <a:ln/>
        </p:spPr>
        <p:txBody>
          <a:bodyPr wrap="none" lIns="0" tIns="0" rIns="0" bIns="0" rtlCol="0" anchor="t"/>
          <a:lstStyle/>
          <a:p>
            <a:pPr algn="l" indent="0" marL="0">
              <a:lnSpc>
                <a:spcPts val="1190"/>
              </a:lnSpc>
              <a:buNone/>
            </a:pPr>
            <a:r>
              <a:rPr lang="en-US" sz="850" dirty="0">
                <a:solidFill>
                  <a:srgbClr val="6B6B6B"/>
                </a:solidFill>
                <a:latin typeface="Poppins" pitchFamily="34" charset="0"/>
                <a:ea typeface="Poppins" pitchFamily="34" charset="-122"/>
                <a:cs typeface="Poppins" pitchFamily="34" charset="-120"/>
              </a:rPr>
              <a:t>Corporate overview 2026</a:t>
            </a:r>
            <a:endParaRPr lang="en-US" sz="850" dirty="0"/>
          </a:p>
        </p:txBody>
      </p:sp>
      <p:sp>
        <p:nvSpPr>
          <p:cNvPr id="43" name="Text"/>
          <p:cNvSpPr txBox="1"/>
          <p:nvPr/>
        </p:nvSpPr>
        <p:spPr>
          <a:xfrm>
            <a:off x="11342675" y="6409030"/>
            <a:ext cx="163495" cy="151150"/>
          </a:xfrm>
          <a:prstGeom prst="rect">
            <a:avLst/>
          </a:prstGeom>
          <a:noFill/>
          <a:ln/>
        </p:spPr>
        <p:txBody>
          <a:bodyPr wrap="none" lIns="0" tIns="0" rIns="0" bIns="0" rtlCol="0" anchor="t"/>
          <a:lstStyle/>
          <a:p>
            <a:pPr algn="l" indent="0" marL="0">
              <a:lnSpc>
                <a:spcPts val="1190"/>
              </a:lnSpc>
              <a:buNone/>
            </a:pPr>
            <a:r>
              <a:rPr lang="en-US" sz="850" dirty="0">
                <a:solidFill>
                  <a:srgbClr val="000000"/>
                </a:solidFill>
                <a:latin typeface="Poppins Medium" pitchFamily="34" charset="0"/>
                <a:ea typeface="Poppins Medium" pitchFamily="34" charset="-122"/>
                <a:cs typeface="Poppins Medium" pitchFamily="34" charset="-120"/>
              </a:rPr>
              <a:t>08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9FA"/>
        </a:solidFill>
      </p:bgPr>
    </p:bg>
    <p:spTree>
      <p:nvGrpSpPr>
        <p:cNvPr id="1" name=""/>
        <p:cNvGrpSpPr/>
        <p:nvPr/>
      </p:nvGrpSpPr>
      <p:grpSpPr>
        <a:xfrm>
          <a:off x="0" y="0"/>
          <a:ext cx="0" cy="0"/>
          <a:chOff x="0" y="0"/>
          <a:chExt cx="0" cy="0"/>
        </a:xfrm>
      </p:grpSpPr>
      <p:sp>
        <p:nvSpPr>
          <p:cNvPr id="2" name="badge"/>
          <p:cNvSpPr/>
          <p:nvPr/>
        </p:nvSpPr>
        <p:spPr>
          <a:xfrm>
            <a:off x="714421" y="536570"/>
            <a:ext cx="678942" cy="254020"/>
          </a:xfrm>
          <a:prstGeom prst="roundRect">
            <a:avLst>
              <a:gd name="adj" fmla="val 50000"/>
            </a:avLst>
          </a:prstGeom>
          <a:ln w="6350">
            <a:solidFill>
              <a:srgbClr val="155DFC"/>
            </a:solidFill>
            <a:prstDash val="solid"/>
          </a:ln>
        </p:spPr>
      </p:sp>
      <p:sp>
        <p:nvSpPr>
          <p:cNvPr id="3" name="card"/>
          <p:cNvSpPr/>
          <p:nvPr/>
        </p:nvSpPr>
        <p:spPr>
          <a:xfrm>
            <a:off x="714421" y="2077060"/>
            <a:ext cx="2045879" cy="2286000"/>
          </a:xfrm>
          <a:prstGeom prst="roundRect">
            <a:avLst>
              <a:gd name="adj" fmla="val 7294"/>
            </a:avLst>
          </a:prstGeom>
          <a:solidFill>
            <a:srgbClr val="FFFFFF"/>
          </a:solidFill>
          <a:ln w="6350">
            <a:solidFill>
              <a:srgbClr val="F0F0F0"/>
            </a:solidFill>
            <a:prstDash val="solid"/>
          </a:ln>
        </p:spPr>
      </p:sp>
      <p:sp>
        <p:nvSpPr>
          <p:cNvPr id="4" name="tile"/>
          <p:cNvSpPr/>
          <p:nvPr/>
        </p:nvSpPr>
        <p:spPr>
          <a:xfrm>
            <a:off x="895380" y="2258019"/>
            <a:ext cx="381030" cy="381030"/>
          </a:xfrm>
          <a:prstGeom prst="roundRect">
            <a:avLst>
              <a:gd name="adj" fmla="val 29998"/>
            </a:avLst>
          </a:prstGeom>
          <a:solidFill>
            <a:srgbClr val="044BD9">
              <a:alpha val="8000"/>
            </a:srgbClr>
          </a:solidFill>
          <a:ln/>
        </p:spPr>
      </p:sp>
      <p:pic>
        <p:nvPicPr>
          <p:cNvPr id="5" name="Icon" descr="/tmp/deck-pptx-47cOtg/icon-16.png">    </p:cNvPr>
          <p:cNvPicPr>
            <a:picLocks noChangeAspect="1"/>
          </p:cNvPicPr>
          <p:nvPr/>
        </p:nvPicPr>
        <p:blipFill>
          <a:blip r:embed="rId1"/>
          <a:stretch>
            <a:fillRect/>
          </a:stretch>
        </p:blipFill>
        <p:spPr>
          <a:xfrm>
            <a:off x="996970" y="2359609"/>
            <a:ext cx="177759" cy="177759"/>
          </a:xfrm>
          <a:prstGeom prst="rect">
            <a:avLst/>
          </a:prstGeom>
        </p:spPr>
      </p:pic>
      <p:sp>
        <p:nvSpPr>
          <p:cNvPr id="6" name="card"/>
          <p:cNvSpPr/>
          <p:nvPr/>
        </p:nvSpPr>
        <p:spPr>
          <a:xfrm>
            <a:off x="2893619" y="2077060"/>
            <a:ext cx="2045970" cy="2286000"/>
          </a:xfrm>
          <a:prstGeom prst="roundRect">
            <a:avLst>
              <a:gd name="adj" fmla="val 7294"/>
            </a:avLst>
          </a:prstGeom>
          <a:solidFill>
            <a:srgbClr val="FFFFFF"/>
          </a:solidFill>
          <a:ln w="6350">
            <a:solidFill>
              <a:srgbClr val="F0F0F0"/>
            </a:solidFill>
            <a:prstDash val="solid"/>
          </a:ln>
        </p:spPr>
      </p:sp>
      <p:sp>
        <p:nvSpPr>
          <p:cNvPr id="7" name="tile"/>
          <p:cNvSpPr/>
          <p:nvPr/>
        </p:nvSpPr>
        <p:spPr>
          <a:xfrm>
            <a:off x="3074579" y="2258019"/>
            <a:ext cx="381030" cy="381030"/>
          </a:xfrm>
          <a:prstGeom prst="roundRect">
            <a:avLst>
              <a:gd name="adj" fmla="val 29998"/>
            </a:avLst>
          </a:prstGeom>
          <a:solidFill>
            <a:srgbClr val="044BD9">
              <a:alpha val="8000"/>
            </a:srgbClr>
          </a:solidFill>
          <a:ln/>
        </p:spPr>
      </p:sp>
      <p:pic>
        <p:nvPicPr>
          <p:cNvPr id="8" name="Icon" descr="/tmp/deck-pptx-47cOtg/icon-17.png">    </p:cNvPr>
          <p:cNvPicPr>
            <a:picLocks noChangeAspect="1"/>
          </p:cNvPicPr>
          <p:nvPr/>
        </p:nvPicPr>
        <p:blipFill>
          <a:blip r:embed="rId2"/>
          <a:stretch>
            <a:fillRect/>
          </a:stretch>
        </p:blipFill>
        <p:spPr>
          <a:xfrm>
            <a:off x="3176168" y="2359609"/>
            <a:ext cx="177759" cy="177759"/>
          </a:xfrm>
          <a:prstGeom prst="rect">
            <a:avLst/>
          </a:prstGeom>
        </p:spPr>
      </p:pic>
      <p:sp>
        <p:nvSpPr>
          <p:cNvPr id="9" name="card"/>
          <p:cNvSpPr/>
          <p:nvPr/>
        </p:nvSpPr>
        <p:spPr>
          <a:xfrm>
            <a:off x="5073000" y="2077060"/>
            <a:ext cx="2045970" cy="2286000"/>
          </a:xfrm>
          <a:prstGeom prst="roundRect">
            <a:avLst>
              <a:gd name="adj" fmla="val 7294"/>
            </a:avLst>
          </a:prstGeom>
          <a:solidFill>
            <a:srgbClr val="FFFFFF"/>
          </a:solidFill>
          <a:ln w="6350">
            <a:solidFill>
              <a:srgbClr val="F0F0F0"/>
            </a:solidFill>
            <a:prstDash val="solid"/>
          </a:ln>
        </p:spPr>
      </p:sp>
      <p:sp>
        <p:nvSpPr>
          <p:cNvPr id="10" name="tile"/>
          <p:cNvSpPr/>
          <p:nvPr/>
        </p:nvSpPr>
        <p:spPr>
          <a:xfrm>
            <a:off x="5253960" y="2258019"/>
            <a:ext cx="381030" cy="381030"/>
          </a:xfrm>
          <a:prstGeom prst="roundRect">
            <a:avLst>
              <a:gd name="adj" fmla="val 29998"/>
            </a:avLst>
          </a:prstGeom>
          <a:solidFill>
            <a:srgbClr val="044BD9">
              <a:alpha val="8000"/>
            </a:srgbClr>
          </a:solidFill>
          <a:ln/>
        </p:spPr>
      </p:sp>
      <p:pic>
        <p:nvPicPr>
          <p:cNvPr id="11" name="Icon" descr="/tmp/deck-pptx-47cOtg/icon-18.png">    </p:cNvPr>
          <p:cNvPicPr>
            <a:picLocks noChangeAspect="1"/>
          </p:cNvPicPr>
          <p:nvPr/>
        </p:nvPicPr>
        <p:blipFill>
          <a:blip r:embed="rId3"/>
          <a:stretch>
            <a:fillRect/>
          </a:stretch>
        </p:blipFill>
        <p:spPr>
          <a:xfrm>
            <a:off x="5355549" y="2359609"/>
            <a:ext cx="177759" cy="177759"/>
          </a:xfrm>
          <a:prstGeom prst="rect">
            <a:avLst/>
          </a:prstGeom>
        </p:spPr>
      </p:pic>
      <p:sp>
        <p:nvSpPr>
          <p:cNvPr id="12" name="card"/>
          <p:cNvSpPr/>
          <p:nvPr/>
        </p:nvSpPr>
        <p:spPr>
          <a:xfrm>
            <a:off x="7252289" y="2077060"/>
            <a:ext cx="2045970" cy="2286000"/>
          </a:xfrm>
          <a:prstGeom prst="roundRect">
            <a:avLst>
              <a:gd name="adj" fmla="val 7294"/>
            </a:avLst>
          </a:prstGeom>
          <a:solidFill>
            <a:srgbClr val="FFFFFF"/>
          </a:solidFill>
          <a:ln w="6350">
            <a:solidFill>
              <a:srgbClr val="F0F0F0"/>
            </a:solidFill>
            <a:prstDash val="solid"/>
          </a:ln>
        </p:spPr>
      </p:sp>
      <p:sp>
        <p:nvSpPr>
          <p:cNvPr id="13" name="tile"/>
          <p:cNvSpPr/>
          <p:nvPr/>
        </p:nvSpPr>
        <p:spPr>
          <a:xfrm>
            <a:off x="7433249" y="2258019"/>
            <a:ext cx="381030" cy="381030"/>
          </a:xfrm>
          <a:prstGeom prst="roundRect">
            <a:avLst>
              <a:gd name="adj" fmla="val 29998"/>
            </a:avLst>
          </a:prstGeom>
          <a:solidFill>
            <a:srgbClr val="044BD9">
              <a:alpha val="8000"/>
            </a:srgbClr>
          </a:solidFill>
          <a:ln/>
        </p:spPr>
      </p:sp>
      <p:pic>
        <p:nvPicPr>
          <p:cNvPr id="14" name="Icon" descr="/tmp/deck-pptx-47cOtg/icon-19.png">    </p:cNvPr>
          <p:cNvPicPr>
            <a:picLocks noChangeAspect="1"/>
          </p:cNvPicPr>
          <p:nvPr/>
        </p:nvPicPr>
        <p:blipFill>
          <a:blip r:embed="rId4"/>
          <a:stretch>
            <a:fillRect/>
          </a:stretch>
        </p:blipFill>
        <p:spPr>
          <a:xfrm>
            <a:off x="7534839" y="2359609"/>
            <a:ext cx="177759" cy="177759"/>
          </a:xfrm>
          <a:prstGeom prst="rect">
            <a:avLst/>
          </a:prstGeom>
        </p:spPr>
      </p:pic>
      <p:sp>
        <p:nvSpPr>
          <p:cNvPr id="15" name="card"/>
          <p:cNvSpPr/>
          <p:nvPr/>
        </p:nvSpPr>
        <p:spPr>
          <a:xfrm>
            <a:off x="9431670" y="2077060"/>
            <a:ext cx="2045970" cy="2286000"/>
          </a:xfrm>
          <a:prstGeom prst="roundRect">
            <a:avLst>
              <a:gd name="adj" fmla="val 7294"/>
            </a:avLst>
          </a:prstGeom>
          <a:solidFill>
            <a:srgbClr val="FFFFFF"/>
          </a:solidFill>
          <a:ln w="6350">
            <a:solidFill>
              <a:srgbClr val="F0F0F0"/>
            </a:solidFill>
            <a:prstDash val="solid"/>
          </a:ln>
        </p:spPr>
      </p:sp>
      <p:sp>
        <p:nvSpPr>
          <p:cNvPr id="16" name="tile"/>
          <p:cNvSpPr/>
          <p:nvPr/>
        </p:nvSpPr>
        <p:spPr>
          <a:xfrm>
            <a:off x="9612630" y="2258019"/>
            <a:ext cx="381030" cy="381030"/>
          </a:xfrm>
          <a:prstGeom prst="roundRect">
            <a:avLst>
              <a:gd name="adj" fmla="val 29998"/>
            </a:avLst>
          </a:prstGeom>
          <a:solidFill>
            <a:srgbClr val="044BD9">
              <a:alpha val="8000"/>
            </a:srgbClr>
          </a:solidFill>
          <a:ln/>
        </p:spPr>
      </p:sp>
      <p:pic>
        <p:nvPicPr>
          <p:cNvPr id="17" name="Icon" descr="/tmp/deck-pptx-47cOtg/icon-20.png">    </p:cNvPr>
          <p:cNvPicPr>
            <a:picLocks noChangeAspect="1"/>
          </p:cNvPicPr>
          <p:nvPr/>
        </p:nvPicPr>
        <p:blipFill>
          <a:blip r:embed="rId5"/>
          <a:stretch>
            <a:fillRect/>
          </a:stretch>
        </p:blipFill>
        <p:spPr>
          <a:xfrm>
            <a:off x="9714220" y="2359609"/>
            <a:ext cx="177759" cy="177759"/>
          </a:xfrm>
          <a:prstGeom prst="rect">
            <a:avLst/>
          </a:prstGeom>
        </p:spPr>
      </p:pic>
      <p:sp>
        <p:nvSpPr>
          <p:cNvPr id="18" name="card"/>
          <p:cNvSpPr/>
          <p:nvPr/>
        </p:nvSpPr>
        <p:spPr>
          <a:xfrm>
            <a:off x="714421" y="4496379"/>
            <a:ext cx="10763220" cy="1581180"/>
          </a:xfrm>
          <a:prstGeom prst="roundRect">
            <a:avLst>
              <a:gd name="adj" fmla="val 9438"/>
            </a:avLst>
          </a:prstGeom>
          <a:solidFill>
            <a:srgbClr val="FFFFFF"/>
          </a:solidFill>
          <a:ln w="6350">
            <a:solidFill>
              <a:srgbClr val="F0F0F0"/>
            </a:solidFill>
            <a:prstDash val="solid"/>
          </a:ln>
        </p:spPr>
      </p:sp>
      <p:sp>
        <p:nvSpPr>
          <p:cNvPr id="19" name="Rule"/>
          <p:cNvSpPr/>
          <p:nvPr/>
        </p:nvSpPr>
        <p:spPr>
          <a:xfrm>
            <a:off x="4502140" y="4655119"/>
            <a:ext cx="1584289" cy="0"/>
          </a:xfrm>
          <a:prstGeom prst="line">
            <a:avLst/>
          </a:prstGeom>
          <a:noFill/>
          <a:ln w="6350">
            <a:solidFill>
              <a:srgbClr val="E3E6EC"/>
            </a:solidFill>
            <a:prstDash val="solid"/>
          </a:ln>
        </p:spPr>
      </p:sp>
      <p:sp>
        <p:nvSpPr>
          <p:cNvPr id="20" name="Rule"/>
          <p:cNvSpPr/>
          <p:nvPr/>
        </p:nvSpPr>
        <p:spPr>
          <a:xfrm>
            <a:off x="6238860" y="4655119"/>
            <a:ext cx="1584289" cy="0"/>
          </a:xfrm>
          <a:prstGeom prst="line">
            <a:avLst/>
          </a:prstGeom>
          <a:noFill/>
          <a:ln w="6350">
            <a:solidFill>
              <a:srgbClr val="E3E6EC"/>
            </a:solidFill>
            <a:prstDash val="solid"/>
          </a:ln>
        </p:spPr>
      </p:sp>
      <p:sp>
        <p:nvSpPr>
          <p:cNvPr id="21" name="Rule"/>
          <p:cNvSpPr/>
          <p:nvPr/>
        </p:nvSpPr>
        <p:spPr>
          <a:xfrm>
            <a:off x="7975580" y="4655119"/>
            <a:ext cx="1584289" cy="0"/>
          </a:xfrm>
          <a:prstGeom prst="line">
            <a:avLst/>
          </a:prstGeom>
          <a:noFill/>
          <a:ln w="6350">
            <a:solidFill>
              <a:srgbClr val="E3E6EC"/>
            </a:solidFill>
            <a:prstDash val="solid"/>
          </a:ln>
        </p:spPr>
      </p:sp>
      <p:sp>
        <p:nvSpPr>
          <p:cNvPr id="22" name="Rule"/>
          <p:cNvSpPr/>
          <p:nvPr/>
        </p:nvSpPr>
        <p:spPr>
          <a:xfrm>
            <a:off x="9712300" y="4655119"/>
            <a:ext cx="1584289" cy="0"/>
          </a:xfrm>
          <a:prstGeom prst="line">
            <a:avLst/>
          </a:prstGeom>
          <a:noFill/>
          <a:ln w="6350">
            <a:solidFill>
              <a:srgbClr val="E3E6EC"/>
            </a:solidFill>
            <a:prstDash val="solid"/>
          </a:ln>
        </p:spPr>
      </p:sp>
      <p:sp>
        <p:nvSpPr>
          <p:cNvPr id="23" name="logo-cell"/>
          <p:cNvSpPr/>
          <p:nvPr/>
        </p:nvSpPr>
        <p:spPr>
          <a:xfrm>
            <a:off x="898489" y="5455219"/>
            <a:ext cx="1216061" cy="463509"/>
          </a:xfrm>
          <a:prstGeom prst="roundRect">
            <a:avLst>
              <a:gd name="adj" fmla="val 21227"/>
            </a:avLst>
          </a:prstGeom>
          <a:solidFill>
            <a:srgbClr val="FFFFFF"/>
          </a:solidFill>
          <a:ln w="6350">
            <a:solidFill>
              <a:srgbClr val="F0F0F0"/>
            </a:solidFill>
            <a:prstDash val="solid"/>
          </a:ln>
        </p:spPr>
      </p:sp>
      <p:pic>
        <p:nvPicPr>
          <p:cNvPr id="24" name="Picture" descr="Yale University">    </p:cNvPr>
          <p:cNvPicPr>
            <a:picLocks noChangeAspect="1"/>
          </p:cNvPicPr>
          <p:nvPr/>
        </p:nvPicPr>
        <p:blipFill>
          <a:blip r:embed="rId6"/>
          <a:stretch>
            <a:fillRect/>
          </a:stretch>
        </p:blipFill>
        <p:spPr>
          <a:xfrm>
            <a:off x="1214506" y="5560009"/>
            <a:ext cx="583936" cy="254020"/>
          </a:xfrm>
          <a:prstGeom prst="rect">
            <a:avLst/>
          </a:prstGeom>
        </p:spPr>
      </p:pic>
      <p:sp>
        <p:nvSpPr>
          <p:cNvPr id="25" name="logo-cell"/>
          <p:cNvSpPr/>
          <p:nvPr/>
        </p:nvSpPr>
        <p:spPr>
          <a:xfrm>
            <a:off x="2209830" y="5455219"/>
            <a:ext cx="1216061" cy="463509"/>
          </a:xfrm>
          <a:prstGeom prst="roundRect">
            <a:avLst>
              <a:gd name="adj" fmla="val 21227"/>
            </a:avLst>
          </a:prstGeom>
          <a:solidFill>
            <a:srgbClr val="FFFFFF"/>
          </a:solidFill>
          <a:ln w="6350">
            <a:solidFill>
              <a:srgbClr val="F0F0F0"/>
            </a:solidFill>
            <a:prstDash val="solid"/>
          </a:ln>
        </p:spPr>
      </p:sp>
      <p:pic>
        <p:nvPicPr>
          <p:cNvPr id="26" name="Picture" descr="University of Toronto">    </p:cNvPr>
          <p:cNvPicPr>
            <a:picLocks noChangeAspect="1"/>
          </p:cNvPicPr>
          <p:nvPr/>
        </p:nvPicPr>
        <p:blipFill>
          <a:blip r:embed="rId7"/>
          <a:stretch>
            <a:fillRect/>
          </a:stretch>
        </p:blipFill>
        <p:spPr>
          <a:xfrm>
            <a:off x="2470343" y="5509260"/>
            <a:ext cx="694853" cy="368229"/>
          </a:xfrm>
          <a:prstGeom prst="rect">
            <a:avLst/>
          </a:prstGeom>
        </p:spPr>
      </p:pic>
      <p:sp>
        <p:nvSpPr>
          <p:cNvPr id="27" name="logo-cell"/>
          <p:cNvSpPr/>
          <p:nvPr/>
        </p:nvSpPr>
        <p:spPr>
          <a:xfrm>
            <a:off x="3521080" y="5455219"/>
            <a:ext cx="1216061" cy="463509"/>
          </a:xfrm>
          <a:prstGeom prst="roundRect">
            <a:avLst>
              <a:gd name="adj" fmla="val 21227"/>
            </a:avLst>
          </a:prstGeom>
          <a:solidFill>
            <a:srgbClr val="FFFFFF"/>
          </a:solidFill>
          <a:ln w="6350">
            <a:solidFill>
              <a:srgbClr val="F0F0F0"/>
            </a:solidFill>
            <a:prstDash val="solid"/>
          </a:ln>
        </p:spPr>
      </p:sp>
      <p:pic>
        <p:nvPicPr>
          <p:cNvPr id="28" name="Picture" descr="University of Illinois">    </p:cNvPr>
          <p:cNvPicPr>
            <a:picLocks noChangeAspect="1"/>
          </p:cNvPicPr>
          <p:nvPr/>
        </p:nvPicPr>
        <p:blipFill>
          <a:blip r:embed="rId8"/>
          <a:stretch>
            <a:fillRect/>
          </a:stretch>
        </p:blipFill>
        <p:spPr>
          <a:xfrm>
            <a:off x="3701125" y="5560009"/>
            <a:ext cx="855878" cy="254020"/>
          </a:xfrm>
          <a:prstGeom prst="rect">
            <a:avLst/>
          </a:prstGeom>
        </p:spPr>
      </p:pic>
      <p:sp>
        <p:nvSpPr>
          <p:cNvPr id="29" name="logo-cell"/>
          <p:cNvSpPr/>
          <p:nvPr/>
        </p:nvSpPr>
        <p:spPr>
          <a:xfrm>
            <a:off x="4832330" y="5455219"/>
            <a:ext cx="1216061" cy="463509"/>
          </a:xfrm>
          <a:prstGeom prst="roundRect">
            <a:avLst>
              <a:gd name="adj" fmla="val 21227"/>
            </a:avLst>
          </a:prstGeom>
          <a:solidFill>
            <a:srgbClr val="FFFFFF"/>
          </a:solidFill>
          <a:ln w="6350">
            <a:solidFill>
              <a:srgbClr val="F0F0F0"/>
            </a:solidFill>
            <a:prstDash val="solid"/>
          </a:ln>
        </p:spPr>
      </p:sp>
      <p:pic>
        <p:nvPicPr>
          <p:cNvPr id="30" name="Picture" descr="Taylor’s University">    </p:cNvPr>
          <p:cNvPicPr>
            <a:picLocks noChangeAspect="1"/>
          </p:cNvPicPr>
          <p:nvPr/>
        </p:nvPicPr>
        <p:blipFill>
          <a:blip r:embed="rId9"/>
          <a:stretch>
            <a:fillRect/>
          </a:stretch>
        </p:blipFill>
        <p:spPr>
          <a:xfrm>
            <a:off x="5000305" y="5521970"/>
            <a:ext cx="879927" cy="330190"/>
          </a:xfrm>
          <a:prstGeom prst="rect">
            <a:avLst/>
          </a:prstGeom>
        </p:spPr>
      </p:pic>
      <p:sp>
        <p:nvSpPr>
          <p:cNvPr id="31" name="logo-cell"/>
          <p:cNvSpPr/>
          <p:nvPr/>
        </p:nvSpPr>
        <p:spPr>
          <a:xfrm>
            <a:off x="6143671" y="5455219"/>
            <a:ext cx="1216061" cy="463509"/>
          </a:xfrm>
          <a:prstGeom prst="roundRect">
            <a:avLst>
              <a:gd name="adj" fmla="val 21227"/>
            </a:avLst>
          </a:prstGeom>
          <a:solidFill>
            <a:srgbClr val="FFFFFF"/>
          </a:solidFill>
          <a:ln w="6350">
            <a:solidFill>
              <a:srgbClr val="F0F0F0"/>
            </a:solidFill>
            <a:prstDash val="solid"/>
          </a:ln>
        </p:spPr>
      </p:sp>
      <p:pic>
        <p:nvPicPr>
          <p:cNvPr id="32" name="Picture" descr="Sunway University">    </p:cNvPr>
          <p:cNvPicPr>
            <a:picLocks noChangeAspect="1"/>
          </p:cNvPicPr>
          <p:nvPr/>
        </p:nvPicPr>
        <p:blipFill>
          <a:blip r:embed="rId10"/>
          <a:stretch>
            <a:fillRect/>
          </a:stretch>
        </p:blipFill>
        <p:spPr>
          <a:xfrm>
            <a:off x="6384707" y="5537789"/>
            <a:ext cx="733806" cy="298460"/>
          </a:xfrm>
          <a:prstGeom prst="rect">
            <a:avLst/>
          </a:prstGeom>
        </p:spPr>
      </p:pic>
      <p:sp>
        <p:nvSpPr>
          <p:cNvPr id="33" name="logo-cell"/>
          <p:cNvSpPr/>
          <p:nvPr/>
        </p:nvSpPr>
        <p:spPr>
          <a:xfrm>
            <a:off x="7454920" y="5455219"/>
            <a:ext cx="1216061" cy="463509"/>
          </a:xfrm>
          <a:prstGeom prst="roundRect">
            <a:avLst>
              <a:gd name="adj" fmla="val 21227"/>
            </a:avLst>
          </a:prstGeom>
          <a:solidFill>
            <a:srgbClr val="FFFFFF"/>
          </a:solidFill>
          <a:ln w="6350">
            <a:solidFill>
              <a:srgbClr val="F0F0F0"/>
            </a:solidFill>
            <a:prstDash val="solid"/>
          </a:ln>
        </p:spPr>
      </p:sp>
      <p:pic>
        <p:nvPicPr>
          <p:cNvPr id="34" name="Picture" descr="Universiti Kebangsaan Malaysia">    </p:cNvPr>
          <p:cNvPicPr>
            <a:picLocks noChangeAspect="1"/>
          </p:cNvPicPr>
          <p:nvPr/>
        </p:nvPicPr>
        <p:blipFill>
          <a:blip r:embed="rId11"/>
          <a:stretch>
            <a:fillRect/>
          </a:stretch>
        </p:blipFill>
        <p:spPr>
          <a:xfrm>
            <a:off x="7699980" y="5509260"/>
            <a:ext cx="725759" cy="368229"/>
          </a:xfrm>
          <a:prstGeom prst="rect">
            <a:avLst/>
          </a:prstGeom>
        </p:spPr>
      </p:pic>
      <p:sp>
        <p:nvSpPr>
          <p:cNvPr id="35" name="logo-cell"/>
          <p:cNvSpPr/>
          <p:nvPr/>
        </p:nvSpPr>
        <p:spPr>
          <a:xfrm>
            <a:off x="8766170" y="5455219"/>
            <a:ext cx="1216061" cy="463509"/>
          </a:xfrm>
          <a:prstGeom prst="roundRect">
            <a:avLst>
              <a:gd name="adj" fmla="val 21227"/>
            </a:avLst>
          </a:prstGeom>
          <a:solidFill>
            <a:srgbClr val="FFFFFF"/>
          </a:solidFill>
          <a:ln w="6350">
            <a:solidFill>
              <a:srgbClr val="F0F0F0"/>
            </a:solidFill>
            <a:prstDash val="solid"/>
          </a:ln>
        </p:spPr>
      </p:sp>
      <p:pic>
        <p:nvPicPr>
          <p:cNvPr id="36" name="Picture" descr="Universiti Teknologi MARA">    </p:cNvPr>
          <p:cNvPicPr>
            <a:picLocks noChangeAspect="1"/>
          </p:cNvPicPr>
          <p:nvPr/>
        </p:nvPicPr>
        <p:blipFill>
          <a:blip r:embed="rId12"/>
          <a:stretch>
            <a:fillRect/>
          </a:stretch>
        </p:blipFill>
        <p:spPr>
          <a:xfrm>
            <a:off x="8996050" y="5521970"/>
            <a:ext cx="756117" cy="330190"/>
          </a:xfrm>
          <a:prstGeom prst="rect">
            <a:avLst/>
          </a:prstGeom>
        </p:spPr>
      </p:pic>
      <p:sp>
        <p:nvSpPr>
          <p:cNvPr id="37" name="logo-cell"/>
          <p:cNvSpPr/>
          <p:nvPr/>
        </p:nvSpPr>
        <p:spPr>
          <a:xfrm>
            <a:off x="10077420" y="5455219"/>
            <a:ext cx="1216061" cy="463509"/>
          </a:xfrm>
          <a:prstGeom prst="roundRect">
            <a:avLst>
              <a:gd name="adj" fmla="val 21227"/>
            </a:avLst>
          </a:prstGeom>
          <a:solidFill>
            <a:srgbClr val="FFFFFF"/>
          </a:solidFill>
          <a:ln w="6350">
            <a:solidFill>
              <a:srgbClr val="F0F0F0"/>
            </a:solidFill>
            <a:prstDash val="solid"/>
          </a:ln>
        </p:spPr>
      </p:sp>
      <p:pic>
        <p:nvPicPr>
          <p:cNvPr id="38" name="Picture" descr="Multimedia University">    </p:cNvPr>
          <p:cNvPicPr>
            <a:picLocks noChangeAspect="1"/>
          </p:cNvPicPr>
          <p:nvPr/>
        </p:nvPicPr>
        <p:blipFill>
          <a:blip r:embed="rId13"/>
          <a:stretch>
            <a:fillRect/>
          </a:stretch>
        </p:blipFill>
        <p:spPr>
          <a:xfrm>
            <a:off x="10282702" y="5569519"/>
            <a:ext cx="805495" cy="234909"/>
          </a:xfrm>
          <a:prstGeom prst="rect">
            <a:avLst/>
          </a:prstGeom>
        </p:spPr>
      </p:pic>
      <p:sp>
        <p:nvSpPr>
          <p:cNvPr id="39" name="span::before"/>
          <p:cNvSpPr/>
          <p:nvPr/>
        </p:nvSpPr>
        <p:spPr>
          <a:xfrm>
            <a:off x="6191860" y="311170"/>
            <a:ext cx="44440" cy="44440"/>
          </a:xfrm>
          <a:prstGeom prst="rect">
            <a:avLst/>
          </a:prstGeom>
          <a:solidFill>
            <a:srgbClr val="A0A6AF">
              <a:alpha val="55000"/>
            </a:srgbClr>
          </a:solidFill>
          <a:ln/>
        </p:spPr>
      </p:sp>
      <p:sp>
        <p:nvSpPr>
          <p:cNvPr id="40" name="on::before"/>
          <p:cNvSpPr/>
          <p:nvPr/>
        </p:nvSpPr>
        <p:spPr>
          <a:xfrm>
            <a:off x="7145213" y="311170"/>
            <a:ext cx="44440" cy="44440"/>
          </a:xfrm>
          <a:prstGeom prst="rect">
            <a:avLst/>
          </a:prstGeom>
          <a:solidFill>
            <a:srgbClr val="044BD9"/>
          </a:solidFill>
          <a:ln/>
        </p:spPr>
      </p:sp>
      <p:sp>
        <p:nvSpPr>
          <p:cNvPr id="41" name="span::before"/>
          <p:cNvSpPr/>
          <p:nvPr/>
        </p:nvSpPr>
        <p:spPr>
          <a:xfrm>
            <a:off x="8056230" y="311170"/>
            <a:ext cx="44440" cy="44440"/>
          </a:xfrm>
          <a:prstGeom prst="rect">
            <a:avLst/>
          </a:prstGeom>
          <a:solidFill>
            <a:srgbClr val="A0A6AF">
              <a:alpha val="55000"/>
            </a:srgbClr>
          </a:solidFill>
          <a:ln/>
        </p:spPr>
      </p:sp>
      <p:sp>
        <p:nvSpPr>
          <p:cNvPr id="42" name="span::before"/>
          <p:cNvSpPr/>
          <p:nvPr/>
        </p:nvSpPr>
        <p:spPr>
          <a:xfrm>
            <a:off x="8972550" y="311170"/>
            <a:ext cx="44440" cy="44440"/>
          </a:xfrm>
          <a:prstGeom prst="rect">
            <a:avLst/>
          </a:prstGeom>
          <a:solidFill>
            <a:srgbClr val="A0A6AF">
              <a:alpha val="55000"/>
            </a:srgbClr>
          </a:solidFill>
          <a:ln/>
        </p:spPr>
      </p:sp>
      <p:sp>
        <p:nvSpPr>
          <p:cNvPr id="43" name="span::before"/>
          <p:cNvSpPr/>
          <p:nvPr/>
        </p:nvSpPr>
        <p:spPr>
          <a:xfrm>
            <a:off x="10421142" y="311170"/>
            <a:ext cx="44440" cy="44440"/>
          </a:xfrm>
          <a:prstGeom prst="rect">
            <a:avLst/>
          </a:prstGeom>
          <a:solidFill>
            <a:srgbClr val="A0A6AF">
              <a:alpha val="55000"/>
            </a:srgbClr>
          </a:solidFill>
          <a:ln/>
        </p:spPr>
      </p:sp>
      <p:sp>
        <p:nvSpPr>
          <p:cNvPr id="44" name="span::before"/>
          <p:cNvSpPr/>
          <p:nvPr/>
        </p:nvSpPr>
        <p:spPr>
          <a:xfrm>
            <a:off x="10966216" y="311170"/>
            <a:ext cx="44440" cy="44440"/>
          </a:xfrm>
          <a:prstGeom prst="rect">
            <a:avLst/>
          </a:prstGeom>
          <a:solidFill>
            <a:srgbClr val="A0A6AF">
              <a:alpha val="55000"/>
            </a:srgbClr>
          </a:solidFill>
          <a:ln/>
        </p:spPr>
      </p:sp>
      <p:sp>
        <p:nvSpPr>
          <p:cNvPr id="45" name="Text"/>
          <p:cNvSpPr txBox="1"/>
          <p:nvPr/>
        </p:nvSpPr>
        <p:spPr>
          <a:xfrm>
            <a:off x="844540" y="603230"/>
            <a:ext cx="444033" cy="120609"/>
          </a:xfrm>
          <a:prstGeom prst="rect">
            <a:avLst/>
          </a:prstGeom>
          <a:noFill/>
          <a:ln/>
        </p:spPr>
        <p:txBody>
          <a:bodyPr wrap="none" lIns="0" tIns="0" rIns="0" bIns="0" rtlCol="0" anchor="t"/>
          <a:lstStyle/>
          <a:p>
            <a:pPr algn="l" indent="0" marL="0">
              <a:lnSpc>
                <a:spcPts val="950"/>
              </a:lnSpc>
              <a:buNone/>
            </a:pPr>
            <a:r>
              <a:rPr lang="en-US" sz="950" spc="10" kern="0" dirty="0">
                <a:solidFill>
                  <a:srgbClr val="155DFC"/>
                </a:solidFill>
                <a:latin typeface="Poppins Medium" pitchFamily="34" charset="0"/>
                <a:ea typeface="Poppins Medium" pitchFamily="34" charset="-122"/>
                <a:cs typeface="Poppins Medium" pitchFamily="34" charset="-120"/>
              </a:rPr>
              <a:t>People</a:t>
            </a:r>
            <a:endParaRPr lang="en-US" sz="950" dirty="0"/>
          </a:p>
        </p:txBody>
      </p:sp>
      <p:sp>
        <p:nvSpPr>
          <p:cNvPr id="46" name="Title"/>
          <p:cNvSpPr txBox="1"/>
          <p:nvPr/>
        </p:nvSpPr>
        <p:spPr>
          <a:xfrm>
            <a:off x="711220" y="927750"/>
            <a:ext cx="6730990" cy="861090"/>
          </a:xfrm>
          <a:prstGeom prst="rect">
            <a:avLst/>
          </a:prstGeom>
          <a:noFill/>
          <a:ln/>
        </p:spPr>
        <p:txBody>
          <a:bodyPr wrap="square" lIns="0" tIns="0" rIns="0" bIns="0" rtlCol="0" anchor="t"/>
          <a:lstStyle/>
          <a:p>
            <a:pPr algn="l" indent="0" marL="0">
              <a:lnSpc>
                <a:spcPts val="3390"/>
              </a:lnSpc>
              <a:buNone/>
            </a:pPr>
            <a:r>
              <a:rPr lang="en-US" sz="3000" spc="-45" kern="0" dirty="0">
                <a:solidFill>
                  <a:srgbClr val="000000"/>
                </a:solidFill>
                <a:latin typeface="Poppins Medium" pitchFamily="34" charset="0"/>
                <a:ea typeface="Poppins Medium" pitchFamily="34" charset="-122"/>
                <a:cs typeface="Poppins Medium" pitchFamily="34" charset="-120"/>
              </a:rPr>
              <a:t>The people who scope your</a:t>
            </a:r>
            <a:endParaRPr lang="en-US" sz="3000" dirty="0"/>
          </a:p>
          <a:p>
            <a:pPr algn="l" indent="0" marL="0">
              <a:lnSpc>
                <a:spcPts val="3390"/>
              </a:lnSpc>
              <a:buNone/>
            </a:pPr>
            <a:r>
              <a:rPr lang="en-US" sz="3000" spc="-45" kern="0" dirty="0">
                <a:solidFill>
                  <a:srgbClr val="000000"/>
                </a:solidFill>
                <a:latin typeface="Poppins Medium" pitchFamily="34" charset="0"/>
                <a:ea typeface="Poppins Medium" pitchFamily="34" charset="-122"/>
                <a:cs typeface="Poppins Medium" pitchFamily="34" charset="-120"/>
              </a:rPr>
              <a:t>system are the people who build it</a:t>
            </a:r>
            <a:endParaRPr lang="en-US" sz="3000" dirty="0"/>
          </a:p>
        </p:txBody>
      </p:sp>
      <p:sp>
        <p:nvSpPr>
          <p:cNvPr id="47" name="Text"/>
          <p:cNvSpPr txBox="1"/>
          <p:nvPr/>
        </p:nvSpPr>
        <p:spPr>
          <a:xfrm>
            <a:off x="8178759" y="1141537"/>
            <a:ext cx="3327867" cy="649590"/>
          </a:xfrm>
          <a:prstGeom prst="rect">
            <a:avLst/>
          </a:prstGeom>
          <a:noFill/>
          <a:ln/>
        </p:spPr>
        <p:txBody>
          <a:bodyPr wrap="square" lIns="0" tIns="0" rIns="0" bIns="0" rtlCol="0" anchor="t"/>
          <a:lstStyle/>
          <a:p>
            <a:pPr algn="l" indent="0" marL="0">
              <a:lnSpc>
                <a:spcPts val="1705"/>
              </a:lnSpc>
              <a:buNone/>
            </a:pPr>
            <a:r>
              <a:rPr lang="en-US" sz="1100" dirty="0">
                <a:solidFill>
                  <a:srgbClr val="6B6B6B"/>
                </a:solidFill>
                <a:latin typeface="Poppins Light" pitchFamily="34" charset="0"/>
                <a:ea typeface="Poppins Light" pitchFamily="34" charset="-122"/>
                <a:cs typeface="Poppins Light" pitchFamily="34" charset="-120"/>
              </a:rPr>
              <a:t>A 100% Malaysian team, led by a founder who still writes code. We hire across five role families, all working on real client systems.</a:t>
            </a:r>
            <a:endParaRPr lang="en-US" sz="1100" dirty="0"/>
          </a:p>
        </p:txBody>
      </p:sp>
      <p:sp>
        <p:nvSpPr>
          <p:cNvPr id="48" name="Text"/>
          <p:cNvSpPr txBox="1"/>
          <p:nvPr/>
        </p:nvSpPr>
        <p:spPr>
          <a:xfrm>
            <a:off x="895380" y="2712019"/>
            <a:ext cx="1703344" cy="203180"/>
          </a:xfrm>
          <a:prstGeom prst="rect">
            <a:avLst/>
          </a:prstGeom>
          <a:noFill/>
          <a:ln/>
        </p:spPr>
        <p:txBody>
          <a:bodyPr wrap="square" lIns="0" tIns="0" rIns="0" bIns="0" rtlCol="0" anchor="t"/>
          <a:lstStyle/>
          <a:p>
            <a:pPr algn="l" indent="0" marL="0">
              <a:lnSpc>
                <a:spcPts val="1600"/>
              </a:lnSpc>
              <a:buNone/>
            </a:pPr>
            <a:r>
              <a:rPr lang="en-US" sz="1250" dirty="0">
                <a:solidFill>
                  <a:srgbClr val="000000"/>
                </a:solidFill>
                <a:latin typeface="Poppins Medium" pitchFamily="34" charset="0"/>
                <a:ea typeface="Poppins Medium" pitchFamily="34" charset="-122"/>
                <a:cs typeface="Poppins Medium" pitchFamily="34" charset="-120"/>
              </a:rPr>
              <a:t>AI engineers</a:t>
            </a:r>
            <a:endParaRPr lang="en-US" sz="1250" dirty="0"/>
          </a:p>
        </p:txBody>
      </p:sp>
      <p:sp>
        <p:nvSpPr>
          <p:cNvPr id="49" name="Text"/>
          <p:cNvSpPr txBox="1"/>
          <p:nvPr/>
        </p:nvSpPr>
        <p:spPr>
          <a:xfrm>
            <a:off x="895380" y="3194639"/>
            <a:ext cx="1703344" cy="984260"/>
          </a:xfrm>
          <a:prstGeom prst="rect">
            <a:avLst/>
          </a:prstGeom>
          <a:noFill/>
          <a:ln/>
        </p:spPr>
        <p:txBody>
          <a:bodyPr wrap="square" lIns="0" tIns="0" rIns="0" bIns="0" rtlCol="0" anchor="t"/>
          <a:lstStyle/>
          <a:p>
            <a:pPr algn="l" indent="0" marL="0">
              <a:lnSpc>
                <a:spcPts val="1550"/>
              </a:lnSpc>
              <a:buNone/>
            </a:pPr>
            <a:r>
              <a:rPr lang="en-US" sz="1000" dirty="0">
                <a:solidFill>
                  <a:srgbClr val="1F2937"/>
                </a:solidFill>
                <a:latin typeface="Poppins Light" pitchFamily="34" charset="0"/>
                <a:ea typeface="Poppins Light" pitchFamily="34" charset="-122"/>
                <a:cs typeface="Poppins Light" pitchFamily="34" charset="-120"/>
              </a:rPr>
              <a:t>Build retrieval, agents and fine-tuned models, then deploy, monitor and improve them inside client systems.</a:t>
            </a:r>
            <a:endParaRPr lang="en-US" sz="1000" dirty="0"/>
          </a:p>
        </p:txBody>
      </p:sp>
      <p:sp>
        <p:nvSpPr>
          <p:cNvPr id="50" name="Text"/>
          <p:cNvSpPr txBox="1"/>
          <p:nvPr/>
        </p:nvSpPr>
        <p:spPr>
          <a:xfrm>
            <a:off x="3074579" y="2712019"/>
            <a:ext cx="1684050" cy="406359"/>
          </a:xfrm>
          <a:prstGeom prst="rect">
            <a:avLst/>
          </a:prstGeom>
          <a:noFill/>
          <a:ln/>
        </p:spPr>
        <p:txBody>
          <a:bodyPr wrap="square" lIns="0" tIns="0" rIns="0" bIns="0" rtlCol="0" anchor="t"/>
          <a:lstStyle/>
          <a:p>
            <a:pPr algn="l" indent="0" marL="0">
              <a:lnSpc>
                <a:spcPts val="1600"/>
              </a:lnSpc>
              <a:buNone/>
            </a:pPr>
            <a:r>
              <a:rPr lang="en-US" sz="1250" dirty="0">
                <a:solidFill>
                  <a:srgbClr val="000000"/>
                </a:solidFill>
                <a:latin typeface="Poppins Medium" pitchFamily="34" charset="0"/>
                <a:ea typeface="Poppins Medium" pitchFamily="34" charset="-122"/>
                <a:cs typeface="Poppins Medium" pitchFamily="34" charset="-120"/>
              </a:rPr>
              <a:t>Software engineers,</a:t>
            </a:r>
            <a:endParaRPr lang="en-US" sz="1250" dirty="0"/>
          </a:p>
          <a:p>
            <a:pPr algn="l" indent="0" marL="0">
              <a:lnSpc>
                <a:spcPts val="1600"/>
              </a:lnSpc>
              <a:buNone/>
            </a:pPr>
            <a:r>
              <a:rPr lang="en-US" sz="1250" dirty="0">
                <a:solidFill>
                  <a:srgbClr val="000000"/>
                </a:solidFill>
                <a:latin typeface="Poppins Medium" pitchFamily="34" charset="0"/>
                <a:ea typeface="Poppins Medium" pitchFamily="34" charset="-122"/>
                <a:cs typeface="Poppins Medium" pitchFamily="34" charset="-120"/>
              </a:rPr>
              <a:t>web and mobile</a:t>
            </a:r>
            <a:endParaRPr lang="en-US" sz="1250" dirty="0"/>
          </a:p>
        </p:txBody>
      </p:sp>
      <p:sp>
        <p:nvSpPr>
          <p:cNvPr id="51" name="Text"/>
          <p:cNvSpPr txBox="1"/>
          <p:nvPr/>
        </p:nvSpPr>
        <p:spPr>
          <a:xfrm>
            <a:off x="3074579" y="3194639"/>
            <a:ext cx="1703436" cy="787390"/>
          </a:xfrm>
          <a:prstGeom prst="rect">
            <a:avLst/>
          </a:prstGeom>
          <a:noFill/>
          <a:ln/>
        </p:spPr>
        <p:txBody>
          <a:bodyPr wrap="square" lIns="0" tIns="0" rIns="0" bIns="0" rtlCol="0" anchor="t"/>
          <a:lstStyle/>
          <a:p>
            <a:pPr algn="l" indent="0" marL="0">
              <a:lnSpc>
                <a:spcPts val="1550"/>
              </a:lnSpc>
              <a:buNone/>
            </a:pPr>
            <a:r>
              <a:rPr lang="en-US" sz="1000" dirty="0">
                <a:solidFill>
                  <a:srgbClr val="1F2937"/>
                </a:solidFill>
                <a:latin typeface="Poppins Light" pitchFamily="34" charset="0"/>
                <a:ea typeface="Poppins Light" pitchFamily="34" charset="-122"/>
                <a:cs typeface="Poppins Light" pitchFamily="34" charset="-120"/>
              </a:rPr>
              <a:t>Build the web and mobile platforms, portals and integrations that production AI runs inside.</a:t>
            </a:r>
            <a:endParaRPr lang="en-US" sz="1000" dirty="0"/>
          </a:p>
        </p:txBody>
      </p:sp>
      <p:sp>
        <p:nvSpPr>
          <p:cNvPr id="52" name="Text"/>
          <p:cNvSpPr txBox="1"/>
          <p:nvPr/>
        </p:nvSpPr>
        <p:spPr>
          <a:xfrm>
            <a:off x="5253960" y="2712019"/>
            <a:ext cx="1703436" cy="203180"/>
          </a:xfrm>
          <a:prstGeom prst="rect">
            <a:avLst/>
          </a:prstGeom>
          <a:noFill/>
          <a:ln/>
        </p:spPr>
        <p:txBody>
          <a:bodyPr wrap="square" lIns="0" tIns="0" rIns="0" bIns="0" rtlCol="0" anchor="t"/>
          <a:lstStyle/>
          <a:p>
            <a:pPr algn="l" indent="0" marL="0">
              <a:lnSpc>
                <a:spcPts val="1600"/>
              </a:lnSpc>
              <a:buNone/>
            </a:pPr>
            <a:r>
              <a:rPr lang="en-US" sz="1250" dirty="0">
                <a:solidFill>
                  <a:srgbClr val="000000"/>
                </a:solidFill>
                <a:latin typeface="Poppins Medium" pitchFamily="34" charset="0"/>
                <a:ea typeface="Poppins Medium" pitchFamily="34" charset="-122"/>
                <a:cs typeface="Poppins Medium" pitchFamily="34" charset="-120"/>
              </a:rPr>
              <a:t>Solutions architects</a:t>
            </a:r>
            <a:endParaRPr lang="en-US" sz="1250" dirty="0"/>
          </a:p>
        </p:txBody>
      </p:sp>
      <p:sp>
        <p:nvSpPr>
          <p:cNvPr id="53" name="Text"/>
          <p:cNvSpPr txBox="1"/>
          <p:nvPr/>
        </p:nvSpPr>
        <p:spPr>
          <a:xfrm>
            <a:off x="5253960" y="3194639"/>
            <a:ext cx="1703436" cy="984260"/>
          </a:xfrm>
          <a:prstGeom prst="rect">
            <a:avLst/>
          </a:prstGeom>
          <a:noFill/>
          <a:ln/>
        </p:spPr>
        <p:txBody>
          <a:bodyPr wrap="square" lIns="0" tIns="0" rIns="0" bIns="0" rtlCol="0" anchor="t"/>
          <a:lstStyle/>
          <a:p>
            <a:pPr algn="l" indent="0" marL="0">
              <a:lnSpc>
                <a:spcPts val="1550"/>
              </a:lnSpc>
              <a:buNone/>
            </a:pPr>
            <a:r>
              <a:rPr lang="en-US" sz="1000" dirty="0">
                <a:solidFill>
                  <a:srgbClr val="1F2937"/>
                </a:solidFill>
                <a:latin typeface="Poppins Light" pitchFamily="34" charset="0"/>
                <a:ea typeface="Poppins Light" pitchFamily="34" charset="-122"/>
                <a:cs typeface="Poppins Light" pitchFamily="34" charset="-120"/>
              </a:rPr>
              <a:t>Design architectures that fit a client’s stack, choosing models, hosting and guardrails around their data and regulator.</a:t>
            </a:r>
            <a:endParaRPr lang="en-US" sz="1000" dirty="0"/>
          </a:p>
        </p:txBody>
      </p:sp>
      <p:sp>
        <p:nvSpPr>
          <p:cNvPr id="54" name="Text"/>
          <p:cNvSpPr txBox="1"/>
          <p:nvPr/>
        </p:nvSpPr>
        <p:spPr>
          <a:xfrm>
            <a:off x="7433249" y="2712019"/>
            <a:ext cx="1703436" cy="203180"/>
          </a:xfrm>
          <a:prstGeom prst="rect">
            <a:avLst/>
          </a:prstGeom>
          <a:noFill/>
          <a:ln/>
        </p:spPr>
        <p:txBody>
          <a:bodyPr wrap="square" lIns="0" tIns="0" rIns="0" bIns="0" rtlCol="0" anchor="t"/>
          <a:lstStyle/>
          <a:p>
            <a:pPr algn="l" indent="0" marL="0">
              <a:lnSpc>
                <a:spcPts val="1600"/>
              </a:lnSpc>
              <a:buNone/>
            </a:pPr>
            <a:r>
              <a:rPr lang="en-US" sz="1250" dirty="0">
                <a:solidFill>
                  <a:srgbClr val="000000"/>
                </a:solidFill>
                <a:latin typeface="Poppins Medium" pitchFamily="34" charset="0"/>
                <a:ea typeface="Poppins Medium" pitchFamily="34" charset="-122"/>
                <a:cs typeface="Poppins Medium" pitchFamily="34" charset="-120"/>
              </a:rPr>
              <a:t>UI/UX designers</a:t>
            </a:r>
            <a:endParaRPr lang="en-US" sz="1250" dirty="0"/>
          </a:p>
        </p:txBody>
      </p:sp>
      <p:sp>
        <p:nvSpPr>
          <p:cNvPr id="55" name="Text"/>
          <p:cNvSpPr txBox="1"/>
          <p:nvPr/>
        </p:nvSpPr>
        <p:spPr>
          <a:xfrm>
            <a:off x="7433249" y="3194639"/>
            <a:ext cx="1703436" cy="984260"/>
          </a:xfrm>
          <a:prstGeom prst="rect">
            <a:avLst/>
          </a:prstGeom>
          <a:noFill/>
          <a:ln/>
        </p:spPr>
        <p:txBody>
          <a:bodyPr wrap="square" lIns="0" tIns="0" rIns="0" bIns="0" rtlCol="0" anchor="t"/>
          <a:lstStyle/>
          <a:p>
            <a:pPr algn="l" indent="0" marL="0">
              <a:lnSpc>
                <a:spcPts val="1550"/>
              </a:lnSpc>
              <a:buNone/>
            </a:pPr>
            <a:r>
              <a:rPr lang="en-US" sz="1000" dirty="0">
                <a:solidFill>
                  <a:srgbClr val="1F2937"/>
                </a:solidFill>
                <a:latin typeface="Poppins Light" pitchFamily="34" charset="0"/>
                <a:ea typeface="Poppins Light" pitchFamily="34" charset="-122"/>
                <a:cs typeface="Poppins Light" pitchFamily="34" charset="-120"/>
              </a:rPr>
              <a:t>Design the interfaces people use every day, from client portals and CRM dashboards to lending platforms.</a:t>
            </a:r>
            <a:endParaRPr lang="en-US" sz="1000" dirty="0"/>
          </a:p>
        </p:txBody>
      </p:sp>
      <p:sp>
        <p:nvSpPr>
          <p:cNvPr id="56" name="Text"/>
          <p:cNvSpPr txBox="1"/>
          <p:nvPr/>
        </p:nvSpPr>
        <p:spPr>
          <a:xfrm>
            <a:off x="9612630" y="2712019"/>
            <a:ext cx="1703436" cy="203180"/>
          </a:xfrm>
          <a:prstGeom prst="rect">
            <a:avLst/>
          </a:prstGeom>
          <a:noFill/>
          <a:ln/>
        </p:spPr>
        <p:txBody>
          <a:bodyPr wrap="square" lIns="0" tIns="0" rIns="0" bIns="0" rtlCol="0" anchor="t"/>
          <a:lstStyle/>
          <a:p>
            <a:pPr algn="l" indent="0" marL="0">
              <a:lnSpc>
                <a:spcPts val="1600"/>
              </a:lnSpc>
              <a:buNone/>
            </a:pPr>
            <a:r>
              <a:rPr lang="en-US" sz="1250" dirty="0">
                <a:solidFill>
                  <a:srgbClr val="000000"/>
                </a:solidFill>
                <a:latin typeface="Poppins Medium" pitchFamily="34" charset="0"/>
                <a:ea typeface="Poppins Medium" pitchFamily="34" charset="-122"/>
                <a:cs typeface="Poppins Medium" pitchFamily="34" charset="-120"/>
              </a:rPr>
              <a:t>Consultants</a:t>
            </a:r>
            <a:endParaRPr lang="en-US" sz="1250" dirty="0"/>
          </a:p>
        </p:txBody>
      </p:sp>
      <p:sp>
        <p:nvSpPr>
          <p:cNvPr id="57" name="Text"/>
          <p:cNvSpPr txBox="1"/>
          <p:nvPr/>
        </p:nvSpPr>
        <p:spPr>
          <a:xfrm>
            <a:off x="9612630" y="3194639"/>
            <a:ext cx="1703436" cy="984260"/>
          </a:xfrm>
          <a:prstGeom prst="rect">
            <a:avLst/>
          </a:prstGeom>
          <a:noFill/>
          <a:ln/>
        </p:spPr>
        <p:txBody>
          <a:bodyPr wrap="square" lIns="0" tIns="0" rIns="0" bIns="0" rtlCol="0" anchor="t"/>
          <a:lstStyle/>
          <a:p>
            <a:pPr algn="l" indent="0" marL="0">
              <a:lnSpc>
                <a:spcPts val="1550"/>
              </a:lnSpc>
              <a:buNone/>
            </a:pPr>
            <a:r>
              <a:rPr lang="en-US" sz="1000" dirty="0">
                <a:solidFill>
                  <a:srgbClr val="1F2937"/>
                </a:solidFill>
                <a:latin typeface="Poppins Light" pitchFamily="34" charset="0"/>
                <a:ea typeface="Poppins Light" pitchFamily="34" charset="-122"/>
                <a:cs typeface="Poppins Light" pitchFamily="34" charset="-120"/>
              </a:rPr>
              <a:t>Run tech advisory, data audits and AI strategy research to find where AI pays back before any build starts.</a:t>
            </a:r>
            <a:endParaRPr lang="en-US" sz="1000" dirty="0"/>
          </a:p>
        </p:txBody>
      </p:sp>
      <p:sp>
        <p:nvSpPr>
          <p:cNvPr id="58" name="Text"/>
          <p:cNvSpPr txBox="1"/>
          <p:nvPr/>
        </p:nvSpPr>
        <p:spPr>
          <a:xfrm>
            <a:off x="895380" y="4699467"/>
            <a:ext cx="3327867" cy="167335"/>
          </a:xfrm>
          <a:prstGeom prst="rect">
            <a:avLst/>
          </a:prstGeom>
          <a:noFill/>
          <a:ln/>
        </p:spPr>
        <p:txBody>
          <a:bodyPr wrap="square" lIns="0" tIns="0" rIns="0" bIns="0" rtlCol="0" anchor="t"/>
          <a:lstStyle/>
          <a:p>
            <a:pPr algn="l" indent="0" marL="0">
              <a:lnSpc>
                <a:spcPts val="1318"/>
              </a:lnSpc>
              <a:buNone/>
            </a:pPr>
            <a:r>
              <a:rPr lang="en-US" sz="850" spc="17" kern="0" dirty="0">
                <a:solidFill>
                  <a:srgbClr val="044BD9"/>
                </a:solidFill>
                <a:latin typeface="Poppins Medium" pitchFamily="34" charset="0"/>
                <a:ea typeface="Poppins Medium" pitchFamily="34" charset="-122"/>
                <a:cs typeface="Poppins Medium" pitchFamily="34" charset="-120"/>
              </a:rPr>
              <a:t>APEX internship programme</a:t>
            </a:r>
            <a:endParaRPr lang="en-US" sz="850" dirty="0"/>
          </a:p>
        </p:txBody>
      </p:sp>
      <p:sp>
        <p:nvSpPr>
          <p:cNvPr id="59" name="Text"/>
          <p:cNvSpPr txBox="1"/>
          <p:nvPr/>
        </p:nvSpPr>
        <p:spPr>
          <a:xfrm>
            <a:off x="895380" y="4915540"/>
            <a:ext cx="3301990" cy="406359"/>
          </a:xfrm>
          <a:prstGeom prst="rect">
            <a:avLst/>
          </a:prstGeom>
          <a:noFill/>
          <a:ln/>
        </p:spPr>
        <p:txBody>
          <a:bodyPr wrap="square" lIns="0" tIns="0" rIns="0" bIns="0" rtlCol="0" anchor="t"/>
          <a:lstStyle/>
          <a:p>
            <a:pPr algn="l" indent="0" marL="0">
              <a:lnSpc>
                <a:spcPts val="1600"/>
              </a:lnSpc>
              <a:buNone/>
            </a:pPr>
            <a:r>
              <a:rPr lang="en-US" sz="1250" dirty="0">
                <a:solidFill>
                  <a:srgbClr val="000000"/>
                </a:solidFill>
                <a:latin typeface="Poppins Medium" pitchFamily="34" charset="0"/>
                <a:ea typeface="Poppins Medium" pitchFamily="34" charset="-122"/>
                <a:cs typeface="Poppins Medium" pitchFamily="34" charset="-120"/>
              </a:rPr>
              <a:t>Interns work on hands-</a:t>
            </a:r>
            <a:endParaRPr lang="en-US" sz="1250" dirty="0"/>
          </a:p>
          <a:p>
            <a:pPr algn="l" indent="0" marL="0">
              <a:lnSpc>
                <a:spcPts val="1600"/>
              </a:lnSpc>
              <a:buNone/>
            </a:pPr>
            <a:r>
              <a:rPr lang="en-US" sz="1250" dirty="0">
                <a:solidFill>
                  <a:srgbClr val="000000"/>
                </a:solidFill>
                <a:latin typeface="Poppins Medium" pitchFamily="34" charset="0"/>
                <a:ea typeface="Poppins Medium" pitchFamily="34" charset="-122"/>
                <a:cs typeface="Poppins Medium" pitchFamily="34" charset="-120"/>
              </a:rPr>
              <a:t>on projects with the team</a:t>
            </a:r>
            <a:endParaRPr lang="en-US" sz="1250" dirty="0"/>
          </a:p>
        </p:txBody>
      </p:sp>
      <p:sp>
        <p:nvSpPr>
          <p:cNvPr id="60" name="Text"/>
          <p:cNvSpPr txBox="1"/>
          <p:nvPr/>
        </p:nvSpPr>
        <p:spPr>
          <a:xfrm>
            <a:off x="4502140" y="4747199"/>
            <a:ext cx="1603400" cy="381030"/>
          </a:xfrm>
          <a:prstGeom prst="rect">
            <a:avLst/>
          </a:prstGeom>
          <a:noFill/>
          <a:ln/>
        </p:spPr>
        <p:txBody>
          <a:bodyPr wrap="square" lIns="0" tIns="0" rIns="0" bIns="0" rtlCol="0" anchor="t"/>
          <a:lstStyle/>
          <a:p>
            <a:pPr algn="l" indent="0" marL="0">
              <a:lnSpc>
                <a:spcPts val="3000"/>
              </a:lnSpc>
              <a:buNone/>
            </a:pPr>
            <a:r>
              <a:rPr lang="en-US" sz="3000" spc="-60" kern="0" dirty="0">
                <a:solidFill>
                  <a:srgbClr val="044BD9"/>
                </a:solidFill>
                <a:latin typeface="Poppins Medium" pitchFamily="34" charset="0"/>
                <a:ea typeface="Poppins Medium" pitchFamily="34" charset="-122"/>
                <a:cs typeface="Poppins Medium" pitchFamily="34" charset="-120"/>
              </a:rPr>
              <a:t>8</a:t>
            </a:r>
            <a:endParaRPr lang="en-US" sz="3000" dirty="0"/>
          </a:p>
        </p:txBody>
      </p:sp>
      <p:sp>
        <p:nvSpPr>
          <p:cNvPr id="61" name="Text"/>
          <p:cNvSpPr txBox="1"/>
          <p:nvPr/>
        </p:nvSpPr>
        <p:spPr>
          <a:xfrm>
            <a:off x="4502140" y="5163160"/>
            <a:ext cx="1603400" cy="184160"/>
          </a:xfrm>
          <a:prstGeom prst="rect">
            <a:avLst/>
          </a:prstGeom>
          <a:noFill/>
          <a:ln/>
        </p:spPr>
        <p:txBody>
          <a:bodyPr wrap="square" lIns="0" tIns="0" rIns="0" bIns="0" rtlCol="0" anchor="t"/>
          <a:lstStyle/>
          <a:p>
            <a:pPr algn="l" indent="0" marL="0">
              <a:lnSpc>
                <a:spcPts val="1450"/>
              </a:lnSpc>
              <a:buNone/>
            </a:pPr>
            <a:r>
              <a:rPr lang="en-US" sz="1000" dirty="0">
                <a:solidFill>
                  <a:srgbClr val="6B6B6B"/>
                </a:solidFill>
                <a:latin typeface="Poppins Light" pitchFamily="34" charset="0"/>
                <a:ea typeface="Poppins Light" pitchFamily="34" charset="-122"/>
                <a:cs typeface="Poppins Light" pitchFamily="34" charset="-120"/>
              </a:rPr>
              <a:t>Cohorts</a:t>
            </a:r>
            <a:endParaRPr lang="en-US" sz="1000" dirty="0"/>
          </a:p>
        </p:txBody>
      </p:sp>
      <p:sp>
        <p:nvSpPr>
          <p:cNvPr id="62" name="Text"/>
          <p:cNvSpPr txBox="1"/>
          <p:nvPr/>
        </p:nvSpPr>
        <p:spPr>
          <a:xfrm>
            <a:off x="6238860" y="4747199"/>
            <a:ext cx="1603400" cy="381030"/>
          </a:xfrm>
          <a:prstGeom prst="rect">
            <a:avLst/>
          </a:prstGeom>
          <a:noFill/>
          <a:ln/>
        </p:spPr>
        <p:txBody>
          <a:bodyPr wrap="square" lIns="0" tIns="0" rIns="0" bIns="0" rtlCol="0" anchor="t"/>
          <a:lstStyle/>
          <a:p>
            <a:pPr algn="l" indent="0" marL="0">
              <a:lnSpc>
                <a:spcPts val="3000"/>
              </a:lnSpc>
              <a:buNone/>
            </a:pPr>
            <a:r>
              <a:rPr lang="en-US" sz="3000" spc="-60" kern="0" dirty="0">
                <a:solidFill>
                  <a:srgbClr val="044BD9"/>
                </a:solidFill>
                <a:latin typeface="Poppins Medium" pitchFamily="34" charset="0"/>
                <a:ea typeface="Poppins Medium" pitchFamily="34" charset="-122"/>
                <a:cs typeface="Poppins Medium" pitchFamily="34" charset="-120"/>
              </a:rPr>
              <a:t>10</a:t>
            </a:r>
            <a:pPr algn="l" indent="0" marL="0">
              <a:lnSpc>
                <a:spcPts val="3000"/>
              </a:lnSpc>
              <a:buNone/>
            </a:pPr>
            <a:r>
              <a:rPr lang="en-US" sz="1500" dirty="0">
                <a:solidFill>
                  <a:srgbClr val="044BD9"/>
                </a:solidFill>
                <a:latin typeface="Poppins Medium" pitchFamily="34" charset="0"/>
                <a:ea typeface="Poppins Medium" pitchFamily="34" charset="-122"/>
                <a:cs typeface="Poppins Medium" pitchFamily="34" charset="-120"/>
              </a:rPr>
              <a:t>+</a:t>
            </a:r>
            <a:endParaRPr lang="en-US" sz="3000" dirty="0"/>
          </a:p>
        </p:txBody>
      </p:sp>
      <p:sp>
        <p:nvSpPr>
          <p:cNvPr id="63" name="Text"/>
          <p:cNvSpPr txBox="1"/>
          <p:nvPr/>
        </p:nvSpPr>
        <p:spPr>
          <a:xfrm>
            <a:off x="6238860" y="5163160"/>
            <a:ext cx="1603400" cy="184160"/>
          </a:xfrm>
          <a:prstGeom prst="rect">
            <a:avLst/>
          </a:prstGeom>
          <a:noFill/>
          <a:ln/>
        </p:spPr>
        <p:txBody>
          <a:bodyPr wrap="square" lIns="0" tIns="0" rIns="0" bIns="0" rtlCol="0" anchor="t"/>
          <a:lstStyle/>
          <a:p>
            <a:pPr algn="l" indent="0" marL="0">
              <a:lnSpc>
                <a:spcPts val="1450"/>
              </a:lnSpc>
              <a:buNone/>
            </a:pPr>
            <a:r>
              <a:rPr lang="en-US" sz="1000" dirty="0">
                <a:solidFill>
                  <a:srgbClr val="6B6B6B"/>
                </a:solidFill>
                <a:latin typeface="Poppins Light" pitchFamily="34" charset="0"/>
                <a:ea typeface="Poppins Light" pitchFamily="34" charset="-122"/>
                <a:cs typeface="Poppins Light" pitchFamily="34" charset="-120"/>
              </a:rPr>
              <a:t>Interns trained</a:t>
            </a:r>
            <a:endParaRPr lang="en-US" sz="1000" dirty="0"/>
          </a:p>
        </p:txBody>
      </p:sp>
      <p:sp>
        <p:nvSpPr>
          <p:cNvPr id="64" name="Text"/>
          <p:cNvSpPr txBox="1"/>
          <p:nvPr/>
        </p:nvSpPr>
        <p:spPr>
          <a:xfrm>
            <a:off x="7975580" y="4747199"/>
            <a:ext cx="1603400" cy="381030"/>
          </a:xfrm>
          <a:prstGeom prst="rect">
            <a:avLst/>
          </a:prstGeom>
          <a:noFill/>
          <a:ln/>
        </p:spPr>
        <p:txBody>
          <a:bodyPr wrap="square" lIns="0" tIns="0" rIns="0" bIns="0" rtlCol="0" anchor="t"/>
          <a:lstStyle/>
          <a:p>
            <a:pPr algn="l" indent="0" marL="0">
              <a:lnSpc>
                <a:spcPts val="3000"/>
              </a:lnSpc>
              <a:buNone/>
            </a:pPr>
            <a:r>
              <a:rPr lang="en-US" sz="3000" spc="-60" kern="0" dirty="0">
                <a:solidFill>
                  <a:srgbClr val="044BD9"/>
                </a:solidFill>
                <a:latin typeface="Poppins Medium" pitchFamily="34" charset="0"/>
                <a:ea typeface="Poppins Medium" pitchFamily="34" charset="-122"/>
                <a:cs typeface="Poppins Medium" pitchFamily="34" charset="-120"/>
              </a:rPr>
              <a:t>100</a:t>
            </a:r>
            <a:pPr algn="l" indent="0" marL="0">
              <a:lnSpc>
                <a:spcPts val="3000"/>
              </a:lnSpc>
              <a:buNone/>
            </a:pPr>
            <a:r>
              <a:rPr lang="en-US" sz="1500" dirty="0">
                <a:solidFill>
                  <a:srgbClr val="044BD9"/>
                </a:solidFill>
                <a:latin typeface="Poppins Medium" pitchFamily="34" charset="0"/>
                <a:ea typeface="Poppins Medium" pitchFamily="34" charset="-122"/>
                <a:cs typeface="Poppins Medium" pitchFamily="34" charset="-120"/>
              </a:rPr>
              <a:t>%</a:t>
            </a:r>
            <a:endParaRPr lang="en-US" sz="3000" dirty="0"/>
          </a:p>
        </p:txBody>
      </p:sp>
      <p:sp>
        <p:nvSpPr>
          <p:cNvPr id="65" name="Text"/>
          <p:cNvSpPr txBox="1"/>
          <p:nvPr/>
        </p:nvSpPr>
        <p:spPr>
          <a:xfrm>
            <a:off x="7975580" y="5163160"/>
            <a:ext cx="1603400" cy="184160"/>
          </a:xfrm>
          <a:prstGeom prst="rect">
            <a:avLst/>
          </a:prstGeom>
          <a:noFill/>
          <a:ln/>
        </p:spPr>
        <p:txBody>
          <a:bodyPr wrap="square" lIns="0" tIns="0" rIns="0" bIns="0" rtlCol="0" anchor="t"/>
          <a:lstStyle/>
          <a:p>
            <a:pPr algn="l" indent="0" marL="0">
              <a:lnSpc>
                <a:spcPts val="1450"/>
              </a:lnSpc>
              <a:buNone/>
            </a:pPr>
            <a:r>
              <a:rPr lang="en-US" sz="1000" dirty="0">
                <a:solidFill>
                  <a:srgbClr val="6B6B6B"/>
                </a:solidFill>
                <a:latin typeface="Poppins Light" pitchFamily="34" charset="0"/>
                <a:ea typeface="Poppins Light" pitchFamily="34" charset="-122"/>
                <a:cs typeface="Poppins Light" pitchFamily="34" charset="-120"/>
              </a:rPr>
              <a:t>Hands-on projects</a:t>
            </a:r>
            <a:endParaRPr lang="en-US" sz="1000" dirty="0"/>
          </a:p>
        </p:txBody>
      </p:sp>
      <p:sp>
        <p:nvSpPr>
          <p:cNvPr id="66" name="Text"/>
          <p:cNvSpPr txBox="1"/>
          <p:nvPr/>
        </p:nvSpPr>
        <p:spPr>
          <a:xfrm>
            <a:off x="9712300" y="4747199"/>
            <a:ext cx="1603400" cy="381030"/>
          </a:xfrm>
          <a:prstGeom prst="rect">
            <a:avLst/>
          </a:prstGeom>
          <a:noFill/>
          <a:ln/>
        </p:spPr>
        <p:txBody>
          <a:bodyPr wrap="square" lIns="0" tIns="0" rIns="0" bIns="0" rtlCol="0" anchor="t"/>
          <a:lstStyle/>
          <a:p>
            <a:pPr algn="l" indent="0" marL="0">
              <a:lnSpc>
                <a:spcPts val="3000"/>
              </a:lnSpc>
              <a:buNone/>
            </a:pPr>
            <a:r>
              <a:rPr lang="en-US" sz="3000" spc="-60" kern="0" dirty="0">
                <a:solidFill>
                  <a:srgbClr val="044BD9"/>
                </a:solidFill>
                <a:latin typeface="Poppins Medium" pitchFamily="34" charset="0"/>
                <a:ea typeface="Poppins Medium" pitchFamily="34" charset="-122"/>
                <a:cs typeface="Poppins Medium" pitchFamily="34" charset="-120"/>
              </a:rPr>
              <a:t>13</a:t>
            </a:r>
            <a:endParaRPr lang="en-US" sz="3000" dirty="0"/>
          </a:p>
        </p:txBody>
      </p:sp>
      <p:sp>
        <p:nvSpPr>
          <p:cNvPr id="67" name="Text"/>
          <p:cNvSpPr txBox="1"/>
          <p:nvPr/>
        </p:nvSpPr>
        <p:spPr>
          <a:xfrm>
            <a:off x="9712300" y="5163160"/>
            <a:ext cx="1609710" cy="184160"/>
          </a:xfrm>
          <a:prstGeom prst="rect">
            <a:avLst/>
          </a:prstGeom>
          <a:noFill/>
          <a:ln/>
        </p:spPr>
        <p:txBody>
          <a:bodyPr wrap="none" lIns="0" tIns="0" rIns="0" bIns="0" rtlCol="0" anchor="t"/>
          <a:lstStyle/>
          <a:p>
            <a:pPr algn="l" indent="0" marL="0">
              <a:lnSpc>
                <a:spcPts val="1450"/>
              </a:lnSpc>
              <a:buNone/>
            </a:pPr>
            <a:r>
              <a:rPr lang="en-US" sz="1000" dirty="0">
                <a:solidFill>
                  <a:srgbClr val="6B6B6B"/>
                </a:solidFill>
                <a:latin typeface="Poppins Light" pitchFamily="34" charset="0"/>
                <a:ea typeface="Poppins Light" pitchFamily="34" charset="-122"/>
                <a:cs typeface="Poppins Light" pitchFamily="34" charset="-120"/>
              </a:rPr>
              <a:t>Universities and colleges</a:t>
            </a:r>
            <a:endParaRPr lang="en-US" sz="1000" dirty="0"/>
          </a:p>
        </p:txBody>
      </p:sp>
      <p:sp>
        <p:nvSpPr>
          <p:cNvPr id="68" name="Text"/>
          <p:cNvSpPr txBox="1"/>
          <p:nvPr/>
        </p:nvSpPr>
        <p:spPr>
          <a:xfrm>
            <a:off x="6287140" y="276240"/>
            <a:ext cx="708477"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Point of view</a:t>
            </a:r>
            <a:endParaRPr lang="en-US" sz="850" dirty="0"/>
          </a:p>
        </p:txBody>
      </p:sp>
      <p:sp>
        <p:nvSpPr>
          <p:cNvPr id="69" name="Text"/>
          <p:cNvSpPr txBox="1"/>
          <p:nvPr/>
        </p:nvSpPr>
        <p:spPr>
          <a:xfrm>
            <a:off x="7240494" y="276240"/>
            <a:ext cx="665958"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044BD9"/>
                </a:solidFill>
                <a:latin typeface="Poppins Medium" pitchFamily="34" charset="0"/>
                <a:ea typeface="Poppins Medium" pitchFamily="34" charset="-122"/>
                <a:cs typeface="Poppins Medium" pitchFamily="34" charset="-120"/>
              </a:rPr>
              <a:t>Who we are</a:t>
            </a:r>
            <a:endParaRPr lang="en-US" sz="850" dirty="0"/>
          </a:p>
        </p:txBody>
      </p:sp>
      <p:sp>
        <p:nvSpPr>
          <p:cNvPr id="70" name="Text"/>
          <p:cNvSpPr txBox="1"/>
          <p:nvPr/>
        </p:nvSpPr>
        <p:spPr>
          <a:xfrm>
            <a:off x="8151510" y="276240"/>
            <a:ext cx="671261"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What we do</a:t>
            </a:r>
            <a:endParaRPr lang="en-US" sz="850" dirty="0"/>
          </a:p>
        </p:txBody>
      </p:sp>
      <p:sp>
        <p:nvSpPr>
          <p:cNvPr id="71" name="Text"/>
          <p:cNvSpPr txBox="1"/>
          <p:nvPr/>
        </p:nvSpPr>
        <p:spPr>
          <a:xfrm>
            <a:off x="9067830" y="276240"/>
            <a:ext cx="1205728"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Sectors and products</a:t>
            </a:r>
            <a:endParaRPr lang="en-US" sz="850" dirty="0"/>
          </a:p>
        </p:txBody>
      </p:sp>
      <p:sp>
        <p:nvSpPr>
          <p:cNvPr id="72" name="Text"/>
          <p:cNvSpPr txBox="1"/>
          <p:nvPr/>
        </p:nvSpPr>
        <p:spPr>
          <a:xfrm>
            <a:off x="10516423" y="276240"/>
            <a:ext cx="298552"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Proof</a:t>
            </a:r>
            <a:endParaRPr lang="en-US" sz="850" dirty="0"/>
          </a:p>
        </p:txBody>
      </p:sp>
      <p:sp>
        <p:nvSpPr>
          <p:cNvPr id="73" name="Text"/>
          <p:cNvSpPr txBox="1"/>
          <p:nvPr/>
        </p:nvSpPr>
        <p:spPr>
          <a:xfrm>
            <a:off x="11061497" y="276240"/>
            <a:ext cx="433700"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Engage</a:t>
            </a:r>
            <a:endParaRPr lang="en-US" sz="850" dirty="0"/>
          </a:p>
        </p:txBody>
      </p:sp>
      <p:sp>
        <p:nvSpPr>
          <p:cNvPr id="74" name="Source"/>
          <p:cNvSpPr txBox="1"/>
          <p:nvPr/>
        </p:nvSpPr>
        <p:spPr>
          <a:xfrm>
            <a:off x="711220" y="6409030"/>
            <a:ext cx="8300740" cy="151150"/>
          </a:xfrm>
          <a:prstGeom prst="rect">
            <a:avLst/>
          </a:prstGeom>
          <a:noFill/>
          <a:ln/>
        </p:spPr>
        <p:txBody>
          <a:bodyPr wrap="square" lIns="0" tIns="0" rIns="0" bIns="0" rtlCol="0" anchor="t"/>
          <a:lstStyle/>
          <a:p>
            <a:pPr algn="l" indent="0" marL="0">
              <a:lnSpc>
                <a:spcPts val="1190"/>
              </a:lnSpc>
              <a:buNone/>
            </a:pPr>
            <a:r>
              <a:rPr lang="en-US" sz="850" dirty="0">
                <a:solidFill>
                  <a:srgbClr val="6B6B6B"/>
                </a:solidFill>
                <a:latin typeface="Poppins" pitchFamily="34" charset="0"/>
                <a:ea typeface="Poppins" pitchFamily="34" charset="-122"/>
                <a:cs typeface="Poppins" pitchFamily="34" charset="-120"/>
              </a:rPr>
              <a:t>Source: alphv.com/careers; alphv.com/apex; alphv.com/about (October 2026). Note: 13 counts the universities and colleges on the APEX page.</a:t>
            </a:r>
            <a:endParaRPr lang="en-US" sz="850" dirty="0"/>
          </a:p>
        </p:txBody>
      </p:sp>
      <p:sp>
        <p:nvSpPr>
          <p:cNvPr id="75" name="Text"/>
          <p:cNvSpPr txBox="1"/>
          <p:nvPr/>
        </p:nvSpPr>
        <p:spPr>
          <a:xfrm>
            <a:off x="9343522" y="6409030"/>
            <a:ext cx="393741" cy="151150"/>
          </a:xfrm>
          <a:prstGeom prst="rect">
            <a:avLst/>
          </a:prstGeom>
          <a:noFill/>
          <a:ln/>
        </p:spPr>
        <p:txBody>
          <a:bodyPr wrap="none" lIns="0" tIns="0" rIns="0" bIns="0" rtlCol="0" anchor="t"/>
          <a:lstStyle/>
          <a:p>
            <a:pPr algn="l" indent="0" marL="0">
              <a:lnSpc>
                <a:spcPts val="1190"/>
              </a:lnSpc>
              <a:buNone/>
            </a:pPr>
            <a:r>
              <a:rPr lang="en-US" sz="850" spc="34" kern="0" dirty="0">
                <a:solidFill>
                  <a:srgbClr val="000000"/>
                </a:solidFill>
                <a:latin typeface="Poppins SemiBold" pitchFamily="34" charset="0"/>
                <a:ea typeface="Poppins SemiBold" pitchFamily="34" charset="-122"/>
                <a:cs typeface="Poppins SemiBold" pitchFamily="34" charset="-120"/>
              </a:rPr>
              <a:t>ALPHV</a:t>
            </a:r>
            <a:endParaRPr lang="en-US" sz="850" dirty="0"/>
          </a:p>
        </p:txBody>
      </p:sp>
      <p:sp>
        <p:nvSpPr>
          <p:cNvPr id="76" name="Text"/>
          <p:cNvSpPr txBox="1"/>
          <p:nvPr/>
        </p:nvSpPr>
        <p:spPr>
          <a:xfrm>
            <a:off x="9851563" y="6409030"/>
            <a:ext cx="1377178" cy="151150"/>
          </a:xfrm>
          <a:prstGeom prst="rect">
            <a:avLst/>
          </a:prstGeom>
          <a:noFill/>
          <a:ln/>
        </p:spPr>
        <p:txBody>
          <a:bodyPr wrap="none" lIns="0" tIns="0" rIns="0" bIns="0" rtlCol="0" anchor="t"/>
          <a:lstStyle/>
          <a:p>
            <a:pPr algn="l" indent="0" marL="0">
              <a:lnSpc>
                <a:spcPts val="1190"/>
              </a:lnSpc>
              <a:buNone/>
            </a:pPr>
            <a:r>
              <a:rPr lang="en-US" sz="850" dirty="0">
                <a:solidFill>
                  <a:srgbClr val="6B6B6B"/>
                </a:solidFill>
                <a:latin typeface="Poppins" pitchFamily="34" charset="0"/>
                <a:ea typeface="Poppins" pitchFamily="34" charset="-122"/>
                <a:cs typeface="Poppins" pitchFamily="34" charset="-120"/>
              </a:rPr>
              <a:t>Corporate overview 2026</a:t>
            </a:r>
            <a:endParaRPr lang="en-US" sz="850" dirty="0"/>
          </a:p>
        </p:txBody>
      </p:sp>
      <p:sp>
        <p:nvSpPr>
          <p:cNvPr id="77" name="Text"/>
          <p:cNvSpPr txBox="1"/>
          <p:nvPr/>
        </p:nvSpPr>
        <p:spPr>
          <a:xfrm>
            <a:off x="11342949" y="6409030"/>
            <a:ext cx="163220" cy="151150"/>
          </a:xfrm>
          <a:prstGeom prst="rect">
            <a:avLst/>
          </a:prstGeom>
          <a:noFill/>
          <a:ln/>
        </p:spPr>
        <p:txBody>
          <a:bodyPr wrap="none" lIns="0" tIns="0" rIns="0" bIns="0" rtlCol="0" anchor="t"/>
          <a:lstStyle/>
          <a:p>
            <a:pPr algn="l" indent="0" marL="0">
              <a:lnSpc>
                <a:spcPts val="1190"/>
              </a:lnSpc>
              <a:buNone/>
            </a:pPr>
            <a:r>
              <a:rPr lang="en-US" sz="850" dirty="0">
                <a:solidFill>
                  <a:srgbClr val="000000"/>
                </a:solidFill>
                <a:latin typeface="Poppins Medium" pitchFamily="34" charset="0"/>
                <a:ea typeface="Poppins Medium" pitchFamily="34" charset="-122"/>
                <a:cs typeface="Poppins Medium" pitchFamily="34" charset="-120"/>
              </a:rPr>
              <a:t>09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badge"/>
          <p:cNvSpPr/>
          <p:nvPr/>
        </p:nvSpPr>
        <p:spPr>
          <a:xfrm>
            <a:off x="714421" y="536570"/>
            <a:ext cx="1693377" cy="254020"/>
          </a:xfrm>
          <a:prstGeom prst="roundRect">
            <a:avLst>
              <a:gd name="adj" fmla="val 50000"/>
            </a:avLst>
          </a:prstGeom>
          <a:ln w="6350">
            <a:solidFill>
              <a:srgbClr val="155DFC"/>
            </a:solidFill>
            <a:prstDash val="solid"/>
          </a:ln>
        </p:spPr>
      </p:sp>
      <p:sp>
        <p:nvSpPr>
          <p:cNvPr id="3" name="logo-cell"/>
          <p:cNvSpPr/>
          <p:nvPr/>
        </p:nvSpPr>
        <p:spPr>
          <a:xfrm>
            <a:off x="714421" y="2330348"/>
            <a:ext cx="1125626" cy="704820"/>
          </a:xfrm>
          <a:prstGeom prst="roundRect">
            <a:avLst>
              <a:gd name="adj" fmla="val 13960"/>
            </a:avLst>
          </a:prstGeom>
          <a:solidFill>
            <a:srgbClr val="FFFFFF"/>
          </a:solidFill>
          <a:ln w="6350">
            <a:solidFill>
              <a:srgbClr val="F0F0F0"/>
            </a:solidFill>
            <a:prstDash val="solid"/>
          </a:ln>
        </p:spPr>
      </p:sp>
      <p:pic>
        <p:nvPicPr>
          <p:cNvPr id="4" name="Picture" descr="Qwen">    </p:cNvPr>
          <p:cNvPicPr>
            <a:picLocks noChangeAspect="1"/>
          </p:cNvPicPr>
          <p:nvPr/>
        </p:nvPicPr>
        <p:blipFill>
          <a:blip r:embed="rId1"/>
          <a:stretch>
            <a:fillRect/>
          </a:stretch>
        </p:blipFill>
        <p:spPr>
          <a:xfrm>
            <a:off x="866668" y="2562423"/>
            <a:ext cx="820948" cy="240762"/>
          </a:xfrm>
          <a:prstGeom prst="rect">
            <a:avLst/>
          </a:prstGeom>
        </p:spPr>
      </p:pic>
      <p:sp>
        <p:nvSpPr>
          <p:cNvPr id="5" name="logo-cell"/>
          <p:cNvSpPr/>
          <p:nvPr/>
        </p:nvSpPr>
        <p:spPr>
          <a:xfrm>
            <a:off x="1935236" y="2330348"/>
            <a:ext cx="1125626" cy="704820"/>
          </a:xfrm>
          <a:prstGeom prst="roundRect">
            <a:avLst>
              <a:gd name="adj" fmla="val 13960"/>
            </a:avLst>
          </a:prstGeom>
          <a:solidFill>
            <a:srgbClr val="FFFFFF"/>
          </a:solidFill>
          <a:ln w="6350">
            <a:solidFill>
              <a:srgbClr val="F0F0F0"/>
            </a:solidFill>
            <a:prstDash val="solid"/>
          </a:ln>
        </p:spPr>
      </p:sp>
      <p:pic>
        <p:nvPicPr>
          <p:cNvPr id="6" name="Picture" descr="Claude">    </p:cNvPr>
          <p:cNvPicPr>
            <a:picLocks noChangeAspect="1"/>
          </p:cNvPicPr>
          <p:nvPr/>
        </p:nvPicPr>
        <p:blipFill>
          <a:blip r:embed="rId2"/>
          <a:stretch>
            <a:fillRect/>
          </a:stretch>
        </p:blipFill>
        <p:spPr>
          <a:xfrm>
            <a:off x="2039752" y="2584460"/>
            <a:ext cx="916595" cy="196596"/>
          </a:xfrm>
          <a:prstGeom prst="rect">
            <a:avLst/>
          </a:prstGeom>
        </p:spPr>
      </p:pic>
      <p:sp>
        <p:nvSpPr>
          <p:cNvPr id="7" name="logo-cell"/>
          <p:cNvSpPr/>
          <p:nvPr/>
        </p:nvSpPr>
        <p:spPr>
          <a:xfrm>
            <a:off x="3156143" y="2330348"/>
            <a:ext cx="1125626" cy="704820"/>
          </a:xfrm>
          <a:prstGeom prst="roundRect">
            <a:avLst>
              <a:gd name="adj" fmla="val 13960"/>
            </a:avLst>
          </a:prstGeom>
          <a:solidFill>
            <a:srgbClr val="FFFFFF"/>
          </a:solidFill>
          <a:ln w="6350">
            <a:solidFill>
              <a:srgbClr val="F0F0F0"/>
            </a:solidFill>
            <a:prstDash val="solid"/>
          </a:ln>
        </p:spPr>
      </p:sp>
      <p:pic>
        <p:nvPicPr>
          <p:cNvPr id="8" name="Picture" descr="OpenAI">    </p:cNvPr>
          <p:cNvPicPr>
            <a:picLocks noChangeAspect="1"/>
          </p:cNvPicPr>
          <p:nvPr/>
        </p:nvPicPr>
        <p:blipFill>
          <a:blip r:embed="rId3"/>
          <a:stretch>
            <a:fillRect/>
          </a:stretch>
        </p:blipFill>
        <p:spPr>
          <a:xfrm>
            <a:off x="3293577" y="2577968"/>
            <a:ext cx="850758" cy="209580"/>
          </a:xfrm>
          <a:prstGeom prst="rect">
            <a:avLst/>
          </a:prstGeom>
        </p:spPr>
      </p:pic>
      <p:sp>
        <p:nvSpPr>
          <p:cNvPr id="9" name="logo-cell"/>
          <p:cNvSpPr/>
          <p:nvPr/>
        </p:nvSpPr>
        <p:spPr>
          <a:xfrm>
            <a:off x="4377050" y="2330348"/>
            <a:ext cx="1125626" cy="704820"/>
          </a:xfrm>
          <a:prstGeom prst="roundRect">
            <a:avLst>
              <a:gd name="adj" fmla="val 13960"/>
            </a:avLst>
          </a:prstGeom>
          <a:solidFill>
            <a:srgbClr val="FFFFFF"/>
          </a:solidFill>
          <a:ln w="6350">
            <a:solidFill>
              <a:srgbClr val="F0F0F0"/>
            </a:solidFill>
            <a:prstDash val="solid"/>
          </a:ln>
        </p:spPr>
      </p:sp>
      <p:pic>
        <p:nvPicPr>
          <p:cNvPr id="10" name="Picture" descr="Gemini">    </p:cNvPr>
          <p:cNvPicPr>
            <a:picLocks noChangeAspect="1"/>
          </p:cNvPicPr>
          <p:nvPr/>
        </p:nvPicPr>
        <p:blipFill>
          <a:blip r:embed="rId4"/>
          <a:stretch>
            <a:fillRect/>
          </a:stretch>
        </p:blipFill>
        <p:spPr>
          <a:xfrm>
            <a:off x="4578675" y="2549439"/>
            <a:ext cx="722285" cy="266639"/>
          </a:xfrm>
          <a:prstGeom prst="rect">
            <a:avLst/>
          </a:prstGeom>
        </p:spPr>
      </p:pic>
      <p:sp>
        <p:nvSpPr>
          <p:cNvPr id="11" name="logo-cell"/>
          <p:cNvSpPr/>
          <p:nvPr/>
        </p:nvSpPr>
        <p:spPr>
          <a:xfrm>
            <a:off x="5597957" y="2330348"/>
            <a:ext cx="1125626" cy="704820"/>
          </a:xfrm>
          <a:prstGeom prst="roundRect">
            <a:avLst>
              <a:gd name="adj" fmla="val 13960"/>
            </a:avLst>
          </a:prstGeom>
          <a:solidFill>
            <a:srgbClr val="FFFFFF"/>
          </a:solidFill>
          <a:ln w="6350">
            <a:solidFill>
              <a:srgbClr val="F0F0F0"/>
            </a:solidFill>
            <a:prstDash val="solid"/>
          </a:ln>
        </p:spPr>
      </p:sp>
      <p:pic>
        <p:nvPicPr>
          <p:cNvPr id="12" name="Picture" descr="ILMU">    </p:cNvPr>
          <p:cNvPicPr>
            <a:picLocks noChangeAspect="1"/>
          </p:cNvPicPr>
          <p:nvPr/>
        </p:nvPicPr>
        <p:blipFill>
          <a:blip r:embed="rId5"/>
          <a:stretch>
            <a:fillRect/>
          </a:stretch>
        </p:blipFill>
        <p:spPr>
          <a:xfrm>
            <a:off x="5782574" y="2546238"/>
            <a:ext cx="756209" cy="273040"/>
          </a:xfrm>
          <a:prstGeom prst="rect">
            <a:avLst/>
          </a:prstGeom>
        </p:spPr>
      </p:pic>
      <p:sp>
        <p:nvSpPr>
          <p:cNvPr id="13" name="logo-cell"/>
          <p:cNvSpPr/>
          <p:nvPr/>
        </p:nvSpPr>
        <p:spPr>
          <a:xfrm>
            <a:off x="714421" y="3459998"/>
            <a:ext cx="1939534" cy="704820"/>
          </a:xfrm>
          <a:prstGeom prst="roundRect">
            <a:avLst>
              <a:gd name="adj" fmla="val 13960"/>
            </a:avLst>
          </a:prstGeom>
          <a:solidFill>
            <a:srgbClr val="FFFFFF"/>
          </a:solidFill>
          <a:ln w="6350">
            <a:solidFill>
              <a:srgbClr val="F0F0F0"/>
            </a:solidFill>
            <a:prstDash val="solid"/>
          </a:ln>
        </p:spPr>
      </p:sp>
      <p:pic>
        <p:nvPicPr>
          <p:cNvPr id="14" name="Picture" descr="FPT AI Factory">    </p:cNvPr>
          <p:cNvPicPr>
            <a:picLocks noChangeAspect="1"/>
          </p:cNvPicPr>
          <p:nvPr/>
        </p:nvPicPr>
        <p:blipFill>
          <a:blip r:embed="rId6"/>
          <a:stretch>
            <a:fillRect/>
          </a:stretch>
        </p:blipFill>
        <p:spPr>
          <a:xfrm>
            <a:off x="1034735" y="3618738"/>
            <a:ext cx="1298814" cy="190470"/>
          </a:xfrm>
          <a:prstGeom prst="rect">
            <a:avLst/>
          </a:prstGeom>
        </p:spPr>
      </p:pic>
      <p:sp>
        <p:nvSpPr>
          <p:cNvPr id="15" name="logo-cell"/>
          <p:cNvSpPr/>
          <p:nvPr/>
        </p:nvSpPr>
        <p:spPr>
          <a:xfrm>
            <a:off x="2749144" y="3459998"/>
            <a:ext cx="1939534" cy="704820"/>
          </a:xfrm>
          <a:prstGeom prst="roundRect">
            <a:avLst>
              <a:gd name="adj" fmla="val 13960"/>
            </a:avLst>
          </a:prstGeom>
          <a:solidFill>
            <a:srgbClr val="FFFFFF"/>
          </a:solidFill>
          <a:ln w="6350">
            <a:solidFill>
              <a:srgbClr val="F0F0F0"/>
            </a:solidFill>
            <a:prstDash val="solid"/>
          </a:ln>
        </p:spPr>
      </p:sp>
      <p:pic>
        <p:nvPicPr>
          <p:cNvPr id="16" name="Picture" descr="NVIDIA">    </p:cNvPr>
          <p:cNvPicPr>
            <a:picLocks noChangeAspect="1"/>
          </p:cNvPicPr>
          <p:nvPr/>
        </p:nvPicPr>
        <p:blipFill>
          <a:blip r:embed="rId7"/>
          <a:stretch>
            <a:fillRect/>
          </a:stretch>
        </p:blipFill>
        <p:spPr>
          <a:xfrm>
            <a:off x="3180832" y="3615538"/>
            <a:ext cx="1076066" cy="196870"/>
          </a:xfrm>
          <a:prstGeom prst="rect">
            <a:avLst/>
          </a:prstGeom>
        </p:spPr>
      </p:pic>
      <p:sp>
        <p:nvSpPr>
          <p:cNvPr id="17" name="logo-cell"/>
          <p:cNvSpPr/>
          <p:nvPr/>
        </p:nvSpPr>
        <p:spPr>
          <a:xfrm>
            <a:off x="4783958" y="3459998"/>
            <a:ext cx="1939625" cy="704820"/>
          </a:xfrm>
          <a:prstGeom prst="roundRect">
            <a:avLst>
              <a:gd name="adj" fmla="val 13960"/>
            </a:avLst>
          </a:prstGeom>
          <a:solidFill>
            <a:srgbClr val="FFFFFF"/>
          </a:solidFill>
          <a:ln w="6350">
            <a:solidFill>
              <a:srgbClr val="F0F0F0"/>
            </a:solidFill>
            <a:prstDash val="solid"/>
          </a:ln>
        </p:spPr>
      </p:sp>
      <p:pic>
        <p:nvPicPr>
          <p:cNvPr id="18" name="Picture" descr="FootfallCam">    </p:cNvPr>
          <p:cNvPicPr>
            <a:picLocks noChangeAspect="1"/>
          </p:cNvPicPr>
          <p:nvPr/>
        </p:nvPicPr>
        <p:blipFill>
          <a:blip r:embed="rId8"/>
          <a:stretch>
            <a:fillRect/>
          </a:stretch>
        </p:blipFill>
        <p:spPr>
          <a:xfrm>
            <a:off x="5053340" y="3637758"/>
            <a:ext cx="1400861" cy="152430"/>
          </a:xfrm>
          <a:prstGeom prst="rect">
            <a:avLst/>
          </a:prstGeom>
        </p:spPr>
      </p:pic>
      <p:sp>
        <p:nvSpPr>
          <p:cNvPr id="19" name="logo-cell"/>
          <p:cNvSpPr/>
          <p:nvPr/>
        </p:nvSpPr>
        <p:spPr>
          <a:xfrm>
            <a:off x="714421" y="4589556"/>
            <a:ext cx="1939534" cy="704820"/>
          </a:xfrm>
          <a:prstGeom prst="roundRect">
            <a:avLst>
              <a:gd name="adj" fmla="val 13960"/>
            </a:avLst>
          </a:prstGeom>
          <a:solidFill>
            <a:srgbClr val="FFFFFF"/>
          </a:solidFill>
          <a:ln w="6350">
            <a:solidFill>
              <a:srgbClr val="F0F0F0"/>
            </a:solidFill>
            <a:prstDash val="solid"/>
          </a:ln>
        </p:spPr>
      </p:sp>
      <p:pic>
        <p:nvPicPr>
          <p:cNvPr id="20" name="Picture" descr="Alibaba Cloud">    </p:cNvPr>
          <p:cNvPicPr>
            <a:picLocks noChangeAspect="1"/>
          </p:cNvPicPr>
          <p:nvPr/>
        </p:nvPicPr>
        <p:blipFill>
          <a:blip r:embed="rId9"/>
          <a:stretch>
            <a:fillRect/>
          </a:stretch>
        </p:blipFill>
        <p:spPr>
          <a:xfrm>
            <a:off x="1090422" y="4865797"/>
            <a:ext cx="1187440" cy="152430"/>
          </a:xfrm>
          <a:prstGeom prst="rect">
            <a:avLst/>
          </a:prstGeom>
        </p:spPr>
      </p:pic>
      <p:sp>
        <p:nvSpPr>
          <p:cNvPr id="21" name="logo-cell"/>
          <p:cNvSpPr/>
          <p:nvPr/>
        </p:nvSpPr>
        <p:spPr>
          <a:xfrm>
            <a:off x="2749144" y="4589556"/>
            <a:ext cx="1939534" cy="704820"/>
          </a:xfrm>
          <a:prstGeom prst="roundRect">
            <a:avLst>
              <a:gd name="adj" fmla="val 13960"/>
            </a:avLst>
          </a:prstGeom>
          <a:solidFill>
            <a:srgbClr val="FFFFFF"/>
          </a:solidFill>
          <a:ln w="6350">
            <a:solidFill>
              <a:srgbClr val="F0F0F0"/>
            </a:solidFill>
            <a:prstDash val="solid"/>
          </a:ln>
        </p:spPr>
      </p:sp>
      <p:pic>
        <p:nvPicPr>
          <p:cNvPr id="22" name="Picture" descr="Google Cloud">    </p:cNvPr>
          <p:cNvPicPr>
            <a:picLocks noChangeAspect="1"/>
          </p:cNvPicPr>
          <p:nvPr/>
        </p:nvPicPr>
        <p:blipFill>
          <a:blip r:embed="rId10"/>
          <a:stretch>
            <a:fillRect/>
          </a:stretch>
        </p:blipFill>
        <p:spPr>
          <a:xfrm>
            <a:off x="3137398" y="4849886"/>
            <a:ext cx="1163025" cy="184160"/>
          </a:xfrm>
          <a:prstGeom prst="rect">
            <a:avLst/>
          </a:prstGeom>
        </p:spPr>
      </p:pic>
      <p:sp>
        <p:nvSpPr>
          <p:cNvPr id="23" name="logo-cell"/>
          <p:cNvSpPr/>
          <p:nvPr/>
        </p:nvSpPr>
        <p:spPr>
          <a:xfrm>
            <a:off x="4783958" y="4589556"/>
            <a:ext cx="1939625" cy="704820"/>
          </a:xfrm>
          <a:prstGeom prst="roundRect">
            <a:avLst>
              <a:gd name="adj" fmla="val 13960"/>
            </a:avLst>
          </a:prstGeom>
          <a:solidFill>
            <a:srgbClr val="FFFFFF"/>
          </a:solidFill>
          <a:ln w="6350">
            <a:solidFill>
              <a:srgbClr val="F0F0F0"/>
            </a:solidFill>
            <a:prstDash val="solid"/>
          </a:ln>
        </p:spPr>
      </p:sp>
      <p:pic>
        <p:nvPicPr>
          <p:cNvPr id="24" name="Picture" descr="Microsoft">    </p:cNvPr>
          <p:cNvPicPr>
            <a:picLocks noChangeAspect="1"/>
          </p:cNvPicPr>
          <p:nvPr/>
        </p:nvPicPr>
        <p:blipFill>
          <a:blip r:embed="rId11"/>
          <a:stretch>
            <a:fillRect/>
          </a:stretch>
        </p:blipFill>
        <p:spPr>
          <a:xfrm>
            <a:off x="5261823" y="4837176"/>
            <a:ext cx="983620" cy="209580"/>
          </a:xfrm>
          <a:prstGeom prst="rect">
            <a:avLst/>
          </a:prstGeom>
        </p:spPr>
      </p:pic>
      <p:sp>
        <p:nvSpPr>
          <p:cNvPr id="25" name="Rule"/>
          <p:cNvSpPr/>
          <p:nvPr/>
        </p:nvSpPr>
        <p:spPr>
          <a:xfrm>
            <a:off x="7183892" y="2343059"/>
            <a:ext cx="2059503" cy="0"/>
          </a:xfrm>
          <a:prstGeom prst="line">
            <a:avLst/>
          </a:prstGeom>
          <a:noFill/>
          <a:ln w="6350">
            <a:solidFill>
              <a:srgbClr val="E3E6EC"/>
            </a:solidFill>
            <a:prstDash val="solid"/>
          </a:ln>
        </p:spPr>
      </p:sp>
      <p:sp>
        <p:nvSpPr>
          <p:cNvPr id="26" name="Rule"/>
          <p:cNvSpPr/>
          <p:nvPr/>
        </p:nvSpPr>
        <p:spPr>
          <a:xfrm>
            <a:off x="9421246" y="2343059"/>
            <a:ext cx="2059503" cy="0"/>
          </a:xfrm>
          <a:prstGeom prst="line">
            <a:avLst/>
          </a:prstGeom>
          <a:noFill/>
          <a:ln w="6350">
            <a:solidFill>
              <a:srgbClr val="E3E6EC"/>
            </a:solidFill>
            <a:prstDash val="solid"/>
          </a:ln>
        </p:spPr>
      </p:sp>
      <p:sp>
        <p:nvSpPr>
          <p:cNvPr id="27" name="Rule"/>
          <p:cNvSpPr/>
          <p:nvPr/>
        </p:nvSpPr>
        <p:spPr>
          <a:xfrm>
            <a:off x="7183892" y="3227466"/>
            <a:ext cx="2059503" cy="0"/>
          </a:xfrm>
          <a:prstGeom prst="line">
            <a:avLst/>
          </a:prstGeom>
          <a:noFill/>
          <a:ln w="6350">
            <a:solidFill>
              <a:srgbClr val="E3E6EC"/>
            </a:solidFill>
            <a:prstDash val="solid"/>
          </a:ln>
        </p:spPr>
      </p:sp>
      <p:sp>
        <p:nvSpPr>
          <p:cNvPr id="28" name="Rule"/>
          <p:cNvSpPr/>
          <p:nvPr/>
        </p:nvSpPr>
        <p:spPr>
          <a:xfrm>
            <a:off x="9421246" y="3227466"/>
            <a:ext cx="2059503" cy="0"/>
          </a:xfrm>
          <a:prstGeom prst="line">
            <a:avLst/>
          </a:prstGeom>
          <a:noFill/>
          <a:ln w="6350">
            <a:solidFill>
              <a:srgbClr val="E3E6EC"/>
            </a:solidFill>
            <a:prstDash val="solid"/>
          </a:ln>
        </p:spPr>
      </p:sp>
      <p:sp>
        <p:nvSpPr>
          <p:cNvPr id="29" name="Rule"/>
          <p:cNvSpPr/>
          <p:nvPr/>
        </p:nvSpPr>
        <p:spPr>
          <a:xfrm>
            <a:off x="7183892" y="4622658"/>
            <a:ext cx="4296766" cy="0"/>
          </a:xfrm>
          <a:prstGeom prst="line">
            <a:avLst/>
          </a:prstGeom>
          <a:noFill/>
          <a:ln w="6350">
            <a:solidFill>
              <a:srgbClr val="E3E6EC"/>
            </a:solidFill>
            <a:prstDash val="solid"/>
          </a:ln>
        </p:spPr>
      </p:sp>
      <p:sp>
        <p:nvSpPr>
          <p:cNvPr id="30" name="Rule"/>
          <p:cNvSpPr/>
          <p:nvPr/>
        </p:nvSpPr>
        <p:spPr>
          <a:xfrm>
            <a:off x="7183892" y="4988143"/>
            <a:ext cx="4296766" cy="0"/>
          </a:xfrm>
          <a:prstGeom prst="line">
            <a:avLst/>
          </a:prstGeom>
          <a:noFill/>
          <a:ln w="6350">
            <a:solidFill>
              <a:srgbClr val="E3E6EC"/>
            </a:solidFill>
            <a:prstDash val="solid"/>
          </a:ln>
        </p:spPr>
      </p:sp>
      <p:sp>
        <p:nvSpPr>
          <p:cNvPr id="31" name="Rule"/>
          <p:cNvSpPr/>
          <p:nvPr/>
        </p:nvSpPr>
        <p:spPr>
          <a:xfrm>
            <a:off x="7183892" y="5560192"/>
            <a:ext cx="4296766" cy="0"/>
          </a:xfrm>
          <a:prstGeom prst="line">
            <a:avLst/>
          </a:prstGeom>
          <a:noFill/>
          <a:ln w="6350">
            <a:solidFill>
              <a:srgbClr val="E3E6EC"/>
            </a:solidFill>
            <a:prstDash val="solid"/>
          </a:ln>
        </p:spPr>
      </p:sp>
      <p:sp>
        <p:nvSpPr>
          <p:cNvPr id="32" name="span::before"/>
          <p:cNvSpPr/>
          <p:nvPr/>
        </p:nvSpPr>
        <p:spPr>
          <a:xfrm>
            <a:off x="6191860" y="311170"/>
            <a:ext cx="44440" cy="44440"/>
          </a:xfrm>
          <a:prstGeom prst="rect">
            <a:avLst/>
          </a:prstGeom>
          <a:solidFill>
            <a:srgbClr val="A0A6AF">
              <a:alpha val="55000"/>
            </a:srgbClr>
          </a:solidFill>
          <a:ln/>
        </p:spPr>
      </p:sp>
      <p:sp>
        <p:nvSpPr>
          <p:cNvPr id="33" name="on::before"/>
          <p:cNvSpPr/>
          <p:nvPr/>
        </p:nvSpPr>
        <p:spPr>
          <a:xfrm>
            <a:off x="7145213" y="311170"/>
            <a:ext cx="44440" cy="44440"/>
          </a:xfrm>
          <a:prstGeom prst="rect">
            <a:avLst/>
          </a:prstGeom>
          <a:solidFill>
            <a:srgbClr val="044BD9"/>
          </a:solidFill>
          <a:ln/>
        </p:spPr>
      </p:sp>
      <p:sp>
        <p:nvSpPr>
          <p:cNvPr id="34" name="span::before"/>
          <p:cNvSpPr/>
          <p:nvPr/>
        </p:nvSpPr>
        <p:spPr>
          <a:xfrm>
            <a:off x="8056230" y="311170"/>
            <a:ext cx="44440" cy="44440"/>
          </a:xfrm>
          <a:prstGeom prst="rect">
            <a:avLst/>
          </a:prstGeom>
          <a:solidFill>
            <a:srgbClr val="A0A6AF">
              <a:alpha val="55000"/>
            </a:srgbClr>
          </a:solidFill>
          <a:ln/>
        </p:spPr>
      </p:sp>
      <p:sp>
        <p:nvSpPr>
          <p:cNvPr id="35" name="span::before"/>
          <p:cNvSpPr/>
          <p:nvPr/>
        </p:nvSpPr>
        <p:spPr>
          <a:xfrm>
            <a:off x="8972550" y="311170"/>
            <a:ext cx="44440" cy="44440"/>
          </a:xfrm>
          <a:prstGeom prst="rect">
            <a:avLst/>
          </a:prstGeom>
          <a:solidFill>
            <a:srgbClr val="A0A6AF">
              <a:alpha val="55000"/>
            </a:srgbClr>
          </a:solidFill>
          <a:ln/>
        </p:spPr>
      </p:sp>
      <p:sp>
        <p:nvSpPr>
          <p:cNvPr id="36" name="span::before"/>
          <p:cNvSpPr/>
          <p:nvPr/>
        </p:nvSpPr>
        <p:spPr>
          <a:xfrm>
            <a:off x="10421142" y="311170"/>
            <a:ext cx="44440" cy="44440"/>
          </a:xfrm>
          <a:prstGeom prst="rect">
            <a:avLst/>
          </a:prstGeom>
          <a:solidFill>
            <a:srgbClr val="A0A6AF">
              <a:alpha val="55000"/>
            </a:srgbClr>
          </a:solidFill>
          <a:ln/>
        </p:spPr>
      </p:sp>
      <p:sp>
        <p:nvSpPr>
          <p:cNvPr id="37" name="span::before"/>
          <p:cNvSpPr/>
          <p:nvPr/>
        </p:nvSpPr>
        <p:spPr>
          <a:xfrm>
            <a:off x="10966216" y="311170"/>
            <a:ext cx="44440" cy="44440"/>
          </a:xfrm>
          <a:prstGeom prst="rect">
            <a:avLst/>
          </a:prstGeom>
          <a:solidFill>
            <a:srgbClr val="A0A6AF">
              <a:alpha val="55000"/>
            </a:srgbClr>
          </a:solidFill>
          <a:ln/>
        </p:spPr>
      </p:sp>
      <p:sp>
        <p:nvSpPr>
          <p:cNvPr id="38" name="Text"/>
          <p:cNvSpPr txBox="1"/>
          <p:nvPr/>
        </p:nvSpPr>
        <p:spPr>
          <a:xfrm>
            <a:off x="844540" y="603230"/>
            <a:ext cx="1458377" cy="120609"/>
          </a:xfrm>
          <a:prstGeom prst="rect">
            <a:avLst/>
          </a:prstGeom>
          <a:noFill/>
          <a:ln/>
        </p:spPr>
        <p:txBody>
          <a:bodyPr wrap="none" lIns="0" tIns="0" rIns="0" bIns="0" rtlCol="0" anchor="t"/>
          <a:lstStyle/>
          <a:p>
            <a:pPr algn="l" indent="0" marL="0">
              <a:lnSpc>
                <a:spcPts val="950"/>
              </a:lnSpc>
              <a:buNone/>
            </a:pPr>
            <a:r>
              <a:rPr lang="en-US" sz="950" spc="10" kern="0" dirty="0">
                <a:solidFill>
                  <a:srgbClr val="155DFC"/>
                </a:solidFill>
                <a:latin typeface="Poppins Medium" pitchFamily="34" charset="0"/>
                <a:ea typeface="Poppins Medium" pitchFamily="34" charset="-122"/>
                <a:cs typeface="Poppins Medium" pitchFamily="34" charset="-120"/>
              </a:rPr>
              <a:t>Platforms and partners</a:t>
            </a:r>
            <a:endParaRPr lang="en-US" sz="950" dirty="0"/>
          </a:p>
        </p:txBody>
      </p:sp>
      <p:sp>
        <p:nvSpPr>
          <p:cNvPr id="39" name="Title"/>
          <p:cNvSpPr txBox="1"/>
          <p:nvPr/>
        </p:nvSpPr>
        <p:spPr>
          <a:xfrm>
            <a:off x="711220" y="927750"/>
            <a:ext cx="9398020" cy="861090"/>
          </a:xfrm>
          <a:prstGeom prst="rect">
            <a:avLst/>
          </a:prstGeom>
          <a:noFill/>
          <a:ln/>
        </p:spPr>
        <p:txBody>
          <a:bodyPr wrap="square" lIns="0" tIns="0" rIns="0" bIns="0" rtlCol="0" anchor="t"/>
          <a:lstStyle/>
          <a:p>
            <a:pPr algn="l" indent="0" marL="0">
              <a:lnSpc>
                <a:spcPts val="3390"/>
              </a:lnSpc>
              <a:buNone/>
            </a:pPr>
            <a:r>
              <a:rPr lang="en-US" sz="3000" spc="-45" kern="0" dirty="0">
                <a:solidFill>
                  <a:srgbClr val="000000"/>
                </a:solidFill>
                <a:latin typeface="Poppins Medium" pitchFamily="34" charset="0"/>
                <a:ea typeface="Poppins Medium" pitchFamily="34" charset="-122"/>
                <a:cs typeface="Poppins Medium" pitchFamily="34" charset="-120"/>
              </a:rPr>
              <a:t>We choose the model, compute and cloud</a:t>
            </a:r>
            <a:endParaRPr lang="en-US" sz="3000" dirty="0"/>
          </a:p>
          <a:p>
            <a:pPr algn="l" indent="0" marL="0">
              <a:lnSpc>
                <a:spcPts val="3390"/>
              </a:lnSpc>
              <a:buNone/>
            </a:pPr>
            <a:r>
              <a:rPr lang="en-US" sz="3000" spc="-45" kern="0" dirty="0">
                <a:solidFill>
                  <a:srgbClr val="000000"/>
                </a:solidFill>
                <a:latin typeface="Poppins Medium" pitchFamily="34" charset="0"/>
                <a:ea typeface="Poppins Medium" pitchFamily="34" charset="-122"/>
                <a:cs typeface="Poppins Medium" pitchFamily="34" charset="-120"/>
              </a:rPr>
              <a:t>per project, for your data, cost and residency</a:t>
            </a:r>
            <a:endParaRPr lang="en-US" sz="3000" dirty="0"/>
          </a:p>
        </p:txBody>
      </p:sp>
      <p:sp>
        <p:nvSpPr>
          <p:cNvPr id="40" name="Text"/>
          <p:cNvSpPr txBox="1"/>
          <p:nvPr/>
        </p:nvSpPr>
        <p:spPr>
          <a:xfrm>
            <a:off x="711220" y="2071025"/>
            <a:ext cx="6052322" cy="177119"/>
          </a:xfrm>
          <a:prstGeom prst="rect">
            <a:avLst/>
          </a:prstGeom>
          <a:noFill/>
          <a:ln/>
        </p:spPr>
        <p:txBody>
          <a:bodyPr wrap="square" lIns="0" tIns="0" rIns="0" bIns="0" rtlCol="0" anchor="t"/>
          <a:lstStyle/>
          <a:p>
            <a:pPr algn="l" indent="0" marL="0">
              <a:lnSpc>
                <a:spcPts val="1395"/>
              </a:lnSpc>
              <a:buNone/>
            </a:pPr>
            <a:r>
              <a:rPr lang="en-US" sz="900" spc="18" kern="0" dirty="0">
                <a:solidFill>
                  <a:srgbClr val="044BD9"/>
                </a:solidFill>
                <a:latin typeface="Poppins Medium" pitchFamily="34" charset="0"/>
                <a:ea typeface="Poppins Medium" pitchFamily="34" charset="-122"/>
                <a:cs typeface="Poppins Medium" pitchFamily="34" charset="-120"/>
              </a:rPr>
              <a:t>Models</a:t>
            </a:r>
            <a:endParaRPr lang="en-US" sz="900" dirty="0"/>
          </a:p>
        </p:txBody>
      </p:sp>
      <p:sp>
        <p:nvSpPr>
          <p:cNvPr id="41" name="Text"/>
          <p:cNvSpPr txBox="1"/>
          <p:nvPr/>
        </p:nvSpPr>
        <p:spPr>
          <a:xfrm>
            <a:off x="711220" y="3200583"/>
            <a:ext cx="4009278" cy="177119"/>
          </a:xfrm>
          <a:prstGeom prst="rect">
            <a:avLst/>
          </a:prstGeom>
          <a:noFill/>
          <a:ln/>
        </p:spPr>
        <p:txBody>
          <a:bodyPr wrap="square" lIns="0" tIns="0" rIns="0" bIns="0" rtlCol="0" anchor="t"/>
          <a:lstStyle/>
          <a:p>
            <a:pPr algn="l" indent="0" marL="0">
              <a:lnSpc>
                <a:spcPts val="1395"/>
              </a:lnSpc>
              <a:buNone/>
            </a:pPr>
            <a:r>
              <a:rPr lang="en-US" sz="900" spc="18" kern="0" dirty="0">
                <a:solidFill>
                  <a:srgbClr val="044BD9"/>
                </a:solidFill>
                <a:latin typeface="Poppins Medium" pitchFamily="34" charset="0"/>
                <a:ea typeface="Poppins Medium" pitchFamily="34" charset="-122"/>
                <a:cs typeface="Poppins Medium" pitchFamily="34" charset="-120"/>
              </a:rPr>
              <a:t>Compute</a:t>
            </a:r>
            <a:endParaRPr lang="en-US" sz="900" dirty="0"/>
          </a:p>
        </p:txBody>
      </p:sp>
      <p:sp>
        <p:nvSpPr>
          <p:cNvPr id="42" name="Text"/>
          <p:cNvSpPr txBox="1"/>
          <p:nvPr/>
        </p:nvSpPr>
        <p:spPr>
          <a:xfrm>
            <a:off x="4780758" y="3200583"/>
            <a:ext cx="1966417" cy="177119"/>
          </a:xfrm>
          <a:prstGeom prst="rect">
            <a:avLst/>
          </a:prstGeom>
          <a:noFill/>
          <a:ln/>
        </p:spPr>
        <p:txBody>
          <a:bodyPr wrap="square" lIns="0" tIns="0" rIns="0" bIns="0" rtlCol="0" anchor="t"/>
          <a:lstStyle/>
          <a:p>
            <a:pPr algn="l" indent="0" marL="0">
              <a:lnSpc>
                <a:spcPts val="1395"/>
              </a:lnSpc>
              <a:buNone/>
            </a:pPr>
            <a:r>
              <a:rPr lang="en-US" sz="900" spc="18" kern="0" dirty="0">
                <a:solidFill>
                  <a:srgbClr val="044BD9"/>
                </a:solidFill>
                <a:latin typeface="Poppins Medium" pitchFamily="34" charset="0"/>
                <a:ea typeface="Poppins Medium" pitchFamily="34" charset="-122"/>
                <a:cs typeface="Poppins Medium" pitchFamily="34" charset="-120"/>
              </a:rPr>
              <a:t>AI hardware</a:t>
            </a:r>
            <a:endParaRPr lang="en-US" sz="900" dirty="0"/>
          </a:p>
        </p:txBody>
      </p:sp>
      <p:sp>
        <p:nvSpPr>
          <p:cNvPr id="43" name="Text"/>
          <p:cNvSpPr txBox="1"/>
          <p:nvPr/>
        </p:nvSpPr>
        <p:spPr>
          <a:xfrm>
            <a:off x="1259403" y="3885377"/>
            <a:ext cx="874806" cy="120609"/>
          </a:xfrm>
          <a:prstGeom prst="rect">
            <a:avLst/>
          </a:prstGeom>
          <a:noFill/>
          <a:ln/>
        </p:spPr>
        <p:txBody>
          <a:bodyPr wrap="none" lIns="0" tIns="0" rIns="0" bIns="0" rtlCol="0" anchor="t"/>
          <a:lstStyle/>
          <a:p>
            <a:pPr algn="l" indent="0" marL="0">
              <a:lnSpc>
                <a:spcPts val="950"/>
              </a:lnSpc>
              <a:buNone/>
            </a:pPr>
            <a:r>
              <a:rPr lang="en-US" sz="950" dirty="0">
                <a:solidFill>
                  <a:srgbClr val="6B6B6B"/>
                </a:solidFill>
                <a:latin typeface="Poppins Light" pitchFamily="34" charset="0"/>
                <a:ea typeface="Poppins Light" pitchFamily="34" charset="-122"/>
                <a:cs typeface="Poppins Light" pitchFamily="34" charset="-120"/>
              </a:rPr>
              <a:t>H100 compute</a:t>
            </a:r>
            <a:endParaRPr lang="en-US" sz="950" dirty="0"/>
          </a:p>
        </p:txBody>
      </p:sp>
      <p:sp>
        <p:nvSpPr>
          <p:cNvPr id="44" name="Text"/>
          <p:cNvSpPr txBox="1"/>
          <p:nvPr/>
        </p:nvSpPr>
        <p:spPr>
          <a:xfrm>
            <a:off x="3206618" y="3888577"/>
            <a:ext cx="1049914" cy="120609"/>
          </a:xfrm>
          <a:prstGeom prst="rect">
            <a:avLst/>
          </a:prstGeom>
          <a:noFill/>
          <a:ln/>
        </p:spPr>
        <p:txBody>
          <a:bodyPr wrap="none" lIns="0" tIns="0" rIns="0" bIns="0" rtlCol="0" anchor="t"/>
          <a:lstStyle/>
          <a:p>
            <a:pPr algn="l" indent="0" marL="0">
              <a:lnSpc>
                <a:spcPts val="950"/>
              </a:lnSpc>
              <a:buNone/>
            </a:pPr>
            <a:r>
              <a:rPr lang="en-US" sz="950" dirty="0">
                <a:solidFill>
                  <a:srgbClr val="6B6B6B"/>
                </a:solidFill>
                <a:latin typeface="Poppins Light" pitchFamily="34" charset="0"/>
                <a:ea typeface="Poppins Light" pitchFamily="34" charset="-122"/>
                <a:cs typeface="Poppins Light" pitchFamily="34" charset="-120"/>
              </a:rPr>
              <a:t>GPU workstations</a:t>
            </a:r>
            <a:endParaRPr lang="en-US" sz="950" dirty="0"/>
          </a:p>
        </p:txBody>
      </p:sp>
      <p:sp>
        <p:nvSpPr>
          <p:cNvPr id="45" name="Text"/>
          <p:cNvSpPr txBox="1"/>
          <p:nvPr/>
        </p:nvSpPr>
        <p:spPr>
          <a:xfrm>
            <a:off x="5086624" y="3866358"/>
            <a:ext cx="1359621" cy="120609"/>
          </a:xfrm>
          <a:prstGeom prst="rect">
            <a:avLst/>
          </a:prstGeom>
          <a:noFill/>
          <a:ln/>
        </p:spPr>
        <p:txBody>
          <a:bodyPr wrap="none" lIns="0" tIns="0" rIns="0" bIns="0" rtlCol="0" anchor="t"/>
          <a:lstStyle/>
          <a:p>
            <a:pPr algn="l" indent="0" marL="0">
              <a:lnSpc>
                <a:spcPts val="950"/>
              </a:lnSpc>
              <a:buNone/>
            </a:pPr>
            <a:r>
              <a:rPr lang="en-US" sz="950" dirty="0">
                <a:solidFill>
                  <a:srgbClr val="6B6B6B"/>
                </a:solidFill>
                <a:latin typeface="Poppins Light" pitchFamily="34" charset="0"/>
                <a:ea typeface="Poppins Light" pitchFamily="34" charset="-122"/>
                <a:cs typeface="Poppins Light" pitchFamily="34" charset="-120"/>
              </a:rPr>
              <a:t>Hardware for Kiralytics</a:t>
            </a:r>
            <a:endParaRPr lang="en-US" sz="950" dirty="0"/>
          </a:p>
        </p:txBody>
      </p:sp>
      <p:sp>
        <p:nvSpPr>
          <p:cNvPr id="46" name="Text"/>
          <p:cNvSpPr txBox="1"/>
          <p:nvPr/>
        </p:nvSpPr>
        <p:spPr>
          <a:xfrm>
            <a:off x="711220" y="4330233"/>
            <a:ext cx="6052322" cy="177119"/>
          </a:xfrm>
          <a:prstGeom prst="rect">
            <a:avLst/>
          </a:prstGeom>
          <a:noFill/>
          <a:ln/>
        </p:spPr>
        <p:txBody>
          <a:bodyPr wrap="square" lIns="0" tIns="0" rIns="0" bIns="0" rtlCol="0" anchor="t"/>
          <a:lstStyle/>
          <a:p>
            <a:pPr algn="l" indent="0" marL="0">
              <a:lnSpc>
                <a:spcPts val="1395"/>
              </a:lnSpc>
              <a:buNone/>
            </a:pPr>
            <a:r>
              <a:rPr lang="en-US" sz="900" spc="18" kern="0" dirty="0">
                <a:solidFill>
                  <a:srgbClr val="044BD9"/>
                </a:solidFill>
                <a:latin typeface="Poppins Medium" pitchFamily="34" charset="0"/>
                <a:ea typeface="Poppins Medium" pitchFamily="34" charset="-122"/>
                <a:cs typeface="Poppins Medium" pitchFamily="34" charset="-120"/>
              </a:rPr>
              <a:t>Cloud</a:t>
            </a:r>
            <a:endParaRPr lang="en-US" sz="900" dirty="0"/>
          </a:p>
        </p:txBody>
      </p:sp>
      <p:sp>
        <p:nvSpPr>
          <p:cNvPr id="47" name="Text"/>
          <p:cNvSpPr txBox="1"/>
          <p:nvPr/>
        </p:nvSpPr>
        <p:spPr>
          <a:xfrm>
            <a:off x="711220" y="5799856"/>
            <a:ext cx="6052322" cy="216530"/>
          </a:xfrm>
          <a:prstGeom prst="rect">
            <a:avLst/>
          </a:prstGeom>
          <a:noFill/>
          <a:ln/>
        </p:spPr>
        <p:txBody>
          <a:bodyPr wrap="square" lIns="0" tIns="0" rIns="0" bIns="0" rtlCol="0" anchor="t"/>
          <a:lstStyle/>
          <a:p>
            <a:pPr algn="l" indent="0" marL="0">
              <a:lnSpc>
                <a:spcPts val="1705"/>
              </a:lnSpc>
              <a:buNone/>
            </a:pPr>
            <a:r>
              <a:rPr lang="en-US" sz="1100" dirty="0">
                <a:solidFill>
                  <a:srgbClr val="6B6B6B"/>
                </a:solidFill>
                <a:latin typeface="Poppins Light" pitchFamily="34" charset="0"/>
                <a:ea typeface="Poppins Light" pitchFamily="34" charset="-122"/>
                <a:cs typeface="Poppins Light" pitchFamily="34" charset="-120"/>
              </a:rPr>
              <a:t>Technology platforms, not clients.</a:t>
            </a:r>
            <a:endParaRPr lang="en-US" sz="1100" dirty="0"/>
          </a:p>
        </p:txBody>
      </p:sp>
      <p:sp>
        <p:nvSpPr>
          <p:cNvPr id="48" name="Text"/>
          <p:cNvSpPr txBox="1"/>
          <p:nvPr/>
        </p:nvSpPr>
        <p:spPr>
          <a:xfrm>
            <a:off x="7183892" y="2071025"/>
            <a:ext cx="4326666" cy="177119"/>
          </a:xfrm>
          <a:prstGeom prst="rect">
            <a:avLst/>
          </a:prstGeom>
          <a:noFill/>
          <a:ln/>
        </p:spPr>
        <p:txBody>
          <a:bodyPr wrap="square" lIns="0" tIns="0" rIns="0" bIns="0" rtlCol="0" anchor="t"/>
          <a:lstStyle/>
          <a:p>
            <a:pPr algn="l" indent="0" marL="0">
              <a:lnSpc>
                <a:spcPts val="1395"/>
              </a:lnSpc>
              <a:buNone/>
            </a:pPr>
            <a:r>
              <a:rPr lang="en-US" sz="900" spc="18" kern="0" dirty="0">
                <a:solidFill>
                  <a:srgbClr val="044BD9"/>
                </a:solidFill>
                <a:latin typeface="Poppins Medium" pitchFamily="34" charset="0"/>
                <a:ea typeface="Poppins Medium" pitchFamily="34" charset="-122"/>
                <a:cs typeface="Poppins Medium" pitchFamily="34" charset="-120"/>
              </a:rPr>
              <a:t>How we choose</a:t>
            </a:r>
            <a:endParaRPr lang="en-US" sz="900" dirty="0"/>
          </a:p>
        </p:txBody>
      </p:sp>
      <p:sp>
        <p:nvSpPr>
          <p:cNvPr id="49" name="Text"/>
          <p:cNvSpPr txBox="1"/>
          <p:nvPr/>
        </p:nvSpPr>
        <p:spPr>
          <a:xfrm>
            <a:off x="7183892" y="2434499"/>
            <a:ext cx="2080443" cy="236190"/>
          </a:xfrm>
          <a:prstGeom prst="rect">
            <a:avLst/>
          </a:prstGeom>
          <a:noFill/>
          <a:ln/>
        </p:spPr>
        <p:txBody>
          <a:bodyPr wrap="square" lIns="0" tIns="0" rIns="0" bIns="0" rtlCol="0" anchor="t"/>
          <a:lstStyle/>
          <a:p>
            <a:pPr algn="l" indent="0" marL="0">
              <a:lnSpc>
                <a:spcPts val="1860"/>
              </a:lnSpc>
              <a:buNone/>
            </a:pPr>
            <a:r>
              <a:rPr lang="en-US" sz="1200" dirty="0">
                <a:solidFill>
                  <a:srgbClr val="000000"/>
                </a:solidFill>
                <a:latin typeface="Poppins Medium" pitchFamily="34" charset="0"/>
                <a:ea typeface="Poppins Medium" pitchFamily="34" charset="-122"/>
                <a:cs typeface="Poppins Medium" pitchFamily="34" charset="-120"/>
              </a:rPr>
              <a:t>Data and residency</a:t>
            </a:r>
            <a:endParaRPr lang="en-US" sz="1200" dirty="0"/>
          </a:p>
        </p:txBody>
      </p:sp>
      <p:sp>
        <p:nvSpPr>
          <p:cNvPr id="50" name="Text"/>
          <p:cNvSpPr txBox="1"/>
          <p:nvPr/>
        </p:nvSpPr>
        <p:spPr>
          <a:xfrm>
            <a:off x="7183892" y="2666390"/>
            <a:ext cx="2080443" cy="413400"/>
          </a:xfrm>
          <a:prstGeom prst="rect">
            <a:avLst/>
          </a:prstGeom>
          <a:noFill/>
          <a:ln/>
        </p:spPr>
        <p:txBody>
          <a:bodyPr wrap="square" lIns="0" tIns="0" rIns="0" bIns="0" rtlCol="0" anchor="t"/>
          <a:lstStyle/>
          <a:p>
            <a:pPr algn="l" indent="0" marL="0">
              <a:lnSpc>
                <a:spcPts val="1627"/>
              </a:lnSpc>
              <a:buNone/>
            </a:pPr>
            <a:r>
              <a:rPr lang="en-US" sz="1050" dirty="0">
                <a:solidFill>
                  <a:srgbClr val="1F2937"/>
                </a:solidFill>
                <a:latin typeface="Poppins Light" pitchFamily="34" charset="0"/>
                <a:ea typeface="Poppins Light" pitchFamily="34" charset="-122"/>
                <a:cs typeface="Poppins Light" pitchFamily="34" charset="-120"/>
              </a:rPr>
              <a:t>Locally hosted models where data must stay in-house</a:t>
            </a:r>
            <a:endParaRPr lang="en-US" sz="1050" dirty="0"/>
          </a:p>
        </p:txBody>
      </p:sp>
      <p:sp>
        <p:nvSpPr>
          <p:cNvPr id="51" name="Text"/>
          <p:cNvSpPr txBox="1"/>
          <p:nvPr/>
        </p:nvSpPr>
        <p:spPr>
          <a:xfrm>
            <a:off x="9421246" y="2434499"/>
            <a:ext cx="2080443" cy="236190"/>
          </a:xfrm>
          <a:prstGeom prst="rect">
            <a:avLst/>
          </a:prstGeom>
          <a:noFill/>
          <a:ln/>
        </p:spPr>
        <p:txBody>
          <a:bodyPr wrap="square" lIns="0" tIns="0" rIns="0" bIns="0" rtlCol="0" anchor="t"/>
          <a:lstStyle/>
          <a:p>
            <a:pPr algn="l" indent="0" marL="0">
              <a:lnSpc>
                <a:spcPts val="1860"/>
              </a:lnSpc>
              <a:buNone/>
            </a:pPr>
            <a:r>
              <a:rPr lang="en-US" sz="1200" dirty="0">
                <a:solidFill>
                  <a:srgbClr val="000000"/>
                </a:solidFill>
                <a:latin typeface="Poppins Medium" pitchFamily="34" charset="0"/>
                <a:ea typeface="Poppins Medium" pitchFamily="34" charset="-122"/>
                <a:cs typeface="Poppins Medium" pitchFamily="34" charset="-120"/>
              </a:rPr>
              <a:t>Cost</a:t>
            </a:r>
            <a:endParaRPr lang="en-US" sz="1200" dirty="0"/>
          </a:p>
        </p:txBody>
      </p:sp>
      <p:sp>
        <p:nvSpPr>
          <p:cNvPr id="52" name="Text"/>
          <p:cNvSpPr txBox="1"/>
          <p:nvPr/>
        </p:nvSpPr>
        <p:spPr>
          <a:xfrm>
            <a:off x="9421246" y="2666390"/>
            <a:ext cx="2080443" cy="413400"/>
          </a:xfrm>
          <a:prstGeom prst="rect">
            <a:avLst/>
          </a:prstGeom>
          <a:noFill/>
          <a:ln/>
        </p:spPr>
        <p:txBody>
          <a:bodyPr wrap="square" lIns="0" tIns="0" rIns="0" bIns="0" rtlCol="0" anchor="t"/>
          <a:lstStyle/>
          <a:p>
            <a:pPr algn="l" indent="0" marL="0">
              <a:lnSpc>
                <a:spcPts val="1627"/>
              </a:lnSpc>
              <a:buNone/>
            </a:pPr>
            <a:r>
              <a:rPr lang="en-US" sz="1050" dirty="0">
                <a:solidFill>
                  <a:srgbClr val="1F2937"/>
                </a:solidFill>
                <a:latin typeface="Poppins Light" pitchFamily="34" charset="0"/>
                <a:ea typeface="Poppins Light" pitchFamily="34" charset="-122"/>
                <a:cs typeface="Poppins Light" pitchFamily="34" charset="-120"/>
              </a:rPr>
              <a:t>H100 compute shortens training time and lowers cost</a:t>
            </a:r>
            <a:endParaRPr lang="en-US" sz="1050" dirty="0"/>
          </a:p>
        </p:txBody>
      </p:sp>
      <p:sp>
        <p:nvSpPr>
          <p:cNvPr id="53" name="Text"/>
          <p:cNvSpPr txBox="1"/>
          <p:nvPr/>
        </p:nvSpPr>
        <p:spPr>
          <a:xfrm>
            <a:off x="7183892" y="3318906"/>
            <a:ext cx="2080443" cy="236190"/>
          </a:xfrm>
          <a:prstGeom prst="rect">
            <a:avLst/>
          </a:prstGeom>
          <a:noFill/>
          <a:ln/>
        </p:spPr>
        <p:txBody>
          <a:bodyPr wrap="square" lIns="0" tIns="0" rIns="0" bIns="0" rtlCol="0" anchor="t"/>
          <a:lstStyle/>
          <a:p>
            <a:pPr algn="l" indent="0" marL="0">
              <a:lnSpc>
                <a:spcPts val="1860"/>
              </a:lnSpc>
              <a:buNone/>
            </a:pPr>
            <a:r>
              <a:rPr lang="en-US" sz="1200" dirty="0">
                <a:solidFill>
                  <a:srgbClr val="000000"/>
                </a:solidFill>
                <a:latin typeface="Poppins Medium" pitchFamily="34" charset="0"/>
                <a:ea typeface="Poppins Medium" pitchFamily="34" charset="-122"/>
                <a:cs typeface="Poppins Medium" pitchFamily="34" charset="-120"/>
              </a:rPr>
              <a:t>Capability</a:t>
            </a:r>
            <a:endParaRPr lang="en-US" sz="1200" dirty="0"/>
          </a:p>
        </p:txBody>
      </p:sp>
      <p:sp>
        <p:nvSpPr>
          <p:cNvPr id="54" name="Text"/>
          <p:cNvSpPr txBox="1"/>
          <p:nvPr/>
        </p:nvSpPr>
        <p:spPr>
          <a:xfrm>
            <a:off x="7183892" y="3550798"/>
            <a:ext cx="2080443" cy="620055"/>
          </a:xfrm>
          <a:prstGeom prst="rect">
            <a:avLst/>
          </a:prstGeom>
          <a:noFill/>
          <a:ln/>
        </p:spPr>
        <p:txBody>
          <a:bodyPr wrap="square" lIns="0" tIns="0" rIns="0" bIns="0" rtlCol="0" anchor="t"/>
          <a:lstStyle/>
          <a:p>
            <a:pPr algn="l" indent="0" marL="0">
              <a:lnSpc>
                <a:spcPts val="1627"/>
              </a:lnSpc>
              <a:buNone/>
            </a:pPr>
            <a:r>
              <a:rPr lang="en-US" sz="1050" dirty="0">
                <a:solidFill>
                  <a:srgbClr val="1F2937"/>
                </a:solidFill>
                <a:latin typeface="Poppins Light" pitchFamily="34" charset="0"/>
                <a:ea typeface="Poppins Light" pitchFamily="34" charset="-122"/>
                <a:cs typeface="Poppins Light" pitchFamily="34" charset="-120"/>
              </a:rPr>
              <a:t>Vision and language models together where a job needs both</a:t>
            </a:r>
            <a:endParaRPr lang="en-US" sz="1050" dirty="0"/>
          </a:p>
        </p:txBody>
      </p:sp>
      <p:sp>
        <p:nvSpPr>
          <p:cNvPr id="55" name="Text"/>
          <p:cNvSpPr txBox="1"/>
          <p:nvPr/>
        </p:nvSpPr>
        <p:spPr>
          <a:xfrm>
            <a:off x="9421246" y="3318906"/>
            <a:ext cx="2080443" cy="236190"/>
          </a:xfrm>
          <a:prstGeom prst="rect">
            <a:avLst/>
          </a:prstGeom>
          <a:noFill/>
          <a:ln/>
        </p:spPr>
        <p:txBody>
          <a:bodyPr wrap="square" lIns="0" tIns="0" rIns="0" bIns="0" rtlCol="0" anchor="t"/>
          <a:lstStyle/>
          <a:p>
            <a:pPr algn="l" indent="0" marL="0">
              <a:lnSpc>
                <a:spcPts val="1860"/>
              </a:lnSpc>
              <a:buNone/>
            </a:pPr>
            <a:r>
              <a:rPr lang="en-US" sz="1200" dirty="0">
                <a:solidFill>
                  <a:srgbClr val="000000"/>
                </a:solidFill>
                <a:latin typeface="Poppins Medium" pitchFamily="34" charset="0"/>
                <a:ea typeface="Poppins Medium" pitchFamily="34" charset="-122"/>
                <a:cs typeface="Poppins Medium" pitchFamily="34" charset="-120"/>
              </a:rPr>
              <a:t>Governance</a:t>
            </a:r>
            <a:endParaRPr lang="en-US" sz="1200" dirty="0"/>
          </a:p>
        </p:txBody>
      </p:sp>
      <p:sp>
        <p:nvSpPr>
          <p:cNvPr id="56" name="Text"/>
          <p:cNvSpPr txBox="1"/>
          <p:nvPr/>
        </p:nvSpPr>
        <p:spPr>
          <a:xfrm>
            <a:off x="9421246" y="3550798"/>
            <a:ext cx="2080443" cy="620055"/>
          </a:xfrm>
          <a:prstGeom prst="rect">
            <a:avLst/>
          </a:prstGeom>
          <a:noFill/>
          <a:ln/>
        </p:spPr>
        <p:txBody>
          <a:bodyPr wrap="square" lIns="0" tIns="0" rIns="0" bIns="0" rtlCol="0" anchor="t"/>
          <a:lstStyle/>
          <a:p>
            <a:pPr algn="l" indent="0" marL="0">
              <a:lnSpc>
                <a:spcPts val="1627"/>
              </a:lnSpc>
              <a:buNone/>
            </a:pPr>
            <a:r>
              <a:rPr lang="en-US" sz="1050" dirty="0">
                <a:solidFill>
                  <a:srgbClr val="1F2937"/>
                </a:solidFill>
                <a:latin typeface="Poppins Light" pitchFamily="34" charset="0"/>
                <a:ea typeface="Poppins Light" pitchFamily="34" charset="-122"/>
                <a:cs typeface="Poppins Light" pitchFamily="34" charset="-120"/>
              </a:rPr>
              <a:t>Guardrails, AI safety and alignment are part of the design</a:t>
            </a:r>
            <a:endParaRPr lang="en-US" sz="1050" dirty="0"/>
          </a:p>
        </p:txBody>
      </p:sp>
      <p:sp>
        <p:nvSpPr>
          <p:cNvPr id="57" name="Text"/>
          <p:cNvSpPr txBox="1"/>
          <p:nvPr/>
        </p:nvSpPr>
        <p:spPr>
          <a:xfrm>
            <a:off x="7183892" y="4350624"/>
            <a:ext cx="4326666" cy="177119"/>
          </a:xfrm>
          <a:prstGeom prst="rect">
            <a:avLst/>
          </a:prstGeom>
          <a:noFill/>
          <a:ln/>
        </p:spPr>
        <p:txBody>
          <a:bodyPr wrap="square" lIns="0" tIns="0" rIns="0" bIns="0" rtlCol="0" anchor="t"/>
          <a:lstStyle/>
          <a:p>
            <a:pPr algn="l" indent="0" marL="0">
              <a:lnSpc>
                <a:spcPts val="1395"/>
              </a:lnSpc>
              <a:buNone/>
            </a:pPr>
            <a:r>
              <a:rPr lang="en-US" sz="900" spc="18" kern="0" dirty="0">
                <a:solidFill>
                  <a:srgbClr val="044BD9"/>
                </a:solidFill>
                <a:latin typeface="Poppins Medium" pitchFamily="34" charset="0"/>
                <a:ea typeface="Poppins Medium" pitchFamily="34" charset="-122"/>
                <a:cs typeface="Poppins Medium" pitchFamily="34" charset="-120"/>
              </a:rPr>
              <a:t>Partnerships</a:t>
            </a:r>
            <a:endParaRPr lang="en-US" sz="900" dirty="0"/>
          </a:p>
        </p:txBody>
      </p:sp>
      <p:sp>
        <p:nvSpPr>
          <p:cNvPr id="58" name="Text"/>
          <p:cNvSpPr txBox="1"/>
          <p:nvPr/>
        </p:nvSpPr>
        <p:spPr>
          <a:xfrm>
            <a:off x="7183892" y="4700656"/>
            <a:ext cx="968990" cy="186995"/>
          </a:xfrm>
          <a:prstGeom prst="rect">
            <a:avLst/>
          </a:prstGeom>
          <a:noFill/>
          <a:ln/>
        </p:spPr>
        <p:txBody>
          <a:bodyPr wrap="square" lIns="0" tIns="0" rIns="0" bIns="0" rtlCol="0" anchor="t"/>
          <a:lstStyle/>
          <a:p>
            <a:pPr algn="l" indent="0" marL="0">
              <a:lnSpc>
                <a:spcPts val="1472"/>
              </a:lnSpc>
              <a:buNone/>
            </a:pPr>
            <a:r>
              <a:rPr lang="en-US" sz="950" dirty="0">
                <a:solidFill>
                  <a:srgbClr val="000000"/>
                </a:solidFill>
                <a:latin typeface="Poppins Medium" pitchFamily="34" charset="0"/>
                <a:ea typeface="Poppins Medium" pitchFamily="34" charset="-122"/>
                <a:cs typeface="Poppins Medium" pitchFamily="34" charset="-120"/>
              </a:rPr>
              <a:t>24 Apr 2026</a:t>
            </a:r>
            <a:endParaRPr lang="en-US" sz="950" dirty="0"/>
          </a:p>
        </p:txBody>
      </p:sp>
      <p:sp>
        <p:nvSpPr>
          <p:cNvPr id="59" name="Text"/>
          <p:cNvSpPr txBox="1"/>
          <p:nvPr/>
        </p:nvSpPr>
        <p:spPr>
          <a:xfrm>
            <a:off x="8263433" y="4697181"/>
            <a:ext cx="3242828" cy="206654"/>
          </a:xfrm>
          <a:prstGeom prst="rect">
            <a:avLst/>
          </a:prstGeom>
          <a:noFill/>
          <a:ln/>
        </p:spPr>
        <p:txBody>
          <a:bodyPr wrap="square" lIns="0" tIns="0" rIns="0" bIns="0" rtlCol="0" anchor="t"/>
          <a:lstStyle/>
          <a:p>
            <a:pPr algn="l" indent="0" marL="0">
              <a:lnSpc>
                <a:spcPts val="1627"/>
              </a:lnSpc>
              <a:buNone/>
            </a:pPr>
            <a:r>
              <a:rPr lang="en-US" sz="1050" dirty="0">
                <a:solidFill>
                  <a:srgbClr val="1F2937"/>
                </a:solidFill>
                <a:latin typeface="Poppins Light" pitchFamily="34" charset="0"/>
                <a:ea typeface="Poppins Light" pitchFamily="34" charset="-122"/>
                <a:cs typeface="Poppins Light" pitchFamily="34" charset="-120"/>
              </a:rPr>
              <a:t>Strategic partnership with FPT AI Factory</a:t>
            </a:r>
            <a:endParaRPr lang="en-US" sz="1050" dirty="0"/>
          </a:p>
        </p:txBody>
      </p:sp>
      <p:sp>
        <p:nvSpPr>
          <p:cNvPr id="60" name="Text"/>
          <p:cNvSpPr txBox="1"/>
          <p:nvPr/>
        </p:nvSpPr>
        <p:spPr>
          <a:xfrm>
            <a:off x="7183892" y="5066050"/>
            <a:ext cx="968990" cy="186995"/>
          </a:xfrm>
          <a:prstGeom prst="rect">
            <a:avLst/>
          </a:prstGeom>
          <a:noFill/>
          <a:ln/>
        </p:spPr>
        <p:txBody>
          <a:bodyPr wrap="square" lIns="0" tIns="0" rIns="0" bIns="0" rtlCol="0" anchor="t"/>
          <a:lstStyle/>
          <a:p>
            <a:pPr algn="l" indent="0" marL="0">
              <a:lnSpc>
                <a:spcPts val="1472"/>
              </a:lnSpc>
              <a:buNone/>
            </a:pPr>
            <a:r>
              <a:rPr lang="en-US" sz="950" dirty="0">
                <a:solidFill>
                  <a:srgbClr val="000000"/>
                </a:solidFill>
                <a:latin typeface="Poppins Medium" pitchFamily="34" charset="0"/>
                <a:ea typeface="Poppins Medium" pitchFamily="34" charset="-122"/>
                <a:cs typeface="Poppins Medium" pitchFamily="34" charset="-120"/>
              </a:rPr>
              <a:t>Dec 2025</a:t>
            </a:r>
            <a:endParaRPr lang="en-US" sz="950" dirty="0"/>
          </a:p>
        </p:txBody>
      </p:sp>
      <p:sp>
        <p:nvSpPr>
          <p:cNvPr id="61" name="Text"/>
          <p:cNvSpPr txBox="1"/>
          <p:nvPr/>
        </p:nvSpPr>
        <p:spPr>
          <a:xfrm>
            <a:off x="8263433" y="5062576"/>
            <a:ext cx="3242828" cy="413400"/>
          </a:xfrm>
          <a:prstGeom prst="rect">
            <a:avLst/>
          </a:prstGeom>
          <a:noFill/>
          <a:ln/>
        </p:spPr>
        <p:txBody>
          <a:bodyPr wrap="square" lIns="0" tIns="0" rIns="0" bIns="0" rtlCol="0" anchor="t"/>
          <a:lstStyle/>
          <a:p>
            <a:pPr algn="l" indent="0" marL="0">
              <a:lnSpc>
                <a:spcPts val="1627"/>
              </a:lnSpc>
              <a:buNone/>
            </a:pPr>
            <a:r>
              <a:rPr lang="en-US" sz="1050" dirty="0">
                <a:solidFill>
                  <a:srgbClr val="1F2937"/>
                </a:solidFill>
                <a:latin typeface="Poppins Light" pitchFamily="34" charset="0"/>
                <a:ea typeface="Poppins Light" pitchFamily="34" charset="-122"/>
                <a:cs typeface="Poppins Light" pitchFamily="34" charset="-120"/>
              </a:rPr>
              <a:t>Highlighted as one of 12 AI implementation partners at Alibaba Cloud AI Day</a:t>
            </a:r>
            <a:endParaRPr lang="en-US" sz="1050" dirty="0"/>
          </a:p>
        </p:txBody>
      </p:sp>
      <p:sp>
        <p:nvSpPr>
          <p:cNvPr id="62" name="Text"/>
          <p:cNvSpPr txBox="1"/>
          <p:nvPr/>
        </p:nvSpPr>
        <p:spPr>
          <a:xfrm>
            <a:off x="7183892" y="5638190"/>
            <a:ext cx="968990" cy="186995"/>
          </a:xfrm>
          <a:prstGeom prst="rect">
            <a:avLst/>
          </a:prstGeom>
          <a:noFill/>
          <a:ln/>
        </p:spPr>
        <p:txBody>
          <a:bodyPr wrap="square" lIns="0" tIns="0" rIns="0" bIns="0" rtlCol="0" anchor="t"/>
          <a:lstStyle/>
          <a:p>
            <a:pPr algn="l" indent="0" marL="0">
              <a:lnSpc>
                <a:spcPts val="1472"/>
              </a:lnSpc>
              <a:buNone/>
            </a:pPr>
            <a:r>
              <a:rPr lang="en-US" sz="950" dirty="0">
                <a:solidFill>
                  <a:srgbClr val="000000"/>
                </a:solidFill>
                <a:latin typeface="Poppins Medium" pitchFamily="34" charset="0"/>
                <a:ea typeface="Poppins Medium" pitchFamily="34" charset="-122"/>
                <a:cs typeface="Poppins Medium" pitchFamily="34" charset="-120"/>
              </a:rPr>
              <a:t>15 Jul 2025</a:t>
            </a:r>
            <a:endParaRPr lang="en-US" sz="950" dirty="0"/>
          </a:p>
        </p:txBody>
      </p:sp>
      <p:sp>
        <p:nvSpPr>
          <p:cNvPr id="63" name="Text"/>
          <p:cNvSpPr txBox="1"/>
          <p:nvPr/>
        </p:nvSpPr>
        <p:spPr>
          <a:xfrm>
            <a:off x="8263433" y="5634716"/>
            <a:ext cx="3242828" cy="413400"/>
          </a:xfrm>
          <a:prstGeom prst="rect">
            <a:avLst/>
          </a:prstGeom>
          <a:noFill/>
          <a:ln/>
        </p:spPr>
        <p:txBody>
          <a:bodyPr wrap="square" lIns="0" tIns="0" rIns="0" bIns="0" rtlCol="0" anchor="t"/>
          <a:lstStyle/>
          <a:p>
            <a:pPr algn="l" indent="0" marL="0">
              <a:lnSpc>
                <a:spcPts val="1627"/>
              </a:lnSpc>
              <a:buNone/>
            </a:pPr>
            <a:r>
              <a:rPr lang="en-US" sz="1050" dirty="0">
                <a:solidFill>
                  <a:srgbClr val="1F2937"/>
                </a:solidFill>
                <a:latin typeface="Poppins Light" pitchFamily="34" charset="0"/>
                <a:ea typeface="Poppins Light" pitchFamily="34" charset="-122"/>
                <a:cs typeface="Poppins Light" pitchFamily="34" charset="-120"/>
              </a:rPr>
              <a:t>Joined the Alibaba Cloud Partner Network, Tier 2 reseller for Malaysia</a:t>
            </a:r>
            <a:endParaRPr lang="en-US" sz="1050" dirty="0"/>
          </a:p>
        </p:txBody>
      </p:sp>
      <p:sp>
        <p:nvSpPr>
          <p:cNvPr id="64" name="Text"/>
          <p:cNvSpPr txBox="1"/>
          <p:nvPr/>
        </p:nvSpPr>
        <p:spPr>
          <a:xfrm>
            <a:off x="6287140" y="276240"/>
            <a:ext cx="708477"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Point of view</a:t>
            </a:r>
            <a:endParaRPr lang="en-US" sz="850" dirty="0"/>
          </a:p>
        </p:txBody>
      </p:sp>
      <p:sp>
        <p:nvSpPr>
          <p:cNvPr id="65" name="Text"/>
          <p:cNvSpPr txBox="1"/>
          <p:nvPr/>
        </p:nvSpPr>
        <p:spPr>
          <a:xfrm>
            <a:off x="7240494" y="276240"/>
            <a:ext cx="665958"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044BD9"/>
                </a:solidFill>
                <a:latin typeface="Poppins Medium" pitchFamily="34" charset="0"/>
                <a:ea typeface="Poppins Medium" pitchFamily="34" charset="-122"/>
                <a:cs typeface="Poppins Medium" pitchFamily="34" charset="-120"/>
              </a:rPr>
              <a:t>Who we are</a:t>
            </a:r>
            <a:endParaRPr lang="en-US" sz="850" dirty="0"/>
          </a:p>
        </p:txBody>
      </p:sp>
      <p:sp>
        <p:nvSpPr>
          <p:cNvPr id="66" name="Text"/>
          <p:cNvSpPr txBox="1"/>
          <p:nvPr/>
        </p:nvSpPr>
        <p:spPr>
          <a:xfrm>
            <a:off x="8151510" y="276240"/>
            <a:ext cx="671261"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What we do</a:t>
            </a:r>
            <a:endParaRPr lang="en-US" sz="850" dirty="0"/>
          </a:p>
        </p:txBody>
      </p:sp>
      <p:sp>
        <p:nvSpPr>
          <p:cNvPr id="67" name="Text"/>
          <p:cNvSpPr txBox="1"/>
          <p:nvPr/>
        </p:nvSpPr>
        <p:spPr>
          <a:xfrm>
            <a:off x="9067830" y="276240"/>
            <a:ext cx="1205728"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Sectors and products</a:t>
            </a:r>
            <a:endParaRPr lang="en-US" sz="850" dirty="0"/>
          </a:p>
        </p:txBody>
      </p:sp>
      <p:sp>
        <p:nvSpPr>
          <p:cNvPr id="68" name="Text"/>
          <p:cNvSpPr txBox="1"/>
          <p:nvPr/>
        </p:nvSpPr>
        <p:spPr>
          <a:xfrm>
            <a:off x="10516423" y="276240"/>
            <a:ext cx="298552"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Proof</a:t>
            </a:r>
            <a:endParaRPr lang="en-US" sz="850" dirty="0"/>
          </a:p>
        </p:txBody>
      </p:sp>
      <p:sp>
        <p:nvSpPr>
          <p:cNvPr id="69" name="Text"/>
          <p:cNvSpPr txBox="1"/>
          <p:nvPr/>
        </p:nvSpPr>
        <p:spPr>
          <a:xfrm>
            <a:off x="11061497" y="276240"/>
            <a:ext cx="433700"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Engage</a:t>
            </a:r>
            <a:endParaRPr lang="en-US" sz="850" dirty="0"/>
          </a:p>
        </p:txBody>
      </p:sp>
      <p:sp>
        <p:nvSpPr>
          <p:cNvPr id="70" name="Source"/>
          <p:cNvSpPr txBox="1"/>
          <p:nvPr/>
        </p:nvSpPr>
        <p:spPr>
          <a:xfrm>
            <a:off x="711220" y="6409030"/>
            <a:ext cx="8300740" cy="151150"/>
          </a:xfrm>
          <a:prstGeom prst="rect">
            <a:avLst/>
          </a:prstGeom>
          <a:noFill/>
          <a:ln/>
        </p:spPr>
        <p:txBody>
          <a:bodyPr wrap="square" lIns="0" tIns="0" rIns="0" bIns="0" rtlCol="0" anchor="t"/>
          <a:lstStyle/>
          <a:p>
            <a:pPr algn="l" indent="0" marL="0">
              <a:lnSpc>
                <a:spcPts val="1190"/>
              </a:lnSpc>
              <a:buNone/>
            </a:pPr>
            <a:r>
              <a:rPr lang="en-US" sz="850" dirty="0">
                <a:solidFill>
                  <a:srgbClr val="6B6B6B"/>
                </a:solidFill>
                <a:latin typeface="Poppins" pitchFamily="34" charset="0"/>
                <a:ea typeface="Poppins" pitchFamily="34" charset="-122"/>
                <a:cs typeface="Poppins" pitchFamily="34" charset="-120"/>
              </a:rPr>
              <a:t>Source: alphv.com/platforms-and-clients; alphv.com/insights (October 2026).</a:t>
            </a:r>
            <a:endParaRPr lang="en-US" sz="850" dirty="0"/>
          </a:p>
        </p:txBody>
      </p:sp>
      <p:sp>
        <p:nvSpPr>
          <p:cNvPr id="71" name="Text"/>
          <p:cNvSpPr txBox="1"/>
          <p:nvPr/>
        </p:nvSpPr>
        <p:spPr>
          <a:xfrm>
            <a:off x="9374246" y="6409030"/>
            <a:ext cx="393741" cy="151150"/>
          </a:xfrm>
          <a:prstGeom prst="rect">
            <a:avLst/>
          </a:prstGeom>
          <a:noFill/>
          <a:ln/>
        </p:spPr>
        <p:txBody>
          <a:bodyPr wrap="none" lIns="0" tIns="0" rIns="0" bIns="0" rtlCol="0" anchor="t"/>
          <a:lstStyle/>
          <a:p>
            <a:pPr algn="l" indent="0" marL="0">
              <a:lnSpc>
                <a:spcPts val="1190"/>
              </a:lnSpc>
              <a:buNone/>
            </a:pPr>
            <a:r>
              <a:rPr lang="en-US" sz="850" spc="34" kern="0" dirty="0">
                <a:solidFill>
                  <a:srgbClr val="000000"/>
                </a:solidFill>
                <a:latin typeface="Poppins SemiBold" pitchFamily="34" charset="0"/>
                <a:ea typeface="Poppins SemiBold" pitchFamily="34" charset="-122"/>
                <a:cs typeface="Poppins SemiBold" pitchFamily="34" charset="-120"/>
              </a:rPr>
              <a:t>ALPHV</a:t>
            </a:r>
            <a:endParaRPr lang="en-US" sz="850" dirty="0"/>
          </a:p>
        </p:txBody>
      </p:sp>
      <p:sp>
        <p:nvSpPr>
          <p:cNvPr id="72" name="Text"/>
          <p:cNvSpPr txBox="1"/>
          <p:nvPr/>
        </p:nvSpPr>
        <p:spPr>
          <a:xfrm>
            <a:off x="9882287" y="6409030"/>
            <a:ext cx="1377178" cy="151150"/>
          </a:xfrm>
          <a:prstGeom prst="rect">
            <a:avLst/>
          </a:prstGeom>
          <a:noFill/>
          <a:ln/>
        </p:spPr>
        <p:txBody>
          <a:bodyPr wrap="none" lIns="0" tIns="0" rIns="0" bIns="0" rtlCol="0" anchor="t"/>
          <a:lstStyle/>
          <a:p>
            <a:pPr algn="l" indent="0" marL="0">
              <a:lnSpc>
                <a:spcPts val="1190"/>
              </a:lnSpc>
              <a:buNone/>
            </a:pPr>
            <a:r>
              <a:rPr lang="en-US" sz="850" dirty="0">
                <a:solidFill>
                  <a:srgbClr val="6B6B6B"/>
                </a:solidFill>
                <a:latin typeface="Poppins" pitchFamily="34" charset="0"/>
                <a:ea typeface="Poppins" pitchFamily="34" charset="-122"/>
                <a:cs typeface="Poppins" pitchFamily="34" charset="-120"/>
              </a:rPr>
              <a:t>Corporate overview 2026</a:t>
            </a:r>
            <a:endParaRPr lang="en-US" sz="850" dirty="0"/>
          </a:p>
        </p:txBody>
      </p:sp>
      <p:sp>
        <p:nvSpPr>
          <p:cNvPr id="73" name="Text"/>
          <p:cNvSpPr txBox="1"/>
          <p:nvPr/>
        </p:nvSpPr>
        <p:spPr>
          <a:xfrm>
            <a:off x="11373764" y="6409030"/>
            <a:ext cx="132497" cy="151150"/>
          </a:xfrm>
          <a:prstGeom prst="rect">
            <a:avLst/>
          </a:prstGeom>
          <a:noFill/>
          <a:ln/>
        </p:spPr>
        <p:txBody>
          <a:bodyPr wrap="none" lIns="0" tIns="0" rIns="0" bIns="0" rtlCol="0" anchor="t"/>
          <a:lstStyle/>
          <a:p>
            <a:pPr algn="l" indent="0" marL="0">
              <a:lnSpc>
                <a:spcPts val="1190"/>
              </a:lnSpc>
              <a:buNone/>
            </a:pPr>
            <a:r>
              <a:rPr lang="en-US" sz="850" dirty="0">
                <a:solidFill>
                  <a:srgbClr val="000000"/>
                </a:solidFill>
                <a:latin typeface="Poppins Medium" pitchFamily="34" charset="0"/>
                <a:ea typeface="Poppins Medium" pitchFamily="34" charset="-122"/>
                <a:cs typeface="Poppins Medium" pitchFamily="34" charset="-120"/>
              </a:rPr>
              <a:t>10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p:cNvSpPr txBox="1"/>
          <p:nvPr/>
        </p:nvSpPr>
        <p:spPr>
          <a:xfrm>
            <a:off x="711220" y="3389041"/>
            <a:ext cx="10825399" cy="1257300"/>
          </a:xfrm>
          <a:prstGeom prst="rect">
            <a:avLst/>
          </a:prstGeom>
          <a:noFill/>
          <a:ln/>
        </p:spPr>
        <p:txBody>
          <a:bodyPr wrap="square" lIns="0" tIns="0" rIns="0" bIns="0" rtlCol="0" anchor="t"/>
          <a:lstStyle/>
          <a:p>
            <a:pPr algn="l" indent="0" marL="0">
              <a:lnSpc>
                <a:spcPts val="9900"/>
              </a:lnSpc>
              <a:buNone/>
            </a:pPr>
            <a:r>
              <a:rPr lang="en-US" sz="11000" spc="-440" kern="0" dirty="0">
                <a:solidFill>
                  <a:srgbClr val="F2F6FD"/>
                </a:solidFill>
                <a:latin typeface="Poppins SemiBold" pitchFamily="34" charset="0"/>
                <a:ea typeface="Poppins SemiBold" pitchFamily="34" charset="-122"/>
                <a:cs typeface="Poppins SemiBold" pitchFamily="34" charset="-120"/>
              </a:rPr>
              <a:t>03</a:t>
            </a:r>
            <a:endParaRPr lang="en-US" sz="11000" dirty="0"/>
          </a:p>
        </p:txBody>
      </p:sp>
      <p:sp>
        <p:nvSpPr>
          <p:cNvPr id="3" name="Text"/>
          <p:cNvSpPr txBox="1"/>
          <p:nvPr/>
        </p:nvSpPr>
        <p:spPr>
          <a:xfrm>
            <a:off x="711220" y="4869180"/>
            <a:ext cx="8938260" cy="640080"/>
          </a:xfrm>
          <a:prstGeom prst="rect">
            <a:avLst/>
          </a:prstGeom>
          <a:noFill/>
          <a:ln/>
        </p:spPr>
        <p:txBody>
          <a:bodyPr wrap="square" lIns="0" tIns="0" rIns="0" bIns="0" rtlCol="0" anchor="t"/>
          <a:lstStyle/>
          <a:p>
            <a:pPr algn="l" indent="0" marL="0">
              <a:lnSpc>
                <a:spcPts val="5040"/>
              </a:lnSpc>
              <a:buNone/>
            </a:pPr>
            <a:r>
              <a:rPr lang="en-US" sz="4800" spc="-120" kern="0" dirty="0">
                <a:solidFill>
                  <a:srgbClr val="FFFFFF"/>
                </a:solidFill>
                <a:latin typeface="Poppins SemiBold" pitchFamily="34" charset="0"/>
                <a:ea typeface="Poppins SemiBold" pitchFamily="34" charset="-122"/>
                <a:cs typeface="Poppins SemiBold" pitchFamily="34" charset="-120"/>
              </a:rPr>
              <a:t>Six services, one team</a:t>
            </a:r>
            <a:endParaRPr lang="en-US" sz="4800" dirty="0"/>
          </a:p>
        </p:txBody>
      </p:sp>
      <p:sp>
        <p:nvSpPr>
          <p:cNvPr id="4" name="Text"/>
          <p:cNvSpPr txBox="1"/>
          <p:nvPr/>
        </p:nvSpPr>
        <p:spPr>
          <a:xfrm>
            <a:off x="711220" y="5738774"/>
            <a:ext cx="7137441" cy="276240"/>
          </a:xfrm>
          <a:prstGeom prst="rect">
            <a:avLst/>
          </a:prstGeom>
          <a:noFill/>
          <a:ln/>
        </p:spPr>
        <p:txBody>
          <a:bodyPr wrap="none" lIns="0" tIns="0" rIns="0" bIns="0" rtlCol="0" anchor="t"/>
          <a:lstStyle/>
          <a:p>
            <a:pPr algn="l" indent="0" marL="0">
              <a:lnSpc>
                <a:spcPts val="2175"/>
              </a:lnSpc>
              <a:buNone/>
            </a:pPr>
            <a:r>
              <a:rPr lang="en-US" sz="1450" dirty="0">
                <a:solidFill>
                  <a:srgbClr val="E1E9FA"/>
                </a:solidFill>
                <a:latin typeface="Poppins Light" pitchFamily="34" charset="0"/>
                <a:ea typeface="Poppins Light" pitchFamily="34" charset="-122"/>
                <a:cs typeface="Poppins Light" pitchFamily="34" charset="-120"/>
              </a:rPr>
              <a:t>Every service is shipped and improved by the same engineers who scoped it.</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badge"/>
          <p:cNvSpPr/>
          <p:nvPr/>
        </p:nvSpPr>
        <p:spPr>
          <a:xfrm>
            <a:off x="714421" y="536570"/>
            <a:ext cx="1604681" cy="254020"/>
          </a:xfrm>
          <a:prstGeom prst="roundRect">
            <a:avLst>
              <a:gd name="adj" fmla="val 50000"/>
            </a:avLst>
          </a:prstGeom>
          <a:ln w="6350">
            <a:solidFill>
              <a:srgbClr val="155DFC"/>
            </a:solidFill>
            <a:prstDash val="solid"/>
          </a:ln>
        </p:spPr>
      </p:sp>
      <p:sp>
        <p:nvSpPr>
          <p:cNvPr id="3" name="roof"/>
          <p:cNvSpPr/>
          <p:nvPr/>
        </p:nvSpPr>
        <p:spPr>
          <a:xfrm>
            <a:off x="711220" y="2073859"/>
            <a:ext cx="10769620" cy="645109"/>
          </a:xfrm>
          <a:prstGeom prst="roundRect">
            <a:avLst>
              <a:gd name="adj" fmla="val 23629"/>
            </a:avLst>
          </a:prstGeom>
          <a:solidFill>
            <a:srgbClr val="044BD9"/>
          </a:solidFill>
          <a:ln/>
        </p:spPr>
      </p:sp>
      <p:sp>
        <p:nvSpPr>
          <p:cNvPr id="4" name="pillar"/>
          <p:cNvSpPr/>
          <p:nvPr/>
        </p:nvSpPr>
        <p:spPr>
          <a:xfrm>
            <a:off x="714421" y="2811048"/>
            <a:ext cx="1714500" cy="2558217"/>
          </a:xfrm>
          <a:prstGeom prst="roundRect">
            <a:avLst>
              <a:gd name="adj" fmla="val 8704"/>
            </a:avLst>
          </a:prstGeom>
          <a:solidFill>
            <a:srgbClr val="FBFBFB"/>
          </a:solidFill>
          <a:ln w="6350">
            <a:solidFill>
              <a:srgbClr val="F0F0F0"/>
            </a:solidFill>
            <a:prstDash val="solid"/>
          </a:ln>
        </p:spPr>
      </p:sp>
      <p:sp>
        <p:nvSpPr>
          <p:cNvPr id="5" name="li::before"/>
          <p:cNvSpPr/>
          <p:nvPr/>
        </p:nvSpPr>
        <p:spPr>
          <a:xfrm>
            <a:off x="857250" y="3720968"/>
            <a:ext cx="44440" cy="44440"/>
          </a:xfrm>
          <a:prstGeom prst="rect">
            <a:avLst/>
          </a:prstGeom>
          <a:solidFill>
            <a:srgbClr val="044BD9"/>
          </a:solidFill>
          <a:ln/>
        </p:spPr>
      </p:sp>
      <p:sp>
        <p:nvSpPr>
          <p:cNvPr id="6" name="li::before"/>
          <p:cNvSpPr/>
          <p:nvPr/>
        </p:nvSpPr>
        <p:spPr>
          <a:xfrm>
            <a:off x="857250" y="4109496"/>
            <a:ext cx="44440" cy="44440"/>
          </a:xfrm>
          <a:prstGeom prst="rect">
            <a:avLst/>
          </a:prstGeom>
          <a:solidFill>
            <a:srgbClr val="044BD9"/>
          </a:solidFill>
          <a:ln/>
        </p:spPr>
      </p:sp>
      <p:sp>
        <p:nvSpPr>
          <p:cNvPr id="7" name="li::before"/>
          <p:cNvSpPr/>
          <p:nvPr/>
        </p:nvSpPr>
        <p:spPr>
          <a:xfrm>
            <a:off x="857250" y="4498025"/>
            <a:ext cx="44440" cy="44440"/>
          </a:xfrm>
          <a:prstGeom prst="rect">
            <a:avLst/>
          </a:prstGeom>
          <a:solidFill>
            <a:srgbClr val="044BD9"/>
          </a:solidFill>
          <a:ln/>
        </p:spPr>
      </p:sp>
      <p:sp>
        <p:nvSpPr>
          <p:cNvPr id="8" name="li::before"/>
          <p:cNvSpPr/>
          <p:nvPr/>
        </p:nvSpPr>
        <p:spPr>
          <a:xfrm>
            <a:off x="857250" y="4886645"/>
            <a:ext cx="44440" cy="44440"/>
          </a:xfrm>
          <a:prstGeom prst="rect">
            <a:avLst/>
          </a:prstGeom>
          <a:solidFill>
            <a:srgbClr val="044BD9"/>
          </a:solidFill>
          <a:ln/>
        </p:spPr>
      </p:sp>
      <p:sp>
        <p:nvSpPr>
          <p:cNvPr id="9" name="pillar"/>
          <p:cNvSpPr/>
          <p:nvPr/>
        </p:nvSpPr>
        <p:spPr>
          <a:xfrm>
            <a:off x="2524110" y="2811048"/>
            <a:ext cx="1714500" cy="2558217"/>
          </a:xfrm>
          <a:prstGeom prst="roundRect">
            <a:avLst>
              <a:gd name="adj" fmla="val 8704"/>
            </a:avLst>
          </a:prstGeom>
          <a:solidFill>
            <a:srgbClr val="FBFBFB"/>
          </a:solidFill>
          <a:ln w="6350">
            <a:solidFill>
              <a:srgbClr val="F0F0F0"/>
            </a:solidFill>
            <a:prstDash val="solid"/>
          </a:ln>
        </p:spPr>
      </p:sp>
      <p:sp>
        <p:nvSpPr>
          <p:cNvPr id="10" name="li::before"/>
          <p:cNvSpPr/>
          <p:nvPr/>
        </p:nvSpPr>
        <p:spPr>
          <a:xfrm>
            <a:off x="2667030" y="3720968"/>
            <a:ext cx="44440" cy="44440"/>
          </a:xfrm>
          <a:prstGeom prst="rect">
            <a:avLst/>
          </a:prstGeom>
          <a:solidFill>
            <a:srgbClr val="044BD9"/>
          </a:solidFill>
          <a:ln/>
        </p:spPr>
      </p:sp>
      <p:sp>
        <p:nvSpPr>
          <p:cNvPr id="11" name="li::before"/>
          <p:cNvSpPr/>
          <p:nvPr/>
        </p:nvSpPr>
        <p:spPr>
          <a:xfrm>
            <a:off x="2667030" y="4109496"/>
            <a:ext cx="44440" cy="44440"/>
          </a:xfrm>
          <a:prstGeom prst="rect">
            <a:avLst/>
          </a:prstGeom>
          <a:solidFill>
            <a:srgbClr val="044BD9"/>
          </a:solidFill>
          <a:ln/>
        </p:spPr>
      </p:sp>
      <p:sp>
        <p:nvSpPr>
          <p:cNvPr id="12" name="li::before"/>
          <p:cNvSpPr/>
          <p:nvPr/>
        </p:nvSpPr>
        <p:spPr>
          <a:xfrm>
            <a:off x="2667030" y="4498025"/>
            <a:ext cx="44440" cy="44440"/>
          </a:xfrm>
          <a:prstGeom prst="rect">
            <a:avLst/>
          </a:prstGeom>
          <a:solidFill>
            <a:srgbClr val="044BD9"/>
          </a:solidFill>
          <a:ln/>
        </p:spPr>
      </p:sp>
      <p:sp>
        <p:nvSpPr>
          <p:cNvPr id="13" name="li::before"/>
          <p:cNvSpPr/>
          <p:nvPr/>
        </p:nvSpPr>
        <p:spPr>
          <a:xfrm>
            <a:off x="2667030" y="4886645"/>
            <a:ext cx="44440" cy="44440"/>
          </a:xfrm>
          <a:prstGeom prst="rect">
            <a:avLst/>
          </a:prstGeom>
          <a:solidFill>
            <a:srgbClr val="044BD9"/>
          </a:solidFill>
          <a:ln/>
        </p:spPr>
      </p:sp>
      <p:sp>
        <p:nvSpPr>
          <p:cNvPr id="14" name="pillar"/>
          <p:cNvSpPr/>
          <p:nvPr/>
        </p:nvSpPr>
        <p:spPr>
          <a:xfrm>
            <a:off x="4333890" y="2811048"/>
            <a:ext cx="1714500" cy="2558217"/>
          </a:xfrm>
          <a:prstGeom prst="roundRect">
            <a:avLst>
              <a:gd name="adj" fmla="val 8704"/>
            </a:avLst>
          </a:prstGeom>
          <a:solidFill>
            <a:srgbClr val="FBFBFB"/>
          </a:solidFill>
          <a:ln w="6350">
            <a:solidFill>
              <a:srgbClr val="F0F0F0"/>
            </a:solidFill>
            <a:prstDash val="solid"/>
          </a:ln>
        </p:spPr>
      </p:sp>
      <p:sp>
        <p:nvSpPr>
          <p:cNvPr id="15" name="li::before"/>
          <p:cNvSpPr/>
          <p:nvPr/>
        </p:nvSpPr>
        <p:spPr>
          <a:xfrm>
            <a:off x="4476720" y="3720968"/>
            <a:ext cx="44440" cy="44440"/>
          </a:xfrm>
          <a:prstGeom prst="rect">
            <a:avLst/>
          </a:prstGeom>
          <a:solidFill>
            <a:srgbClr val="044BD9"/>
          </a:solidFill>
          <a:ln/>
        </p:spPr>
      </p:sp>
      <p:sp>
        <p:nvSpPr>
          <p:cNvPr id="16" name="li::before"/>
          <p:cNvSpPr/>
          <p:nvPr/>
        </p:nvSpPr>
        <p:spPr>
          <a:xfrm>
            <a:off x="4476720" y="4109496"/>
            <a:ext cx="44440" cy="44440"/>
          </a:xfrm>
          <a:prstGeom prst="rect">
            <a:avLst/>
          </a:prstGeom>
          <a:solidFill>
            <a:srgbClr val="044BD9"/>
          </a:solidFill>
          <a:ln/>
        </p:spPr>
      </p:sp>
      <p:sp>
        <p:nvSpPr>
          <p:cNvPr id="17" name="li::before"/>
          <p:cNvSpPr/>
          <p:nvPr/>
        </p:nvSpPr>
        <p:spPr>
          <a:xfrm>
            <a:off x="4476720" y="4498025"/>
            <a:ext cx="44440" cy="44440"/>
          </a:xfrm>
          <a:prstGeom prst="rect">
            <a:avLst/>
          </a:prstGeom>
          <a:solidFill>
            <a:srgbClr val="044BD9"/>
          </a:solidFill>
          <a:ln/>
        </p:spPr>
      </p:sp>
      <p:sp>
        <p:nvSpPr>
          <p:cNvPr id="18" name="li::before"/>
          <p:cNvSpPr/>
          <p:nvPr/>
        </p:nvSpPr>
        <p:spPr>
          <a:xfrm>
            <a:off x="4476720" y="4886645"/>
            <a:ext cx="44440" cy="44440"/>
          </a:xfrm>
          <a:prstGeom prst="rect">
            <a:avLst/>
          </a:prstGeom>
          <a:solidFill>
            <a:srgbClr val="044BD9"/>
          </a:solidFill>
          <a:ln/>
        </p:spPr>
      </p:sp>
      <p:sp>
        <p:nvSpPr>
          <p:cNvPr id="19" name="pillar"/>
          <p:cNvSpPr/>
          <p:nvPr/>
        </p:nvSpPr>
        <p:spPr>
          <a:xfrm>
            <a:off x="6143671" y="2811048"/>
            <a:ext cx="1714500" cy="2558217"/>
          </a:xfrm>
          <a:prstGeom prst="roundRect">
            <a:avLst>
              <a:gd name="adj" fmla="val 8704"/>
            </a:avLst>
          </a:prstGeom>
          <a:solidFill>
            <a:srgbClr val="FBFBFB"/>
          </a:solidFill>
          <a:ln w="6350">
            <a:solidFill>
              <a:srgbClr val="F0F0F0"/>
            </a:solidFill>
            <a:prstDash val="solid"/>
          </a:ln>
        </p:spPr>
      </p:sp>
      <p:sp>
        <p:nvSpPr>
          <p:cNvPr id="20" name="li::before"/>
          <p:cNvSpPr/>
          <p:nvPr/>
        </p:nvSpPr>
        <p:spPr>
          <a:xfrm>
            <a:off x="6286500" y="3720968"/>
            <a:ext cx="44440" cy="44440"/>
          </a:xfrm>
          <a:prstGeom prst="rect">
            <a:avLst/>
          </a:prstGeom>
          <a:solidFill>
            <a:srgbClr val="044BD9"/>
          </a:solidFill>
          <a:ln/>
        </p:spPr>
      </p:sp>
      <p:sp>
        <p:nvSpPr>
          <p:cNvPr id="21" name="li::before"/>
          <p:cNvSpPr/>
          <p:nvPr/>
        </p:nvSpPr>
        <p:spPr>
          <a:xfrm>
            <a:off x="6286500" y="4109496"/>
            <a:ext cx="44440" cy="44440"/>
          </a:xfrm>
          <a:prstGeom prst="rect">
            <a:avLst/>
          </a:prstGeom>
          <a:solidFill>
            <a:srgbClr val="044BD9"/>
          </a:solidFill>
          <a:ln/>
        </p:spPr>
      </p:sp>
      <p:sp>
        <p:nvSpPr>
          <p:cNvPr id="22" name="li::before"/>
          <p:cNvSpPr/>
          <p:nvPr/>
        </p:nvSpPr>
        <p:spPr>
          <a:xfrm>
            <a:off x="6286500" y="4329227"/>
            <a:ext cx="44440" cy="44440"/>
          </a:xfrm>
          <a:prstGeom prst="rect">
            <a:avLst/>
          </a:prstGeom>
          <a:solidFill>
            <a:srgbClr val="044BD9"/>
          </a:solidFill>
          <a:ln/>
        </p:spPr>
      </p:sp>
      <p:sp>
        <p:nvSpPr>
          <p:cNvPr id="23" name="li::before"/>
          <p:cNvSpPr/>
          <p:nvPr/>
        </p:nvSpPr>
        <p:spPr>
          <a:xfrm>
            <a:off x="6286500" y="4717755"/>
            <a:ext cx="44440" cy="44440"/>
          </a:xfrm>
          <a:prstGeom prst="rect">
            <a:avLst/>
          </a:prstGeom>
          <a:solidFill>
            <a:srgbClr val="044BD9"/>
          </a:solidFill>
          <a:ln/>
        </p:spPr>
      </p:sp>
      <p:sp>
        <p:nvSpPr>
          <p:cNvPr id="24" name="pillar"/>
          <p:cNvSpPr/>
          <p:nvPr/>
        </p:nvSpPr>
        <p:spPr>
          <a:xfrm>
            <a:off x="7953360" y="2811048"/>
            <a:ext cx="1714500" cy="2558217"/>
          </a:xfrm>
          <a:prstGeom prst="roundRect">
            <a:avLst>
              <a:gd name="adj" fmla="val 8704"/>
            </a:avLst>
          </a:prstGeom>
          <a:solidFill>
            <a:srgbClr val="FBFBFB"/>
          </a:solidFill>
          <a:ln w="6350">
            <a:solidFill>
              <a:srgbClr val="F0F0F0"/>
            </a:solidFill>
            <a:prstDash val="solid"/>
          </a:ln>
        </p:spPr>
      </p:sp>
      <p:sp>
        <p:nvSpPr>
          <p:cNvPr id="25" name="li::before"/>
          <p:cNvSpPr/>
          <p:nvPr/>
        </p:nvSpPr>
        <p:spPr>
          <a:xfrm>
            <a:off x="8096280" y="3720968"/>
            <a:ext cx="44440" cy="44440"/>
          </a:xfrm>
          <a:prstGeom prst="rect">
            <a:avLst/>
          </a:prstGeom>
          <a:solidFill>
            <a:srgbClr val="044BD9"/>
          </a:solidFill>
          <a:ln/>
        </p:spPr>
      </p:sp>
      <p:sp>
        <p:nvSpPr>
          <p:cNvPr id="26" name="li::before"/>
          <p:cNvSpPr/>
          <p:nvPr/>
        </p:nvSpPr>
        <p:spPr>
          <a:xfrm>
            <a:off x="8096280" y="3940607"/>
            <a:ext cx="44440" cy="44440"/>
          </a:xfrm>
          <a:prstGeom prst="rect">
            <a:avLst/>
          </a:prstGeom>
          <a:solidFill>
            <a:srgbClr val="044BD9"/>
          </a:solidFill>
          <a:ln/>
        </p:spPr>
      </p:sp>
      <p:sp>
        <p:nvSpPr>
          <p:cNvPr id="27" name="li::before"/>
          <p:cNvSpPr/>
          <p:nvPr/>
        </p:nvSpPr>
        <p:spPr>
          <a:xfrm>
            <a:off x="8096280" y="4160337"/>
            <a:ext cx="44440" cy="44440"/>
          </a:xfrm>
          <a:prstGeom prst="rect">
            <a:avLst/>
          </a:prstGeom>
          <a:solidFill>
            <a:srgbClr val="044BD9"/>
          </a:solidFill>
          <a:ln/>
        </p:spPr>
      </p:sp>
      <p:sp>
        <p:nvSpPr>
          <p:cNvPr id="28" name="li::before"/>
          <p:cNvSpPr/>
          <p:nvPr/>
        </p:nvSpPr>
        <p:spPr>
          <a:xfrm>
            <a:off x="8096280" y="4379976"/>
            <a:ext cx="44440" cy="44440"/>
          </a:xfrm>
          <a:prstGeom prst="rect">
            <a:avLst/>
          </a:prstGeom>
          <a:solidFill>
            <a:srgbClr val="044BD9"/>
          </a:solidFill>
          <a:ln/>
        </p:spPr>
      </p:sp>
      <p:sp>
        <p:nvSpPr>
          <p:cNvPr id="29" name="pillar"/>
          <p:cNvSpPr/>
          <p:nvPr/>
        </p:nvSpPr>
        <p:spPr>
          <a:xfrm>
            <a:off x="9763140" y="2811048"/>
            <a:ext cx="1714500" cy="2558217"/>
          </a:xfrm>
          <a:prstGeom prst="roundRect">
            <a:avLst>
              <a:gd name="adj" fmla="val 8704"/>
            </a:avLst>
          </a:prstGeom>
          <a:solidFill>
            <a:srgbClr val="FBFBFB"/>
          </a:solidFill>
          <a:ln w="6350">
            <a:solidFill>
              <a:srgbClr val="F0F0F0"/>
            </a:solidFill>
            <a:prstDash val="solid"/>
          </a:ln>
        </p:spPr>
      </p:sp>
      <p:sp>
        <p:nvSpPr>
          <p:cNvPr id="30" name="li::before"/>
          <p:cNvSpPr/>
          <p:nvPr/>
        </p:nvSpPr>
        <p:spPr>
          <a:xfrm>
            <a:off x="9905970" y="3720968"/>
            <a:ext cx="44440" cy="44440"/>
          </a:xfrm>
          <a:prstGeom prst="rect">
            <a:avLst/>
          </a:prstGeom>
          <a:solidFill>
            <a:srgbClr val="044BD9"/>
          </a:solidFill>
          <a:ln/>
        </p:spPr>
      </p:sp>
      <p:sp>
        <p:nvSpPr>
          <p:cNvPr id="31" name="li::before"/>
          <p:cNvSpPr/>
          <p:nvPr/>
        </p:nvSpPr>
        <p:spPr>
          <a:xfrm>
            <a:off x="9905970" y="4109496"/>
            <a:ext cx="44440" cy="44440"/>
          </a:xfrm>
          <a:prstGeom prst="rect">
            <a:avLst/>
          </a:prstGeom>
          <a:solidFill>
            <a:srgbClr val="044BD9"/>
          </a:solidFill>
          <a:ln/>
        </p:spPr>
      </p:sp>
      <p:sp>
        <p:nvSpPr>
          <p:cNvPr id="32" name="li::before"/>
          <p:cNvSpPr/>
          <p:nvPr/>
        </p:nvSpPr>
        <p:spPr>
          <a:xfrm>
            <a:off x="9905970" y="4498025"/>
            <a:ext cx="44440" cy="44440"/>
          </a:xfrm>
          <a:prstGeom prst="rect">
            <a:avLst/>
          </a:prstGeom>
          <a:solidFill>
            <a:srgbClr val="044BD9"/>
          </a:solidFill>
          <a:ln/>
        </p:spPr>
      </p:sp>
      <p:sp>
        <p:nvSpPr>
          <p:cNvPr id="33" name="li::before"/>
          <p:cNvSpPr/>
          <p:nvPr/>
        </p:nvSpPr>
        <p:spPr>
          <a:xfrm>
            <a:off x="9905970" y="4717755"/>
            <a:ext cx="44440" cy="44440"/>
          </a:xfrm>
          <a:prstGeom prst="rect">
            <a:avLst/>
          </a:prstGeom>
          <a:solidFill>
            <a:srgbClr val="044BD9"/>
          </a:solidFill>
          <a:ln/>
        </p:spPr>
      </p:sp>
      <p:sp>
        <p:nvSpPr>
          <p:cNvPr id="34" name="div"/>
          <p:cNvSpPr/>
          <p:nvPr/>
        </p:nvSpPr>
        <p:spPr>
          <a:xfrm>
            <a:off x="714421" y="5464546"/>
            <a:ext cx="2619390" cy="552023"/>
          </a:xfrm>
          <a:prstGeom prst="roundRect">
            <a:avLst>
              <a:gd name="adj" fmla="val 17823"/>
            </a:avLst>
          </a:prstGeom>
          <a:solidFill>
            <a:srgbClr val="044BD9">
              <a:alpha val="8000"/>
            </a:srgbClr>
          </a:solidFill>
          <a:ln w="6350">
            <a:solidFill>
              <a:srgbClr val="044BD9">
                <a:alpha val="20000"/>
              </a:srgbClr>
            </a:solidFill>
            <a:prstDash val="solid"/>
          </a:ln>
        </p:spPr>
      </p:sp>
      <p:sp>
        <p:nvSpPr>
          <p:cNvPr id="35" name="div"/>
          <p:cNvSpPr/>
          <p:nvPr/>
        </p:nvSpPr>
        <p:spPr>
          <a:xfrm>
            <a:off x="3429000" y="5464546"/>
            <a:ext cx="2619390" cy="552023"/>
          </a:xfrm>
          <a:prstGeom prst="roundRect">
            <a:avLst>
              <a:gd name="adj" fmla="val 17823"/>
            </a:avLst>
          </a:prstGeom>
          <a:solidFill>
            <a:srgbClr val="044BD9">
              <a:alpha val="8000"/>
            </a:srgbClr>
          </a:solidFill>
          <a:ln w="6350">
            <a:solidFill>
              <a:srgbClr val="044BD9">
                <a:alpha val="20000"/>
              </a:srgbClr>
            </a:solidFill>
            <a:prstDash val="solid"/>
          </a:ln>
        </p:spPr>
      </p:sp>
      <p:sp>
        <p:nvSpPr>
          <p:cNvPr id="36" name="div"/>
          <p:cNvSpPr/>
          <p:nvPr/>
        </p:nvSpPr>
        <p:spPr>
          <a:xfrm>
            <a:off x="6143671" y="5464546"/>
            <a:ext cx="2619390" cy="552023"/>
          </a:xfrm>
          <a:prstGeom prst="roundRect">
            <a:avLst>
              <a:gd name="adj" fmla="val 17823"/>
            </a:avLst>
          </a:prstGeom>
          <a:solidFill>
            <a:srgbClr val="044BD9">
              <a:alpha val="8000"/>
            </a:srgbClr>
          </a:solidFill>
          <a:ln w="6350">
            <a:solidFill>
              <a:srgbClr val="044BD9">
                <a:alpha val="20000"/>
              </a:srgbClr>
            </a:solidFill>
            <a:prstDash val="solid"/>
          </a:ln>
        </p:spPr>
      </p:sp>
      <p:sp>
        <p:nvSpPr>
          <p:cNvPr id="37" name="div"/>
          <p:cNvSpPr/>
          <p:nvPr/>
        </p:nvSpPr>
        <p:spPr>
          <a:xfrm>
            <a:off x="8858250" y="5464546"/>
            <a:ext cx="2619390" cy="552023"/>
          </a:xfrm>
          <a:prstGeom prst="roundRect">
            <a:avLst>
              <a:gd name="adj" fmla="val 17823"/>
            </a:avLst>
          </a:prstGeom>
          <a:solidFill>
            <a:srgbClr val="044BD9">
              <a:alpha val="8000"/>
            </a:srgbClr>
          </a:solidFill>
          <a:ln w="6350">
            <a:solidFill>
              <a:srgbClr val="044BD9">
                <a:alpha val="20000"/>
              </a:srgbClr>
            </a:solidFill>
            <a:prstDash val="solid"/>
          </a:ln>
        </p:spPr>
      </p:sp>
      <p:sp>
        <p:nvSpPr>
          <p:cNvPr id="38" name="span::before"/>
          <p:cNvSpPr/>
          <p:nvPr/>
        </p:nvSpPr>
        <p:spPr>
          <a:xfrm>
            <a:off x="6191860" y="311170"/>
            <a:ext cx="44440" cy="44440"/>
          </a:xfrm>
          <a:prstGeom prst="rect">
            <a:avLst/>
          </a:prstGeom>
          <a:solidFill>
            <a:srgbClr val="A0A6AF">
              <a:alpha val="55000"/>
            </a:srgbClr>
          </a:solidFill>
          <a:ln/>
        </p:spPr>
      </p:sp>
      <p:sp>
        <p:nvSpPr>
          <p:cNvPr id="39" name="span::before"/>
          <p:cNvSpPr/>
          <p:nvPr/>
        </p:nvSpPr>
        <p:spPr>
          <a:xfrm>
            <a:off x="7145213" y="311170"/>
            <a:ext cx="44440" cy="44440"/>
          </a:xfrm>
          <a:prstGeom prst="rect">
            <a:avLst/>
          </a:prstGeom>
          <a:solidFill>
            <a:srgbClr val="A0A6AF">
              <a:alpha val="55000"/>
            </a:srgbClr>
          </a:solidFill>
          <a:ln/>
        </p:spPr>
      </p:sp>
      <p:sp>
        <p:nvSpPr>
          <p:cNvPr id="40" name="on::before"/>
          <p:cNvSpPr/>
          <p:nvPr/>
        </p:nvSpPr>
        <p:spPr>
          <a:xfrm>
            <a:off x="8056230" y="311170"/>
            <a:ext cx="44440" cy="44440"/>
          </a:xfrm>
          <a:prstGeom prst="rect">
            <a:avLst/>
          </a:prstGeom>
          <a:solidFill>
            <a:srgbClr val="044BD9"/>
          </a:solidFill>
          <a:ln/>
        </p:spPr>
      </p:sp>
      <p:sp>
        <p:nvSpPr>
          <p:cNvPr id="41" name="span::before"/>
          <p:cNvSpPr/>
          <p:nvPr/>
        </p:nvSpPr>
        <p:spPr>
          <a:xfrm>
            <a:off x="8972550" y="311170"/>
            <a:ext cx="44440" cy="44440"/>
          </a:xfrm>
          <a:prstGeom prst="rect">
            <a:avLst/>
          </a:prstGeom>
          <a:solidFill>
            <a:srgbClr val="A0A6AF">
              <a:alpha val="55000"/>
            </a:srgbClr>
          </a:solidFill>
          <a:ln/>
        </p:spPr>
      </p:sp>
      <p:sp>
        <p:nvSpPr>
          <p:cNvPr id="42" name="span::before"/>
          <p:cNvSpPr/>
          <p:nvPr/>
        </p:nvSpPr>
        <p:spPr>
          <a:xfrm>
            <a:off x="10421142" y="311170"/>
            <a:ext cx="44440" cy="44440"/>
          </a:xfrm>
          <a:prstGeom prst="rect">
            <a:avLst/>
          </a:prstGeom>
          <a:solidFill>
            <a:srgbClr val="A0A6AF">
              <a:alpha val="55000"/>
            </a:srgbClr>
          </a:solidFill>
          <a:ln/>
        </p:spPr>
      </p:sp>
      <p:sp>
        <p:nvSpPr>
          <p:cNvPr id="43" name="span::before"/>
          <p:cNvSpPr/>
          <p:nvPr/>
        </p:nvSpPr>
        <p:spPr>
          <a:xfrm>
            <a:off x="10966216" y="311170"/>
            <a:ext cx="44440" cy="44440"/>
          </a:xfrm>
          <a:prstGeom prst="rect">
            <a:avLst/>
          </a:prstGeom>
          <a:solidFill>
            <a:srgbClr val="A0A6AF">
              <a:alpha val="55000"/>
            </a:srgbClr>
          </a:solidFill>
          <a:ln/>
        </p:spPr>
      </p:sp>
      <p:sp>
        <p:nvSpPr>
          <p:cNvPr id="44" name="Text"/>
          <p:cNvSpPr txBox="1"/>
          <p:nvPr/>
        </p:nvSpPr>
        <p:spPr>
          <a:xfrm>
            <a:off x="844540" y="603230"/>
            <a:ext cx="1369680" cy="120609"/>
          </a:xfrm>
          <a:prstGeom prst="rect">
            <a:avLst/>
          </a:prstGeom>
          <a:noFill/>
          <a:ln/>
        </p:spPr>
        <p:txBody>
          <a:bodyPr wrap="none" lIns="0" tIns="0" rIns="0" bIns="0" rtlCol="0" anchor="t"/>
          <a:lstStyle/>
          <a:p>
            <a:pPr algn="l" indent="0" marL="0">
              <a:lnSpc>
                <a:spcPts val="950"/>
              </a:lnSpc>
              <a:buNone/>
            </a:pPr>
            <a:r>
              <a:rPr lang="en-US" sz="950" spc="10" kern="0" dirty="0">
                <a:solidFill>
                  <a:srgbClr val="155DFC"/>
                </a:solidFill>
                <a:latin typeface="Poppins Medium" pitchFamily="34" charset="0"/>
                <a:ea typeface="Poppins Medium" pitchFamily="34" charset="-122"/>
                <a:cs typeface="Poppins Medium" pitchFamily="34" charset="-120"/>
              </a:rPr>
              <a:t>Capability framework</a:t>
            </a:r>
            <a:endParaRPr lang="en-US" sz="950" dirty="0"/>
          </a:p>
        </p:txBody>
      </p:sp>
      <p:sp>
        <p:nvSpPr>
          <p:cNvPr id="45" name="Title"/>
          <p:cNvSpPr txBox="1"/>
          <p:nvPr/>
        </p:nvSpPr>
        <p:spPr>
          <a:xfrm>
            <a:off x="711220" y="927750"/>
            <a:ext cx="9398020" cy="861090"/>
          </a:xfrm>
          <a:prstGeom prst="rect">
            <a:avLst/>
          </a:prstGeom>
          <a:noFill/>
          <a:ln/>
        </p:spPr>
        <p:txBody>
          <a:bodyPr wrap="square" lIns="0" tIns="0" rIns="0" bIns="0" rtlCol="0" anchor="t"/>
          <a:lstStyle/>
          <a:p>
            <a:pPr algn="l" indent="0" marL="0">
              <a:lnSpc>
                <a:spcPts val="3390"/>
              </a:lnSpc>
              <a:buNone/>
            </a:pPr>
            <a:r>
              <a:rPr lang="en-US" sz="3000" spc="-45" kern="0" dirty="0">
                <a:solidFill>
                  <a:srgbClr val="000000"/>
                </a:solidFill>
                <a:latin typeface="Poppins Medium" pitchFamily="34" charset="0"/>
                <a:ea typeface="Poppins Medium" pitchFamily="34" charset="-122"/>
                <a:cs typeface="Poppins Medium" pitchFamily="34" charset="-120"/>
              </a:rPr>
              <a:t>Six services cover the path from</a:t>
            </a:r>
            <a:endParaRPr lang="en-US" sz="3000" dirty="0"/>
          </a:p>
          <a:p>
            <a:pPr algn="l" indent="0" marL="0">
              <a:lnSpc>
                <a:spcPts val="3390"/>
              </a:lnSpc>
              <a:buNone/>
            </a:pPr>
            <a:r>
              <a:rPr lang="en-US" sz="3000" spc="-45" kern="0" dirty="0">
                <a:solidFill>
                  <a:srgbClr val="000000"/>
                </a:solidFill>
                <a:latin typeface="Poppins Medium" pitchFamily="34" charset="0"/>
                <a:ea typeface="Poppins Medium" pitchFamily="34" charset="-122"/>
                <a:cs typeface="Poppins Medium" pitchFamily="34" charset="-120"/>
              </a:rPr>
              <a:t>first model to the last integration</a:t>
            </a:r>
            <a:endParaRPr lang="en-US" sz="3000" dirty="0"/>
          </a:p>
        </p:txBody>
      </p:sp>
      <p:sp>
        <p:nvSpPr>
          <p:cNvPr id="46" name="Text"/>
          <p:cNvSpPr txBox="1"/>
          <p:nvPr/>
        </p:nvSpPr>
        <p:spPr>
          <a:xfrm>
            <a:off x="939820" y="2237080"/>
            <a:ext cx="5011186" cy="314919"/>
          </a:xfrm>
          <a:prstGeom prst="rect">
            <a:avLst/>
          </a:prstGeom>
          <a:noFill/>
          <a:ln/>
        </p:spPr>
        <p:txBody>
          <a:bodyPr wrap="none" lIns="0" tIns="0" rIns="0" bIns="0" rtlCol="0" anchor="t"/>
          <a:lstStyle/>
          <a:p>
            <a:pPr algn="l" indent="0" marL="0">
              <a:lnSpc>
                <a:spcPts val="2480"/>
              </a:lnSpc>
              <a:buNone/>
            </a:pPr>
            <a:r>
              <a:rPr lang="en-US" sz="1600" dirty="0">
                <a:solidFill>
                  <a:srgbClr val="FFFFFF"/>
                </a:solidFill>
                <a:latin typeface="Poppins Medium" pitchFamily="34" charset="0"/>
                <a:ea typeface="Poppins Medium" pitchFamily="34" charset="-122"/>
                <a:cs typeface="Poppins Medium" pitchFamily="34" charset="-120"/>
              </a:rPr>
              <a:t>Production AI inside the systems you already run</a:t>
            </a:r>
            <a:endParaRPr lang="en-US" sz="1600" dirty="0"/>
          </a:p>
        </p:txBody>
      </p:sp>
      <p:sp>
        <p:nvSpPr>
          <p:cNvPr id="47" name="Text"/>
          <p:cNvSpPr txBox="1"/>
          <p:nvPr/>
        </p:nvSpPr>
        <p:spPr>
          <a:xfrm>
            <a:off x="6439296" y="2288103"/>
            <a:ext cx="4838273" cy="206654"/>
          </a:xfrm>
          <a:prstGeom prst="rect">
            <a:avLst/>
          </a:prstGeom>
          <a:noFill/>
          <a:ln/>
        </p:spPr>
        <p:txBody>
          <a:bodyPr wrap="none" lIns="0" tIns="0" rIns="0" bIns="0" rtlCol="0" anchor="t"/>
          <a:lstStyle/>
          <a:p>
            <a:pPr algn="l" indent="0" marL="0">
              <a:lnSpc>
                <a:spcPts val="1627"/>
              </a:lnSpc>
              <a:buNone/>
            </a:pPr>
            <a:r>
              <a:rPr lang="en-US" sz="1050" dirty="0">
                <a:solidFill>
                  <a:srgbClr val="E1E9FA"/>
                </a:solidFill>
                <a:latin typeface="Poppins Light" pitchFamily="34" charset="0"/>
                <a:ea typeface="Poppins Light" pitchFamily="34" charset="-122"/>
                <a:cs typeface="Poppins Light" pitchFamily="34" charset="-120"/>
              </a:rPr>
              <a:t>ALPHV designs, builds and runs AI systems inside your existing operations.</a:t>
            </a:r>
            <a:endParaRPr lang="en-US" sz="1050" dirty="0"/>
          </a:p>
        </p:txBody>
      </p:sp>
      <p:sp>
        <p:nvSpPr>
          <p:cNvPr id="48" name="Text"/>
          <p:cNvSpPr txBox="1"/>
          <p:nvPr/>
        </p:nvSpPr>
        <p:spPr>
          <a:xfrm>
            <a:off x="857250" y="2965491"/>
            <a:ext cx="1447129" cy="167335"/>
          </a:xfrm>
          <a:prstGeom prst="rect">
            <a:avLst/>
          </a:prstGeom>
          <a:noFill/>
          <a:ln/>
        </p:spPr>
        <p:txBody>
          <a:bodyPr wrap="square" lIns="0" tIns="0" rIns="0" bIns="0" rtlCol="0" anchor="t"/>
          <a:lstStyle/>
          <a:p>
            <a:pPr algn="l" indent="0" marL="0">
              <a:lnSpc>
                <a:spcPts val="1318"/>
              </a:lnSpc>
              <a:buNone/>
            </a:pPr>
            <a:r>
              <a:rPr lang="en-US" sz="850" dirty="0">
                <a:solidFill>
                  <a:srgbClr val="044BD9"/>
                </a:solidFill>
                <a:latin typeface="Poppins Medium" pitchFamily="34" charset="0"/>
                <a:ea typeface="Poppins Medium" pitchFamily="34" charset="-122"/>
                <a:cs typeface="Poppins Medium" pitchFamily="34" charset="-120"/>
              </a:rPr>
              <a:t>01</a:t>
            </a:r>
            <a:endParaRPr lang="en-US" sz="850" dirty="0"/>
          </a:p>
        </p:txBody>
      </p:sp>
      <p:sp>
        <p:nvSpPr>
          <p:cNvPr id="49" name="Text"/>
          <p:cNvSpPr txBox="1"/>
          <p:nvPr/>
        </p:nvSpPr>
        <p:spPr>
          <a:xfrm>
            <a:off x="857250" y="3207715"/>
            <a:ext cx="1447129" cy="182606"/>
          </a:xfrm>
          <a:prstGeom prst="rect">
            <a:avLst/>
          </a:prstGeom>
          <a:noFill/>
          <a:ln/>
        </p:spPr>
        <p:txBody>
          <a:bodyPr wrap="square" lIns="0" tIns="0" rIns="0" bIns="0" rtlCol="0" anchor="t"/>
          <a:lstStyle/>
          <a:p>
            <a:pPr algn="l" indent="0" marL="0">
              <a:lnSpc>
                <a:spcPts val="1438"/>
              </a:lnSpc>
              <a:buNone/>
            </a:pPr>
            <a:r>
              <a:rPr lang="en-US" sz="1150" dirty="0">
                <a:solidFill>
                  <a:srgbClr val="000000"/>
                </a:solidFill>
                <a:latin typeface="Poppins Medium" pitchFamily="34" charset="0"/>
                <a:ea typeface="Poppins Medium" pitchFamily="34" charset="-122"/>
                <a:cs typeface="Poppins Medium" pitchFamily="34" charset="-120"/>
              </a:rPr>
              <a:t>AI engineering</a:t>
            </a:r>
            <a:endParaRPr lang="en-US" sz="1150" dirty="0"/>
          </a:p>
        </p:txBody>
      </p:sp>
      <p:sp>
        <p:nvSpPr>
          <p:cNvPr id="50" name="Text"/>
          <p:cNvSpPr txBox="1"/>
          <p:nvPr/>
        </p:nvSpPr>
        <p:spPr>
          <a:xfrm>
            <a:off x="971550" y="3649553"/>
            <a:ext cx="1332372" cy="337779"/>
          </a:xfrm>
          <a:prstGeom prst="rect">
            <a:avLst/>
          </a:prstGeom>
          <a:noFill/>
          <a:ln/>
        </p:spPr>
        <p:txBody>
          <a:bodyPr wrap="square" lIns="0" tIns="0" rIns="0" bIns="0" rtlCol="0" anchor="t"/>
          <a:lstStyle/>
          <a:p>
            <a:pPr algn="l" indent="0" marL="0">
              <a:lnSpc>
                <a:spcPts val="1330"/>
              </a:lnSpc>
              <a:buNone/>
            </a:pPr>
            <a:r>
              <a:rPr lang="en-US" sz="950" dirty="0">
                <a:solidFill>
                  <a:srgbClr val="1F2937"/>
                </a:solidFill>
                <a:latin typeface="Poppins Light" pitchFamily="34" charset="0"/>
                <a:ea typeface="Poppins Light" pitchFamily="34" charset="-122"/>
                <a:cs typeface="Poppins Light" pitchFamily="34" charset="-120"/>
              </a:rPr>
              <a:t>Knowledge integration and RAG</a:t>
            </a:r>
            <a:endParaRPr lang="en-US" sz="950" dirty="0"/>
          </a:p>
        </p:txBody>
      </p:sp>
      <p:sp>
        <p:nvSpPr>
          <p:cNvPr id="51" name="Text"/>
          <p:cNvSpPr txBox="1"/>
          <p:nvPr/>
        </p:nvSpPr>
        <p:spPr>
          <a:xfrm>
            <a:off x="971550" y="4038082"/>
            <a:ext cx="1332372" cy="337779"/>
          </a:xfrm>
          <a:prstGeom prst="rect">
            <a:avLst/>
          </a:prstGeom>
          <a:noFill/>
          <a:ln/>
        </p:spPr>
        <p:txBody>
          <a:bodyPr wrap="square" lIns="0" tIns="0" rIns="0" bIns="0" rtlCol="0" anchor="t"/>
          <a:lstStyle/>
          <a:p>
            <a:pPr algn="l" indent="0" marL="0">
              <a:lnSpc>
                <a:spcPts val="1330"/>
              </a:lnSpc>
              <a:buNone/>
            </a:pPr>
            <a:r>
              <a:rPr lang="en-US" sz="950" dirty="0">
                <a:solidFill>
                  <a:srgbClr val="1F2937"/>
                </a:solidFill>
                <a:latin typeface="Poppins Light" pitchFamily="34" charset="0"/>
                <a:ea typeface="Poppins Light" pitchFamily="34" charset="-122"/>
                <a:cs typeface="Poppins Light" pitchFamily="34" charset="-120"/>
              </a:rPr>
              <a:t>Specialised fine-tuning</a:t>
            </a:r>
            <a:endParaRPr lang="en-US" sz="950" dirty="0"/>
          </a:p>
        </p:txBody>
      </p:sp>
      <p:sp>
        <p:nvSpPr>
          <p:cNvPr id="52" name="Text"/>
          <p:cNvSpPr txBox="1"/>
          <p:nvPr/>
        </p:nvSpPr>
        <p:spPr>
          <a:xfrm>
            <a:off x="971550" y="4426610"/>
            <a:ext cx="1332372" cy="337779"/>
          </a:xfrm>
          <a:prstGeom prst="rect">
            <a:avLst/>
          </a:prstGeom>
          <a:noFill/>
          <a:ln/>
        </p:spPr>
        <p:txBody>
          <a:bodyPr wrap="square" lIns="0" tIns="0" rIns="0" bIns="0" rtlCol="0" anchor="t"/>
          <a:lstStyle/>
          <a:p>
            <a:pPr algn="l" indent="0" marL="0">
              <a:lnSpc>
                <a:spcPts val="1330"/>
              </a:lnSpc>
              <a:buNone/>
            </a:pPr>
            <a:r>
              <a:rPr lang="en-US" sz="950" dirty="0">
                <a:solidFill>
                  <a:srgbClr val="1F2937"/>
                </a:solidFill>
                <a:latin typeface="Poppins Light" pitchFamily="34" charset="0"/>
                <a:ea typeface="Poppins Light" pitchFamily="34" charset="-122"/>
                <a:cs typeface="Poppins Light" pitchFamily="34" charset="-120"/>
              </a:rPr>
              <a:t>Multimodal intelligence</a:t>
            </a:r>
            <a:endParaRPr lang="en-US" sz="950" dirty="0"/>
          </a:p>
        </p:txBody>
      </p:sp>
      <p:sp>
        <p:nvSpPr>
          <p:cNvPr id="53" name="Text"/>
          <p:cNvSpPr txBox="1"/>
          <p:nvPr/>
        </p:nvSpPr>
        <p:spPr>
          <a:xfrm>
            <a:off x="971550" y="4815139"/>
            <a:ext cx="1332372" cy="168890"/>
          </a:xfrm>
          <a:prstGeom prst="rect">
            <a:avLst/>
          </a:prstGeom>
          <a:noFill/>
          <a:ln/>
        </p:spPr>
        <p:txBody>
          <a:bodyPr wrap="square" lIns="0" tIns="0" rIns="0" bIns="0" rtlCol="0" anchor="t"/>
          <a:lstStyle/>
          <a:p>
            <a:pPr algn="l" indent="0" marL="0">
              <a:lnSpc>
                <a:spcPts val="1330"/>
              </a:lnSpc>
              <a:buNone/>
            </a:pPr>
            <a:r>
              <a:rPr lang="en-US" sz="950" dirty="0">
                <a:solidFill>
                  <a:srgbClr val="1F2937"/>
                </a:solidFill>
                <a:latin typeface="Poppins Light" pitchFamily="34" charset="0"/>
                <a:ea typeface="Poppins Light" pitchFamily="34" charset="-122"/>
                <a:cs typeface="Poppins Light" pitchFamily="34" charset="-120"/>
              </a:rPr>
              <a:t>Document AI</a:t>
            </a:r>
            <a:endParaRPr lang="en-US" sz="950" dirty="0"/>
          </a:p>
        </p:txBody>
      </p:sp>
      <p:sp>
        <p:nvSpPr>
          <p:cNvPr id="54" name="Text"/>
          <p:cNvSpPr txBox="1"/>
          <p:nvPr/>
        </p:nvSpPr>
        <p:spPr>
          <a:xfrm>
            <a:off x="2667030" y="2965491"/>
            <a:ext cx="1447129" cy="167335"/>
          </a:xfrm>
          <a:prstGeom prst="rect">
            <a:avLst/>
          </a:prstGeom>
          <a:noFill/>
          <a:ln/>
        </p:spPr>
        <p:txBody>
          <a:bodyPr wrap="square" lIns="0" tIns="0" rIns="0" bIns="0" rtlCol="0" anchor="t"/>
          <a:lstStyle/>
          <a:p>
            <a:pPr algn="l" indent="0" marL="0">
              <a:lnSpc>
                <a:spcPts val="1318"/>
              </a:lnSpc>
              <a:buNone/>
            </a:pPr>
            <a:r>
              <a:rPr lang="en-US" sz="850" dirty="0">
                <a:solidFill>
                  <a:srgbClr val="044BD9"/>
                </a:solidFill>
                <a:latin typeface="Poppins Medium" pitchFamily="34" charset="0"/>
                <a:ea typeface="Poppins Medium" pitchFamily="34" charset="-122"/>
                <a:cs typeface="Poppins Medium" pitchFamily="34" charset="-120"/>
              </a:rPr>
              <a:t>02</a:t>
            </a:r>
            <a:endParaRPr lang="en-US" sz="850" dirty="0"/>
          </a:p>
        </p:txBody>
      </p:sp>
      <p:sp>
        <p:nvSpPr>
          <p:cNvPr id="55" name="Text"/>
          <p:cNvSpPr txBox="1"/>
          <p:nvPr/>
        </p:nvSpPr>
        <p:spPr>
          <a:xfrm>
            <a:off x="2667030" y="3207715"/>
            <a:ext cx="1428750" cy="365120"/>
          </a:xfrm>
          <a:prstGeom prst="rect">
            <a:avLst/>
          </a:prstGeom>
          <a:noFill/>
          <a:ln/>
        </p:spPr>
        <p:txBody>
          <a:bodyPr wrap="square" lIns="0" tIns="0" rIns="0" bIns="0" rtlCol="0" anchor="t"/>
          <a:lstStyle/>
          <a:p>
            <a:pPr algn="l" indent="0" marL="0">
              <a:lnSpc>
                <a:spcPts val="1438"/>
              </a:lnSpc>
              <a:buNone/>
            </a:pPr>
            <a:r>
              <a:rPr lang="en-US" sz="1150" dirty="0">
                <a:solidFill>
                  <a:srgbClr val="000000"/>
                </a:solidFill>
                <a:latin typeface="Poppins Medium" pitchFamily="34" charset="0"/>
                <a:ea typeface="Poppins Medium" pitchFamily="34" charset="-122"/>
                <a:cs typeface="Poppins Medium" pitchFamily="34" charset="-120"/>
              </a:rPr>
              <a:t>Agentic</a:t>
            </a:r>
            <a:endParaRPr lang="en-US" sz="1150" dirty="0"/>
          </a:p>
          <a:p>
            <a:pPr algn="l" indent="0" marL="0">
              <a:lnSpc>
                <a:spcPts val="1438"/>
              </a:lnSpc>
              <a:buNone/>
            </a:pPr>
            <a:r>
              <a:rPr lang="en-US" sz="1150" dirty="0">
                <a:solidFill>
                  <a:srgbClr val="000000"/>
                </a:solidFill>
                <a:latin typeface="Poppins Medium" pitchFamily="34" charset="0"/>
                <a:ea typeface="Poppins Medium" pitchFamily="34" charset="-122"/>
                <a:cs typeface="Poppins Medium" pitchFamily="34" charset="-120"/>
              </a:rPr>
              <a:t>automation</a:t>
            </a:r>
            <a:endParaRPr lang="en-US" sz="1150" dirty="0"/>
          </a:p>
        </p:txBody>
      </p:sp>
      <p:sp>
        <p:nvSpPr>
          <p:cNvPr id="56" name="Text"/>
          <p:cNvSpPr txBox="1"/>
          <p:nvPr/>
        </p:nvSpPr>
        <p:spPr>
          <a:xfrm>
            <a:off x="2781330" y="3649553"/>
            <a:ext cx="1332372" cy="337779"/>
          </a:xfrm>
          <a:prstGeom prst="rect">
            <a:avLst/>
          </a:prstGeom>
          <a:noFill/>
          <a:ln/>
        </p:spPr>
        <p:txBody>
          <a:bodyPr wrap="square" lIns="0" tIns="0" rIns="0" bIns="0" rtlCol="0" anchor="t"/>
          <a:lstStyle/>
          <a:p>
            <a:pPr algn="l" indent="0" marL="0">
              <a:lnSpc>
                <a:spcPts val="1330"/>
              </a:lnSpc>
              <a:buNone/>
            </a:pPr>
            <a:r>
              <a:rPr lang="en-US" sz="950" dirty="0">
                <a:solidFill>
                  <a:srgbClr val="1F2937"/>
                </a:solidFill>
                <a:latin typeface="Poppins Light" pitchFamily="34" charset="0"/>
                <a:ea typeface="Poppins Light" pitchFamily="34" charset="-122"/>
                <a:cs typeface="Poppins Light" pitchFamily="34" charset="-120"/>
              </a:rPr>
              <a:t>Agentic process automation</a:t>
            </a:r>
            <a:endParaRPr lang="en-US" sz="950" dirty="0"/>
          </a:p>
        </p:txBody>
      </p:sp>
      <p:sp>
        <p:nvSpPr>
          <p:cNvPr id="57" name="Text"/>
          <p:cNvSpPr txBox="1"/>
          <p:nvPr/>
        </p:nvSpPr>
        <p:spPr>
          <a:xfrm>
            <a:off x="2781330" y="4038082"/>
            <a:ext cx="1332372" cy="337779"/>
          </a:xfrm>
          <a:prstGeom prst="rect">
            <a:avLst/>
          </a:prstGeom>
          <a:noFill/>
          <a:ln/>
        </p:spPr>
        <p:txBody>
          <a:bodyPr wrap="square" lIns="0" tIns="0" rIns="0" bIns="0" rtlCol="0" anchor="t"/>
          <a:lstStyle/>
          <a:p>
            <a:pPr algn="l" indent="0" marL="0">
              <a:lnSpc>
                <a:spcPts val="1330"/>
              </a:lnSpc>
              <a:buNone/>
            </a:pPr>
            <a:r>
              <a:rPr lang="en-US" sz="950" dirty="0">
                <a:solidFill>
                  <a:srgbClr val="1F2937"/>
                </a:solidFill>
                <a:latin typeface="Poppins Light" pitchFamily="34" charset="0"/>
                <a:ea typeface="Poppins Light" pitchFamily="34" charset="-122"/>
                <a:cs typeface="Poppins Light" pitchFamily="34" charset="-120"/>
              </a:rPr>
              <a:t>Custom tools, MCP servers and APIs</a:t>
            </a:r>
            <a:endParaRPr lang="en-US" sz="950" dirty="0"/>
          </a:p>
        </p:txBody>
      </p:sp>
      <p:sp>
        <p:nvSpPr>
          <p:cNvPr id="58" name="Text"/>
          <p:cNvSpPr txBox="1"/>
          <p:nvPr/>
        </p:nvSpPr>
        <p:spPr>
          <a:xfrm>
            <a:off x="2781330" y="4426610"/>
            <a:ext cx="1332372" cy="337779"/>
          </a:xfrm>
          <a:prstGeom prst="rect">
            <a:avLst/>
          </a:prstGeom>
          <a:noFill/>
          <a:ln/>
        </p:spPr>
        <p:txBody>
          <a:bodyPr wrap="square" lIns="0" tIns="0" rIns="0" bIns="0" rtlCol="0" anchor="t"/>
          <a:lstStyle/>
          <a:p>
            <a:pPr algn="l" indent="0" marL="0">
              <a:lnSpc>
                <a:spcPts val="1330"/>
              </a:lnSpc>
              <a:buNone/>
            </a:pPr>
            <a:r>
              <a:rPr lang="en-US" sz="950" dirty="0">
                <a:solidFill>
                  <a:srgbClr val="1F2937"/>
                </a:solidFill>
                <a:latin typeface="Poppins Light" pitchFamily="34" charset="0"/>
                <a:ea typeface="Poppins Light" pitchFamily="34" charset="-122"/>
                <a:cs typeface="Poppins Light" pitchFamily="34" charset="-120"/>
              </a:rPr>
              <a:t>WhatsApp sales agents</a:t>
            </a:r>
            <a:endParaRPr lang="en-US" sz="950" dirty="0"/>
          </a:p>
        </p:txBody>
      </p:sp>
      <p:sp>
        <p:nvSpPr>
          <p:cNvPr id="59" name="Text"/>
          <p:cNvSpPr txBox="1"/>
          <p:nvPr/>
        </p:nvSpPr>
        <p:spPr>
          <a:xfrm>
            <a:off x="2781330" y="4815139"/>
            <a:ext cx="1332372" cy="337779"/>
          </a:xfrm>
          <a:prstGeom prst="rect">
            <a:avLst/>
          </a:prstGeom>
          <a:noFill/>
          <a:ln/>
        </p:spPr>
        <p:txBody>
          <a:bodyPr wrap="square" lIns="0" tIns="0" rIns="0" bIns="0" rtlCol="0" anchor="t"/>
          <a:lstStyle/>
          <a:p>
            <a:pPr algn="l" indent="0" marL="0">
              <a:lnSpc>
                <a:spcPts val="1330"/>
              </a:lnSpc>
              <a:buNone/>
            </a:pPr>
            <a:r>
              <a:rPr lang="en-US" sz="950" dirty="0">
                <a:solidFill>
                  <a:srgbClr val="1F2937"/>
                </a:solidFill>
                <a:latin typeface="Poppins Light" pitchFamily="34" charset="0"/>
                <a:ea typeface="Poppins Light" pitchFamily="34" charset="-122"/>
                <a:cs typeface="Poppins Light" pitchFamily="34" charset="-120"/>
              </a:rPr>
              <a:t>Claims and case handling</a:t>
            </a:r>
            <a:endParaRPr lang="en-US" sz="950" dirty="0"/>
          </a:p>
        </p:txBody>
      </p:sp>
      <p:sp>
        <p:nvSpPr>
          <p:cNvPr id="60" name="Text"/>
          <p:cNvSpPr txBox="1"/>
          <p:nvPr/>
        </p:nvSpPr>
        <p:spPr>
          <a:xfrm>
            <a:off x="4476720" y="2965491"/>
            <a:ext cx="1447129" cy="167335"/>
          </a:xfrm>
          <a:prstGeom prst="rect">
            <a:avLst/>
          </a:prstGeom>
          <a:noFill/>
          <a:ln/>
        </p:spPr>
        <p:txBody>
          <a:bodyPr wrap="square" lIns="0" tIns="0" rIns="0" bIns="0" rtlCol="0" anchor="t"/>
          <a:lstStyle/>
          <a:p>
            <a:pPr algn="l" indent="0" marL="0">
              <a:lnSpc>
                <a:spcPts val="1318"/>
              </a:lnSpc>
              <a:buNone/>
            </a:pPr>
            <a:r>
              <a:rPr lang="en-US" sz="850" dirty="0">
                <a:solidFill>
                  <a:srgbClr val="044BD9"/>
                </a:solidFill>
                <a:latin typeface="Poppins Medium" pitchFamily="34" charset="0"/>
                <a:ea typeface="Poppins Medium" pitchFamily="34" charset="-122"/>
                <a:cs typeface="Poppins Medium" pitchFamily="34" charset="-120"/>
              </a:rPr>
              <a:t>03</a:t>
            </a:r>
            <a:endParaRPr lang="en-US" sz="850" dirty="0"/>
          </a:p>
        </p:txBody>
      </p:sp>
      <p:sp>
        <p:nvSpPr>
          <p:cNvPr id="61" name="Text"/>
          <p:cNvSpPr txBox="1"/>
          <p:nvPr/>
        </p:nvSpPr>
        <p:spPr>
          <a:xfrm>
            <a:off x="4476720" y="3207715"/>
            <a:ext cx="1428750" cy="365120"/>
          </a:xfrm>
          <a:prstGeom prst="rect">
            <a:avLst/>
          </a:prstGeom>
          <a:noFill/>
          <a:ln/>
        </p:spPr>
        <p:txBody>
          <a:bodyPr wrap="square" lIns="0" tIns="0" rIns="0" bIns="0" rtlCol="0" anchor="t"/>
          <a:lstStyle/>
          <a:p>
            <a:pPr algn="l" indent="0" marL="0">
              <a:lnSpc>
                <a:spcPts val="1438"/>
              </a:lnSpc>
              <a:buNone/>
            </a:pPr>
            <a:r>
              <a:rPr lang="en-US" sz="1150" dirty="0">
                <a:solidFill>
                  <a:srgbClr val="000000"/>
                </a:solidFill>
                <a:latin typeface="Poppins Medium" pitchFamily="34" charset="0"/>
                <a:ea typeface="Poppins Medium" pitchFamily="34" charset="-122"/>
                <a:cs typeface="Poppins Medium" pitchFamily="34" charset="-120"/>
              </a:rPr>
              <a:t>System integration</a:t>
            </a:r>
            <a:endParaRPr lang="en-US" sz="1150" dirty="0"/>
          </a:p>
          <a:p>
            <a:pPr algn="l" indent="0" marL="0">
              <a:lnSpc>
                <a:spcPts val="1438"/>
              </a:lnSpc>
              <a:buNone/>
            </a:pPr>
            <a:r>
              <a:rPr lang="en-US" sz="1150" dirty="0">
                <a:solidFill>
                  <a:srgbClr val="000000"/>
                </a:solidFill>
                <a:latin typeface="Poppins Medium" pitchFamily="34" charset="0"/>
                <a:ea typeface="Poppins Medium" pitchFamily="34" charset="-122"/>
                <a:cs typeface="Poppins Medium" pitchFamily="34" charset="-120"/>
              </a:rPr>
              <a:t>and consulting</a:t>
            </a:r>
            <a:endParaRPr lang="en-US" sz="1150" dirty="0"/>
          </a:p>
        </p:txBody>
      </p:sp>
      <p:sp>
        <p:nvSpPr>
          <p:cNvPr id="62" name="Text"/>
          <p:cNvSpPr txBox="1"/>
          <p:nvPr/>
        </p:nvSpPr>
        <p:spPr>
          <a:xfrm>
            <a:off x="4591020" y="3649553"/>
            <a:ext cx="1332372" cy="337779"/>
          </a:xfrm>
          <a:prstGeom prst="rect">
            <a:avLst/>
          </a:prstGeom>
          <a:noFill/>
          <a:ln/>
        </p:spPr>
        <p:txBody>
          <a:bodyPr wrap="square" lIns="0" tIns="0" rIns="0" bIns="0" rtlCol="0" anchor="t"/>
          <a:lstStyle/>
          <a:p>
            <a:pPr algn="l" indent="0" marL="0">
              <a:lnSpc>
                <a:spcPts val="1330"/>
              </a:lnSpc>
              <a:buNone/>
            </a:pPr>
            <a:r>
              <a:rPr lang="en-US" sz="950" dirty="0">
                <a:solidFill>
                  <a:srgbClr val="1F2937"/>
                </a:solidFill>
                <a:latin typeface="Poppins Light" pitchFamily="34" charset="0"/>
                <a:ea typeface="Poppins Light" pitchFamily="34" charset="-122"/>
                <a:cs typeface="Poppins Light" pitchFamily="34" charset="-120"/>
              </a:rPr>
              <a:t>Strategy before the build</a:t>
            </a:r>
            <a:endParaRPr lang="en-US" sz="950" dirty="0"/>
          </a:p>
        </p:txBody>
      </p:sp>
      <p:sp>
        <p:nvSpPr>
          <p:cNvPr id="63" name="Text"/>
          <p:cNvSpPr txBox="1"/>
          <p:nvPr/>
        </p:nvSpPr>
        <p:spPr>
          <a:xfrm>
            <a:off x="4591020" y="4038082"/>
            <a:ext cx="1332372" cy="337779"/>
          </a:xfrm>
          <a:prstGeom prst="rect">
            <a:avLst/>
          </a:prstGeom>
          <a:noFill/>
          <a:ln/>
        </p:spPr>
        <p:txBody>
          <a:bodyPr wrap="square" lIns="0" tIns="0" rIns="0" bIns="0" rtlCol="0" anchor="t"/>
          <a:lstStyle/>
          <a:p>
            <a:pPr algn="l" indent="0" marL="0">
              <a:lnSpc>
                <a:spcPts val="1330"/>
              </a:lnSpc>
              <a:buNone/>
            </a:pPr>
            <a:r>
              <a:rPr lang="en-US" sz="950" dirty="0">
                <a:solidFill>
                  <a:srgbClr val="1F2937"/>
                </a:solidFill>
                <a:latin typeface="Poppins Light" pitchFamily="34" charset="0"/>
                <a:ea typeface="Poppins Light" pitchFamily="34" charset="-122"/>
                <a:cs typeface="Poppins Light" pitchFamily="34" charset="-120"/>
              </a:rPr>
              <a:t>Replace legacy systems</a:t>
            </a:r>
            <a:endParaRPr lang="en-US" sz="950" dirty="0"/>
          </a:p>
        </p:txBody>
      </p:sp>
      <p:sp>
        <p:nvSpPr>
          <p:cNvPr id="64" name="Text"/>
          <p:cNvSpPr txBox="1"/>
          <p:nvPr/>
        </p:nvSpPr>
        <p:spPr>
          <a:xfrm>
            <a:off x="4591020" y="4426610"/>
            <a:ext cx="1332372" cy="337779"/>
          </a:xfrm>
          <a:prstGeom prst="rect">
            <a:avLst/>
          </a:prstGeom>
          <a:noFill/>
          <a:ln/>
        </p:spPr>
        <p:txBody>
          <a:bodyPr wrap="square" lIns="0" tIns="0" rIns="0" bIns="0" rtlCol="0" anchor="t"/>
          <a:lstStyle/>
          <a:p>
            <a:pPr algn="l" indent="0" marL="0">
              <a:lnSpc>
                <a:spcPts val="1330"/>
              </a:lnSpc>
              <a:buNone/>
            </a:pPr>
            <a:r>
              <a:rPr lang="en-US" sz="950" dirty="0">
                <a:solidFill>
                  <a:srgbClr val="1F2937"/>
                </a:solidFill>
                <a:latin typeface="Poppins Light" pitchFamily="34" charset="0"/>
                <a:ea typeface="Poppins Light" pitchFamily="34" charset="-122"/>
                <a:cs typeface="Poppins Light" pitchFamily="34" charset="-120"/>
              </a:rPr>
              <a:t>Connect third-party portals</a:t>
            </a:r>
            <a:endParaRPr lang="en-US" sz="950" dirty="0"/>
          </a:p>
        </p:txBody>
      </p:sp>
      <p:sp>
        <p:nvSpPr>
          <p:cNvPr id="65" name="Text"/>
          <p:cNvSpPr txBox="1"/>
          <p:nvPr/>
        </p:nvSpPr>
        <p:spPr>
          <a:xfrm>
            <a:off x="4591020" y="4815139"/>
            <a:ext cx="1332372" cy="337779"/>
          </a:xfrm>
          <a:prstGeom prst="rect">
            <a:avLst/>
          </a:prstGeom>
          <a:noFill/>
          <a:ln/>
        </p:spPr>
        <p:txBody>
          <a:bodyPr wrap="square" lIns="0" tIns="0" rIns="0" bIns="0" rtlCol="0" anchor="t"/>
          <a:lstStyle/>
          <a:p>
            <a:pPr algn="l" indent="0" marL="0">
              <a:lnSpc>
                <a:spcPts val="1330"/>
              </a:lnSpc>
              <a:buNone/>
            </a:pPr>
            <a:r>
              <a:rPr lang="en-US" sz="950" dirty="0">
                <a:solidFill>
                  <a:srgbClr val="1F2937"/>
                </a:solidFill>
                <a:latin typeface="Poppins Light" pitchFamily="34" charset="0"/>
                <a:ea typeface="Poppins Light" pitchFamily="34" charset="-122"/>
                <a:cs typeface="Poppins Light" pitchFamily="34" charset="-120"/>
              </a:rPr>
              <a:t>Take over projects midway</a:t>
            </a:r>
            <a:endParaRPr lang="en-US" sz="950" dirty="0"/>
          </a:p>
        </p:txBody>
      </p:sp>
      <p:sp>
        <p:nvSpPr>
          <p:cNvPr id="66" name="Text"/>
          <p:cNvSpPr txBox="1"/>
          <p:nvPr/>
        </p:nvSpPr>
        <p:spPr>
          <a:xfrm>
            <a:off x="6286500" y="2965491"/>
            <a:ext cx="1447129" cy="167335"/>
          </a:xfrm>
          <a:prstGeom prst="rect">
            <a:avLst/>
          </a:prstGeom>
          <a:noFill/>
          <a:ln/>
        </p:spPr>
        <p:txBody>
          <a:bodyPr wrap="square" lIns="0" tIns="0" rIns="0" bIns="0" rtlCol="0" anchor="t"/>
          <a:lstStyle/>
          <a:p>
            <a:pPr algn="l" indent="0" marL="0">
              <a:lnSpc>
                <a:spcPts val="1318"/>
              </a:lnSpc>
              <a:buNone/>
            </a:pPr>
            <a:r>
              <a:rPr lang="en-US" sz="850" dirty="0">
                <a:solidFill>
                  <a:srgbClr val="044BD9"/>
                </a:solidFill>
                <a:latin typeface="Poppins Medium" pitchFamily="34" charset="0"/>
                <a:ea typeface="Poppins Medium" pitchFamily="34" charset="-122"/>
                <a:cs typeface="Poppins Medium" pitchFamily="34" charset="-120"/>
              </a:rPr>
              <a:t>04</a:t>
            </a:r>
            <a:endParaRPr lang="en-US" sz="850" dirty="0"/>
          </a:p>
        </p:txBody>
      </p:sp>
      <p:sp>
        <p:nvSpPr>
          <p:cNvPr id="67" name="Text"/>
          <p:cNvSpPr txBox="1"/>
          <p:nvPr/>
        </p:nvSpPr>
        <p:spPr>
          <a:xfrm>
            <a:off x="6286500" y="3207715"/>
            <a:ext cx="1428750" cy="365120"/>
          </a:xfrm>
          <a:prstGeom prst="rect">
            <a:avLst/>
          </a:prstGeom>
          <a:noFill/>
          <a:ln/>
        </p:spPr>
        <p:txBody>
          <a:bodyPr wrap="square" lIns="0" tIns="0" rIns="0" bIns="0" rtlCol="0" anchor="t"/>
          <a:lstStyle/>
          <a:p>
            <a:pPr algn="l" indent="0" marL="0">
              <a:lnSpc>
                <a:spcPts val="1438"/>
              </a:lnSpc>
              <a:buNone/>
            </a:pPr>
            <a:r>
              <a:rPr lang="en-US" sz="1150" dirty="0">
                <a:solidFill>
                  <a:srgbClr val="000000"/>
                </a:solidFill>
                <a:latin typeface="Poppins Medium" pitchFamily="34" charset="0"/>
                <a:ea typeface="Poppins Medium" pitchFamily="34" charset="-122"/>
                <a:cs typeface="Poppins Medium" pitchFamily="34" charset="-120"/>
              </a:rPr>
              <a:t>Computer vision</a:t>
            </a:r>
            <a:endParaRPr lang="en-US" sz="1150" dirty="0"/>
          </a:p>
          <a:p>
            <a:pPr algn="l" indent="0" marL="0">
              <a:lnSpc>
                <a:spcPts val="1438"/>
              </a:lnSpc>
              <a:buNone/>
            </a:pPr>
            <a:r>
              <a:rPr lang="en-US" sz="1150" dirty="0">
                <a:solidFill>
                  <a:srgbClr val="000000"/>
                </a:solidFill>
                <a:latin typeface="Poppins Medium" pitchFamily="34" charset="0"/>
                <a:ea typeface="Poppins Medium" pitchFamily="34" charset="-122"/>
                <a:cs typeface="Poppins Medium" pitchFamily="34" charset="-120"/>
              </a:rPr>
              <a:t>and smart city</a:t>
            </a:r>
            <a:endParaRPr lang="en-US" sz="1150" dirty="0"/>
          </a:p>
        </p:txBody>
      </p:sp>
      <p:sp>
        <p:nvSpPr>
          <p:cNvPr id="68" name="Text"/>
          <p:cNvSpPr txBox="1"/>
          <p:nvPr/>
        </p:nvSpPr>
        <p:spPr>
          <a:xfrm>
            <a:off x="6400800" y="3649553"/>
            <a:ext cx="1332372" cy="337779"/>
          </a:xfrm>
          <a:prstGeom prst="rect">
            <a:avLst/>
          </a:prstGeom>
          <a:noFill/>
          <a:ln/>
        </p:spPr>
        <p:txBody>
          <a:bodyPr wrap="square" lIns="0" tIns="0" rIns="0" bIns="0" rtlCol="0" anchor="t"/>
          <a:lstStyle/>
          <a:p>
            <a:pPr algn="l" indent="0" marL="0">
              <a:lnSpc>
                <a:spcPts val="1330"/>
              </a:lnSpc>
              <a:buNone/>
            </a:pPr>
            <a:r>
              <a:rPr lang="en-US" sz="950" dirty="0">
                <a:solidFill>
                  <a:srgbClr val="1F2937"/>
                </a:solidFill>
                <a:latin typeface="Poppins Light" pitchFamily="34" charset="0"/>
                <a:ea typeface="Poppins Light" pitchFamily="34" charset="-122"/>
                <a:cs typeface="Poppins Light" pitchFamily="34" charset="-120"/>
              </a:rPr>
              <a:t>People counting and occupancy</a:t>
            </a:r>
            <a:endParaRPr lang="en-US" sz="950" dirty="0"/>
          </a:p>
        </p:txBody>
      </p:sp>
      <p:sp>
        <p:nvSpPr>
          <p:cNvPr id="69" name="Text"/>
          <p:cNvSpPr txBox="1"/>
          <p:nvPr/>
        </p:nvSpPr>
        <p:spPr>
          <a:xfrm>
            <a:off x="6400800" y="4038082"/>
            <a:ext cx="1339870" cy="168890"/>
          </a:xfrm>
          <a:prstGeom prst="rect">
            <a:avLst/>
          </a:prstGeom>
          <a:noFill/>
          <a:ln/>
        </p:spPr>
        <p:txBody>
          <a:bodyPr wrap="none" lIns="0" tIns="0" rIns="0" bIns="0" rtlCol="0" anchor="t"/>
          <a:lstStyle/>
          <a:p>
            <a:pPr algn="l" indent="0" marL="0">
              <a:lnSpc>
                <a:spcPts val="1330"/>
              </a:lnSpc>
              <a:buNone/>
            </a:pPr>
            <a:r>
              <a:rPr lang="en-US" sz="950" dirty="0">
                <a:solidFill>
                  <a:srgbClr val="1F2937"/>
                </a:solidFill>
                <a:latin typeface="Poppins Light" pitchFamily="34" charset="0"/>
                <a:ea typeface="Poppins Light" pitchFamily="34" charset="-122"/>
                <a:cs typeface="Poppins Light" pitchFamily="34" charset="-120"/>
              </a:rPr>
              <a:t>Vehicle classification</a:t>
            </a:r>
            <a:endParaRPr lang="en-US" sz="950" dirty="0"/>
          </a:p>
        </p:txBody>
      </p:sp>
      <p:sp>
        <p:nvSpPr>
          <p:cNvPr id="70" name="Text"/>
          <p:cNvSpPr txBox="1"/>
          <p:nvPr/>
        </p:nvSpPr>
        <p:spPr>
          <a:xfrm>
            <a:off x="6400800" y="4257721"/>
            <a:ext cx="1332372" cy="337779"/>
          </a:xfrm>
          <a:prstGeom prst="rect">
            <a:avLst/>
          </a:prstGeom>
          <a:noFill/>
          <a:ln/>
        </p:spPr>
        <p:txBody>
          <a:bodyPr wrap="square" lIns="0" tIns="0" rIns="0" bIns="0" rtlCol="0" anchor="t"/>
          <a:lstStyle/>
          <a:p>
            <a:pPr algn="l" indent="0" marL="0">
              <a:lnSpc>
                <a:spcPts val="1330"/>
              </a:lnSpc>
              <a:buNone/>
            </a:pPr>
            <a:r>
              <a:rPr lang="en-US" sz="950" dirty="0">
                <a:solidFill>
                  <a:srgbClr val="1F2937"/>
                </a:solidFill>
                <a:latin typeface="Poppins Light" pitchFamily="34" charset="0"/>
                <a:ea typeface="Poppins Light" pitchFamily="34" charset="-122"/>
                <a:cs typeface="Poppins Light" pitchFamily="34" charset="-120"/>
              </a:rPr>
              <a:t>Speed detection and flow analysis</a:t>
            </a:r>
            <a:endParaRPr lang="en-US" sz="950" dirty="0"/>
          </a:p>
        </p:txBody>
      </p:sp>
      <p:sp>
        <p:nvSpPr>
          <p:cNvPr id="71" name="Text"/>
          <p:cNvSpPr txBox="1"/>
          <p:nvPr/>
        </p:nvSpPr>
        <p:spPr>
          <a:xfrm>
            <a:off x="6400800" y="4646341"/>
            <a:ext cx="1332372" cy="337779"/>
          </a:xfrm>
          <a:prstGeom prst="rect">
            <a:avLst/>
          </a:prstGeom>
          <a:noFill/>
          <a:ln/>
        </p:spPr>
        <p:txBody>
          <a:bodyPr wrap="square" lIns="0" tIns="0" rIns="0" bIns="0" rtlCol="0" anchor="t"/>
          <a:lstStyle/>
          <a:p>
            <a:pPr algn="l" indent="0" marL="0">
              <a:lnSpc>
                <a:spcPts val="1330"/>
              </a:lnSpc>
              <a:buNone/>
            </a:pPr>
            <a:r>
              <a:rPr lang="en-US" sz="950" dirty="0">
                <a:solidFill>
                  <a:srgbClr val="1F2937"/>
                </a:solidFill>
                <a:latin typeface="Poppins Light" pitchFamily="34" charset="0"/>
                <a:ea typeface="Poppins Light" pitchFamily="34" charset="-122"/>
                <a:cs typeface="Poppins Light" pitchFamily="34" charset="-120"/>
              </a:rPr>
              <a:t>Smart city video analytics</a:t>
            </a:r>
            <a:endParaRPr lang="en-US" sz="950" dirty="0"/>
          </a:p>
        </p:txBody>
      </p:sp>
      <p:sp>
        <p:nvSpPr>
          <p:cNvPr id="72" name="Text"/>
          <p:cNvSpPr txBox="1"/>
          <p:nvPr/>
        </p:nvSpPr>
        <p:spPr>
          <a:xfrm>
            <a:off x="8096280" y="2965491"/>
            <a:ext cx="1447129" cy="167335"/>
          </a:xfrm>
          <a:prstGeom prst="rect">
            <a:avLst/>
          </a:prstGeom>
          <a:noFill/>
          <a:ln/>
        </p:spPr>
        <p:txBody>
          <a:bodyPr wrap="square" lIns="0" tIns="0" rIns="0" bIns="0" rtlCol="0" anchor="t"/>
          <a:lstStyle/>
          <a:p>
            <a:pPr algn="l" indent="0" marL="0">
              <a:lnSpc>
                <a:spcPts val="1318"/>
              </a:lnSpc>
              <a:buNone/>
            </a:pPr>
            <a:r>
              <a:rPr lang="en-US" sz="850" dirty="0">
                <a:solidFill>
                  <a:srgbClr val="044BD9"/>
                </a:solidFill>
                <a:latin typeface="Poppins Medium" pitchFamily="34" charset="0"/>
                <a:ea typeface="Poppins Medium" pitchFamily="34" charset="-122"/>
                <a:cs typeface="Poppins Medium" pitchFamily="34" charset="-120"/>
              </a:rPr>
              <a:t>05</a:t>
            </a:r>
            <a:endParaRPr lang="en-US" sz="850" dirty="0"/>
          </a:p>
        </p:txBody>
      </p:sp>
      <p:sp>
        <p:nvSpPr>
          <p:cNvPr id="73" name="Text"/>
          <p:cNvSpPr txBox="1"/>
          <p:nvPr/>
        </p:nvSpPr>
        <p:spPr>
          <a:xfrm>
            <a:off x="8096280" y="3207715"/>
            <a:ext cx="1428750" cy="365120"/>
          </a:xfrm>
          <a:prstGeom prst="rect">
            <a:avLst/>
          </a:prstGeom>
          <a:noFill/>
          <a:ln/>
        </p:spPr>
        <p:txBody>
          <a:bodyPr wrap="square" lIns="0" tIns="0" rIns="0" bIns="0" rtlCol="0" anchor="t"/>
          <a:lstStyle/>
          <a:p>
            <a:pPr algn="l" indent="0" marL="0">
              <a:lnSpc>
                <a:spcPts val="1438"/>
              </a:lnSpc>
              <a:buNone/>
            </a:pPr>
            <a:r>
              <a:rPr lang="en-US" sz="1150" dirty="0">
                <a:solidFill>
                  <a:srgbClr val="000000"/>
                </a:solidFill>
                <a:latin typeface="Poppins Medium" pitchFamily="34" charset="0"/>
                <a:ea typeface="Poppins Medium" pitchFamily="34" charset="-122"/>
                <a:cs typeface="Poppins Medium" pitchFamily="34" charset="-120"/>
              </a:rPr>
              <a:t>Web and</a:t>
            </a:r>
            <a:endParaRPr lang="en-US" sz="1150" dirty="0"/>
          </a:p>
          <a:p>
            <a:pPr algn="l" indent="0" marL="0">
              <a:lnSpc>
                <a:spcPts val="1438"/>
              </a:lnSpc>
              <a:buNone/>
            </a:pPr>
            <a:r>
              <a:rPr lang="en-US" sz="1150" dirty="0">
                <a:solidFill>
                  <a:srgbClr val="000000"/>
                </a:solidFill>
                <a:latin typeface="Poppins Medium" pitchFamily="34" charset="0"/>
                <a:ea typeface="Poppins Medium" pitchFamily="34" charset="-122"/>
                <a:cs typeface="Poppins Medium" pitchFamily="34" charset="-120"/>
              </a:rPr>
              <a:t>mobile apps</a:t>
            </a:r>
            <a:endParaRPr lang="en-US" sz="1150" dirty="0"/>
          </a:p>
        </p:txBody>
      </p:sp>
      <p:sp>
        <p:nvSpPr>
          <p:cNvPr id="74" name="Text"/>
          <p:cNvSpPr txBox="1"/>
          <p:nvPr/>
        </p:nvSpPr>
        <p:spPr>
          <a:xfrm>
            <a:off x="8210580" y="3649553"/>
            <a:ext cx="1332372" cy="168890"/>
          </a:xfrm>
          <a:prstGeom prst="rect">
            <a:avLst/>
          </a:prstGeom>
          <a:noFill/>
          <a:ln/>
        </p:spPr>
        <p:txBody>
          <a:bodyPr wrap="square" lIns="0" tIns="0" rIns="0" bIns="0" rtlCol="0" anchor="t"/>
          <a:lstStyle/>
          <a:p>
            <a:pPr algn="l" indent="0" marL="0">
              <a:lnSpc>
                <a:spcPts val="1330"/>
              </a:lnSpc>
              <a:buNone/>
            </a:pPr>
            <a:r>
              <a:rPr lang="en-US" sz="950" dirty="0">
                <a:solidFill>
                  <a:srgbClr val="1F2937"/>
                </a:solidFill>
                <a:latin typeface="Poppins Light" pitchFamily="34" charset="0"/>
                <a:ea typeface="Poppins Light" pitchFamily="34" charset="-122"/>
                <a:cs typeface="Poppins Light" pitchFamily="34" charset="-120"/>
              </a:rPr>
              <a:t>Product strategy</a:t>
            </a:r>
            <a:endParaRPr lang="en-US" sz="950" dirty="0"/>
          </a:p>
        </p:txBody>
      </p:sp>
      <p:sp>
        <p:nvSpPr>
          <p:cNvPr id="75" name="Text"/>
          <p:cNvSpPr txBox="1"/>
          <p:nvPr/>
        </p:nvSpPr>
        <p:spPr>
          <a:xfrm>
            <a:off x="8210580" y="3869192"/>
            <a:ext cx="1332372" cy="168890"/>
          </a:xfrm>
          <a:prstGeom prst="rect">
            <a:avLst/>
          </a:prstGeom>
          <a:noFill/>
          <a:ln/>
        </p:spPr>
        <p:txBody>
          <a:bodyPr wrap="square" lIns="0" tIns="0" rIns="0" bIns="0" rtlCol="0" anchor="t"/>
          <a:lstStyle/>
          <a:p>
            <a:pPr algn="l" indent="0" marL="0">
              <a:lnSpc>
                <a:spcPts val="1330"/>
              </a:lnSpc>
              <a:buNone/>
            </a:pPr>
            <a:r>
              <a:rPr lang="en-US" sz="950" dirty="0">
                <a:solidFill>
                  <a:srgbClr val="1F2937"/>
                </a:solidFill>
                <a:latin typeface="Poppins Light" pitchFamily="34" charset="0"/>
                <a:ea typeface="Poppins Light" pitchFamily="34" charset="-122"/>
                <a:cs typeface="Poppins Light" pitchFamily="34" charset="-120"/>
              </a:rPr>
              <a:t>UI/UX design</a:t>
            </a:r>
            <a:endParaRPr lang="en-US" sz="950" dirty="0"/>
          </a:p>
        </p:txBody>
      </p:sp>
      <p:sp>
        <p:nvSpPr>
          <p:cNvPr id="76" name="Text"/>
          <p:cNvSpPr txBox="1"/>
          <p:nvPr/>
        </p:nvSpPr>
        <p:spPr>
          <a:xfrm>
            <a:off x="8210580" y="4088922"/>
            <a:ext cx="1332372" cy="168890"/>
          </a:xfrm>
          <a:prstGeom prst="rect">
            <a:avLst/>
          </a:prstGeom>
          <a:noFill/>
          <a:ln/>
        </p:spPr>
        <p:txBody>
          <a:bodyPr wrap="square" lIns="0" tIns="0" rIns="0" bIns="0" rtlCol="0" anchor="t"/>
          <a:lstStyle/>
          <a:p>
            <a:pPr algn="l" indent="0" marL="0">
              <a:lnSpc>
                <a:spcPts val="1330"/>
              </a:lnSpc>
              <a:buNone/>
            </a:pPr>
            <a:r>
              <a:rPr lang="en-US" sz="950" dirty="0">
                <a:solidFill>
                  <a:srgbClr val="1F2937"/>
                </a:solidFill>
                <a:latin typeface="Poppins Light" pitchFamily="34" charset="0"/>
                <a:ea typeface="Poppins Light" pitchFamily="34" charset="-122"/>
                <a:cs typeface="Poppins Light" pitchFamily="34" charset="-120"/>
              </a:rPr>
              <a:t>Web platforms</a:t>
            </a:r>
            <a:endParaRPr lang="en-US" sz="950" dirty="0"/>
          </a:p>
        </p:txBody>
      </p:sp>
      <p:sp>
        <p:nvSpPr>
          <p:cNvPr id="77" name="Text"/>
          <p:cNvSpPr txBox="1"/>
          <p:nvPr/>
        </p:nvSpPr>
        <p:spPr>
          <a:xfrm>
            <a:off x="8210580" y="4308561"/>
            <a:ext cx="1332372" cy="168890"/>
          </a:xfrm>
          <a:prstGeom prst="rect">
            <a:avLst/>
          </a:prstGeom>
          <a:noFill/>
          <a:ln/>
        </p:spPr>
        <p:txBody>
          <a:bodyPr wrap="square" lIns="0" tIns="0" rIns="0" bIns="0" rtlCol="0" anchor="t"/>
          <a:lstStyle/>
          <a:p>
            <a:pPr algn="l" indent="0" marL="0">
              <a:lnSpc>
                <a:spcPts val="1330"/>
              </a:lnSpc>
              <a:buNone/>
            </a:pPr>
            <a:r>
              <a:rPr lang="en-US" sz="950" dirty="0">
                <a:solidFill>
                  <a:srgbClr val="1F2937"/>
                </a:solidFill>
                <a:latin typeface="Poppins Light" pitchFamily="34" charset="0"/>
                <a:ea typeface="Poppins Light" pitchFamily="34" charset="-122"/>
                <a:cs typeface="Poppins Light" pitchFamily="34" charset="-120"/>
              </a:rPr>
              <a:t>Mobile apps</a:t>
            </a:r>
            <a:endParaRPr lang="en-US" sz="950" dirty="0"/>
          </a:p>
        </p:txBody>
      </p:sp>
      <p:sp>
        <p:nvSpPr>
          <p:cNvPr id="78" name="Text"/>
          <p:cNvSpPr txBox="1"/>
          <p:nvPr/>
        </p:nvSpPr>
        <p:spPr>
          <a:xfrm>
            <a:off x="9905970" y="2965491"/>
            <a:ext cx="1447129" cy="167335"/>
          </a:xfrm>
          <a:prstGeom prst="rect">
            <a:avLst/>
          </a:prstGeom>
          <a:noFill/>
          <a:ln/>
        </p:spPr>
        <p:txBody>
          <a:bodyPr wrap="square" lIns="0" tIns="0" rIns="0" bIns="0" rtlCol="0" anchor="t"/>
          <a:lstStyle/>
          <a:p>
            <a:pPr algn="l" indent="0" marL="0">
              <a:lnSpc>
                <a:spcPts val="1318"/>
              </a:lnSpc>
              <a:buNone/>
            </a:pPr>
            <a:r>
              <a:rPr lang="en-US" sz="850" dirty="0">
                <a:solidFill>
                  <a:srgbClr val="044BD9"/>
                </a:solidFill>
                <a:latin typeface="Poppins Medium" pitchFamily="34" charset="0"/>
                <a:ea typeface="Poppins Medium" pitchFamily="34" charset="-122"/>
                <a:cs typeface="Poppins Medium" pitchFamily="34" charset="-120"/>
              </a:rPr>
              <a:t>06</a:t>
            </a:r>
            <a:endParaRPr lang="en-US" sz="850" dirty="0"/>
          </a:p>
        </p:txBody>
      </p:sp>
      <p:sp>
        <p:nvSpPr>
          <p:cNvPr id="79" name="Text"/>
          <p:cNvSpPr txBox="1"/>
          <p:nvPr/>
        </p:nvSpPr>
        <p:spPr>
          <a:xfrm>
            <a:off x="9905970" y="3207715"/>
            <a:ext cx="1428750" cy="365120"/>
          </a:xfrm>
          <a:prstGeom prst="rect">
            <a:avLst/>
          </a:prstGeom>
          <a:noFill/>
          <a:ln/>
        </p:spPr>
        <p:txBody>
          <a:bodyPr wrap="square" lIns="0" tIns="0" rIns="0" bIns="0" rtlCol="0" anchor="t"/>
          <a:lstStyle/>
          <a:p>
            <a:pPr algn="l" indent="0" marL="0">
              <a:lnSpc>
                <a:spcPts val="1438"/>
              </a:lnSpc>
              <a:buNone/>
            </a:pPr>
            <a:r>
              <a:rPr lang="en-US" sz="1150" dirty="0">
                <a:solidFill>
                  <a:srgbClr val="000000"/>
                </a:solidFill>
                <a:latin typeface="Poppins Medium" pitchFamily="34" charset="0"/>
                <a:ea typeface="Poppins Medium" pitchFamily="34" charset="-122"/>
                <a:cs typeface="Poppins Medium" pitchFamily="34" charset="-120"/>
              </a:rPr>
              <a:t>Data, RPA</a:t>
            </a:r>
            <a:endParaRPr lang="en-US" sz="1150" dirty="0"/>
          </a:p>
          <a:p>
            <a:pPr algn="l" indent="0" marL="0">
              <a:lnSpc>
                <a:spcPts val="1438"/>
              </a:lnSpc>
              <a:buNone/>
            </a:pPr>
            <a:r>
              <a:rPr lang="en-US" sz="1150" dirty="0">
                <a:solidFill>
                  <a:srgbClr val="000000"/>
                </a:solidFill>
                <a:latin typeface="Poppins Medium" pitchFamily="34" charset="0"/>
                <a:ea typeface="Poppins Medium" pitchFamily="34" charset="-122"/>
                <a:cs typeface="Poppins Medium" pitchFamily="34" charset="-120"/>
              </a:rPr>
              <a:t>and MLOps</a:t>
            </a:r>
            <a:endParaRPr lang="en-US" sz="1150" dirty="0"/>
          </a:p>
        </p:txBody>
      </p:sp>
      <p:sp>
        <p:nvSpPr>
          <p:cNvPr id="80" name="Text"/>
          <p:cNvSpPr txBox="1"/>
          <p:nvPr/>
        </p:nvSpPr>
        <p:spPr>
          <a:xfrm>
            <a:off x="10020270" y="3649553"/>
            <a:ext cx="1332372" cy="337779"/>
          </a:xfrm>
          <a:prstGeom prst="rect">
            <a:avLst/>
          </a:prstGeom>
          <a:noFill/>
          <a:ln/>
        </p:spPr>
        <p:txBody>
          <a:bodyPr wrap="square" lIns="0" tIns="0" rIns="0" bIns="0" rtlCol="0" anchor="t"/>
          <a:lstStyle/>
          <a:p>
            <a:pPr algn="l" indent="0" marL="0">
              <a:lnSpc>
                <a:spcPts val="1330"/>
              </a:lnSpc>
              <a:buNone/>
            </a:pPr>
            <a:r>
              <a:rPr lang="en-US" sz="950" dirty="0">
                <a:solidFill>
                  <a:srgbClr val="1F2937"/>
                </a:solidFill>
                <a:latin typeface="Poppins Light" pitchFamily="34" charset="0"/>
                <a:ea typeface="Poppins Light" pitchFamily="34" charset="-122"/>
                <a:cs typeface="Poppins Light" pitchFamily="34" charset="-120"/>
              </a:rPr>
              <a:t>Data science and analytics</a:t>
            </a:r>
            <a:endParaRPr lang="en-US" sz="950" dirty="0"/>
          </a:p>
        </p:txBody>
      </p:sp>
      <p:sp>
        <p:nvSpPr>
          <p:cNvPr id="81" name="Text"/>
          <p:cNvSpPr txBox="1"/>
          <p:nvPr/>
        </p:nvSpPr>
        <p:spPr>
          <a:xfrm>
            <a:off x="10020270" y="4038082"/>
            <a:ext cx="1332372" cy="337779"/>
          </a:xfrm>
          <a:prstGeom prst="rect">
            <a:avLst/>
          </a:prstGeom>
          <a:noFill/>
          <a:ln/>
        </p:spPr>
        <p:txBody>
          <a:bodyPr wrap="square" lIns="0" tIns="0" rIns="0" bIns="0" rtlCol="0" anchor="t"/>
          <a:lstStyle/>
          <a:p>
            <a:pPr algn="l" indent="0" marL="0">
              <a:lnSpc>
                <a:spcPts val="1330"/>
              </a:lnSpc>
              <a:buNone/>
            </a:pPr>
            <a:r>
              <a:rPr lang="en-US" sz="950" dirty="0">
                <a:solidFill>
                  <a:srgbClr val="1F2937"/>
                </a:solidFill>
                <a:latin typeface="Poppins Light" pitchFamily="34" charset="0"/>
                <a:ea typeface="Poppins Light" pitchFamily="34" charset="-122"/>
                <a:cs typeface="Poppins Light" pitchFamily="34" charset="-120"/>
              </a:rPr>
              <a:t>Robotic process automation</a:t>
            </a:r>
            <a:endParaRPr lang="en-US" sz="950" dirty="0"/>
          </a:p>
        </p:txBody>
      </p:sp>
      <p:sp>
        <p:nvSpPr>
          <p:cNvPr id="82" name="Text"/>
          <p:cNvSpPr txBox="1"/>
          <p:nvPr/>
        </p:nvSpPr>
        <p:spPr>
          <a:xfrm>
            <a:off x="10020270" y="4426610"/>
            <a:ext cx="1332372" cy="168890"/>
          </a:xfrm>
          <a:prstGeom prst="rect">
            <a:avLst/>
          </a:prstGeom>
          <a:noFill/>
          <a:ln/>
        </p:spPr>
        <p:txBody>
          <a:bodyPr wrap="square" lIns="0" tIns="0" rIns="0" bIns="0" rtlCol="0" anchor="t"/>
          <a:lstStyle/>
          <a:p>
            <a:pPr algn="l" indent="0" marL="0">
              <a:lnSpc>
                <a:spcPts val="1330"/>
              </a:lnSpc>
              <a:buNone/>
            </a:pPr>
            <a:r>
              <a:rPr lang="en-US" sz="950" dirty="0">
                <a:solidFill>
                  <a:srgbClr val="1F2937"/>
                </a:solidFill>
                <a:latin typeface="Poppins Light" pitchFamily="34" charset="0"/>
                <a:ea typeface="Poppins Light" pitchFamily="34" charset="-122"/>
                <a:cs typeface="Poppins Light" pitchFamily="34" charset="-120"/>
              </a:rPr>
              <a:t>Agentic RPA</a:t>
            </a:r>
            <a:endParaRPr lang="en-US" sz="950" dirty="0"/>
          </a:p>
        </p:txBody>
      </p:sp>
      <p:sp>
        <p:nvSpPr>
          <p:cNvPr id="83" name="Text"/>
          <p:cNvSpPr txBox="1"/>
          <p:nvPr/>
        </p:nvSpPr>
        <p:spPr>
          <a:xfrm>
            <a:off x="10020270" y="4646341"/>
            <a:ext cx="1332372" cy="337779"/>
          </a:xfrm>
          <a:prstGeom prst="rect">
            <a:avLst/>
          </a:prstGeom>
          <a:noFill/>
          <a:ln/>
        </p:spPr>
        <p:txBody>
          <a:bodyPr wrap="square" lIns="0" tIns="0" rIns="0" bIns="0" rtlCol="0" anchor="t"/>
          <a:lstStyle/>
          <a:p>
            <a:pPr algn="l" indent="0" marL="0">
              <a:lnSpc>
                <a:spcPts val="1330"/>
              </a:lnSpc>
              <a:buNone/>
            </a:pPr>
            <a:r>
              <a:rPr lang="en-US" sz="950" dirty="0">
                <a:solidFill>
                  <a:srgbClr val="1F2937"/>
                </a:solidFill>
                <a:latin typeface="Poppins Light" pitchFamily="34" charset="0"/>
                <a:ea typeface="Poppins Light" pitchFamily="34" charset="-122"/>
                <a:cs typeface="Poppins Light" pitchFamily="34" charset="-120"/>
              </a:rPr>
              <a:t>DevOps and MLOps pipelines</a:t>
            </a:r>
            <a:endParaRPr lang="en-US" sz="950" dirty="0"/>
          </a:p>
        </p:txBody>
      </p:sp>
      <p:sp>
        <p:nvSpPr>
          <p:cNvPr id="84" name="Text"/>
          <p:cNvSpPr txBox="1"/>
          <p:nvPr/>
        </p:nvSpPr>
        <p:spPr>
          <a:xfrm>
            <a:off x="857250" y="5567324"/>
            <a:ext cx="2355677" cy="162855"/>
          </a:xfrm>
          <a:prstGeom prst="rect">
            <a:avLst/>
          </a:prstGeom>
          <a:noFill/>
          <a:ln/>
        </p:spPr>
        <p:txBody>
          <a:bodyPr wrap="square" lIns="0" tIns="0" rIns="0" bIns="0" rtlCol="0" anchor="t"/>
          <a:lstStyle/>
          <a:p>
            <a:pPr algn="l" indent="0" marL="0">
              <a:lnSpc>
                <a:spcPts val="1282"/>
              </a:lnSpc>
              <a:buNone/>
            </a:pPr>
            <a:r>
              <a:rPr lang="en-US" sz="950" dirty="0">
                <a:solidFill>
                  <a:srgbClr val="000000"/>
                </a:solidFill>
                <a:latin typeface="Poppins Medium" pitchFamily="34" charset="0"/>
                <a:ea typeface="Poppins Medium" pitchFamily="34" charset="-122"/>
                <a:cs typeface="Poppins Medium" pitchFamily="34" charset="-120"/>
              </a:rPr>
              <a:t>Method</a:t>
            </a:r>
            <a:endParaRPr lang="en-US" sz="950" dirty="0"/>
          </a:p>
        </p:txBody>
      </p:sp>
      <p:sp>
        <p:nvSpPr>
          <p:cNvPr id="85" name="Text"/>
          <p:cNvSpPr txBox="1"/>
          <p:nvPr/>
        </p:nvSpPr>
        <p:spPr>
          <a:xfrm>
            <a:off x="857250" y="5753405"/>
            <a:ext cx="2359061" cy="154259"/>
          </a:xfrm>
          <a:prstGeom prst="rect">
            <a:avLst/>
          </a:prstGeom>
          <a:noFill/>
          <a:ln/>
        </p:spPr>
        <p:txBody>
          <a:bodyPr wrap="none" lIns="0" tIns="0" rIns="0" bIns="0" rtlCol="0" anchor="t"/>
          <a:lstStyle/>
          <a:p>
            <a:pPr algn="l" indent="0" marL="0">
              <a:lnSpc>
                <a:spcPts val="1215"/>
              </a:lnSpc>
              <a:buNone/>
            </a:pPr>
            <a:r>
              <a:rPr lang="en-US" sz="900" dirty="0">
                <a:solidFill>
                  <a:srgbClr val="1F2937"/>
                </a:solidFill>
                <a:latin typeface="Poppins Light" pitchFamily="34" charset="0"/>
                <a:ea typeface="Poppins Light" pitchFamily="34" charset="-122"/>
                <a:cs typeface="Poppins Light" pitchFamily="34" charset="-120"/>
              </a:rPr>
              <a:t>Discover · Design · Implement · Improve</a:t>
            </a:r>
            <a:endParaRPr lang="en-US" sz="900" dirty="0"/>
          </a:p>
        </p:txBody>
      </p:sp>
      <p:sp>
        <p:nvSpPr>
          <p:cNvPr id="86" name="Text"/>
          <p:cNvSpPr txBox="1"/>
          <p:nvPr/>
        </p:nvSpPr>
        <p:spPr>
          <a:xfrm>
            <a:off x="3571921" y="5567324"/>
            <a:ext cx="2355677" cy="162855"/>
          </a:xfrm>
          <a:prstGeom prst="rect">
            <a:avLst/>
          </a:prstGeom>
          <a:noFill/>
          <a:ln/>
        </p:spPr>
        <p:txBody>
          <a:bodyPr wrap="square" lIns="0" tIns="0" rIns="0" bIns="0" rtlCol="0" anchor="t"/>
          <a:lstStyle/>
          <a:p>
            <a:pPr algn="l" indent="0" marL="0">
              <a:lnSpc>
                <a:spcPts val="1282"/>
              </a:lnSpc>
              <a:buNone/>
            </a:pPr>
            <a:r>
              <a:rPr lang="en-US" sz="950" dirty="0">
                <a:solidFill>
                  <a:srgbClr val="000000"/>
                </a:solidFill>
                <a:latin typeface="Poppins Medium" pitchFamily="34" charset="0"/>
                <a:ea typeface="Poppins Medium" pitchFamily="34" charset="-122"/>
                <a:cs typeface="Poppins Medium" pitchFamily="34" charset="-120"/>
              </a:rPr>
              <a:t>Architecture</a:t>
            </a:r>
            <a:endParaRPr lang="en-US" sz="950" dirty="0"/>
          </a:p>
        </p:txBody>
      </p:sp>
      <p:sp>
        <p:nvSpPr>
          <p:cNvPr id="87" name="Text"/>
          <p:cNvSpPr txBox="1"/>
          <p:nvPr/>
        </p:nvSpPr>
        <p:spPr>
          <a:xfrm>
            <a:off x="3571921" y="5753405"/>
            <a:ext cx="2355677" cy="154259"/>
          </a:xfrm>
          <a:prstGeom prst="rect">
            <a:avLst/>
          </a:prstGeom>
          <a:noFill/>
          <a:ln/>
        </p:spPr>
        <p:txBody>
          <a:bodyPr wrap="square" lIns="0" tIns="0" rIns="0" bIns="0" rtlCol="0" anchor="t"/>
          <a:lstStyle/>
          <a:p>
            <a:pPr algn="l" indent="0" marL="0">
              <a:lnSpc>
                <a:spcPts val="1215"/>
              </a:lnSpc>
              <a:buNone/>
            </a:pPr>
            <a:r>
              <a:rPr lang="en-US" sz="900" dirty="0">
                <a:solidFill>
                  <a:srgbClr val="1F2937"/>
                </a:solidFill>
                <a:latin typeface="Poppins Light" pitchFamily="34" charset="0"/>
                <a:ea typeface="Poppins Light" pitchFamily="34" charset="-122"/>
                <a:cs typeface="Poppins Light" pitchFamily="34" charset="-120"/>
              </a:rPr>
              <a:t>A brain, an action layer and guardrails</a:t>
            </a:r>
            <a:endParaRPr lang="en-US" sz="900" dirty="0"/>
          </a:p>
        </p:txBody>
      </p:sp>
      <p:sp>
        <p:nvSpPr>
          <p:cNvPr id="88" name="Text"/>
          <p:cNvSpPr txBox="1"/>
          <p:nvPr/>
        </p:nvSpPr>
        <p:spPr>
          <a:xfrm>
            <a:off x="6286500" y="5567324"/>
            <a:ext cx="2355677" cy="162855"/>
          </a:xfrm>
          <a:prstGeom prst="rect">
            <a:avLst/>
          </a:prstGeom>
          <a:noFill/>
          <a:ln/>
        </p:spPr>
        <p:txBody>
          <a:bodyPr wrap="square" lIns="0" tIns="0" rIns="0" bIns="0" rtlCol="0" anchor="t"/>
          <a:lstStyle/>
          <a:p>
            <a:pPr algn="l" indent="0" marL="0">
              <a:lnSpc>
                <a:spcPts val="1282"/>
              </a:lnSpc>
              <a:buNone/>
            </a:pPr>
            <a:r>
              <a:rPr lang="en-US" sz="950" dirty="0">
                <a:solidFill>
                  <a:srgbClr val="000000"/>
                </a:solidFill>
                <a:latin typeface="Poppins Medium" pitchFamily="34" charset="0"/>
                <a:ea typeface="Poppins Medium" pitchFamily="34" charset="-122"/>
                <a:cs typeface="Poppins Medium" pitchFamily="34" charset="-120"/>
              </a:rPr>
              <a:t>Platforms</a:t>
            </a:r>
            <a:endParaRPr lang="en-US" sz="950" dirty="0"/>
          </a:p>
        </p:txBody>
      </p:sp>
      <p:sp>
        <p:nvSpPr>
          <p:cNvPr id="89" name="Text"/>
          <p:cNvSpPr txBox="1"/>
          <p:nvPr/>
        </p:nvSpPr>
        <p:spPr>
          <a:xfrm>
            <a:off x="6286500" y="5753405"/>
            <a:ext cx="2359061" cy="154259"/>
          </a:xfrm>
          <a:prstGeom prst="rect">
            <a:avLst/>
          </a:prstGeom>
          <a:noFill/>
          <a:ln/>
        </p:spPr>
        <p:txBody>
          <a:bodyPr wrap="none" lIns="0" tIns="0" rIns="0" bIns="0" rtlCol="0" anchor="t"/>
          <a:lstStyle/>
          <a:p>
            <a:pPr algn="l" indent="0" marL="0">
              <a:lnSpc>
                <a:spcPts val="1215"/>
              </a:lnSpc>
              <a:buNone/>
            </a:pPr>
            <a:r>
              <a:rPr lang="en-US" sz="900" dirty="0">
                <a:solidFill>
                  <a:srgbClr val="1F2937"/>
                </a:solidFill>
                <a:latin typeface="Poppins Light" pitchFamily="34" charset="0"/>
                <a:ea typeface="Poppins Light" pitchFamily="34" charset="-122"/>
                <a:cs typeface="Poppins Light" pitchFamily="34" charset="-120"/>
              </a:rPr>
              <a:t>Models, compute and cloud per project</a:t>
            </a:r>
            <a:endParaRPr lang="en-US" sz="900" dirty="0"/>
          </a:p>
        </p:txBody>
      </p:sp>
      <p:sp>
        <p:nvSpPr>
          <p:cNvPr id="90" name="Text"/>
          <p:cNvSpPr txBox="1"/>
          <p:nvPr/>
        </p:nvSpPr>
        <p:spPr>
          <a:xfrm>
            <a:off x="9001171" y="5567324"/>
            <a:ext cx="2355677" cy="162855"/>
          </a:xfrm>
          <a:prstGeom prst="rect">
            <a:avLst/>
          </a:prstGeom>
          <a:noFill/>
          <a:ln/>
        </p:spPr>
        <p:txBody>
          <a:bodyPr wrap="square" lIns="0" tIns="0" rIns="0" bIns="0" rtlCol="0" anchor="t"/>
          <a:lstStyle/>
          <a:p>
            <a:pPr algn="l" indent="0" marL="0">
              <a:lnSpc>
                <a:spcPts val="1282"/>
              </a:lnSpc>
              <a:buNone/>
            </a:pPr>
            <a:r>
              <a:rPr lang="en-US" sz="950" dirty="0">
                <a:solidFill>
                  <a:srgbClr val="000000"/>
                </a:solidFill>
                <a:latin typeface="Poppins Medium" pitchFamily="34" charset="0"/>
                <a:ea typeface="Poppins Medium" pitchFamily="34" charset="-122"/>
                <a:cs typeface="Poppins Medium" pitchFamily="34" charset="-120"/>
              </a:rPr>
              <a:t>Products</a:t>
            </a:r>
            <a:endParaRPr lang="en-US" sz="950" dirty="0"/>
          </a:p>
        </p:txBody>
      </p:sp>
      <p:sp>
        <p:nvSpPr>
          <p:cNvPr id="91" name="Text"/>
          <p:cNvSpPr txBox="1"/>
          <p:nvPr/>
        </p:nvSpPr>
        <p:spPr>
          <a:xfrm>
            <a:off x="9001171" y="5753405"/>
            <a:ext cx="2355677" cy="154259"/>
          </a:xfrm>
          <a:prstGeom prst="rect">
            <a:avLst/>
          </a:prstGeom>
          <a:noFill/>
          <a:ln/>
        </p:spPr>
        <p:txBody>
          <a:bodyPr wrap="square" lIns="0" tIns="0" rIns="0" bIns="0" rtlCol="0" anchor="t"/>
          <a:lstStyle/>
          <a:p>
            <a:pPr algn="l" indent="0" marL="0">
              <a:lnSpc>
                <a:spcPts val="1215"/>
              </a:lnSpc>
              <a:buNone/>
            </a:pPr>
            <a:r>
              <a:rPr lang="en-US" sz="900" dirty="0">
                <a:solidFill>
                  <a:srgbClr val="1F2937"/>
                </a:solidFill>
                <a:latin typeface="Poppins Light" pitchFamily="34" charset="0"/>
                <a:ea typeface="Poppins Light" pitchFamily="34" charset="-122"/>
                <a:cs typeface="Poppins Light" pitchFamily="34" charset="-120"/>
              </a:rPr>
              <a:t>Kiralytics and avatars, ready to deploy</a:t>
            </a:r>
            <a:endParaRPr lang="en-US" sz="900" dirty="0"/>
          </a:p>
        </p:txBody>
      </p:sp>
      <p:sp>
        <p:nvSpPr>
          <p:cNvPr id="92" name="Text"/>
          <p:cNvSpPr txBox="1"/>
          <p:nvPr/>
        </p:nvSpPr>
        <p:spPr>
          <a:xfrm>
            <a:off x="6287140" y="276240"/>
            <a:ext cx="708477"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Point of view</a:t>
            </a:r>
            <a:endParaRPr lang="en-US" sz="850" dirty="0"/>
          </a:p>
        </p:txBody>
      </p:sp>
      <p:sp>
        <p:nvSpPr>
          <p:cNvPr id="93" name="Text"/>
          <p:cNvSpPr txBox="1"/>
          <p:nvPr/>
        </p:nvSpPr>
        <p:spPr>
          <a:xfrm>
            <a:off x="7240494" y="276240"/>
            <a:ext cx="665958"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Who we are</a:t>
            </a:r>
            <a:endParaRPr lang="en-US" sz="850" dirty="0"/>
          </a:p>
        </p:txBody>
      </p:sp>
      <p:sp>
        <p:nvSpPr>
          <p:cNvPr id="94" name="Text"/>
          <p:cNvSpPr txBox="1"/>
          <p:nvPr/>
        </p:nvSpPr>
        <p:spPr>
          <a:xfrm>
            <a:off x="8151510" y="276240"/>
            <a:ext cx="671261"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044BD9"/>
                </a:solidFill>
                <a:latin typeface="Poppins Medium" pitchFamily="34" charset="0"/>
                <a:ea typeface="Poppins Medium" pitchFamily="34" charset="-122"/>
                <a:cs typeface="Poppins Medium" pitchFamily="34" charset="-120"/>
              </a:rPr>
              <a:t>What we do</a:t>
            </a:r>
            <a:endParaRPr lang="en-US" sz="850" dirty="0"/>
          </a:p>
        </p:txBody>
      </p:sp>
      <p:sp>
        <p:nvSpPr>
          <p:cNvPr id="95" name="Text"/>
          <p:cNvSpPr txBox="1"/>
          <p:nvPr/>
        </p:nvSpPr>
        <p:spPr>
          <a:xfrm>
            <a:off x="9067830" y="276240"/>
            <a:ext cx="1205728"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Sectors and products</a:t>
            </a:r>
            <a:endParaRPr lang="en-US" sz="850" dirty="0"/>
          </a:p>
        </p:txBody>
      </p:sp>
      <p:sp>
        <p:nvSpPr>
          <p:cNvPr id="96" name="Text"/>
          <p:cNvSpPr txBox="1"/>
          <p:nvPr/>
        </p:nvSpPr>
        <p:spPr>
          <a:xfrm>
            <a:off x="10516423" y="276240"/>
            <a:ext cx="298552"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Proof</a:t>
            </a:r>
            <a:endParaRPr lang="en-US" sz="850" dirty="0"/>
          </a:p>
        </p:txBody>
      </p:sp>
      <p:sp>
        <p:nvSpPr>
          <p:cNvPr id="97" name="Text"/>
          <p:cNvSpPr txBox="1"/>
          <p:nvPr/>
        </p:nvSpPr>
        <p:spPr>
          <a:xfrm>
            <a:off x="11061497" y="276240"/>
            <a:ext cx="433700"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Engage</a:t>
            </a:r>
            <a:endParaRPr lang="en-US" sz="850" dirty="0"/>
          </a:p>
        </p:txBody>
      </p:sp>
      <p:sp>
        <p:nvSpPr>
          <p:cNvPr id="98" name="Source"/>
          <p:cNvSpPr txBox="1"/>
          <p:nvPr/>
        </p:nvSpPr>
        <p:spPr>
          <a:xfrm>
            <a:off x="711220" y="6409030"/>
            <a:ext cx="8300740" cy="151150"/>
          </a:xfrm>
          <a:prstGeom prst="rect">
            <a:avLst/>
          </a:prstGeom>
          <a:noFill/>
          <a:ln/>
        </p:spPr>
        <p:txBody>
          <a:bodyPr wrap="square" lIns="0" tIns="0" rIns="0" bIns="0" rtlCol="0" anchor="t"/>
          <a:lstStyle/>
          <a:p>
            <a:pPr algn="l" indent="0" marL="0">
              <a:lnSpc>
                <a:spcPts val="1190"/>
              </a:lnSpc>
              <a:buNone/>
            </a:pPr>
            <a:r>
              <a:rPr lang="en-US" sz="850" dirty="0">
                <a:solidFill>
                  <a:srgbClr val="6B6B6B"/>
                </a:solidFill>
                <a:latin typeface="Poppins" pitchFamily="34" charset="0"/>
                <a:ea typeface="Poppins" pitchFamily="34" charset="-122"/>
                <a:cs typeface="Poppins" pitchFamily="34" charset="-120"/>
              </a:rPr>
              <a:t>Source: alphv.com/services and its six service pages; alphv.com/how-we-work; alphv.com/products (October 2026).</a:t>
            </a:r>
            <a:endParaRPr lang="en-US" sz="850" dirty="0"/>
          </a:p>
        </p:txBody>
      </p:sp>
      <p:sp>
        <p:nvSpPr>
          <p:cNvPr id="99" name="Text"/>
          <p:cNvSpPr txBox="1"/>
          <p:nvPr/>
        </p:nvSpPr>
        <p:spPr>
          <a:xfrm>
            <a:off x="9381195" y="6409030"/>
            <a:ext cx="393741" cy="151150"/>
          </a:xfrm>
          <a:prstGeom prst="rect">
            <a:avLst/>
          </a:prstGeom>
          <a:noFill/>
          <a:ln/>
        </p:spPr>
        <p:txBody>
          <a:bodyPr wrap="none" lIns="0" tIns="0" rIns="0" bIns="0" rtlCol="0" anchor="t"/>
          <a:lstStyle/>
          <a:p>
            <a:pPr algn="l" indent="0" marL="0">
              <a:lnSpc>
                <a:spcPts val="1190"/>
              </a:lnSpc>
              <a:buNone/>
            </a:pPr>
            <a:r>
              <a:rPr lang="en-US" sz="850" spc="34" kern="0" dirty="0">
                <a:solidFill>
                  <a:srgbClr val="000000"/>
                </a:solidFill>
                <a:latin typeface="Poppins SemiBold" pitchFamily="34" charset="0"/>
                <a:ea typeface="Poppins SemiBold" pitchFamily="34" charset="-122"/>
                <a:cs typeface="Poppins SemiBold" pitchFamily="34" charset="-120"/>
              </a:rPr>
              <a:t>ALPHV</a:t>
            </a:r>
            <a:endParaRPr lang="en-US" sz="850" dirty="0"/>
          </a:p>
        </p:txBody>
      </p:sp>
      <p:sp>
        <p:nvSpPr>
          <p:cNvPr id="100" name="Text"/>
          <p:cNvSpPr txBox="1"/>
          <p:nvPr/>
        </p:nvSpPr>
        <p:spPr>
          <a:xfrm>
            <a:off x="9889236" y="6409030"/>
            <a:ext cx="1377178" cy="151150"/>
          </a:xfrm>
          <a:prstGeom prst="rect">
            <a:avLst/>
          </a:prstGeom>
          <a:noFill/>
          <a:ln/>
        </p:spPr>
        <p:txBody>
          <a:bodyPr wrap="none" lIns="0" tIns="0" rIns="0" bIns="0" rtlCol="0" anchor="t"/>
          <a:lstStyle/>
          <a:p>
            <a:pPr algn="l" indent="0" marL="0">
              <a:lnSpc>
                <a:spcPts val="1190"/>
              </a:lnSpc>
              <a:buNone/>
            </a:pPr>
            <a:r>
              <a:rPr lang="en-US" sz="850" dirty="0">
                <a:solidFill>
                  <a:srgbClr val="6B6B6B"/>
                </a:solidFill>
                <a:latin typeface="Poppins" pitchFamily="34" charset="0"/>
                <a:ea typeface="Poppins" pitchFamily="34" charset="-122"/>
                <a:cs typeface="Poppins" pitchFamily="34" charset="-120"/>
              </a:rPr>
              <a:t>Corporate overview 2026</a:t>
            </a:r>
            <a:endParaRPr lang="en-US" sz="850" dirty="0"/>
          </a:p>
        </p:txBody>
      </p:sp>
      <p:sp>
        <p:nvSpPr>
          <p:cNvPr id="101" name="Text"/>
          <p:cNvSpPr txBox="1"/>
          <p:nvPr/>
        </p:nvSpPr>
        <p:spPr>
          <a:xfrm>
            <a:off x="11380714" y="6409030"/>
            <a:ext cx="125547" cy="151150"/>
          </a:xfrm>
          <a:prstGeom prst="rect">
            <a:avLst/>
          </a:prstGeom>
          <a:noFill/>
          <a:ln/>
        </p:spPr>
        <p:txBody>
          <a:bodyPr wrap="none" lIns="0" tIns="0" rIns="0" bIns="0" rtlCol="0" anchor="t"/>
          <a:lstStyle/>
          <a:p>
            <a:pPr algn="l" indent="0" marL="0">
              <a:lnSpc>
                <a:spcPts val="1190"/>
              </a:lnSpc>
              <a:buNone/>
            </a:pPr>
            <a:r>
              <a:rPr lang="en-US" sz="850" dirty="0">
                <a:solidFill>
                  <a:srgbClr val="000000"/>
                </a:solidFill>
                <a:latin typeface="Poppins Medium" pitchFamily="34" charset="0"/>
                <a:ea typeface="Poppins Medium" pitchFamily="34" charset="-122"/>
                <a:cs typeface="Poppins Medium" pitchFamily="34" charset="-120"/>
              </a:rPr>
              <a:t>12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9FA"/>
        </a:solidFill>
      </p:bgPr>
    </p:bg>
    <p:spTree>
      <p:nvGrpSpPr>
        <p:cNvPr id="1" name=""/>
        <p:cNvGrpSpPr/>
        <p:nvPr/>
      </p:nvGrpSpPr>
      <p:grpSpPr>
        <a:xfrm>
          <a:off x="0" y="0"/>
          <a:ext cx="0" cy="0"/>
          <a:chOff x="0" y="0"/>
          <a:chExt cx="0" cy="0"/>
        </a:xfrm>
      </p:grpSpPr>
      <p:sp>
        <p:nvSpPr>
          <p:cNvPr id="2" name="badge"/>
          <p:cNvSpPr/>
          <p:nvPr/>
        </p:nvSpPr>
        <p:spPr>
          <a:xfrm>
            <a:off x="714421" y="536570"/>
            <a:ext cx="1766987" cy="254020"/>
          </a:xfrm>
          <a:prstGeom prst="roundRect">
            <a:avLst>
              <a:gd name="adj" fmla="val 50000"/>
            </a:avLst>
          </a:prstGeom>
          <a:ln w="6350">
            <a:solidFill>
              <a:srgbClr val="155DFC"/>
            </a:solidFill>
            <a:prstDash val="solid"/>
          </a:ln>
        </p:spPr>
      </p:sp>
      <p:sp>
        <p:nvSpPr>
          <p:cNvPr id="3" name="card"/>
          <p:cNvSpPr/>
          <p:nvPr/>
        </p:nvSpPr>
        <p:spPr>
          <a:xfrm>
            <a:off x="714421" y="2333183"/>
            <a:ext cx="6355354" cy="902787"/>
          </a:xfrm>
          <a:prstGeom prst="roundRect">
            <a:avLst>
              <a:gd name="adj" fmla="val 16530"/>
            </a:avLst>
          </a:prstGeom>
          <a:solidFill>
            <a:srgbClr val="FFFFFF"/>
          </a:solidFill>
          <a:ln w="6350">
            <a:solidFill>
              <a:srgbClr val="F0F0F0"/>
            </a:solidFill>
            <a:prstDash val="solid"/>
          </a:ln>
        </p:spPr>
      </p:sp>
      <p:sp>
        <p:nvSpPr>
          <p:cNvPr id="4" name="tile"/>
          <p:cNvSpPr/>
          <p:nvPr/>
        </p:nvSpPr>
        <p:spPr>
          <a:xfrm>
            <a:off x="908091" y="2594061"/>
            <a:ext cx="381030" cy="381030"/>
          </a:xfrm>
          <a:prstGeom prst="roundRect">
            <a:avLst>
              <a:gd name="adj" fmla="val 29998"/>
            </a:avLst>
          </a:prstGeom>
          <a:solidFill>
            <a:srgbClr val="044BD9"/>
          </a:solidFill>
          <a:ln/>
        </p:spPr>
      </p:sp>
      <p:pic>
        <p:nvPicPr>
          <p:cNvPr id="5" name="Icon" descr="/tmp/deck-pptx-47cOtg/icon-40.png">    </p:cNvPr>
          <p:cNvPicPr>
            <a:picLocks noChangeAspect="1"/>
          </p:cNvPicPr>
          <p:nvPr/>
        </p:nvPicPr>
        <p:blipFill>
          <a:blip r:embed="rId1"/>
          <a:stretch>
            <a:fillRect/>
          </a:stretch>
        </p:blipFill>
        <p:spPr>
          <a:xfrm>
            <a:off x="1009680" y="2695651"/>
            <a:ext cx="177759" cy="177759"/>
          </a:xfrm>
          <a:prstGeom prst="rect">
            <a:avLst/>
          </a:prstGeom>
        </p:spPr>
      </p:pic>
      <p:sp>
        <p:nvSpPr>
          <p:cNvPr id="6" name="li::before"/>
          <p:cNvSpPr/>
          <p:nvPr/>
        </p:nvSpPr>
        <p:spPr>
          <a:xfrm>
            <a:off x="2965491" y="2552182"/>
            <a:ext cx="57150" cy="57150"/>
          </a:xfrm>
          <a:prstGeom prst="rect">
            <a:avLst/>
          </a:prstGeom>
          <a:solidFill>
            <a:srgbClr val="044BD9"/>
          </a:solidFill>
          <a:ln/>
        </p:spPr>
      </p:sp>
      <p:sp>
        <p:nvSpPr>
          <p:cNvPr id="7" name="li::before"/>
          <p:cNvSpPr/>
          <p:nvPr/>
        </p:nvSpPr>
        <p:spPr>
          <a:xfrm>
            <a:off x="2965491" y="2768072"/>
            <a:ext cx="57150" cy="57150"/>
          </a:xfrm>
          <a:prstGeom prst="rect">
            <a:avLst/>
          </a:prstGeom>
          <a:solidFill>
            <a:srgbClr val="044BD9"/>
          </a:solidFill>
          <a:ln/>
        </p:spPr>
      </p:sp>
      <p:sp>
        <p:nvSpPr>
          <p:cNvPr id="8" name="li::before"/>
          <p:cNvSpPr/>
          <p:nvPr/>
        </p:nvSpPr>
        <p:spPr>
          <a:xfrm>
            <a:off x="2965491" y="2983962"/>
            <a:ext cx="57150" cy="57150"/>
          </a:xfrm>
          <a:prstGeom prst="rect">
            <a:avLst/>
          </a:prstGeom>
          <a:solidFill>
            <a:srgbClr val="044BD9"/>
          </a:solidFill>
          <a:ln/>
        </p:spPr>
      </p:sp>
      <p:pic>
        <p:nvPicPr>
          <p:cNvPr id="9" name="Icon" descr="/tmp/deck-pptx-47cOtg/icon-41.png">    </p:cNvPr>
          <p:cNvPicPr>
            <a:picLocks noChangeAspect="1"/>
          </p:cNvPicPr>
          <p:nvPr/>
        </p:nvPicPr>
        <p:blipFill>
          <a:blip r:embed="rId2"/>
          <a:stretch>
            <a:fillRect/>
          </a:stretch>
        </p:blipFill>
        <p:spPr>
          <a:xfrm>
            <a:off x="7206295" y="2702052"/>
            <a:ext cx="165141" cy="165141"/>
          </a:xfrm>
          <a:prstGeom prst="rect">
            <a:avLst/>
          </a:prstGeom>
        </p:spPr>
      </p:pic>
      <p:sp>
        <p:nvSpPr>
          <p:cNvPr id="10" name="card"/>
          <p:cNvSpPr/>
          <p:nvPr/>
        </p:nvSpPr>
        <p:spPr>
          <a:xfrm>
            <a:off x="7507864" y="2333183"/>
            <a:ext cx="3969776" cy="902787"/>
          </a:xfrm>
          <a:prstGeom prst="roundRect">
            <a:avLst>
              <a:gd name="adj" fmla="val 16530"/>
            </a:avLst>
          </a:prstGeom>
          <a:solidFill>
            <a:srgbClr val="FFFFFF"/>
          </a:solidFill>
          <a:ln w="6350">
            <a:solidFill>
              <a:srgbClr val="F0F0F0"/>
            </a:solidFill>
            <a:prstDash val="solid"/>
          </a:ln>
        </p:spPr>
      </p:sp>
      <p:sp>
        <p:nvSpPr>
          <p:cNvPr id="11" name="card"/>
          <p:cNvSpPr/>
          <p:nvPr/>
        </p:nvSpPr>
        <p:spPr>
          <a:xfrm>
            <a:off x="714421" y="3331251"/>
            <a:ext cx="6355354" cy="902787"/>
          </a:xfrm>
          <a:prstGeom prst="roundRect">
            <a:avLst>
              <a:gd name="adj" fmla="val 16530"/>
            </a:avLst>
          </a:prstGeom>
          <a:solidFill>
            <a:srgbClr val="FFFFFF"/>
          </a:solidFill>
          <a:ln w="6350">
            <a:solidFill>
              <a:srgbClr val="F0F0F0"/>
            </a:solidFill>
            <a:prstDash val="solid"/>
          </a:ln>
        </p:spPr>
      </p:sp>
      <p:sp>
        <p:nvSpPr>
          <p:cNvPr id="12" name="tile"/>
          <p:cNvSpPr/>
          <p:nvPr/>
        </p:nvSpPr>
        <p:spPr>
          <a:xfrm>
            <a:off x="908091" y="3592129"/>
            <a:ext cx="381030" cy="381030"/>
          </a:xfrm>
          <a:prstGeom prst="roundRect">
            <a:avLst>
              <a:gd name="adj" fmla="val 29998"/>
            </a:avLst>
          </a:prstGeom>
          <a:solidFill>
            <a:srgbClr val="044BD9"/>
          </a:solidFill>
          <a:ln/>
        </p:spPr>
      </p:sp>
      <p:pic>
        <p:nvPicPr>
          <p:cNvPr id="13" name="Icon" descr="/tmp/deck-pptx-47cOtg/icon-42.png">    </p:cNvPr>
          <p:cNvPicPr>
            <a:picLocks noChangeAspect="1"/>
          </p:cNvPicPr>
          <p:nvPr/>
        </p:nvPicPr>
        <p:blipFill>
          <a:blip r:embed="rId3"/>
          <a:stretch>
            <a:fillRect/>
          </a:stretch>
        </p:blipFill>
        <p:spPr>
          <a:xfrm>
            <a:off x="1009680" y="3693719"/>
            <a:ext cx="177759" cy="177759"/>
          </a:xfrm>
          <a:prstGeom prst="rect">
            <a:avLst/>
          </a:prstGeom>
        </p:spPr>
      </p:pic>
      <p:sp>
        <p:nvSpPr>
          <p:cNvPr id="14" name="li::before"/>
          <p:cNvSpPr/>
          <p:nvPr/>
        </p:nvSpPr>
        <p:spPr>
          <a:xfrm>
            <a:off x="2965491" y="3550249"/>
            <a:ext cx="57150" cy="57150"/>
          </a:xfrm>
          <a:prstGeom prst="rect">
            <a:avLst/>
          </a:prstGeom>
          <a:solidFill>
            <a:srgbClr val="044BD9"/>
          </a:solidFill>
          <a:ln/>
        </p:spPr>
      </p:sp>
      <p:sp>
        <p:nvSpPr>
          <p:cNvPr id="15" name="li::before"/>
          <p:cNvSpPr/>
          <p:nvPr/>
        </p:nvSpPr>
        <p:spPr>
          <a:xfrm>
            <a:off x="2965491" y="3766139"/>
            <a:ext cx="57150" cy="57150"/>
          </a:xfrm>
          <a:prstGeom prst="rect">
            <a:avLst/>
          </a:prstGeom>
          <a:solidFill>
            <a:srgbClr val="044BD9"/>
          </a:solidFill>
          <a:ln/>
        </p:spPr>
      </p:sp>
      <p:sp>
        <p:nvSpPr>
          <p:cNvPr id="16" name="li::before"/>
          <p:cNvSpPr/>
          <p:nvPr/>
        </p:nvSpPr>
        <p:spPr>
          <a:xfrm>
            <a:off x="2965491" y="3982029"/>
            <a:ext cx="57150" cy="57150"/>
          </a:xfrm>
          <a:prstGeom prst="rect">
            <a:avLst/>
          </a:prstGeom>
          <a:solidFill>
            <a:srgbClr val="044BD9"/>
          </a:solidFill>
          <a:ln/>
        </p:spPr>
      </p:sp>
      <p:pic>
        <p:nvPicPr>
          <p:cNvPr id="17" name="Icon" descr="/tmp/deck-pptx-47cOtg/icon-43.png">    </p:cNvPr>
          <p:cNvPicPr>
            <a:picLocks noChangeAspect="1"/>
          </p:cNvPicPr>
          <p:nvPr/>
        </p:nvPicPr>
        <p:blipFill>
          <a:blip r:embed="rId4"/>
          <a:stretch>
            <a:fillRect/>
          </a:stretch>
        </p:blipFill>
        <p:spPr>
          <a:xfrm>
            <a:off x="7206295" y="3700028"/>
            <a:ext cx="165141" cy="165141"/>
          </a:xfrm>
          <a:prstGeom prst="rect">
            <a:avLst/>
          </a:prstGeom>
        </p:spPr>
      </p:pic>
      <p:sp>
        <p:nvSpPr>
          <p:cNvPr id="18" name="card"/>
          <p:cNvSpPr/>
          <p:nvPr/>
        </p:nvSpPr>
        <p:spPr>
          <a:xfrm>
            <a:off x="7507864" y="3331251"/>
            <a:ext cx="3969776" cy="902787"/>
          </a:xfrm>
          <a:prstGeom prst="roundRect">
            <a:avLst>
              <a:gd name="adj" fmla="val 16530"/>
            </a:avLst>
          </a:prstGeom>
          <a:solidFill>
            <a:srgbClr val="FFFFFF"/>
          </a:solidFill>
          <a:ln w="6350">
            <a:solidFill>
              <a:srgbClr val="F0F0F0"/>
            </a:solidFill>
            <a:prstDash val="solid"/>
          </a:ln>
        </p:spPr>
      </p:sp>
      <p:sp>
        <p:nvSpPr>
          <p:cNvPr id="19" name="card"/>
          <p:cNvSpPr/>
          <p:nvPr/>
        </p:nvSpPr>
        <p:spPr>
          <a:xfrm>
            <a:off x="714421" y="4329318"/>
            <a:ext cx="6355354" cy="902787"/>
          </a:xfrm>
          <a:prstGeom prst="roundRect">
            <a:avLst>
              <a:gd name="adj" fmla="val 16530"/>
            </a:avLst>
          </a:prstGeom>
          <a:solidFill>
            <a:srgbClr val="FFFFFF"/>
          </a:solidFill>
          <a:ln w="6350">
            <a:solidFill>
              <a:srgbClr val="F0F0F0"/>
            </a:solidFill>
            <a:prstDash val="solid"/>
          </a:ln>
        </p:spPr>
      </p:sp>
      <p:sp>
        <p:nvSpPr>
          <p:cNvPr id="20" name="tile"/>
          <p:cNvSpPr/>
          <p:nvPr/>
        </p:nvSpPr>
        <p:spPr>
          <a:xfrm>
            <a:off x="908091" y="4590197"/>
            <a:ext cx="381030" cy="381030"/>
          </a:xfrm>
          <a:prstGeom prst="roundRect">
            <a:avLst>
              <a:gd name="adj" fmla="val 29998"/>
            </a:avLst>
          </a:prstGeom>
          <a:solidFill>
            <a:srgbClr val="044BD9"/>
          </a:solidFill>
          <a:ln/>
        </p:spPr>
      </p:sp>
      <p:pic>
        <p:nvPicPr>
          <p:cNvPr id="21" name="Icon" descr="/tmp/deck-pptx-47cOtg/icon-44.png">    </p:cNvPr>
          <p:cNvPicPr>
            <a:picLocks noChangeAspect="1"/>
          </p:cNvPicPr>
          <p:nvPr/>
        </p:nvPicPr>
        <p:blipFill>
          <a:blip r:embed="rId5"/>
          <a:stretch>
            <a:fillRect/>
          </a:stretch>
        </p:blipFill>
        <p:spPr>
          <a:xfrm>
            <a:off x="1009680" y="4691786"/>
            <a:ext cx="177759" cy="177759"/>
          </a:xfrm>
          <a:prstGeom prst="rect">
            <a:avLst/>
          </a:prstGeom>
        </p:spPr>
      </p:pic>
      <p:sp>
        <p:nvSpPr>
          <p:cNvPr id="22" name="li::before"/>
          <p:cNvSpPr/>
          <p:nvPr/>
        </p:nvSpPr>
        <p:spPr>
          <a:xfrm>
            <a:off x="2965491" y="4548226"/>
            <a:ext cx="57150" cy="57150"/>
          </a:xfrm>
          <a:prstGeom prst="rect">
            <a:avLst/>
          </a:prstGeom>
          <a:solidFill>
            <a:srgbClr val="044BD9"/>
          </a:solidFill>
          <a:ln/>
        </p:spPr>
      </p:sp>
      <p:sp>
        <p:nvSpPr>
          <p:cNvPr id="23" name="li::before"/>
          <p:cNvSpPr/>
          <p:nvPr/>
        </p:nvSpPr>
        <p:spPr>
          <a:xfrm>
            <a:off x="2965491" y="4764115"/>
            <a:ext cx="57150" cy="57150"/>
          </a:xfrm>
          <a:prstGeom prst="rect">
            <a:avLst/>
          </a:prstGeom>
          <a:solidFill>
            <a:srgbClr val="044BD9"/>
          </a:solidFill>
          <a:ln/>
        </p:spPr>
      </p:sp>
      <p:sp>
        <p:nvSpPr>
          <p:cNvPr id="24" name="li::before"/>
          <p:cNvSpPr/>
          <p:nvPr/>
        </p:nvSpPr>
        <p:spPr>
          <a:xfrm>
            <a:off x="2965491" y="4980005"/>
            <a:ext cx="57150" cy="57150"/>
          </a:xfrm>
          <a:prstGeom prst="rect">
            <a:avLst/>
          </a:prstGeom>
          <a:solidFill>
            <a:srgbClr val="044BD9"/>
          </a:solidFill>
          <a:ln/>
        </p:spPr>
      </p:sp>
      <p:pic>
        <p:nvPicPr>
          <p:cNvPr id="25" name="Icon" descr="/tmp/deck-pptx-47cOtg/icon-45.png">    </p:cNvPr>
          <p:cNvPicPr>
            <a:picLocks noChangeAspect="1"/>
          </p:cNvPicPr>
          <p:nvPr/>
        </p:nvPicPr>
        <p:blipFill>
          <a:blip r:embed="rId6"/>
          <a:stretch>
            <a:fillRect/>
          </a:stretch>
        </p:blipFill>
        <p:spPr>
          <a:xfrm>
            <a:off x="7206295" y="4698096"/>
            <a:ext cx="165141" cy="165141"/>
          </a:xfrm>
          <a:prstGeom prst="rect">
            <a:avLst/>
          </a:prstGeom>
        </p:spPr>
      </p:pic>
      <p:sp>
        <p:nvSpPr>
          <p:cNvPr id="26" name="card"/>
          <p:cNvSpPr/>
          <p:nvPr/>
        </p:nvSpPr>
        <p:spPr>
          <a:xfrm>
            <a:off x="7507864" y="4329318"/>
            <a:ext cx="3969776" cy="902787"/>
          </a:xfrm>
          <a:prstGeom prst="roundRect">
            <a:avLst>
              <a:gd name="adj" fmla="val 16530"/>
            </a:avLst>
          </a:prstGeom>
          <a:solidFill>
            <a:srgbClr val="FFFFFF"/>
          </a:solidFill>
          <a:ln w="6350">
            <a:solidFill>
              <a:srgbClr val="F0F0F0"/>
            </a:solidFill>
            <a:prstDash val="solid"/>
          </a:ln>
        </p:spPr>
      </p:sp>
      <p:sp>
        <p:nvSpPr>
          <p:cNvPr id="27" name="div"/>
          <p:cNvSpPr/>
          <p:nvPr/>
        </p:nvSpPr>
        <p:spPr>
          <a:xfrm>
            <a:off x="714421" y="5327386"/>
            <a:ext cx="6355354" cy="689275"/>
          </a:xfrm>
          <a:prstGeom prst="roundRect">
            <a:avLst>
              <a:gd name="adj" fmla="val 14274"/>
            </a:avLst>
          </a:prstGeom>
          <a:solidFill>
            <a:srgbClr val="044BD9">
              <a:alpha val="8000"/>
            </a:srgbClr>
          </a:solidFill>
          <a:ln w="6350">
            <a:solidFill>
              <a:srgbClr val="044BD9">
                <a:alpha val="20000"/>
              </a:srgbClr>
            </a:solidFill>
            <a:prstDash val="solid"/>
          </a:ln>
        </p:spPr>
      </p:sp>
      <p:sp>
        <p:nvSpPr>
          <p:cNvPr id="28" name="tile"/>
          <p:cNvSpPr/>
          <p:nvPr/>
        </p:nvSpPr>
        <p:spPr>
          <a:xfrm>
            <a:off x="908091" y="5481462"/>
            <a:ext cx="381030" cy="381030"/>
          </a:xfrm>
          <a:prstGeom prst="roundRect">
            <a:avLst>
              <a:gd name="adj" fmla="val 29998"/>
            </a:avLst>
          </a:prstGeom>
          <a:solidFill>
            <a:srgbClr val="FFFFFF"/>
          </a:solidFill>
          <a:ln/>
        </p:spPr>
      </p:sp>
      <p:pic>
        <p:nvPicPr>
          <p:cNvPr id="29" name="Icon" descr="/tmp/deck-pptx-47cOtg/icon-46.png">    </p:cNvPr>
          <p:cNvPicPr>
            <a:picLocks noChangeAspect="1"/>
          </p:cNvPicPr>
          <p:nvPr/>
        </p:nvPicPr>
        <p:blipFill>
          <a:blip r:embed="rId7"/>
          <a:stretch>
            <a:fillRect/>
          </a:stretch>
        </p:blipFill>
        <p:spPr>
          <a:xfrm>
            <a:off x="1009680" y="5583052"/>
            <a:ext cx="177759" cy="177759"/>
          </a:xfrm>
          <a:prstGeom prst="rect">
            <a:avLst/>
          </a:prstGeom>
        </p:spPr>
      </p:pic>
      <p:pic>
        <p:nvPicPr>
          <p:cNvPr id="30" name="Icon" descr="/tmp/deck-pptx-47cOtg/icon-47.png">    </p:cNvPr>
          <p:cNvPicPr>
            <a:picLocks noChangeAspect="1"/>
          </p:cNvPicPr>
          <p:nvPr/>
        </p:nvPicPr>
        <p:blipFill>
          <a:blip r:embed="rId8"/>
          <a:stretch>
            <a:fillRect/>
          </a:stretch>
        </p:blipFill>
        <p:spPr>
          <a:xfrm>
            <a:off x="7206295" y="5589361"/>
            <a:ext cx="165141" cy="165141"/>
          </a:xfrm>
          <a:prstGeom prst="rect">
            <a:avLst/>
          </a:prstGeom>
        </p:spPr>
      </p:pic>
      <p:sp>
        <p:nvSpPr>
          <p:cNvPr id="31" name="div"/>
          <p:cNvSpPr/>
          <p:nvPr/>
        </p:nvSpPr>
        <p:spPr>
          <a:xfrm>
            <a:off x="7507864" y="5327386"/>
            <a:ext cx="3969776" cy="689275"/>
          </a:xfrm>
          <a:prstGeom prst="roundRect">
            <a:avLst>
              <a:gd name="adj" fmla="val 14274"/>
            </a:avLst>
          </a:prstGeom>
          <a:solidFill>
            <a:srgbClr val="044BD9">
              <a:alpha val="8000"/>
            </a:srgbClr>
          </a:solidFill>
          <a:ln w="6350">
            <a:solidFill>
              <a:srgbClr val="044BD9">
                <a:alpha val="20000"/>
              </a:srgbClr>
            </a:solidFill>
            <a:prstDash val="solid"/>
          </a:ln>
        </p:spPr>
      </p:sp>
      <p:sp>
        <p:nvSpPr>
          <p:cNvPr id="32" name="span::before"/>
          <p:cNvSpPr/>
          <p:nvPr/>
        </p:nvSpPr>
        <p:spPr>
          <a:xfrm>
            <a:off x="6191860" y="311170"/>
            <a:ext cx="44440" cy="44440"/>
          </a:xfrm>
          <a:prstGeom prst="rect">
            <a:avLst/>
          </a:prstGeom>
          <a:solidFill>
            <a:srgbClr val="A0A6AF">
              <a:alpha val="55000"/>
            </a:srgbClr>
          </a:solidFill>
          <a:ln/>
        </p:spPr>
      </p:sp>
      <p:sp>
        <p:nvSpPr>
          <p:cNvPr id="33" name="span::before"/>
          <p:cNvSpPr/>
          <p:nvPr/>
        </p:nvSpPr>
        <p:spPr>
          <a:xfrm>
            <a:off x="7145213" y="311170"/>
            <a:ext cx="44440" cy="44440"/>
          </a:xfrm>
          <a:prstGeom prst="rect">
            <a:avLst/>
          </a:prstGeom>
          <a:solidFill>
            <a:srgbClr val="A0A6AF">
              <a:alpha val="55000"/>
            </a:srgbClr>
          </a:solidFill>
          <a:ln/>
        </p:spPr>
      </p:sp>
      <p:sp>
        <p:nvSpPr>
          <p:cNvPr id="34" name="on::before"/>
          <p:cNvSpPr/>
          <p:nvPr/>
        </p:nvSpPr>
        <p:spPr>
          <a:xfrm>
            <a:off x="8056230" y="311170"/>
            <a:ext cx="44440" cy="44440"/>
          </a:xfrm>
          <a:prstGeom prst="rect">
            <a:avLst/>
          </a:prstGeom>
          <a:solidFill>
            <a:srgbClr val="044BD9"/>
          </a:solidFill>
          <a:ln/>
        </p:spPr>
      </p:sp>
      <p:sp>
        <p:nvSpPr>
          <p:cNvPr id="35" name="span::before"/>
          <p:cNvSpPr/>
          <p:nvPr/>
        </p:nvSpPr>
        <p:spPr>
          <a:xfrm>
            <a:off x="8972550" y="311170"/>
            <a:ext cx="44440" cy="44440"/>
          </a:xfrm>
          <a:prstGeom prst="rect">
            <a:avLst/>
          </a:prstGeom>
          <a:solidFill>
            <a:srgbClr val="A0A6AF">
              <a:alpha val="55000"/>
            </a:srgbClr>
          </a:solidFill>
          <a:ln/>
        </p:spPr>
      </p:sp>
      <p:sp>
        <p:nvSpPr>
          <p:cNvPr id="36" name="span::before"/>
          <p:cNvSpPr/>
          <p:nvPr/>
        </p:nvSpPr>
        <p:spPr>
          <a:xfrm>
            <a:off x="10421142" y="311170"/>
            <a:ext cx="44440" cy="44440"/>
          </a:xfrm>
          <a:prstGeom prst="rect">
            <a:avLst/>
          </a:prstGeom>
          <a:solidFill>
            <a:srgbClr val="A0A6AF">
              <a:alpha val="55000"/>
            </a:srgbClr>
          </a:solidFill>
          <a:ln/>
        </p:spPr>
      </p:sp>
      <p:sp>
        <p:nvSpPr>
          <p:cNvPr id="37" name="span::before"/>
          <p:cNvSpPr/>
          <p:nvPr/>
        </p:nvSpPr>
        <p:spPr>
          <a:xfrm>
            <a:off x="10966216" y="311170"/>
            <a:ext cx="44440" cy="44440"/>
          </a:xfrm>
          <a:prstGeom prst="rect">
            <a:avLst/>
          </a:prstGeom>
          <a:solidFill>
            <a:srgbClr val="A0A6AF">
              <a:alpha val="55000"/>
            </a:srgbClr>
          </a:solidFill>
          <a:ln/>
        </p:spPr>
      </p:sp>
      <p:sp>
        <p:nvSpPr>
          <p:cNvPr id="38" name="Text"/>
          <p:cNvSpPr txBox="1"/>
          <p:nvPr/>
        </p:nvSpPr>
        <p:spPr>
          <a:xfrm>
            <a:off x="844540" y="603230"/>
            <a:ext cx="1532077" cy="120609"/>
          </a:xfrm>
          <a:prstGeom prst="rect">
            <a:avLst/>
          </a:prstGeom>
          <a:noFill/>
          <a:ln/>
        </p:spPr>
        <p:txBody>
          <a:bodyPr wrap="none" lIns="0" tIns="0" rIns="0" bIns="0" rtlCol="0" anchor="t"/>
          <a:lstStyle/>
          <a:p>
            <a:pPr algn="l" indent="0" marL="0">
              <a:lnSpc>
                <a:spcPts val="950"/>
              </a:lnSpc>
              <a:buNone/>
            </a:pPr>
            <a:r>
              <a:rPr lang="en-US" sz="950" spc="10" kern="0" dirty="0">
                <a:solidFill>
                  <a:srgbClr val="155DFC"/>
                </a:solidFill>
                <a:latin typeface="Poppins Medium" pitchFamily="34" charset="0"/>
                <a:ea typeface="Poppins Medium" pitchFamily="34" charset="-122"/>
                <a:cs typeface="Poppins Medium" pitchFamily="34" charset="-120"/>
              </a:rPr>
              <a:t>Full stack AI engineering</a:t>
            </a:r>
            <a:endParaRPr lang="en-US" sz="950" dirty="0"/>
          </a:p>
        </p:txBody>
      </p:sp>
      <p:sp>
        <p:nvSpPr>
          <p:cNvPr id="39" name="Title"/>
          <p:cNvSpPr txBox="1"/>
          <p:nvPr/>
        </p:nvSpPr>
        <p:spPr>
          <a:xfrm>
            <a:off x="711220" y="927750"/>
            <a:ext cx="9398020" cy="861090"/>
          </a:xfrm>
          <a:prstGeom prst="rect">
            <a:avLst/>
          </a:prstGeom>
          <a:noFill/>
          <a:ln/>
        </p:spPr>
        <p:txBody>
          <a:bodyPr wrap="square" lIns="0" tIns="0" rIns="0" bIns="0" rtlCol="0" anchor="t"/>
          <a:lstStyle/>
          <a:p>
            <a:pPr algn="l" indent="0" marL="0">
              <a:lnSpc>
                <a:spcPts val="3390"/>
              </a:lnSpc>
              <a:buNone/>
            </a:pPr>
            <a:r>
              <a:rPr lang="en-US" sz="3000" spc="-45" kern="0" dirty="0">
                <a:solidFill>
                  <a:srgbClr val="000000"/>
                </a:solidFill>
                <a:latin typeface="Poppins Medium" pitchFamily="34" charset="0"/>
                <a:ea typeface="Poppins Medium" pitchFamily="34" charset="-122"/>
                <a:cs typeface="Poppins Medium" pitchFamily="34" charset="-120"/>
              </a:rPr>
              <a:t>Every system combines a brain,</a:t>
            </a:r>
            <a:endParaRPr lang="en-US" sz="3000" dirty="0"/>
          </a:p>
          <a:p>
            <a:pPr algn="l" indent="0" marL="0">
              <a:lnSpc>
                <a:spcPts val="3390"/>
              </a:lnSpc>
              <a:buNone/>
            </a:pPr>
            <a:r>
              <a:rPr lang="en-US" sz="3000" spc="-45" kern="0" dirty="0">
                <a:solidFill>
                  <a:srgbClr val="000000"/>
                </a:solidFill>
                <a:latin typeface="Poppins Medium" pitchFamily="34" charset="0"/>
                <a:ea typeface="Poppins Medium" pitchFamily="34" charset="-122"/>
                <a:cs typeface="Poppins Medium" pitchFamily="34" charset="-120"/>
              </a:rPr>
              <a:t>an action layer and guardrails</a:t>
            </a:r>
            <a:endParaRPr lang="en-US" sz="3000" dirty="0"/>
          </a:p>
        </p:txBody>
      </p:sp>
      <p:sp>
        <p:nvSpPr>
          <p:cNvPr id="40" name="Text"/>
          <p:cNvSpPr txBox="1"/>
          <p:nvPr/>
        </p:nvSpPr>
        <p:spPr>
          <a:xfrm>
            <a:off x="711220" y="2072762"/>
            <a:ext cx="6399886" cy="167335"/>
          </a:xfrm>
          <a:prstGeom prst="rect">
            <a:avLst/>
          </a:prstGeom>
          <a:noFill/>
          <a:ln/>
        </p:spPr>
        <p:txBody>
          <a:bodyPr wrap="square" lIns="0" tIns="0" rIns="0" bIns="0" rtlCol="0" anchor="t"/>
          <a:lstStyle/>
          <a:p>
            <a:pPr algn="l" indent="0" marL="0">
              <a:lnSpc>
                <a:spcPts val="1318"/>
              </a:lnSpc>
              <a:buNone/>
            </a:pPr>
            <a:r>
              <a:rPr lang="en-US" sz="850" spc="34" kern="0" dirty="0">
                <a:solidFill>
                  <a:srgbClr val="6B6B6B"/>
                </a:solidFill>
                <a:latin typeface="Poppins Medium" pitchFamily="34" charset="0"/>
                <a:ea typeface="Poppins Medium" pitchFamily="34" charset="-122"/>
                <a:cs typeface="Poppins Medium" pitchFamily="34" charset="-120"/>
              </a:rPr>
              <a:t>Three layers in every ALPHV system</a:t>
            </a:r>
            <a:endParaRPr lang="en-US" sz="850" dirty="0"/>
          </a:p>
        </p:txBody>
      </p:sp>
      <p:sp>
        <p:nvSpPr>
          <p:cNvPr id="41" name="Text"/>
          <p:cNvSpPr txBox="1"/>
          <p:nvPr/>
        </p:nvSpPr>
        <p:spPr>
          <a:xfrm>
            <a:off x="7504664" y="2072762"/>
            <a:ext cx="4004706" cy="167335"/>
          </a:xfrm>
          <a:prstGeom prst="rect">
            <a:avLst/>
          </a:prstGeom>
          <a:noFill/>
          <a:ln/>
        </p:spPr>
        <p:txBody>
          <a:bodyPr wrap="square" lIns="0" tIns="0" rIns="0" bIns="0" rtlCol="0" anchor="t"/>
          <a:lstStyle/>
          <a:p>
            <a:pPr algn="l" indent="0" marL="0">
              <a:lnSpc>
                <a:spcPts val="1318"/>
              </a:lnSpc>
              <a:buNone/>
            </a:pPr>
            <a:r>
              <a:rPr lang="en-US" sz="850" spc="34" kern="0" dirty="0">
                <a:solidFill>
                  <a:srgbClr val="044BD9"/>
                </a:solidFill>
                <a:latin typeface="Poppins Medium" pitchFamily="34" charset="0"/>
                <a:ea typeface="Poppins Medium" pitchFamily="34" charset="-122"/>
                <a:cs typeface="Poppins Medium" pitchFamily="34" charset="-120"/>
              </a:rPr>
              <a:t>In practice: a 36-year-old law firm</a:t>
            </a:r>
            <a:endParaRPr lang="en-US" sz="850" dirty="0"/>
          </a:p>
        </p:txBody>
      </p:sp>
      <p:sp>
        <p:nvSpPr>
          <p:cNvPr id="42" name="Text"/>
          <p:cNvSpPr txBox="1"/>
          <p:nvPr/>
        </p:nvSpPr>
        <p:spPr>
          <a:xfrm>
            <a:off x="1403330" y="2579980"/>
            <a:ext cx="1181313" cy="203180"/>
          </a:xfrm>
          <a:prstGeom prst="rect">
            <a:avLst/>
          </a:prstGeom>
          <a:noFill/>
          <a:ln/>
        </p:spPr>
        <p:txBody>
          <a:bodyPr wrap="none" lIns="0" tIns="0" rIns="0" bIns="0" rtlCol="0" anchor="t"/>
          <a:lstStyle/>
          <a:p>
            <a:pPr algn="l" indent="0" marL="0">
              <a:lnSpc>
                <a:spcPts val="1600"/>
              </a:lnSpc>
              <a:buNone/>
            </a:pPr>
            <a:r>
              <a:rPr lang="en-US" sz="1250" dirty="0">
                <a:solidFill>
                  <a:srgbClr val="000000"/>
                </a:solidFill>
                <a:latin typeface="Poppins Medium" pitchFamily="34" charset="0"/>
                <a:ea typeface="Poppins Medium" pitchFamily="34" charset="-122"/>
                <a:cs typeface="Poppins Medium" pitchFamily="34" charset="-120"/>
              </a:rPr>
              <a:t>The guardrails</a:t>
            </a:r>
            <a:endParaRPr lang="en-US" sz="1250" dirty="0"/>
          </a:p>
        </p:txBody>
      </p:sp>
      <p:sp>
        <p:nvSpPr>
          <p:cNvPr id="43" name="Text"/>
          <p:cNvSpPr txBox="1"/>
          <p:nvPr/>
        </p:nvSpPr>
        <p:spPr>
          <a:xfrm>
            <a:off x="1403330" y="2797607"/>
            <a:ext cx="1173267" cy="186995"/>
          </a:xfrm>
          <a:prstGeom prst="rect">
            <a:avLst/>
          </a:prstGeom>
          <a:noFill/>
          <a:ln/>
        </p:spPr>
        <p:txBody>
          <a:bodyPr wrap="square" lIns="0" tIns="0" rIns="0" bIns="0" rtlCol="0" anchor="t"/>
          <a:lstStyle/>
          <a:p>
            <a:pPr algn="l" indent="0" marL="0">
              <a:lnSpc>
                <a:spcPts val="1472"/>
              </a:lnSpc>
              <a:buNone/>
            </a:pPr>
            <a:r>
              <a:rPr lang="en-US" sz="950" dirty="0">
                <a:solidFill>
                  <a:srgbClr val="6B6B6B"/>
                </a:solidFill>
                <a:latin typeface="Poppins Light" pitchFamily="34" charset="0"/>
                <a:ea typeface="Poppins Light" pitchFamily="34" charset="-122"/>
                <a:cs typeface="Poppins Light" pitchFamily="34" charset="-120"/>
              </a:rPr>
              <a:t>AI governance</a:t>
            </a:r>
            <a:endParaRPr lang="en-US" sz="950" dirty="0"/>
          </a:p>
        </p:txBody>
      </p:sp>
      <p:sp>
        <p:nvSpPr>
          <p:cNvPr id="44" name="Text"/>
          <p:cNvSpPr txBox="1"/>
          <p:nvPr/>
        </p:nvSpPr>
        <p:spPr>
          <a:xfrm>
            <a:off x="3130540" y="2473452"/>
            <a:ext cx="3773180" cy="190470"/>
          </a:xfrm>
          <a:prstGeom prst="rect">
            <a:avLst/>
          </a:prstGeom>
          <a:noFill/>
          <a:ln/>
        </p:spPr>
        <p:txBody>
          <a:bodyPr wrap="square" lIns="0" tIns="0" rIns="0" bIns="0" rtlCol="0" anchor="t"/>
          <a:lstStyle/>
          <a:p>
            <a:pPr algn="l" indent="0" marL="0">
              <a:lnSpc>
                <a:spcPts val="1500"/>
              </a:lnSpc>
              <a:buNone/>
            </a:pPr>
            <a:r>
              <a:rPr lang="en-US" sz="1000" dirty="0">
                <a:solidFill>
                  <a:srgbClr val="1F2937"/>
                </a:solidFill>
                <a:latin typeface="Poppins Light" pitchFamily="34" charset="0"/>
                <a:ea typeface="Poppins Light" pitchFamily="34" charset="-122"/>
                <a:cs typeface="Poppins Light" pitchFamily="34" charset="-120"/>
              </a:rPr>
              <a:t>AI safety and alignment</a:t>
            </a:r>
            <a:endParaRPr lang="en-US" sz="1000" dirty="0"/>
          </a:p>
        </p:txBody>
      </p:sp>
      <p:sp>
        <p:nvSpPr>
          <p:cNvPr id="45" name="Text"/>
          <p:cNvSpPr txBox="1"/>
          <p:nvPr/>
        </p:nvSpPr>
        <p:spPr>
          <a:xfrm>
            <a:off x="3130540" y="2689342"/>
            <a:ext cx="3773180" cy="190470"/>
          </a:xfrm>
          <a:prstGeom prst="rect">
            <a:avLst/>
          </a:prstGeom>
          <a:noFill/>
          <a:ln/>
        </p:spPr>
        <p:txBody>
          <a:bodyPr wrap="square" lIns="0" tIns="0" rIns="0" bIns="0" rtlCol="0" anchor="t"/>
          <a:lstStyle/>
          <a:p>
            <a:pPr algn="l" indent="0" marL="0">
              <a:lnSpc>
                <a:spcPts val="1500"/>
              </a:lnSpc>
              <a:buNone/>
            </a:pPr>
            <a:r>
              <a:rPr lang="en-US" sz="1000" dirty="0">
                <a:solidFill>
                  <a:srgbClr val="1F2937"/>
                </a:solidFill>
                <a:latin typeface="Poppins Light" pitchFamily="34" charset="0"/>
                <a:ea typeface="Poppins Light" pitchFamily="34" charset="-122"/>
                <a:cs typeface="Poppins Light" pitchFamily="34" charset="-120"/>
              </a:rPr>
              <a:t>Governance guardrails</a:t>
            </a:r>
            <a:endParaRPr lang="en-US" sz="1000" dirty="0"/>
          </a:p>
        </p:txBody>
      </p:sp>
      <p:sp>
        <p:nvSpPr>
          <p:cNvPr id="46" name="Text"/>
          <p:cNvSpPr txBox="1"/>
          <p:nvPr/>
        </p:nvSpPr>
        <p:spPr>
          <a:xfrm>
            <a:off x="3130540" y="2905232"/>
            <a:ext cx="3773180" cy="190470"/>
          </a:xfrm>
          <a:prstGeom prst="rect">
            <a:avLst/>
          </a:prstGeom>
          <a:noFill/>
          <a:ln/>
        </p:spPr>
        <p:txBody>
          <a:bodyPr wrap="square" lIns="0" tIns="0" rIns="0" bIns="0" rtlCol="0" anchor="t"/>
          <a:lstStyle/>
          <a:p>
            <a:pPr algn="l" indent="0" marL="0">
              <a:lnSpc>
                <a:spcPts val="1500"/>
              </a:lnSpc>
              <a:buNone/>
            </a:pPr>
            <a:r>
              <a:rPr lang="en-US" sz="1000" dirty="0">
                <a:solidFill>
                  <a:srgbClr val="1F2937"/>
                </a:solidFill>
                <a:latin typeface="Poppins Light" pitchFamily="34" charset="0"/>
                <a:ea typeface="Poppins Light" pitchFamily="34" charset="-122"/>
                <a:cs typeface="Poppins Light" pitchFamily="34" charset="-120"/>
              </a:rPr>
              <a:t>Locally hosted models where data must stay in-house</a:t>
            </a:r>
            <a:endParaRPr lang="en-US" sz="1000" dirty="0"/>
          </a:p>
        </p:txBody>
      </p:sp>
      <p:sp>
        <p:nvSpPr>
          <p:cNvPr id="47" name="Text"/>
          <p:cNvSpPr txBox="1"/>
          <p:nvPr/>
        </p:nvSpPr>
        <p:spPr>
          <a:xfrm>
            <a:off x="7701534" y="2548707"/>
            <a:ext cx="3609411" cy="226405"/>
          </a:xfrm>
          <a:prstGeom prst="rect">
            <a:avLst/>
          </a:prstGeom>
          <a:noFill/>
          <a:ln/>
        </p:spPr>
        <p:txBody>
          <a:bodyPr wrap="square" lIns="0" tIns="0" rIns="0" bIns="0" rtlCol="0" anchor="t"/>
          <a:lstStyle/>
          <a:p>
            <a:pPr algn="l" indent="0" marL="0">
              <a:lnSpc>
                <a:spcPts val="1782"/>
              </a:lnSpc>
              <a:buNone/>
            </a:pPr>
            <a:r>
              <a:rPr lang="en-US" sz="1150" dirty="0">
                <a:solidFill>
                  <a:srgbClr val="000000"/>
                </a:solidFill>
                <a:latin typeface="Poppins Medium" pitchFamily="34" charset="0"/>
                <a:ea typeface="Poppins Medium" pitchFamily="34" charset="-122"/>
                <a:cs typeface="Poppins Medium" pitchFamily="34" charset="-120"/>
              </a:rPr>
              <a:t>A locally hosted NVIDIA GPU workstation</a:t>
            </a:r>
            <a:endParaRPr lang="en-US" sz="1150" dirty="0"/>
          </a:p>
        </p:txBody>
      </p:sp>
      <p:sp>
        <p:nvSpPr>
          <p:cNvPr id="48" name="Text"/>
          <p:cNvSpPr txBox="1"/>
          <p:nvPr/>
        </p:nvSpPr>
        <p:spPr>
          <a:xfrm>
            <a:off x="7701534" y="2815255"/>
            <a:ext cx="3607765" cy="196870"/>
          </a:xfrm>
          <a:prstGeom prst="rect">
            <a:avLst/>
          </a:prstGeom>
          <a:noFill/>
          <a:ln/>
        </p:spPr>
        <p:txBody>
          <a:bodyPr wrap="none" lIns="0" tIns="0" rIns="0" bIns="0" rtlCol="0" anchor="t"/>
          <a:lstStyle/>
          <a:p>
            <a:pPr algn="l" indent="0" marL="0">
              <a:lnSpc>
                <a:spcPts val="1550"/>
              </a:lnSpc>
              <a:buNone/>
            </a:pPr>
            <a:r>
              <a:rPr lang="en-US" sz="1000" dirty="0">
                <a:solidFill>
                  <a:srgbClr val="1F2937"/>
                </a:solidFill>
                <a:latin typeface="Poppins Light" pitchFamily="34" charset="0"/>
                <a:ea typeface="Poppins Light" pitchFamily="34" charset="-122"/>
                <a:cs typeface="Poppins Light" pitchFamily="34" charset="-120"/>
              </a:rPr>
              <a:t>The models run here, so client data stays inside the firm.</a:t>
            </a:r>
            <a:endParaRPr lang="en-US" sz="1000" dirty="0"/>
          </a:p>
        </p:txBody>
      </p:sp>
      <p:sp>
        <p:nvSpPr>
          <p:cNvPr id="49" name="Text"/>
          <p:cNvSpPr txBox="1"/>
          <p:nvPr/>
        </p:nvSpPr>
        <p:spPr>
          <a:xfrm>
            <a:off x="1403330" y="3484596"/>
            <a:ext cx="1428018" cy="203180"/>
          </a:xfrm>
          <a:prstGeom prst="rect">
            <a:avLst/>
          </a:prstGeom>
          <a:noFill/>
          <a:ln/>
        </p:spPr>
        <p:txBody>
          <a:bodyPr wrap="square" lIns="0" tIns="0" rIns="0" bIns="0" rtlCol="0" anchor="t"/>
          <a:lstStyle/>
          <a:p>
            <a:pPr algn="l" indent="0" marL="0">
              <a:lnSpc>
                <a:spcPts val="1600"/>
              </a:lnSpc>
              <a:buNone/>
            </a:pPr>
            <a:r>
              <a:rPr lang="en-US" sz="1250" dirty="0">
                <a:solidFill>
                  <a:srgbClr val="000000"/>
                </a:solidFill>
                <a:latin typeface="Poppins Medium" pitchFamily="34" charset="0"/>
                <a:ea typeface="Poppins Medium" pitchFamily="34" charset="-122"/>
                <a:cs typeface="Poppins Medium" pitchFamily="34" charset="-120"/>
              </a:rPr>
              <a:t>The action</a:t>
            </a:r>
            <a:endParaRPr lang="en-US" sz="1250" dirty="0"/>
          </a:p>
        </p:txBody>
      </p:sp>
      <p:sp>
        <p:nvSpPr>
          <p:cNvPr id="50" name="Text"/>
          <p:cNvSpPr txBox="1"/>
          <p:nvPr/>
        </p:nvSpPr>
        <p:spPr>
          <a:xfrm>
            <a:off x="1403330" y="3702223"/>
            <a:ext cx="1428018" cy="373990"/>
          </a:xfrm>
          <a:prstGeom prst="rect">
            <a:avLst/>
          </a:prstGeom>
          <a:noFill/>
          <a:ln/>
        </p:spPr>
        <p:txBody>
          <a:bodyPr wrap="square" lIns="0" tIns="0" rIns="0" bIns="0" rtlCol="0" anchor="t"/>
          <a:lstStyle/>
          <a:p>
            <a:pPr algn="l" indent="0" marL="0">
              <a:lnSpc>
                <a:spcPts val="1472"/>
              </a:lnSpc>
              <a:buNone/>
            </a:pPr>
            <a:r>
              <a:rPr lang="en-US" sz="950" dirty="0">
                <a:solidFill>
                  <a:srgbClr val="6B6B6B"/>
                </a:solidFill>
                <a:latin typeface="Poppins Light" pitchFamily="34" charset="0"/>
                <a:ea typeface="Poppins Light" pitchFamily="34" charset="-122"/>
                <a:cs typeface="Poppins Light" pitchFamily="34" charset="-120"/>
              </a:rPr>
              <a:t>Agentic and autonomous solutions</a:t>
            </a:r>
            <a:endParaRPr lang="en-US" sz="950" dirty="0"/>
          </a:p>
        </p:txBody>
      </p:sp>
      <p:sp>
        <p:nvSpPr>
          <p:cNvPr id="51" name="Text"/>
          <p:cNvSpPr txBox="1"/>
          <p:nvPr/>
        </p:nvSpPr>
        <p:spPr>
          <a:xfrm>
            <a:off x="3130540" y="3471428"/>
            <a:ext cx="3773180" cy="190470"/>
          </a:xfrm>
          <a:prstGeom prst="rect">
            <a:avLst/>
          </a:prstGeom>
          <a:noFill/>
          <a:ln/>
        </p:spPr>
        <p:txBody>
          <a:bodyPr wrap="square" lIns="0" tIns="0" rIns="0" bIns="0" rtlCol="0" anchor="t"/>
          <a:lstStyle/>
          <a:p>
            <a:pPr algn="l" indent="0" marL="0">
              <a:lnSpc>
                <a:spcPts val="1500"/>
              </a:lnSpc>
              <a:buNone/>
            </a:pPr>
            <a:r>
              <a:rPr lang="en-US" sz="1000" dirty="0">
                <a:solidFill>
                  <a:srgbClr val="1F2937"/>
                </a:solidFill>
                <a:latin typeface="Poppins Light" pitchFamily="34" charset="0"/>
                <a:ea typeface="Poppins Light" pitchFamily="34" charset="-122"/>
                <a:cs typeface="Poppins Light" pitchFamily="34" charset="-120"/>
              </a:rPr>
              <a:t>Agentic process automation</a:t>
            </a:r>
            <a:endParaRPr lang="en-US" sz="1000" dirty="0"/>
          </a:p>
        </p:txBody>
      </p:sp>
      <p:sp>
        <p:nvSpPr>
          <p:cNvPr id="52" name="Text"/>
          <p:cNvSpPr txBox="1"/>
          <p:nvPr/>
        </p:nvSpPr>
        <p:spPr>
          <a:xfrm>
            <a:off x="3130540" y="3687409"/>
            <a:ext cx="3773180" cy="190470"/>
          </a:xfrm>
          <a:prstGeom prst="rect">
            <a:avLst/>
          </a:prstGeom>
          <a:noFill/>
          <a:ln/>
        </p:spPr>
        <p:txBody>
          <a:bodyPr wrap="square" lIns="0" tIns="0" rIns="0" bIns="0" rtlCol="0" anchor="t"/>
          <a:lstStyle/>
          <a:p>
            <a:pPr algn="l" indent="0" marL="0">
              <a:lnSpc>
                <a:spcPts val="1500"/>
              </a:lnSpc>
              <a:buNone/>
            </a:pPr>
            <a:r>
              <a:rPr lang="en-US" sz="1000" dirty="0">
                <a:solidFill>
                  <a:srgbClr val="1F2937"/>
                </a:solidFill>
                <a:latin typeface="Poppins Light" pitchFamily="34" charset="0"/>
                <a:ea typeface="Poppins Light" pitchFamily="34" charset="-122"/>
                <a:cs typeface="Poppins Light" pitchFamily="34" charset="-120"/>
              </a:rPr>
              <a:t>Custom tool, MCP and API development for agents</a:t>
            </a:r>
            <a:endParaRPr lang="en-US" sz="1000" dirty="0"/>
          </a:p>
        </p:txBody>
      </p:sp>
      <p:sp>
        <p:nvSpPr>
          <p:cNvPr id="53" name="Text"/>
          <p:cNvSpPr txBox="1"/>
          <p:nvPr/>
        </p:nvSpPr>
        <p:spPr>
          <a:xfrm>
            <a:off x="3130540" y="3903299"/>
            <a:ext cx="3773180" cy="190470"/>
          </a:xfrm>
          <a:prstGeom prst="rect">
            <a:avLst/>
          </a:prstGeom>
          <a:noFill/>
          <a:ln/>
        </p:spPr>
        <p:txBody>
          <a:bodyPr wrap="square" lIns="0" tIns="0" rIns="0" bIns="0" rtlCol="0" anchor="t"/>
          <a:lstStyle/>
          <a:p>
            <a:pPr algn="l" indent="0" marL="0">
              <a:lnSpc>
                <a:spcPts val="1500"/>
              </a:lnSpc>
              <a:buNone/>
            </a:pPr>
            <a:r>
              <a:rPr lang="en-US" sz="1000" dirty="0">
                <a:solidFill>
                  <a:srgbClr val="1F2937"/>
                </a:solidFill>
                <a:latin typeface="Poppins Light" pitchFamily="34" charset="0"/>
                <a:ea typeface="Poppins Light" pitchFamily="34" charset="-122"/>
                <a:cs typeface="Poppins Light" pitchFamily="34" charset="-120"/>
              </a:rPr>
              <a:t>Multi-agent systems</a:t>
            </a:r>
            <a:endParaRPr lang="en-US" sz="1000" dirty="0"/>
          </a:p>
        </p:txBody>
      </p:sp>
      <p:sp>
        <p:nvSpPr>
          <p:cNvPr id="54" name="Text"/>
          <p:cNvSpPr txBox="1"/>
          <p:nvPr/>
        </p:nvSpPr>
        <p:spPr>
          <a:xfrm>
            <a:off x="7701534" y="3448385"/>
            <a:ext cx="3609411" cy="226405"/>
          </a:xfrm>
          <a:prstGeom prst="rect">
            <a:avLst/>
          </a:prstGeom>
          <a:noFill/>
          <a:ln/>
        </p:spPr>
        <p:txBody>
          <a:bodyPr wrap="square" lIns="0" tIns="0" rIns="0" bIns="0" rtlCol="0" anchor="t"/>
          <a:lstStyle/>
          <a:p>
            <a:pPr algn="l" indent="0" marL="0">
              <a:lnSpc>
                <a:spcPts val="1782"/>
              </a:lnSpc>
              <a:buNone/>
            </a:pPr>
            <a:r>
              <a:rPr lang="en-US" sz="1150" dirty="0">
                <a:solidFill>
                  <a:srgbClr val="000000"/>
                </a:solidFill>
                <a:latin typeface="Poppins Medium" pitchFamily="34" charset="0"/>
                <a:ea typeface="Poppins Medium" pitchFamily="34" charset="-122"/>
                <a:cs typeface="Poppins Medium" pitchFamily="34" charset="-120"/>
              </a:rPr>
              <a:t>Agentic RPA across</a:t>
            </a:r>
            <a:pPr algn="l" indent="0" marL="0">
              <a:lnSpc>
                <a:spcPts val="1782"/>
              </a:lnSpc>
              <a:buNone/>
            </a:pPr>
            <a:r>
              <a:rPr lang="en-US" sz="1150" dirty="0">
                <a:solidFill>
                  <a:srgbClr val="044BD9"/>
                </a:solidFill>
                <a:latin typeface="Poppins Medium" pitchFamily="34" charset="0"/>
                <a:ea typeface="Poppins Medium" pitchFamily="34" charset="-122"/>
                <a:cs typeface="Poppins Medium" pitchFamily="34" charset="-120"/>
              </a:rPr>
              <a:t> 90+</a:t>
            </a:r>
            <a:pPr algn="l" indent="0" marL="0">
              <a:lnSpc>
                <a:spcPts val="1782"/>
              </a:lnSpc>
              <a:buNone/>
            </a:pPr>
            <a:r>
              <a:rPr lang="en-US" sz="1150" dirty="0">
                <a:solidFill>
                  <a:srgbClr val="000000"/>
                </a:solidFill>
                <a:latin typeface="Poppins Medium" pitchFamily="34" charset="0"/>
                <a:ea typeface="Poppins Medium" pitchFamily="34" charset="-122"/>
                <a:cs typeface="Poppins Medium" pitchFamily="34" charset="-120"/>
              </a:rPr>
              <a:t> portals</a:t>
            </a:r>
            <a:endParaRPr lang="en-US" sz="1150" dirty="0"/>
          </a:p>
        </p:txBody>
      </p:sp>
      <p:sp>
        <p:nvSpPr>
          <p:cNvPr id="55" name="Text"/>
          <p:cNvSpPr txBox="1"/>
          <p:nvPr/>
        </p:nvSpPr>
        <p:spPr>
          <a:xfrm>
            <a:off x="7701534" y="3714841"/>
            <a:ext cx="3609411" cy="393741"/>
          </a:xfrm>
          <a:prstGeom prst="rect">
            <a:avLst/>
          </a:prstGeom>
          <a:noFill/>
          <a:ln/>
        </p:spPr>
        <p:txBody>
          <a:bodyPr wrap="square" lIns="0" tIns="0" rIns="0" bIns="0" rtlCol="0" anchor="t"/>
          <a:lstStyle/>
          <a:p>
            <a:pPr algn="l" indent="0" marL="0">
              <a:lnSpc>
                <a:spcPts val="1550"/>
              </a:lnSpc>
              <a:buNone/>
            </a:pPr>
            <a:r>
              <a:rPr lang="en-US" sz="1000" dirty="0">
                <a:solidFill>
                  <a:srgbClr val="1F2937"/>
                </a:solidFill>
                <a:latin typeface="Poppins Light" pitchFamily="34" charset="0"/>
                <a:ea typeface="Poppins Light" pitchFamily="34" charset="-122"/>
                <a:cs typeface="Poppins Light" pitchFamily="34" charset="-120"/>
              </a:rPr>
              <a:t>Automations across bank, government, SSM and CTOS portals, with workflow, email and WhatsApp.</a:t>
            </a:r>
            <a:endParaRPr lang="en-US" sz="1000" dirty="0"/>
          </a:p>
        </p:txBody>
      </p:sp>
      <p:sp>
        <p:nvSpPr>
          <p:cNvPr id="56" name="Text"/>
          <p:cNvSpPr txBox="1"/>
          <p:nvPr/>
        </p:nvSpPr>
        <p:spPr>
          <a:xfrm>
            <a:off x="1403330" y="4482572"/>
            <a:ext cx="1428018" cy="203180"/>
          </a:xfrm>
          <a:prstGeom prst="rect">
            <a:avLst/>
          </a:prstGeom>
          <a:noFill/>
          <a:ln/>
        </p:spPr>
        <p:txBody>
          <a:bodyPr wrap="square" lIns="0" tIns="0" rIns="0" bIns="0" rtlCol="0" anchor="t"/>
          <a:lstStyle/>
          <a:p>
            <a:pPr algn="l" indent="0" marL="0">
              <a:lnSpc>
                <a:spcPts val="1600"/>
              </a:lnSpc>
              <a:buNone/>
            </a:pPr>
            <a:r>
              <a:rPr lang="en-US" sz="1250" dirty="0">
                <a:solidFill>
                  <a:srgbClr val="000000"/>
                </a:solidFill>
                <a:latin typeface="Poppins Medium" pitchFamily="34" charset="0"/>
                <a:ea typeface="Poppins Medium" pitchFamily="34" charset="-122"/>
                <a:cs typeface="Poppins Medium" pitchFamily="34" charset="-120"/>
              </a:rPr>
              <a:t>The brain</a:t>
            </a:r>
            <a:endParaRPr lang="en-US" sz="1250" dirty="0"/>
          </a:p>
        </p:txBody>
      </p:sp>
      <p:sp>
        <p:nvSpPr>
          <p:cNvPr id="57" name="Text"/>
          <p:cNvSpPr txBox="1"/>
          <p:nvPr/>
        </p:nvSpPr>
        <p:spPr>
          <a:xfrm>
            <a:off x="1403330" y="4700290"/>
            <a:ext cx="1428018" cy="373990"/>
          </a:xfrm>
          <a:prstGeom prst="rect">
            <a:avLst/>
          </a:prstGeom>
          <a:noFill/>
          <a:ln/>
        </p:spPr>
        <p:txBody>
          <a:bodyPr wrap="square" lIns="0" tIns="0" rIns="0" bIns="0" rtlCol="0" anchor="t"/>
          <a:lstStyle/>
          <a:p>
            <a:pPr algn="l" indent="0" marL="0">
              <a:lnSpc>
                <a:spcPts val="1472"/>
              </a:lnSpc>
              <a:buNone/>
            </a:pPr>
            <a:r>
              <a:rPr lang="en-US" sz="950" dirty="0">
                <a:solidFill>
                  <a:srgbClr val="6B6B6B"/>
                </a:solidFill>
                <a:latin typeface="Poppins Light" pitchFamily="34" charset="0"/>
                <a:ea typeface="Poppins Light" pitchFamily="34" charset="-122"/>
                <a:cs typeface="Poppins Light" pitchFamily="34" charset="-120"/>
              </a:rPr>
              <a:t>Foundational intelligence core</a:t>
            </a:r>
            <a:endParaRPr lang="en-US" sz="950" dirty="0"/>
          </a:p>
        </p:txBody>
      </p:sp>
      <p:sp>
        <p:nvSpPr>
          <p:cNvPr id="58" name="Text"/>
          <p:cNvSpPr txBox="1"/>
          <p:nvPr/>
        </p:nvSpPr>
        <p:spPr>
          <a:xfrm>
            <a:off x="3130540" y="4469496"/>
            <a:ext cx="3773180" cy="190470"/>
          </a:xfrm>
          <a:prstGeom prst="rect">
            <a:avLst/>
          </a:prstGeom>
          <a:noFill/>
          <a:ln/>
        </p:spPr>
        <p:txBody>
          <a:bodyPr wrap="square" lIns="0" tIns="0" rIns="0" bIns="0" rtlCol="0" anchor="t"/>
          <a:lstStyle/>
          <a:p>
            <a:pPr algn="l" indent="0" marL="0">
              <a:lnSpc>
                <a:spcPts val="1500"/>
              </a:lnSpc>
              <a:buNone/>
            </a:pPr>
            <a:r>
              <a:rPr lang="en-US" sz="1000" dirty="0">
                <a:solidFill>
                  <a:srgbClr val="1F2937"/>
                </a:solidFill>
                <a:latin typeface="Poppins Light" pitchFamily="34" charset="0"/>
                <a:ea typeface="Poppins Light" pitchFamily="34" charset="-122"/>
                <a:cs typeface="Poppins Light" pitchFamily="34" charset="-120"/>
              </a:rPr>
              <a:t>Custom knowledge integration, RAG and beyond</a:t>
            </a:r>
            <a:endParaRPr lang="en-US" sz="1000" dirty="0"/>
          </a:p>
        </p:txBody>
      </p:sp>
      <p:sp>
        <p:nvSpPr>
          <p:cNvPr id="59" name="Text"/>
          <p:cNvSpPr txBox="1"/>
          <p:nvPr/>
        </p:nvSpPr>
        <p:spPr>
          <a:xfrm>
            <a:off x="3130540" y="4685386"/>
            <a:ext cx="3773180" cy="190470"/>
          </a:xfrm>
          <a:prstGeom prst="rect">
            <a:avLst/>
          </a:prstGeom>
          <a:noFill/>
          <a:ln/>
        </p:spPr>
        <p:txBody>
          <a:bodyPr wrap="square" lIns="0" tIns="0" rIns="0" bIns="0" rtlCol="0" anchor="t"/>
          <a:lstStyle/>
          <a:p>
            <a:pPr algn="l" indent="0" marL="0">
              <a:lnSpc>
                <a:spcPts val="1500"/>
              </a:lnSpc>
              <a:buNone/>
            </a:pPr>
            <a:r>
              <a:rPr lang="en-US" sz="1000" dirty="0">
                <a:solidFill>
                  <a:srgbClr val="1F2937"/>
                </a:solidFill>
                <a:latin typeface="Poppins Light" pitchFamily="34" charset="0"/>
                <a:ea typeface="Poppins Light" pitchFamily="34" charset="-122"/>
                <a:cs typeface="Poppins Light" pitchFamily="34" charset="-120"/>
              </a:rPr>
              <a:t>Specialised model fine-tuning</a:t>
            </a:r>
            <a:endParaRPr lang="en-US" sz="1000" dirty="0"/>
          </a:p>
        </p:txBody>
      </p:sp>
      <p:sp>
        <p:nvSpPr>
          <p:cNvPr id="60" name="Text"/>
          <p:cNvSpPr txBox="1"/>
          <p:nvPr/>
        </p:nvSpPr>
        <p:spPr>
          <a:xfrm>
            <a:off x="3130540" y="4901275"/>
            <a:ext cx="3773180" cy="190470"/>
          </a:xfrm>
          <a:prstGeom prst="rect">
            <a:avLst/>
          </a:prstGeom>
          <a:noFill/>
          <a:ln/>
        </p:spPr>
        <p:txBody>
          <a:bodyPr wrap="square" lIns="0" tIns="0" rIns="0" bIns="0" rtlCol="0" anchor="t"/>
          <a:lstStyle/>
          <a:p>
            <a:pPr algn="l" indent="0" marL="0">
              <a:lnSpc>
                <a:spcPts val="1500"/>
              </a:lnSpc>
              <a:buNone/>
            </a:pPr>
            <a:r>
              <a:rPr lang="en-US" sz="1000" dirty="0">
                <a:solidFill>
                  <a:srgbClr val="1F2937"/>
                </a:solidFill>
                <a:latin typeface="Poppins Light" pitchFamily="34" charset="0"/>
                <a:ea typeface="Poppins Light" pitchFamily="34" charset="-122"/>
                <a:cs typeface="Poppins Light" pitchFamily="34" charset="-120"/>
              </a:rPr>
              <a:t>Multimodal intelligence across vision and language</a:t>
            </a:r>
            <a:endParaRPr lang="en-US" sz="1000" dirty="0"/>
          </a:p>
        </p:txBody>
      </p:sp>
      <p:sp>
        <p:nvSpPr>
          <p:cNvPr id="61" name="Text"/>
          <p:cNvSpPr txBox="1"/>
          <p:nvPr/>
        </p:nvSpPr>
        <p:spPr>
          <a:xfrm>
            <a:off x="7701534" y="4544842"/>
            <a:ext cx="3609411" cy="226405"/>
          </a:xfrm>
          <a:prstGeom prst="rect">
            <a:avLst/>
          </a:prstGeom>
          <a:noFill/>
          <a:ln/>
        </p:spPr>
        <p:txBody>
          <a:bodyPr wrap="square" lIns="0" tIns="0" rIns="0" bIns="0" rtlCol="0" anchor="t"/>
          <a:lstStyle/>
          <a:p>
            <a:pPr algn="l" indent="0" marL="0">
              <a:lnSpc>
                <a:spcPts val="1782"/>
              </a:lnSpc>
              <a:buNone/>
            </a:pPr>
            <a:r>
              <a:rPr lang="en-US" sz="1150" dirty="0">
                <a:solidFill>
                  <a:srgbClr val="000000"/>
                </a:solidFill>
                <a:latin typeface="Poppins Medium" pitchFamily="34" charset="0"/>
                <a:ea typeface="Poppins Medium" pitchFamily="34" charset="-122"/>
                <a:cs typeface="Poppins Medium" pitchFamily="34" charset="-120"/>
              </a:rPr>
              <a:t>Qwen with GenAI-RAG</a:t>
            </a:r>
            <a:endParaRPr lang="en-US" sz="1150" dirty="0"/>
          </a:p>
        </p:txBody>
      </p:sp>
      <p:sp>
        <p:nvSpPr>
          <p:cNvPr id="62" name="Text"/>
          <p:cNvSpPr txBox="1"/>
          <p:nvPr/>
        </p:nvSpPr>
        <p:spPr>
          <a:xfrm>
            <a:off x="7701534" y="4811298"/>
            <a:ext cx="3607765" cy="196870"/>
          </a:xfrm>
          <a:prstGeom prst="rect">
            <a:avLst/>
          </a:prstGeom>
          <a:noFill/>
          <a:ln/>
        </p:spPr>
        <p:txBody>
          <a:bodyPr wrap="none" lIns="0" tIns="0" rIns="0" bIns="0" rtlCol="0" anchor="t"/>
          <a:lstStyle/>
          <a:p>
            <a:pPr algn="l" indent="0" marL="0">
              <a:lnSpc>
                <a:spcPts val="1550"/>
              </a:lnSpc>
              <a:buNone/>
            </a:pPr>
            <a:r>
              <a:rPr lang="en-US" sz="1000" dirty="0">
                <a:solidFill>
                  <a:srgbClr val="1F2937"/>
                </a:solidFill>
                <a:latin typeface="Poppins Light" pitchFamily="34" charset="0"/>
                <a:ea typeface="Poppins Light" pitchFamily="34" charset="-122"/>
                <a:cs typeface="Poppins Light" pitchFamily="34" charset="-120"/>
              </a:rPr>
              <a:t>Retrieval grounds answers in the firm’s own documents.</a:t>
            </a:r>
            <a:endParaRPr lang="en-US" sz="1000" dirty="0"/>
          </a:p>
        </p:txBody>
      </p:sp>
      <p:sp>
        <p:nvSpPr>
          <p:cNvPr id="63" name="Text"/>
          <p:cNvSpPr txBox="1"/>
          <p:nvPr/>
        </p:nvSpPr>
        <p:spPr>
          <a:xfrm>
            <a:off x="1403330" y="5553517"/>
            <a:ext cx="1375989" cy="226405"/>
          </a:xfrm>
          <a:prstGeom prst="rect">
            <a:avLst/>
          </a:prstGeom>
          <a:noFill/>
          <a:ln/>
        </p:spPr>
        <p:txBody>
          <a:bodyPr wrap="none" lIns="0" tIns="0" rIns="0" bIns="0" rtlCol="0" anchor="t"/>
          <a:lstStyle/>
          <a:p>
            <a:pPr algn="l" indent="0" marL="0">
              <a:lnSpc>
                <a:spcPts val="1782"/>
              </a:lnSpc>
              <a:buNone/>
            </a:pPr>
            <a:r>
              <a:rPr lang="en-US" sz="1150" dirty="0">
                <a:solidFill>
                  <a:srgbClr val="000000"/>
                </a:solidFill>
                <a:latin typeface="Poppins Medium" pitchFamily="34" charset="0"/>
                <a:ea typeface="Poppins Medium" pitchFamily="34" charset="-122"/>
                <a:cs typeface="Poppins Medium" pitchFamily="34" charset="-120"/>
              </a:rPr>
              <a:t>Your core systems</a:t>
            </a:r>
            <a:endParaRPr lang="en-US" sz="1150" dirty="0"/>
          </a:p>
        </p:txBody>
      </p:sp>
      <p:sp>
        <p:nvSpPr>
          <p:cNvPr id="64" name="Text"/>
          <p:cNvSpPr txBox="1"/>
          <p:nvPr/>
        </p:nvSpPr>
        <p:spPr>
          <a:xfrm>
            <a:off x="2965491" y="5471952"/>
            <a:ext cx="3938961" cy="393741"/>
          </a:xfrm>
          <a:prstGeom prst="rect">
            <a:avLst/>
          </a:prstGeom>
          <a:noFill/>
          <a:ln/>
        </p:spPr>
        <p:txBody>
          <a:bodyPr wrap="square" lIns="0" tIns="0" rIns="0" bIns="0" rtlCol="0" anchor="t"/>
          <a:lstStyle/>
          <a:p>
            <a:pPr algn="l" indent="0" marL="0">
              <a:lnSpc>
                <a:spcPts val="1550"/>
              </a:lnSpc>
              <a:buNone/>
            </a:pPr>
            <a:r>
              <a:rPr lang="en-US" sz="1000" dirty="0">
                <a:solidFill>
                  <a:srgbClr val="000000"/>
                </a:solidFill>
                <a:latin typeface="Poppins Light" pitchFamily="34" charset="0"/>
                <a:ea typeface="Poppins Light" pitchFamily="34" charset="-122"/>
                <a:cs typeface="Poppins Light" pitchFamily="34" charset="-120"/>
              </a:rPr>
              <a:t>ERP · CRM · case management · bank, government, SSM and CTOS portals · email · WhatsApp</a:t>
            </a:r>
            <a:endParaRPr lang="en-US" sz="1000" dirty="0"/>
          </a:p>
        </p:txBody>
      </p:sp>
      <p:sp>
        <p:nvSpPr>
          <p:cNvPr id="65" name="Text"/>
          <p:cNvSpPr txBox="1"/>
          <p:nvPr/>
        </p:nvSpPr>
        <p:spPr>
          <a:xfrm>
            <a:off x="7701534" y="5452567"/>
            <a:ext cx="3609411" cy="206654"/>
          </a:xfrm>
          <a:prstGeom prst="rect">
            <a:avLst/>
          </a:prstGeom>
          <a:noFill/>
          <a:ln/>
        </p:spPr>
        <p:txBody>
          <a:bodyPr wrap="square" lIns="0" tIns="0" rIns="0" bIns="0" rtlCol="0" anchor="t"/>
          <a:lstStyle/>
          <a:p>
            <a:pPr algn="l" indent="0" marL="0">
              <a:lnSpc>
                <a:spcPts val="1627"/>
              </a:lnSpc>
              <a:buNone/>
            </a:pPr>
            <a:r>
              <a:rPr lang="en-US" sz="1050" dirty="0">
                <a:solidFill>
                  <a:srgbClr val="000000"/>
                </a:solidFill>
                <a:latin typeface="Poppins Medium" pitchFamily="34" charset="0"/>
                <a:ea typeface="Poppins Medium" pitchFamily="34" charset="-122"/>
                <a:cs typeface="Poppins Medium" pitchFamily="34" charset="-120"/>
              </a:rPr>
              <a:t>One ALPHV platform, in place of legacy</a:t>
            </a:r>
            <a:endParaRPr lang="en-US" sz="1050" dirty="0"/>
          </a:p>
        </p:txBody>
      </p:sp>
      <p:sp>
        <p:nvSpPr>
          <p:cNvPr id="66" name="Text"/>
          <p:cNvSpPr txBox="1"/>
          <p:nvPr/>
        </p:nvSpPr>
        <p:spPr>
          <a:xfrm>
            <a:off x="7701534" y="5686471"/>
            <a:ext cx="3609411" cy="196870"/>
          </a:xfrm>
          <a:prstGeom prst="rect">
            <a:avLst/>
          </a:prstGeom>
          <a:noFill/>
          <a:ln/>
        </p:spPr>
        <p:txBody>
          <a:bodyPr wrap="square" lIns="0" tIns="0" rIns="0" bIns="0" rtlCol="0" anchor="t"/>
          <a:lstStyle/>
          <a:p>
            <a:pPr algn="l" indent="0" marL="0">
              <a:lnSpc>
                <a:spcPts val="1550"/>
              </a:lnSpc>
              <a:buNone/>
            </a:pPr>
            <a:r>
              <a:rPr lang="en-US" sz="1000" dirty="0">
                <a:solidFill>
                  <a:srgbClr val="000000"/>
                </a:solidFill>
                <a:latin typeface="Poppins Light" pitchFamily="34" charset="0"/>
                <a:ea typeface="Poppins Light" pitchFamily="34" charset="-122"/>
                <a:cs typeface="Poppins Light" pitchFamily="34" charset="-120"/>
              </a:rPr>
              <a:t>Case management, back office and accounting</a:t>
            </a:r>
            <a:endParaRPr lang="en-US" sz="1000" dirty="0"/>
          </a:p>
        </p:txBody>
      </p:sp>
      <p:sp>
        <p:nvSpPr>
          <p:cNvPr id="67" name="Text"/>
          <p:cNvSpPr txBox="1"/>
          <p:nvPr/>
        </p:nvSpPr>
        <p:spPr>
          <a:xfrm>
            <a:off x="6287140" y="276240"/>
            <a:ext cx="708477"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Point of view</a:t>
            </a:r>
            <a:endParaRPr lang="en-US" sz="850" dirty="0"/>
          </a:p>
        </p:txBody>
      </p:sp>
      <p:sp>
        <p:nvSpPr>
          <p:cNvPr id="68" name="Text"/>
          <p:cNvSpPr txBox="1"/>
          <p:nvPr/>
        </p:nvSpPr>
        <p:spPr>
          <a:xfrm>
            <a:off x="7240494" y="276240"/>
            <a:ext cx="665958"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Who we are</a:t>
            </a:r>
            <a:endParaRPr lang="en-US" sz="850" dirty="0"/>
          </a:p>
        </p:txBody>
      </p:sp>
      <p:sp>
        <p:nvSpPr>
          <p:cNvPr id="69" name="Text"/>
          <p:cNvSpPr txBox="1"/>
          <p:nvPr/>
        </p:nvSpPr>
        <p:spPr>
          <a:xfrm>
            <a:off x="8151510" y="276240"/>
            <a:ext cx="671261"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044BD9"/>
                </a:solidFill>
                <a:latin typeface="Poppins Medium" pitchFamily="34" charset="0"/>
                <a:ea typeface="Poppins Medium" pitchFamily="34" charset="-122"/>
                <a:cs typeface="Poppins Medium" pitchFamily="34" charset="-120"/>
              </a:rPr>
              <a:t>What we do</a:t>
            </a:r>
            <a:endParaRPr lang="en-US" sz="850" dirty="0"/>
          </a:p>
        </p:txBody>
      </p:sp>
      <p:sp>
        <p:nvSpPr>
          <p:cNvPr id="70" name="Text"/>
          <p:cNvSpPr txBox="1"/>
          <p:nvPr/>
        </p:nvSpPr>
        <p:spPr>
          <a:xfrm>
            <a:off x="9067830" y="276240"/>
            <a:ext cx="1205728"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Sectors and products</a:t>
            </a:r>
            <a:endParaRPr lang="en-US" sz="850" dirty="0"/>
          </a:p>
        </p:txBody>
      </p:sp>
      <p:sp>
        <p:nvSpPr>
          <p:cNvPr id="71" name="Text"/>
          <p:cNvSpPr txBox="1"/>
          <p:nvPr/>
        </p:nvSpPr>
        <p:spPr>
          <a:xfrm>
            <a:off x="10516423" y="276240"/>
            <a:ext cx="298552"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Proof</a:t>
            </a:r>
            <a:endParaRPr lang="en-US" sz="850" dirty="0"/>
          </a:p>
        </p:txBody>
      </p:sp>
      <p:sp>
        <p:nvSpPr>
          <p:cNvPr id="72" name="Text"/>
          <p:cNvSpPr txBox="1"/>
          <p:nvPr/>
        </p:nvSpPr>
        <p:spPr>
          <a:xfrm>
            <a:off x="11061497" y="276240"/>
            <a:ext cx="433700"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Engage</a:t>
            </a:r>
            <a:endParaRPr lang="en-US" sz="850" dirty="0"/>
          </a:p>
        </p:txBody>
      </p:sp>
      <p:sp>
        <p:nvSpPr>
          <p:cNvPr id="73" name="Source"/>
          <p:cNvSpPr txBox="1"/>
          <p:nvPr/>
        </p:nvSpPr>
        <p:spPr>
          <a:xfrm>
            <a:off x="711220" y="6409030"/>
            <a:ext cx="8280441" cy="151150"/>
          </a:xfrm>
          <a:prstGeom prst="rect">
            <a:avLst/>
          </a:prstGeom>
          <a:noFill/>
          <a:ln/>
        </p:spPr>
        <p:txBody>
          <a:bodyPr wrap="none" lIns="0" tIns="0" rIns="0" bIns="0" rtlCol="0" anchor="t"/>
          <a:lstStyle/>
          <a:p>
            <a:pPr algn="l" indent="0" marL="0">
              <a:lnSpc>
                <a:spcPts val="1190"/>
              </a:lnSpc>
              <a:buNone/>
            </a:pPr>
            <a:r>
              <a:rPr lang="en-US" sz="850" dirty="0">
                <a:solidFill>
                  <a:srgbClr val="6B6B6B"/>
                </a:solidFill>
                <a:latin typeface="Poppins" pitchFamily="34" charset="0"/>
                <a:ea typeface="Poppins" pitchFamily="34" charset="-122"/>
                <a:cs typeface="Poppins" pitchFamily="34" charset="-120"/>
              </a:rPr>
              <a:t>Source: alphv.com/services/ai-engineering; alphv.com/services; alphv.com/insights/sovereign-ai-case-management-law-firm (October 2026).</a:t>
            </a:r>
            <a:endParaRPr lang="en-US" sz="850" dirty="0"/>
          </a:p>
        </p:txBody>
      </p:sp>
      <p:sp>
        <p:nvSpPr>
          <p:cNvPr id="74" name="Text"/>
          <p:cNvSpPr txBox="1"/>
          <p:nvPr/>
        </p:nvSpPr>
        <p:spPr>
          <a:xfrm>
            <a:off x="9379367" y="6409030"/>
            <a:ext cx="393741" cy="151150"/>
          </a:xfrm>
          <a:prstGeom prst="rect">
            <a:avLst/>
          </a:prstGeom>
          <a:noFill/>
          <a:ln/>
        </p:spPr>
        <p:txBody>
          <a:bodyPr wrap="none" lIns="0" tIns="0" rIns="0" bIns="0" rtlCol="0" anchor="t"/>
          <a:lstStyle/>
          <a:p>
            <a:pPr algn="l" indent="0" marL="0">
              <a:lnSpc>
                <a:spcPts val="1190"/>
              </a:lnSpc>
              <a:buNone/>
            </a:pPr>
            <a:r>
              <a:rPr lang="en-US" sz="850" spc="34" kern="0" dirty="0">
                <a:solidFill>
                  <a:srgbClr val="000000"/>
                </a:solidFill>
                <a:latin typeface="Poppins SemiBold" pitchFamily="34" charset="0"/>
                <a:ea typeface="Poppins SemiBold" pitchFamily="34" charset="-122"/>
                <a:cs typeface="Poppins SemiBold" pitchFamily="34" charset="-120"/>
              </a:rPr>
              <a:t>ALPHV</a:t>
            </a:r>
            <a:endParaRPr lang="en-US" sz="850" dirty="0"/>
          </a:p>
        </p:txBody>
      </p:sp>
      <p:sp>
        <p:nvSpPr>
          <p:cNvPr id="75" name="Text"/>
          <p:cNvSpPr txBox="1"/>
          <p:nvPr/>
        </p:nvSpPr>
        <p:spPr>
          <a:xfrm>
            <a:off x="9887316" y="6409030"/>
            <a:ext cx="1377178" cy="151150"/>
          </a:xfrm>
          <a:prstGeom prst="rect">
            <a:avLst/>
          </a:prstGeom>
          <a:noFill/>
          <a:ln/>
        </p:spPr>
        <p:txBody>
          <a:bodyPr wrap="none" lIns="0" tIns="0" rIns="0" bIns="0" rtlCol="0" anchor="t"/>
          <a:lstStyle/>
          <a:p>
            <a:pPr algn="l" indent="0" marL="0">
              <a:lnSpc>
                <a:spcPts val="1190"/>
              </a:lnSpc>
              <a:buNone/>
            </a:pPr>
            <a:r>
              <a:rPr lang="en-US" sz="850" dirty="0">
                <a:solidFill>
                  <a:srgbClr val="6B6B6B"/>
                </a:solidFill>
                <a:latin typeface="Poppins" pitchFamily="34" charset="0"/>
                <a:ea typeface="Poppins" pitchFamily="34" charset="-122"/>
                <a:cs typeface="Poppins" pitchFamily="34" charset="-120"/>
              </a:rPr>
              <a:t>Corporate overview 2026</a:t>
            </a:r>
            <a:endParaRPr lang="en-US" sz="850" dirty="0"/>
          </a:p>
        </p:txBody>
      </p:sp>
      <p:sp>
        <p:nvSpPr>
          <p:cNvPr id="76" name="Text"/>
          <p:cNvSpPr txBox="1"/>
          <p:nvPr/>
        </p:nvSpPr>
        <p:spPr>
          <a:xfrm>
            <a:off x="11378794" y="6409030"/>
            <a:ext cx="127376" cy="151150"/>
          </a:xfrm>
          <a:prstGeom prst="rect">
            <a:avLst/>
          </a:prstGeom>
          <a:noFill/>
          <a:ln/>
        </p:spPr>
        <p:txBody>
          <a:bodyPr wrap="none" lIns="0" tIns="0" rIns="0" bIns="0" rtlCol="0" anchor="t"/>
          <a:lstStyle/>
          <a:p>
            <a:pPr algn="l" indent="0" marL="0">
              <a:lnSpc>
                <a:spcPts val="1190"/>
              </a:lnSpc>
              <a:buNone/>
            </a:pPr>
            <a:r>
              <a:rPr lang="en-US" sz="850" dirty="0">
                <a:solidFill>
                  <a:srgbClr val="000000"/>
                </a:solidFill>
                <a:latin typeface="Poppins Medium" pitchFamily="34" charset="0"/>
                <a:ea typeface="Poppins Medium" pitchFamily="34" charset="-122"/>
                <a:cs typeface="Poppins Medium" pitchFamily="34" charset="-120"/>
              </a:rPr>
              <a:t>13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badge"/>
          <p:cNvSpPr/>
          <p:nvPr/>
        </p:nvSpPr>
        <p:spPr>
          <a:xfrm>
            <a:off x="714421" y="536570"/>
            <a:ext cx="1011875" cy="254020"/>
          </a:xfrm>
          <a:prstGeom prst="roundRect">
            <a:avLst>
              <a:gd name="adj" fmla="val 50000"/>
            </a:avLst>
          </a:prstGeom>
          <a:ln w="6350">
            <a:solidFill>
              <a:srgbClr val="155DFC"/>
            </a:solidFill>
            <a:prstDash val="solid"/>
          </a:ln>
        </p:spPr>
      </p:sp>
      <p:sp>
        <p:nvSpPr>
          <p:cNvPr id="3" name="card"/>
          <p:cNvSpPr/>
          <p:nvPr/>
        </p:nvSpPr>
        <p:spPr>
          <a:xfrm>
            <a:off x="714421" y="2077060"/>
            <a:ext cx="3481852" cy="3939601"/>
          </a:xfrm>
          <a:prstGeom prst="roundRect">
            <a:avLst>
              <a:gd name="adj" fmla="val 4286"/>
            </a:avLst>
          </a:prstGeom>
          <a:solidFill>
            <a:srgbClr val="FBFBFB"/>
          </a:solidFill>
          <a:ln w="6350">
            <a:solidFill>
              <a:srgbClr val="F0F0F0"/>
            </a:solidFill>
            <a:prstDash val="solid"/>
          </a:ln>
        </p:spPr>
      </p:sp>
      <p:sp>
        <p:nvSpPr>
          <p:cNvPr id="4" name="tile"/>
          <p:cNvSpPr/>
          <p:nvPr/>
        </p:nvSpPr>
        <p:spPr>
          <a:xfrm>
            <a:off x="946130" y="2353300"/>
            <a:ext cx="381030" cy="381030"/>
          </a:xfrm>
          <a:prstGeom prst="roundRect">
            <a:avLst>
              <a:gd name="adj" fmla="val 29998"/>
            </a:avLst>
          </a:prstGeom>
          <a:solidFill>
            <a:srgbClr val="044BD9"/>
          </a:solidFill>
          <a:ln/>
        </p:spPr>
      </p:sp>
      <p:pic>
        <p:nvPicPr>
          <p:cNvPr id="5" name="Icon" descr="/tmp/deck-pptx-47cOtg/icon-48.png">    </p:cNvPr>
          <p:cNvPicPr>
            <a:picLocks noChangeAspect="1"/>
          </p:cNvPicPr>
          <p:nvPr/>
        </p:nvPicPr>
        <p:blipFill>
          <a:blip r:embed="rId1"/>
          <a:stretch>
            <a:fillRect/>
          </a:stretch>
        </p:blipFill>
        <p:spPr>
          <a:xfrm>
            <a:off x="1047720" y="2454890"/>
            <a:ext cx="177759" cy="177759"/>
          </a:xfrm>
          <a:prstGeom prst="rect">
            <a:avLst/>
          </a:prstGeom>
        </p:spPr>
      </p:pic>
      <p:sp>
        <p:nvSpPr>
          <p:cNvPr id="6" name="Rule"/>
          <p:cNvSpPr/>
          <p:nvPr/>
        </p:nvSpPr>
        <p:spPr>
          <a:xfrm>
            <a:off x="946130" y="3391510"/>
            <a:ext cx="3018343" cy="0"/>
          </a:xfrm>
          <a:prstGeom prst="line">
            <a:avLst/>
          </a:prstGeom>
          <a:noFill/>
          <a:ln w="6350">
            <a:solidFill>
              <a:srgbClr val="F0F0F0"/>
            </a:solidFill>
            <a:prstDash val="solid"/>
          </a:ln>
        </p:spPr>
      </p:sp>
      <p:sp>
        <p:nvSpPr>
          <p:cNvPr id="7" name="li::before"/>
          <p:cNvSpPr/>
          <p:nvPr/>
        </p:nvSpPr>
        <p:spPr>
          <a:xfrm>
            <a:off x="946130" y="3595604"/>
            <a:ext cx="57150" cy="57150"/>
          </a:xfrm>
          <a:prstGeom prst="rect">
            <a:avLst/>
          </a:prstGeom>
          <a:solidFill>
            <a:srgbClr val="044BD9"/>
          </a:solidFill>
          <a:ln/>
        </p:spPr>
      </p:sp>
      <p:sp>
        <p:nvSpPr>
          <p:cNvPr id="8" name="li::before"/>
          <p:cNvSpPr/>
          <p:nvPr/>
        </p:nvSpPr>
        <p:spPr>
          <a:xfrm>
            <a:off x="946130" y="4090843"/>
            <a:ext cx="57150" cy="57150"/>
          </a:xfrm>
          <a:prstGeom prst="rect">
            <a:avLst/>
          </a:prstGeom>
          <a:solidFill>
            <a:srgbClr val="044BD9"/>
          </a:solidFill>
          <a:ln/>
        </p:spPr>
      </p:sp>
      <p:sp>
        <p:nvSpPr>
          <p:cNvPr id="9" name="li::before"/>
          <p:cNvSpPr/>
          <p:nvPr/>
        </p:nvSpPr>
        <p:spPr>
          <a:xfrm>
            <a:off x="946130" y="4586173"/>
            <a:ext cx="57150" cy="57150"/>
          </a:xfrm>
          <a:prstGeom prst="rect">
            <a:avLst/>
          </a:prstGeom>
          <a:solidFill>
            <a:srgbClr val="044BD9"/>
          </a:solidFill>
          <a:ln/>
        </p:spPr>
      </p:sp>
      <p:sp>
        <p:nvSpPr>
          <p:cNvPr id="10" name="Rule"/>
          <p:cNvSpPr/>
          <p:nvPr/>
        </p:nvSpPr>
        <p:spPr>
          <a:xfrm>
            <a:off x="946130" y="5100798"/>
            <a:ext cx="3018343" cy="0"/>
          </a:xfrm>
          <a:prstGeom prst="line">
            <a:avLst/>
          </a:prstGeom>
          <a:noFill/>
          <a:ln w="6350">
            <a:solidFill>
              <a:srgbClr val="F0F0F0"/>
            </a:solidFill>
            <a:prstDash val="solid"/>
          </a:ln>
        </p:spPr>
      </p:sp>
      <p:sp>
        <p:nvSpPr>
          <p:cNvPr id="11" name="card"/>
          <p:cNvSpPr/>
          <p:nvPr/>
        </p:nvSpPr>
        <p:spPr>
          <a:xfrm>
            <a:off x="4355013" y="2077060"/>
            <a:ext cx="3481852" cy="3939601"/>
          </a:xfrm>
          <a:prstGeom prst="roundRect">
            <a:avLst>
              <a:gd name="adj" fmla="val 4286"/>
            </a:avLst>
          </a:prstGeom>
          <a:solidFill>
            <a:srgbClr val="FBFBFB"/>
          </a:solidFill>
          <a:ln w="6350">
            <a:solidFill>
              <a:srgbClr val="F0F0F0"/>
            </a:solidFill>
            <a:prstDash val="solid"/>
          </a:ln>
        </p:spPr>
      </p:sp>
      <p:sp>
        <p:nvSpPr>
          <p:cNvPr id="12" name="tile"/>
          <p:cNvSpPr/>
          <p:nvPr/>
        </p:nvSpPr>
        <p:spPr>
          <a:xfrm>
            <a:off x="4586813" y="2353300"/>
            <a:ext cx="381030" cy="381030"/>
          </a:xfrm>
          <a:prstGeom prst="roundRect">
            <a:avLst>
              <a:gd name="adj" fmla="val 29998"/>
            </a:avLst>
          </a:prstGeom>
          <a:solidFill>
            <a:srgbClr val="044BD9"/>
          </a:solidFill>
          <a:ln/>
        </p:spPr>
      </p:sp>
      <p:pic>
        <p:nvPicPr>
          <p:cNvPr id="13" name="Icon" descr="/tmp/deck-pptx-47cOtg/icon-49.png">    </p:cNvPr>
          <p:cNvPicPr>
            <a:picLocks noChangeAspect="1"/>
          </p:cNvPicPr>
          <p:nvPr/>
        </p:nvPicPr>
        <p:blipFill>
          <a:blip r:embed="rId2"/>
          <a:stretch>
            <a:fillRect/>
          </a:stretch>
        </p:blipFill>
        <p:spPr>
          <a:xfrm>
            <a:off x="4688403" y="2454890"/>
            <a:ext cx="177759" cy="177759"/>
          </a:xfrm>
          <a:prstGeom prst="rect">
            <a:avLst/>
          </a:prstGeom>
        </p:spPr>
      </p:pic>
      <p:sp>
        <p:nvSpPr>
          <p:cNvPr id="14" name="Rule"/>
          <p:cNvSpPr/>
          <p:nvPr/>
        </p:nvSpPr>
        <p:spPr>
          <a:xfrm>
            <a:off x="4586813" y="3391510"/>
            <a:ext cx="3018343" cy="0"/>
          </a:xfrm>
          <a:prstGeom prst="line">
            <a:avLst/>
          </a:prstGeom>
          <a:noFill/>
          <a:ln w="6350">
            <a:solidFill>
              <a:srgbClr val="F0F0F0"/>
            </a:solidFill>
            <a:prstDash val="solid"/>
          </a:ln>
        </p:spPr>
      </p:sp>
      <p:sp>
        <p:nvSpPr>
          <p:cNvPr id="15" name="li::before"/>
          <p:cNvSpPr/>
          <p:nvPr/>
        </p:nvSpPr>
        <p:spPr>
          <a:xfrm>
            <a:off x="4586813" y="3595604"/>
            <a:ext cx="57150" cy="57150"/>
          </a:xfrm>
          <a:prstGeom prst="rect">
            <a:avLst/>
          </a:prstGeom>
          <a:solidFill>
            <a:srgbClr val="044BD9"/>
          </a:solidFill>
          <a:ln/>
        </p:spPr>
      </p:sp>
      <p:sp>
        <p:nvSpPr>
          <p:cNvPr id="16" name="li::before"/>
          <p:cNvSpPr/>
          <p:nvPr/>
        </p:nvSpPr>
        <p:spPr>
          <a:xfrm>
            <a:off x="4586813" y="4090843"/>
            <a:ext cx="57150" cy="57150"/>
          </a:xfrm>
          <a:prstGeom prst="rect">
            <a:avLst/>
          </a:prstGeom>
          <a:solidFill>
            <a:srgbClr val="044BD9"/>
          </a:solidFill>
          <a:ln/>
        </p:spPr>
      </p:sp>
      <p:sp>
        <p:nvSpPr>
          <p:cNvPr id="17" name="li::before"/>
          <p:cNvSpPr/>
          <p:nvPr/>
        </p:nvSpPr>
        <p:spPr>
          <a:xfrm>
            <a:off x="4586813" y="4586173"/>
            <a:ext cx="57150" cy="57150"/>
          </a:xfrm>
          <a:prstGeom prst="rect">
            <a:avLst/>
          </a:prstGeom>
          <a:solidFill>
            <a:srgbClr val="044BD9"/>
          </a:solidFill>
          <a:ln/>
        </p:spPr>
      </p:sp>
      <p:sp>
        <p:nvSpPr>
          <p:cNvPr id="18" name="Rule"/>
          <p:cNvSpPr/>
          <p:nvPr/>
        </p:nvSpPr>
        <p:spPr>
          <a:xfrm>
            <a:off x="4586813" y="5100798"/>
            <a:ext cx="3018343" cy="0"/>
          </a:xfrm>
          <a:prstGeom prst="line">
            <a:avLst/>
          </a:prstGeom>
          <a:noFill/>
          <a:ln w="6350">
            <a:solidFill>
              <a:srgbClr val="F0F0F0"/>
            </a:solidFill>
            <a:prstDash val="solid"/>
          </a:ln>
        </p:spPr>
      </p:sp>
      <p:sp>
        <p:nvSpPr>
          <p:cNvPr id="19" name="card"/>
          <p:cNvSpPr/>
          <p:nvPr/>
        </p:nvSpPr>
        <p:spPr>
          <a:xfrm>
            <a:off x="7995605" y="2077060"/>
            <a:ext cx="3481852" cy="3939601"/>
          </a:xfrm>
          <a:prstGeom prst="roundRect">
            <a:avLst>
              <a:gd name="adj" fmla="val 4286"/>
            </a:avLst>
          </a:prstGeom>
          <a:solidFill>
            <a:srgbClr val="FBFBFB"/>
          </a:solidFill>
          <a:ln w="6350">
            <a:solidFill>
              <a:srgbClr val="F0F0F0"/>
            </a:solidFill>
            <a:prstDash val="solid"/>
          </a:ln>
        </p:spPr>
      </p:sp>
      <p:sp>
        <p:nvSpPr>
          <p:cNvPr id="20" name="tile"/>
          <p:cNvSpPr/>
          <p:nvPr/>
        </p:nvSpPr>
        <p:spPr>
          <a:xfrm>
            <a:off x="8227405" y="2353300"/>
            <a:ext cx="381030" cy="381030"/>
          </a:xfrm>
          <a:prstGeom prst="roundRect">
            <a:avLst>
              <a:gd name="adj" fmla="val 29998"/>
            </a:avLst>
          </a:prstGeom>
          <a:solidFill>
            <a:srgbClr val="044BD9"/>
          </a:solidFill>
          <a:ln/>
        </p:spPr>
      </p:sp>
      <p:pic>
        <p:nvPicPr>
          <p:cNvPr id="21" name="Icon" descr="/tmp/deck-pptx-47cOtg/icon-50.png">    </p:cNvPr>
          <p:cNvPicPr>
            <a:picLocks noChangeAspect="1"/>
          </p:cNvPicPr>
          <p:nvPr/>
        </p:nvPicPr>
        <p:blipFill>
          <a:blip r:embed="rId3"/>
          <a:stretch>
            <a:fillRect/>
          </a:stretch>
        </p:blipFill>
        <p:spPr>
          <a:xfrm>
            <a:off x="8328995" y="2454890"/>
            <a:ext cx="177759" cy="177759"/>
          </a:xfrm>
          <a:prstGeom prst="rect">
            <a:avLst/>
          </a:prstGeom>
        </p:spPr>
      </p:pic>
      <p:sp>
        <p:nvSpPr>
          <p:cNvPr id="22" name="Rule"/>
          <p:cNvSpPr/>
          <p:nvPr/>
        </p:nvSpPr>
        <p:spPr>
          <a:xfrm>
            <a:off x="8227405" y="3391510"/>
            <a:ext cx="3018343" cy="0"/>
          </a:xfrm>
          <a:prstGeom prst="line">
            <a:avLst/>
          </a:prstGeom>
          <a:noFill/>
          <a:ln w="6350">
            <a:solidFill>
              <a:srgbClr val="F0F0F0"/>
            </a:solidFill>
            <a:prstDash val="solid"/>
          </a:ln>
        </p:spPr>
      </p:sp>
      <p:sp>
        <p:nvSpPr>
          <p:cNvPr id="23" name="li::before"/>
          <p:cNvSpPr/>
          <p:nvPr/>
        </p:nvSpPr>
        <p:spPr>
          <a:xfrm>
            <a:off x="8227405" y="3595604"/>
            <a:ext cx="57150" cy="57150"/>
          </a:xfrm>
          <a:prstGeom prst="rect">
            <a:avLst/>
          </a:prstGeom>
          <a:solidFill>
            <a:srgbClr val="044BD9"/>
          </a:solidFill>
          <a:ln/>
        </p:spPr>
      </p:sp>
      <p:sp>
        <p:nvSpPr>
          <p:cNvPr id="24" name="li::before"/>
          <p:cNvSpPr/>
          <p:nvPr/>
        </p:nvSpPr>
        <p:spPr>
          <a:xfrm>
            <a:off x="8227405" y="4090843"/>
            <a:ext cx="57150" cy="57150"/>
          </a:xfrm>
          <a:prstGeom prst="rect">
            <a:avLst/>
          </a:prstGeom>
          <a:solidFill>
            <a:srgbClr val="044BD9"/>
          </a:solidFill>
          <a:ln/>
        </p:spPr>
      </p:sp>
      <p:sp>
        <p:nvSpPr>
          <p:cNvPr id="25" name="li::before"/>
          <p:cNvSpPr/>
          <p:nvPr/>
        </p:nvSpPr>
        <p:spPr>
          <a:xfrm>
            <a:off x="8227405" y="4586173"/>
            <a:ext cx="57150" cy="57150"/>
          </a:xfrm>
          <a:prstGeom prst="rect">
            <a:avLst/>
          </a:prstGeom>
          <a:solidFill>
            <a:srgbClr val="044BD9"/>
          </a:solidFill>
          <a:ln/>
        </p:spPr>
      </p:sp>
      <p:sp>
        <p:nvSpPr>
          <p:cNvPr id="26" name="Rule"/>
          <p:cNvSpPr/>
          <p:nvPr/>
        </p:nvSpPr>
        <p:spPr>
          <a:xfrm>
            <a:off x="8227405" y="5100798"/>
            <a:ext cx="3018343" cy="0"/>
          </a:xfrm>
          <a:prstGeom prst="line">
            <a:avLst/>
          </a:prstGeom>
          <a:noFill/>
          <a:ln w="6350">
            <a:solidFill>
              <a:srgbClr val="F0F0F0"/>
            </a:solidFill>
            <a:prstDash val="solid"/>
          </a:ln>
        </p:spPr>
      </p:sp>
      <p:sp>
        <p:nvSpPr>
          <p:cNvPr id="27" name="span::before"/>
          <p:cNvSpPr/>
          <p:nvPr/>
        </p:nvSpPr>
        <p:spPr>
          <a:xfrm>
            <a:off x="6191860" y="311170"/>
            <a:ext cx="44440" cy="44440"/>
          </a:xfrm>
          <a:prstGeom prst="rect">
            <a:avLst/>
          </a:prstGeom>
          <a:solidFill>
            <a:srgbClr val="A0A6AF">
              <a:alpha val="55000"/>
            </a:srgbClr>
          </a:solidFill>
          <a:ln/>
        </p:spPr>
      </p:sp>
      <p:sp>
        <p:nvSpPr>
          <p:cNvPr id="28" name="span::before"/>
          <p:cNvSpPr/>
          <p:nvPr/>
        </p:nvSpPr>
        <p:spPr>
          <a:xfrm>
            <a:off x="7145213" y="311170"/>
            <a:ext cx="44440" cy="44440"/>
          </a:xfrm>
          <a:prstGeom prst="rect">
            <a:avLst/>
          </a:prstGeom>
          <a:solidFill>
            <a:srgbClr val="A0A6AF">
              <a:alpha val="55000"/>
            </a:srgbClr>
          </a:solidFill>
          <a:ln/>
        </p:spPr>
      </p:sp>
      <p:sp>
        <p:nvSpPr>
          <p:cNvPr id="29" name="on::before"/>
          <p:cNvSpPr/>
          <p:nvPr/>
        </p:nvSpPr>
        <p:spPr>
          <a:xfrm>
            <a:off x="8056230" y="311170"/>
            <a:ext cx="44440" cy="44440"/>
          </a:xfrm>
          <a:prstGeom prst="rect">
            <a:avLst/>
          </a:prstGeom>
          <a:solidFill>
            <a:srgbClr val="044BD9"/>
          </a:solidFill>
          <a:ln/>
        </p:spPr>
      </p:sp>
      <p:sp>
        <p:nvSpPr>
          <p:cNvPr id="30" name="span::before"/>
          <p:cNvSpPr/>
          <p:nvPr/>
        </p:nvSpPr>
        <p:spPr>
          <a:xfrm>
            <a:off x="8972550" y="311170"/>
            <a:ext cx="44440" cy="44440"/>
          </a:xfrm>
          <a:prstGeom prst="rect">
            <a:avLst/>
          </a:prstGeom>
          <a:solidFill>
            <a:srgbClr val="A0A6AF">
              <a:alpha val="55000"/>
            </a:srgbClr>
          </a:solidFill>
          <a:ln/>
        </p:spPr>
      </p:sp>
      <p:sp>
        <p:nvSpPr>
          <p:cNvPr id="31" name="span::before"/>
          <p:cNvSpPr/>
          <p:nvPr/>
        </p:nvSpPr>
        <p:spPr>
          <a:xfrm>
            <a:off x="10421142" y="311170"/>
            <a:ext cx="44440" cy="44440"/>
          </a:xfrm>
          <a:prstGeom prst="rect">
            <a:avLst/>
          </a:prstGeom>
          <a:solidFill>
            <a:srgbClr val="A0A6AF">
              <a:alpha val="55000"/>
            </a:srgbClr>
          </a:solidFill>
          <a:ln/>
        </p:spPr>
      </p:sp>
      <p:sp>
        <p:nvSpPr>
          <p:cNvPr id="32" name="span::before"/>
          <p:cNvSpPr/>
          <p:nvPr/>
        </p:nvSpPr>
        <p:spPr>
          <a:xfrm>
            <a:off x="10966216" y="311170"/>
            <a:ext cx="44440" cy="44440"/>
          </a:xfrm>
          <a:prstGeom prst="rect">
            <a:avLst/>
          </a:prstGeom>
          <a:solidFill>
            <a:srgbClr val="A0A6AF">
              <a:alpha val="55000"/>
            </a:srgbClr>
          </a:solidFill>
          <a:ln/>
        </p:spPr>
      </p:sp>
      <p:sp>
        <p:nvSpPr>
          <p:cNvPr id="33" name="Text"/>
          <p:cNvSpPr txBox="1"/>
          <p:nvPr/>
        </p:nvSpPr>
        <p:spPr>
          <a:xfrm>
            <a:off x="844540" y="603230"/>
            <a:ext cx="776874" cy="120609"/>
          </a:xfrm>
          <a:prstGeom prst="rect">
            <a:avLst/>
          </a:prstGeom>
          <a:noFill/>
          <a:ln/>
        </p:spPr>
        <p:txBody>
          <a:bodyPr wrap="none" lIns="0" tIns="0" rIns="0" bIns="0" rtlCol="0" anchor="t"/>
          <a:lstStyle/>
          <a:p>
            <a:pPr algn="l" indent="0" marL="0">
              <a:lnSpc>
                <a:spcPts val="950"/>
              </a:lnSpc>
              <a:buNone/>
            </a:pPr>
            <a:r>
              <a:rPr lang="en-US" sz="950" spc="10" kern="0" dirty="0">
                <a:solidFill>
                  <a:srgbClr val="155DFC"/>
                </a:solidFill>
                <a:latin typeface="Poppins Medium" pitchFamily="34" charset="0"/>
                <a:ea typeface="Poppins Medium" pitchFamily="34" charset="-122"/>
                <a:cs typeface="Poppins Medium" pitchFamily="34" charset="-120"/>
              </a:rPr>
              <a:t>Services 1–3</a:t>
            </a:r>
            <a:endParaRPr lang="en-US" sz="950" dirty="0"/>
          </a:p>
        </p:txBody>
      </p:sp>
      <p:sp>
        <p:nvSpPr>
          <p:cNvPr id="34" name="Title"/>
          <p:cNvSpPr txBox="1"/>
          <p:nvPr/>
        </p:nvSpPr>
        <p:spPr>
          <a:xfrm>
            <a:off x="711220" y="927750"/>
            <a:ext cx="9398020" cy="861090"/>
          </a:xfrm>
          <a:prstGeom prst="rect">
            <a:avLst/>
          </a:prstGeom>
          <a:noFill/>
          <a:ln/>
        </p:spPr>
        <p:txBody>
          <a:bodyPr wrap="square" lIns="0" tIns="0" rIns="0" bIns="0" rtlCol="0" anchor="t"/>
          <a:lstStyle/>
          <a:p>
            <a:pPr algn="l" indent="0" marL="0">
              <a:lnSpc>
                <a:spcPts val="3390"/>
              </a:lnSpc>
              <a:buNone/>
            </a:pPr>
            <a:r>
              <a:rPr lang="en-US" sz="3000" spc="-45" kern="0" dirty="0">
                <a:solidFill>
                  <a:srgbClr val="000000"/>
                </a:solidFill>
                <a:latin typeface="Poppins Medium" pitchFamily="34" charset="0"/>
                <a:ea typeface="Poppins Medium" pitchFamily="34" charset="-122"/>
                <a:cs typeface="Poppins Medium" pitchFamily="34" charset="-120"/>
              </a:rPr>
              <a:t>AI engineering, agents and integration</a:t>
            </a:r>
            <a:endParaRPr lang="en-US" sz="3000" dirty="0"/>
          </a:p>
          <a:p>
            <a:pPr algn="l" indent="0" marL="0">
              <a:lnSpc>
                <a:spcPts val="3390"/>
              </a:lnSpc>
              <a:buNone/>
            </a:pPr>
            <a:r>
              <a:rPr lang="en-US" sz="3000" spc="-45" kern="0" dirty="0">
                <a:solidFill>
                  <a:srgbClr val="000000"/>
                </a:solidFill>
                <a:latin typeface="Poppins Medium" pitchFamily="34" charset="0"/>
                <a:ea typeface="Poppins Medium" pitchFamily="34" charset="-122"/>
                <a:cs typeface="Poppins Medium" pitchFamily="34" charset="-120"/>
              </a:rPr>
              <a:t>turn business cases into working systems</a:t>
            </a:r>
            <a:endParaRPr lang="en-US" sz="3000" dirty="0"/>
          </a:p>
        </p:txBody>
      </p:sp>
      <p:sp>
        <p:nvSpPr>
          <p:cNvPr id="35" name="Text"/>
          <p:cNvSpPr txBox="1"/>
          <p:nvPr/>
        </p:nvSpPr>
        <p:spPr>
          <a:xfrm>
            <a:off x="1454170" y="2422520"/>
            <a:ext cx="1413662" cy="232440"/>
          </a:xfrm>
          <a:prstGeom prst="rect">
            <a:avLst/>
          </a:prstGeom>
          <a:noFill/>
          <a:ln/>
        </p:spPr>
        <p:txBody>
          <a:bodyPr wrap="none" lIns="0" tIns="0" rIns="0" bIns="0" rtlCol="0" anchor="t"/>
          <a:lstStyle/>
          <a:p>
            <a:pPr algn="l" indent="0" marL="0">
              <a:lnSpc>
                <a:spcPts val="1830"/>
              </a:lnSpc>
              <a:buNone/>
            </a:pPr>
            <a:r>
              <a:rPr lang="en-US" sz="1500" dirty="0">
                <a:solidFill>
                  <a:srgbClr val="000000"/>
                </a:solidFill>
                <a:latin typeface="Poppins Medium" pitchFamily="34" charset="0"/>
                <a:ea typeface="Poppins Medium" pitchFamily="34" charset="-122"/>
                <a:cs typeface="Poppins Medium" pitchFamily="34" charset="-120"/>
              </a:rPr>
              <a:t>AI engineering</a:t>
            </a:r>
            <a:endParaRPr lang="en-US" sz="1500" dirty="0"/>
          </a:p>
        </p:txBody>
      </p:sp>
      <p:sp>
        <p:nvSpPr>
          <p:cNvPr id="36" name="Text"/>
          <p:cNvSpPr txBox="1"/>
          <p:nvPr/>
        </p:nvSpPr>
        <p:spPr>
          <a:xfrm>
            <a:off x="946130" y="2877434"/>
            <a:ext cx="3043123" cy="202540"/>
          </a:xfrm>
          <a:prstGeom prst="rect">
            <a:avLst/>
          </a:prstGeom>
          <a:noFill/>
          <a:ln/>
        </p:spPr>
        <p:txBody>
          <a:bodyPr wrap="square" lIns="0" tIns="0" rIns="0" bIns="0" rtlCol="0" anchor="t"/>
          <a:lstStyle/>
          <a:p>
            <a:pPr algn="l" indent="0" marL="0">
              <a:lnSpc>
                <a:spcPts val="1595"/>
              </a:lnSpc>
              <a:buNone/>
            </a:pPr>
            <a:r>
              <a:rPr lang="en-US" sz="1100" dirty="0">
                <a:solidFill>
                  <a:srgbClr val="000000"/>
                </a:solidFill>
                <a:latin typeface="Poppins Light" pitchFamily="34" charset="0"/>
                <a:ea typeface="Poppins Light" pitchFamily="34" charset="-122"/>
                <a:cs typeface="Poppins Light" pitchFamily="34" charset="-120"/>
              </a:rPr>
              <a:t>Turn your own data into specialised AI</a:t>
            </a:r>
            <a:endParaRPr lang="en-US" sz="1100" dirty="0"/>
          </a:p>
        </p:txBody>
      </p:sp>
      <p:sp>
        <p:nvSpPr>
          <p:cNvPr id="37" name="Text"/>
          <p:cNvSpPr txBox="1"/>
          <p:nvPr/>
        </p:nvSpPr>
        <p:spPr>
          <a:xfrm>
            <a:off x="1111270" y="3509010"/>
            <a:ext cx="2877342" cy="419070"/>
          </a:xfrm>
          <a:prstGeom prst="rect">
            <a:avLst/>
          </a:prstGeom>
          <a:noFill/>
          <a:ln/>
        </p:spPr>
        <p:txBody>
          <a:bodyPr wrap="square" lIns="0" tIns="0" rIns="0" bIns="0" rtlCol="0" anchor="t"/>
          <a:lstStyle/>
          <a:p>
            <a:pPr algn="l" indent="0" marL="0">
              <a:lnSpc>
                <a:spcPts val="1650"/>
              </a:lnSpc>
              <a:buNone/>
            </a:pPr>
            <a:r>
              <a:rPr lang="en-US" sz="1100" dirty="0">
                <a:solidFill>
                  <a:srgbClr val="1F2937"/>
                </a:solidFill>
                <a:latin typeface="Poppins Light" pitchFamily="34" charset="0"/>
                <a:ea typeface="Poppins Light" pitchFamily="34" charset="-122"/>
                <a:cs typeface="Poppins Light" pitchFamily="34" charset="-120"/>
              </a:rPr>
              <a:t>Knowledge integration and RAG over your documents and records</a:t>
            </a:r>
            <a:endParaRPr lang="en-US" sz="1100" dirty="0"/>
          </a:p>
        </p:txBody>
      </p:sp>
      <p:sp>
        <p:nvSpPr>
          <p:cNvPr id="38" name="Text"/>
          <p:cNvSpPr txBox="1"/>
          <p:nvPr/>
        </p:nvSpPr>
        <p:spPr>
          <a:xfrm>
            <a:off x="1111270" y="4004249"/>
            <a:ext cx="2877342" cy="419070"/>
          </a:xfrm>
          <a:prstGeom prst="rect">
            <a:avLst/>
          </a:prstGeom>
          <a:noFill/>
          <a:ln/>
        </p:spPr>
        <p:txBody>
          <a:bodyPr wrap="square" lIns="0" tIns="0" rIns="0" bIns="0" rtlCol="0" anchor="t"/>
          <a:lstStyle/>
          <a:p>
            <a:pPr algn="l" indent="0" marL="0">
              <a:lnSpc>
                <a:spcPts val="1650"/>
              </a:lnSpc>
              <a:buNone/>
            </a:pPr>
            <a:r>
              <a:rPr lang="en-US" sz="1100" dirty="0">
                <a:solidFill>
                  <a:srgbClr val="1F2937"/>
                </a:solidFill>
                <a:latin typeface="Poppins Light" pitchFamily="34" charset="0"/>
                <a:ea typeface="Poppins Light" pitchFamily="34" charset="-122"/>
                <a:cs typeface="Poppins Light" pitchFamily="34" charset="-120"/>
              </a:rPr>
              <a:t>Specialised fine-tuning, including Qwen2.5-14B on H100 SXM</a:t>
            </a:r>
            <a:endParaRPr lang="en-US" sz="1100" dirty="0"/>
          </a:p>
        </p:txBody>
      </p:sp>
      <p:sp>
        <p:nvSpPr>
          <p:cNvPr id="39" name="Text"/>
          <p:cNvSpPr txBox="1"/>
          <p:nvPr/>
        </p:nvSpPr>
        <p:spPr>
          <a:xfrm>
            <a:off x="1111270" y="4499580"/>
            <a:ext cx="2877342" cy="209580"/>
          </a:xfrm>
          <a:prstGeom prst="rect">
            <a:avLst/>
          </a:prstGeom>
          <a:noFill/>
          <a:ln/>
        </p:spPr>
        <p:txBody>
          <a:bodyPr wrap="square" lIns="0" tIns="0" rIns="0" bIns="0" rtlCol="0" anchor="t"/>
          <a:lstStyle/>
          <a:p>
            <a:pPr algn="l" indent="0" marL="0">
              <a:lnSpc>
                <a:spcPts val="1650"/>
              </a:lnSpc>
              <a:buNone/>
            </a:pPr>
            <a:r>
              <a:rPr lang="en-US" sz="1100" dirty="0">
                <a:solidFill>
                  <a:srgbClr val="1F2937"/>
                </a:solidFill>
                <a:latin typeface="Poppins Light" pitchFamily="34" charset="0"/>
                <a:ea typeface="Poppins Light" pitchFamily="34" charset="-122"/>
                <a:cs typeface="Poppins Light" pitchFamily="34" charset="-120"/>
              </a:rPr>
              <a:t>Multimodal models and document AI</a:t>
            </a:r>
            <a:endParaRPr lang="en-US" sz="1100" dirty="0"/>
          </a:p>
        </p:txBody>
      </p:sp>
      <p:sp>
        <p:nvSpPr>
          <p:cNvPr id="40" name="Text"/>
          <p:cNvSpPr txBox="1"/>
          <p:nvPr/>
        </p:nvSpPr>
        <p:spPr>
          <a:xfrm>
            <a:off x="946130" y="5204490"/>
            <a:ext cx="3043123" cy="167335"/>
          </a:xfrm>
          <a:prstGeom prst="rect">
            <a:avLst/>
          </a:prstGeom>
          <a:noFill/>
          <a:ln/>
        </p:spPr>
        <p:txBody>
          <a:bodyPr wrap="square" lIns="0" tIns="0" rIns="0" bIns="0" rtlCol="0" anchor="t"/>
          <a:lstStyle/>
          <a:p>
            <a:pPr algn="l" indent="0" marL="0">
              <a:lnSpc>
                <a:spcPts val="1318"/>
              </a:lnSpc>
              <a:buNone/>
            </a:pPr>
            <a:r>
              <a:rPr lang="en-US" sz="850" spc="17" kern="0" dirty="0">
                <a:solidFill>
                  <a:srgbClr val="044BD9"/>
                </a:solidFill>
                <a:latin typeface="Poppins Medium" pitchFamily="34" charset="0"/>
                <a:ea typeface="Poppins Medium" pitchFamily="34" charset="-122"/>
                <a:cs typeface="Poppins Medium" pitchFamily="34" charset="-120"/>
              </a:rPr>
              <a:t>Proof</a:t>
            </a:r>
            <a:endParaRPr lang="en-US" sz="850" dirty="0"/>
          </a:p>
        </p:txBody>
      </p:sp>
      <p:sp>
        <p:nvSpPr>
          <p:cNvPr id="41" name="Text"/>
          <p:cNvSpPr txBox="1"/>
          <p:nvPr/>
        </p:nvSpPr>
        <p:spPr>
          <a:xfrm>
            <a:off x="946130" y="5409590"/>
            <a:ext cx="3043123" cy="373990"/>
          </a:xfrm>
          <a:prstGeom prst="rect">
            <a:avLst/>
          </a:prstGeom>
          <a:noFill/>
          <a:ln/>
        </p:spPr>
        <p:txBody>
          <a:bodyPr wrap="square" lIns="0" tIns="0" rIns="0" bIns="0" rtlCol="0" anchor="t"/>
          <a:lstStyle/>
          <a:p>
            <a:pPr algn="l" indent="0" marL="0">
              <a:lnSpc>
                <a:spcPts val="1472"/>
              </a:lnSpc>
              <a:buNone/>
            </a:pPr>
            <a:r>
              <a:rPr lang="en-US" sz="950" dirty="0">
                <a:solidFill>
                  <a:srgbClr val="1F2937"/>
                </a:solidFill>
                <a:latin typeface="Poppins Light" pitchFamily="34" charset="0"/>
                <a:ea typeface="Poppins Light" pitchFamily="34" charset="-122"/>
                <a:cs typeface="Poppins Light" pitchFamily="34" charset="-120"/>
              </a:rPr>
              <a:t>Clinicians at a leading healthcare group review a drafted report instead of writing from scratch</a:t>
            </a:r>
            <a:endParaRPr lang="en-US" sz="950" dirty="0"/>
          </a:p>
        </p:txBody>
      </p:sp>
      <p:sp>
        <p:nvSpPr>
          <p:cNvPr id="42" name="Text"/>
          <p:cNvSpPr txBox="1"/>
          <p:nvPr/>
        </p:nvSpPr>
        <p:spPr>
          <a:xfrm>
            <a:off x="5094762" y="2422520"/>
            <a:ext cx="1952153" cy="232440"/>
          </a:xfrm>
          <a:prstGeom prst="rect">
            <a:avLst/>
          </a:prstGeom>
          <a:noFill/>
          <a:ln/>
        </p:spPr>
        <p:txBody>
          <a:bodyPr wrap="none" lIns="0" tIns="0" rIns="0" bIns="0" rtlCol="0" anchor="t"/>
          <a:lstStyle/>
          <a:p>
            <a:pPr algn="l" indent="0" marL="0">
              <a:lnSpc>
                <a:spcPts val="1830"/>
              </a:lnSpc>
              <a:buNone/>
            </a:pPr>
            <a:r>
              <a:rPr lang="en-US" sz="1500" dirty="0">
                <a:solidFill>
                  <a:srgbClr val="000000"/>
                </a:solidFill>
                <a:latin typeface="Poppins Medium" pitchFamily="34" charset="0"/>
                <a:ea typeface="Poppins Medium" pitchFamily="34" charset="-122"/>
                <a:cs typeface="Poppins Medium" pitchFamily="34" charset="-120"/>
              </a:rPr>
              <a:t>Agentic automation</a:t>
            </a:r>
            <a:endParaRPr lang="en-US" sz="1500" dirty="0"/>
          </a:p>
        </p:txBody>
      </p:sp>
      <p:sp>
        <p:nvSpPr>
          <p:cNvPr id="43" name="Text"/>
          <p:cNvSpPr txBox="1"/>
          <p:nvPr/>
        </p:nvSpPr>
        <p:spPr>
          <a:xfrm>
            <a:off x="4586813" y="2877434"/>
            <a:ext cx="3043763" cy="202540"/>
          </a:xfrm>
          <a:prstGeom prst="rect">
            <a:avLst/>
          </a:prstGeom>
          <a:noFill/>
          <a:ln/>
        </p:spPr>
        <p:txBody>
          <a:bodyPr wrap="none" lIns="0" tIns="0" rIns="0" bIns="0" rtlCol="0" anchor="t"/>
          <a:lstStyle/>
          <a:p>
            <a:pPr algn="l" indent="0" marL="0">
              <a:lnSpc>
                <a:spcPts val="1595"/>
              </a:lnSpc>
              <a:buNone/>
            </a:pPr>
            <a:r>
              <a:rPr lang="en-US" sz="1100" dirty="0">
                <a:solidFill>
                  <a:srgbClr val="000000"/>
                </a:solidFill>
                <a:latin typeface="Poppins Light" pitchFamily="34" charset="0"/>
                <a:ea typeface="Poppins Light" pitchFamily="34" charset="-122"/>
                <a:cs typeface="Poppins Light" pitchFamily="34" charset="-120"/>
              </a:rPr>
              <a:t>Put AI agents to work across your systems</a:t>
            </a:r>
            <a:endParaRPr lang="en-US" sz="1100" dirty="0"/>
          </a:p>
        </p:txBody>
      </p:sp>
      <p:sp>
        <p:nvSpPr>
          <p:cNvPr id="44" name="Text"/>
          <p:cNvSpPr txBox="1"/>
          <p:nvPr/>
        </p:nvSpPr>
        <p:spPr>
          <a:xfrm>
            <a:off x="4751862" y="3509010"/>
            <a:ext cx="2877342" cy="419070"/>
          </a:xfrm>
          <a:prstGeom prst="rect">
            <a:avLst/>
          </a:prstGeom>
          <a:noFill/>
          <a:ln/>
        </p:spPr>
        <p:txBody>
          <a:bodyPr wrap="square" lIns="0" tIns="0" rIns="0" bIns="0" rtlCol="0" anchor="t"/>
          <a:lstStyle/>
          <a:p>
            <a:pPr algn="l" indent="0" marL="0">
              <a:lnSpc>
                <a:spcPts val="1650"/>
              </a:lnSpc>
              <a:buNone/>
            </a:pPr>
            <a:r>
              <a:rPr lang="en-US" sz="1100" dirty="0">
                <a:solidFill>
                  <a:srgbClr val="1F2937"/>
                </a:solidFill>
                <a:latin typeface="Poppins Light" pitchFamily="34" charset="0"/>
                <a:ea typeface="Poppins Light" pitchFamily="34" charset="-122"/>
                <a:cs typeface="Poppins Light" pitchFamily="34" charset="-120"/>
              </a:rPr>
              <a:t>Agentic process automation for documents and claims</a:t>
            </a:r>
            <a:endParaRPr lang="en-US" sz="1100" dirty="0"/>
          </a:p>
        </p:txBody>
      </p:sp>
      <p:sp>
        <p:nvSpPr>
          <p:cNvPr id="45" name="Text"/>
          <p:cNvSpPr txBox="1"/>
          <p:nvPr/>
        </p:nvSpPr>
        <p:spPr>
          <a:xfrm>
            <a:off x="4751862" y="4004249"/>
            <a:ext cx="2877342" cy="419070"/>
          </a:xfrm>
          <a:prstGeom prst="rect">
            <a:avLst/>
          </a:prstGeom>
          <a:noFill/>
          <a:ln/>
        </p:spPr>
        <p:txBody>
          <a:bodyPr wrap="square" lIns="0" tIns="0" rIns="0" bIns="0" rtlCol="0" anchor="t"/>
          <a:lstStyle/>
          <a:p>
            <a:pPr algn="l" indent="0" marL="0">
              <a:lnSpc>
                <a:spcPts val="1650"/>
              </a:lnSpc>
              <a:buNone/>
            </a:pPr>
            <a:r>
              <a:rPr lang="en-US" sz="1100" dirty="0">
                <a:solidFill>
                  <a:srgbClr val="1F2937"/>
                </a:solidFill>
                <a:latin typeface="Poppins Light" pitchFamily="34" charset="0"/>
                <a:ea typeface="Poppins Light" pitchFamily="34" charset="-122"/>
                <a:cs typeface="Poppins Light" pitchFamily="34" charset="-120"/>
              </a:rPr>
              <a:t>Custom tool, MCP and API development for agents</a:t>
            </a:r>
            <a:endParaRPr lang="en-US" sz="1100" dirty="0"/>
          </a:p>
        </p:txBody>
      </p:sp>
      <p:sp>
        <p:nvSpPr>
          <p:cNvPr id="46" name="Text"/>
          <p:cNvSpPr txBox="1"/>
          <p:nvPr/>
        </p:nvSpPr>
        <p:spPr>
          <a:xfrm>
            <a:off x="4751862" y="4499580"/>
            <a:ext cx="2877342" cy="419070"/>
          </a:xfrm>
          <a:prstGeom prst="rect">
            <a:avLst/>
          </a:prstGeom>
          <a:noFill/>
          <a:ln/>
        </p:spPr>
        <p:txBody>
          <a:bodyPr wrap="square" lIns="0" tIns="0" rIns="0" bIns="0" rtlCol="0" anchor="t"/>
          <a:lstStyle/>
          <a:p>
            <a:pPr algn="l" indent="0" marL="0">
              <a:lnSpc>
                <a:spcPts val="1650"/>
              </a:lnSpc>
              <a:buNone/>
            </a:pPr>
            <a:r>
              <a:rPr lang="en-US" sz="1100" dirty="0">
                <a:solidFill>
                  <a:srgbClr val="1F2937"/>
                </a:solidFill>
                <a:latin typeface="Poppins Light" pitchFamily="34" charset="0"/>
                <a:ea typeface="Poppins Light" pitchFamily="34" charset="-122"/>
                <a:cs typeface="Poppins Light" pitchFamily="34" charset="-120"/>
              </a:rPr>
              <a:t>WhatsApp sales agents that sync leads to your CRM</a:t>
            </a:r>
            <a:endParaRPr lang="en-US" sz="1100" dirty="0"/>
          </a:p>
        </p:txBody>
      </p:sp>
      <p:sp>
        <p:nvSpPr>
          <p:cNvPr id="47" name="Text"/>
          <p:cNvSpPr txBox="1"/>
          <p:nvPr/>
        </p:nvSpPr>
        <p:spPr>
          <a:xfrm>
            <a:off x="4586813" y="5204490"/>
            <a:ext cx="3043123" cy="167335"/>
          </a:xfrm>
          <a:prstGeom prst="rect">
            <a:avLst/>
          </a:prstGeom>
          <a:noFill/>
          <a:ln/>
        </p:spPr>
        <p:txBody>
          <a:bodyPr wrap="square" lIns="0" tIns="0" rIns="0" bIns="0" rtlCol="0" anchor="t"/>
          <a:lstStyle/>
          <a:p>
            <a:pPr algn="l" indent="0" marL="0">
              <a:lnSpc>
                <a:spcPts val="1318"/>
              </a:lnSpc>
              <a:buNone/>
            </a:pPr>
            <a:r>
              <a:rPr lang="en-US" sz="850" spc="17" kern="0" dirty="0">
                <a:solidFill>
                  <a:srgbClr val="044BD9"/>
                </a:solidFill>
                <a:latin typeface="Poppins Medium" pitchFamily="34" charset="0"/>
                <a:ea typeface="Poppins Medium" pitchFamily="34" charset="-122"/>
                <a:cs typeface="Poppins Medium" pitchFamily="34" charset="-120"/>
              </a:rPr>
              <a:t>Proof</a:t>
            </a:r>
            <a:endParaRPr lang="en-US" sz="850" dirty="0"/>
          </a:p>
        </p:txBody>
      </p:sp>
      <p:sp>
        <p:nvSpPr>
          <p:cNvPr id="48" name="Text"/>
          <p:cNvSpPr txBox="1"/>
          <p:nvPr/>
        </p:nvSpPr>
        <p:spPr>
          <a:xfrm>
            <a:off x="4586813" y="5409590"/>
            <a:ext cx="3043123" cy="373990"/>
          </a:xfrm>
          <a:prstGeom prst="rect">
            <a:avLst/>
          </a:prstGeom>
          <a:noFill/>
          <a:ln/>
        </p:spPr>
        <p:txBody>
          <a:bodyPr wrap="square" lIns="0" tIns="0" rIns="0" bIns="0" rtlCol="0" anchor="t"/>
          <a:lstStyle/>
          <a:p>
            <a:pPr algn="l" indent="0" marL="0">
              <a:lnSpc>
                <a:spcPts val="1472"/>
              </a:lnSpc>
              <a:buNone/>
            </a:pPr>
            <a:r>
              <a:rPr lang="en-US" sz="950" dirty="0">
                <a:solidFill>
                  <a:srgbClr val="044BD9"/>
                </a:solidFill>
                <a:latin typeface="Poppins Medium" pitchFamily="34" charset="0"/>
                <a:ea typeface="Poppins Medium" pitchFamily="34" charset="-122"/>
                <a:cs typeface="Poppins Medium" pitchFamily="34" charset="-120"/>
              </a:rPr>
              <a:t>80%</a:t>
            </a:r>
            <a:pPr algn="l" indent="0" marL="0">
              <a:lnSpc>
                <a:spcPts val="1472"/>
              </a:lnSpc>
              <a:buNone/>
            </a:pPr>
            <a:r>
              <a:rPr lang="en-US" sz="950" dirty="0">
                <a:solidFill>
                  <a:srgbClr val="1F2937"/>
                </a:solidFill>
                <a:latin typeface="Poppins Light" pitchFamily="34" charset="0"/>
                <a:ea typeface="Poppins Light" pitchFamily="34" charset="-122"/>
                <a:cs typeface="Poppins Light" pitchFamily="34" charset="-120"/>
              </a:rPr>
              <a:t> less manual data entry time with WhatsApp AI agents for a Singapore hospitality group</a:t>
            </a:r>
            <a:endParaRPr lang="en-US" sz="950" dirty="0"/>
          </a:p>
        </p:txBody>
      </p:sp>
      <p:sp>
        <p:nvSpPr>
          <p:cNvPr id="49" name="Text"/>
          <p:cNvSpPr txBox="1"/>
          <p:nvPr/>
        </p:nvSpPr>
        <p:spPr>
          <a:xfrm>
            <a:off x="8735446" y="2306300"/>
            <a:ext cx="2510302" cy="464790"/>
          </a:xfrm>
          <a:prstGeom prst="rect">
            <a:avLst/>
          </a:prstGeom>
          <a:noFill/>
          <a:ln/>
        </p:spPr>
        <p:txBody>
          <a:bodyPr wrap="square" lIns="0" tIns="0" rIns="0" bIns="0" rtlCol="0" anchor="t"/>
          <a:lstStyle/>
          <a:p>
            <a:pPr algn="l" indent="0" marL="0">
              <a:lnSpc>
                <a:spcPts val="1830"/>
              </a:lnSpc>
              <a:buNone/>
            </a:pPr>
            <a:r>
              <a:rPr lang="en-US" sz="1500" dirty="0">
                <a:solidFill>
                  <a:srgbClr val="000000"/>
                </a:solidFill>
                <a:latin typeface="Poppins Medium" pitchFamily="34" charset="0"/>
                <a:ea typeface="Poppins Medium" pitchFamily="34" charset="-122"/>
                <a:cs typeface="Poppins Medium" pitchFamily="34" charset="-120"/>
              </a:rPr>
              <a:t>System integration</a:t>
            </a:r>
            <a:endParaRPr lang="en-US" sz="1500" dirty="0"/>
          </a:p>
          <a:p>
            <a:pPr algn="l" indent="0" marL="0">
              <a:lnSpc>
                <a:spcPts val="1830"/>
              </a:lnSpc>
              <a:buNone/>
            </a:pPr>
            <a:r>
              <a:rPr lang="en-US" sz="1500" dirty="0">
                <a:solidFill>
                  <a:srgbClr val="000000"/>
                </a:solidFill>
                <a:latin typeface="Poppins Medium" pitchFamily="34" charset="0"/>
                <a:ea typeface="Poppins Medium" pitchFamily="34" charset="-122"/>
                <a:cs typeface="Poppins Medium" pitchFamily="34" charset="-120"/>
              </a:rPr>
              <a:t>and consulting</a:t>
            </a:r>
            <a:endParaRPr lang="en-US" sz="1500" dirty="0"/>
          </a:p>
        </p:txBody>
      </p:sp>
      <p:sp>
        <p:nvSpPr>
          <p:cNvPr id="50" name="Text"/>
          <p:cNvSpPr txBox="1"/>
          <p:nvPr/>
        </p:nvSpPr>
        <p:spPr>
          <a:xfrm>
            <a:off x="8227405" y="2877434"/>
            <a:ext cx="3043123" cy="405171"/>
          </a:xfrm>
          <a:prstGeom prst="rect">
            <a:avLst/>
          </a:prstGeom>
          <a:noFill/>
          <a:ln/>
        </p:spPr>
        <p:txBody>
          <a:bodyPr wrap="square" lIns="0" tIns="0" rIns="0" bIns="0" rtlCol="0" anchor="t"/>
          <a:lstStyle/>
          <a:p>
            <a:pPr algn="l" indent="0" marL="0">
              <a:lnSpc>
                <a:spcPts val="1595"/>
              </a:lnSpc>
              <a:buNone/>
            </a:pPr>
            <a:r>
              <a:rPr lang="en-US" sz="1100" dirty="0">
                <a:solidFill>
                  <a:srgbClr val="000000"/>
                </a:solidFill>
                <a:latin typeface="Poppins Light" pitchFamily="34" charset="0"/>
                <a:ea typeface="Poppins Light" pitchFamily="34" charset="-122"/>
                <a:cs typeface="Poppins Light" pitchFamily="34" charset="-120"/>
              </a:rPr>
              <a:t>Replace and connect legacy systems, from strategy to go-live</a:t>
            </a:r>
            <a:endParaRPr lang="en-US" sz="1100" dirty="0"/>
          </a:p>
        </p:txBody>
      </p:sp>
      <p:sp>
        <p:nvSpPr>
          <p:cNvPr id="51" name="Text"/>
          <p:cNvSpPr txBox="1"/>
          <p:nvPr/>
        </p:nvSpPr>
        <p:spPr>
          <a:xfrm>
            <a:off x="8392546" y="3509010"/>
            <a:ext cx="2877342" cy="419070"/>
          </a:xfrm>
          <a:prstGeom prst="rect">
            <a:avLst/>
          </a:prstGeom>
          <a:noFill/>
          <a:ln/>
        </p:spPr>
        <p:txBody>
          <a:bodyPr wrap="square" lIns="0" tIns="0" rIns="0" bIns="0" rtlCol="0" anchor="t"/>
          <a:lstStyle/>
          <a:p>
            <a:pPr algn="l" indent="0" marL="0">
              <a:lnSpc>
                <a:spcPts val="1650"/>
              </a:lnSpc>
              <a:buNone/>
            </a:pPr>
            <a:r>
              <a:rPr lang="en-US" sz="1100" dirty="0">
                <a:solidFill>
                  <a:srgbClr val="1F2937"/>
                </a:solidFill>
                <a:latin typeface="Poppins Light" pitchFamily="34" charset="0"/>
                <a:ea typeface="Poppins Light" pitchFamily="34" charset="-122"/>
                <a:cs typeface="Poppins Light" pitchFamily="34" charset="-120"/>
              </a:rPr>
              <a:t>Tech advisory, a data audit and AI strategy research</a:t>
            </a:r>
            <a:endParaRPr lang="en-US" sz="1100" dirty="0"/>
          </a:p>
        </p:txBody>
      </p:sp>
      <p:sp>
        <p:nvSpPr>
          <p:cNvPr id="52" name="Text"/>
          <p:cNvSpPr txBox="1"/>
          <p:nvPr/>
        </p:nvSpPr>
        <p:spPr>
          <a:xfrm>
            <a:off x="8392546" y="4004249"/>
            <a:ext cx="2877342" cy="419070"/>
          </a:xfrm>
          <a:prstGeom prst="rect">
            <a:avLst/>
          </a:prstGeom>
          <a:noFill/>
          <a:ln/>
        </p:spPr>
        <p:txBody>
          <a:bodyPr wrap="square" lIns="0" tIns="0" rIns="0" bIns="0" rtlCol="0" anchor="t"/>
          <a:lstStyle/>
          <a:p>
            <a:pPr algn="l" indent="0" marL="0">
              <a:lnSpc>
                <a:spcPts val="1650"/>
              </a:lnSpc>
              <a:buNone/>
            </a:pPr>
            <a:r>
              <a:rPr lang="en-US" sz="1100" dirty="0">
                <a:solidFill>
                  <a:srgbClr val="1F2937"/>
                </a:solidFill>
                <a:latin typeface="Poppins Light" pitchFamily="34" charset="0"/>
                <a:ea typeface="Poppins Light" pitchFamily="34" charset="-122"/>
                <a:cs typeface="Poppins Light" pitchFamily="34" charset="-120"/>
              </a:rPr>
              <a:t>Legacy systems replaced and third-party portals connected</a:t>
            </a:r>
            <a:endParaRPr lang="en-US" sz="1100" dirty="0"/>
          </a:p>
        </p:txBody>
      </p:sp>
      <p:sp>
        <p:nvSpPr>
          <p:cNvPr id="53" name="Text"/>
          <p:cNvSpPr txBox="1"/>
          <p:nvPr/>
        </p:nvSpPr>
        <p:spPr>
          <a:xfrm>
            <a:off x="8392546" y="4499580"/>
            <a:ext cx="2877342" cy="419070"/>
          </a:xfrm>
          <a:prstGeom prst="rect">
            <a:avLst/>
          </a:prstGeom>
          <a:noFill/>
          <a:ln/>
        </p:spPr>
        <p:txBody>
          <a:bodyPr wrap="square" lIns="0" tIns="0" rIns="0" bIns="0" rtlCol="0" anchor="t"/>
          <a:lstStyle/>
          <a:p>
            <a:pPr algn="l" indent="0" marL="0">
              <a:lnSpc>
                <a:spcPts val="1650"/>
              </a:lnSpc>
              <a:buNone/>
            </a:pPr>
            <a:r>
              <a:rPr lang="en-US" sz="1100" dirty="0">
                <a:solidFill>
                  <a:srgbClr val="1F2937"/>
                </a:solidFill>
                <a:latin typeface="Poppins Light" pitchFamily="34" charset="0"/>
                <a:ea typeface="Poppins Light" pitchFamily="34" charset="-122"/>
                <a:cs typeface="Poppins Light" pitchFamily="34" charset="-120"/>
              </a:rPr>
              <a:t>Projects taken over midway and delivered</a:t>
            </a:r>
            <a:endParaRPr lang="en-US" sz="1100" dirty="0"/>
          </a:p>
        </p:txBody>
      </p:sp>
      <p:sp>
        <p:nvSpPr>
          <p:cNvPr id="54" name="Text"/>
          <p:cNvSpPr txBox="1"/>
          <p:nvPr/>
        </p:nvSpPr>
        <p:spPr>
          <a:xfrm>
            <a:off x="8227405" y="5204490"/>
            <a:ext cx="3043123" cy="167335"/>
          </a:xfrm>
          <a:prstGeom prst="rect">
            <a:avLst/>
          </a:prstGeom>
          <a:noFill/>
          <a:ln/>
        </p:spPr>
        <p:txBody>
          <a:bodyPr wrap="square" lIns="0" tIns="0" rIns="0" bIns="0" rtlCol="0" anchor="t"/>
          <a:lstStyle/>
          <a:p>
            <a:pPr algn="l" indent="0" marL="0">
              <a:lnSpc>
                <a:spcPts val="1318"/>
              </a:lnSpc>
              <a:buNone/>
            </a:pPr>
            <a:r>
              <a:rPr lang="en-US" sz="850" spc="17" kern="0" dirty="0">
                <a:solidFill>
                  <a:srgbClr val="044BD9"/>
                </a:solidFill>
                <a:latin typeface="Poppins Medium" pitchFamily="34" charset="0"/>
                <a:ea typeface="Poppins Medium" pitchFamily="34" charset="-122"/>
                <a:cs typeface="Poppins Medium" pitchFamily="34" charset="-120"/>
              </a:rPr>
              <a:t>Proof</a:t>
            </a:r>
            <a:endParaRPr lang="en-US" sz="850" dirty="0"/>
          </a:p>
        </p:txBody>
      </p:sp>
      <p:sp>
        <p:nvSpPr>
          <p:cNvPr id="55" name="Text"/>
          <p:cNvSpPr txBox="1"/>
          <p:nvPr/>
        </p:nvSpPr>
        <p:spPr>
          <a:xfrm>
            <a:off x="8227405" y="5409590"/>
            <a:ext cx="3043123" cy="373990"/>
          </a:xfrm>
          <a:prstGeom prst="rect">
            <a:avLst/>
          </a:prstGeom>
          <a:noFill/>
          <a:ln/>
        </p:spPr>
        <p:txBody>
          <a:bodyPr wrap="square" lIns="0" tIns="0" rIns="0" bIns="0" rtlCol="0" anchor="t"/>
          <a:lstStyle/>
          <a:p>
            <a:pPr algn="l" indent="0" marL="0">
              <a:lnSpc>
                <a:spcPts val="1472"/>
              </a:lnSpc>
              <a:buNone/>
            </a:pPr>
            <a:r>
              <a:rPr lang="en-US" sz="950" dirty="0">
                <a:solidFill>
                  <a:srgbClr val="044BD9"/>
                </a:solidFill>
                <a:latin typeface="Poppins Medium" pitchFamily="34" charset="0"/>
                <a:ea typeface="Poppins Medium" pitchFamily="34" charset="-122"/>
                <a:cs typeface="Poppins Medium" pitchFamily="34" charset="-120"/>
              </a:rPr>
              <a:t>90+</a:t>
            </a:r>
            <a:pPr algn="l" indent="0" marL="0">
              <a:lnSpc>
                <a:spcPts val="1472"/>
              </a:lnSpc>
              <a:buNone/>
            </a:pPr>
            <a:r>
              <a:rPr lang="en-US" sz="950" dirty="0">
                <a:solidFill>
                  <a:srgbClr val="1F2937"/>
                </a:solidFill>
                <a:latin typeface="Poppins Light" pitchFamily="34" charset="0"/>
                <a:ea typeface="Poppins Light" pitchFamily="34" charset="-122"/>
                <a:cs typeface="Poppins Light" pitchFamily="34" charset="-120"/>
              </a:rPr>
              <a:t> portal automations for a 36-year-old law firm; iPajak Group’s six branches on one system</a:t>
            </a:r>
            <a:endParaRPr lang="en-US" sz="950" dirty="0"/>
          </a:p>
        </p:txBody>
      </p:sp>
      <p:sp>
        <p:nvSpPr>
          <p:cNvPr id="56" name="Text"/>
          <p:cNvSpPr txBox="1"/>
          <p:nvPr/>
        </p:nvSpPr>
        <p:spPr>
          <a:xfrm>
            <a:off x="6287140" y="276240"/>
            <a:ext cx="708477"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Point of view</a:t>
            </a:r>
            <a:endParaRPr lang="en-US" sz="850" dirty="0"/>
          </a:p>
        </p:txBody>
      </p:sp>
      <p:sp>
        <p:nvSpPr>
          <p:cNvPr id="57" name="Text"/>
          <p:cNvSpPr txBox="1"/>
          <p:nvPr/>
        </p:nvSpPr>
        <p:spPr>
          <a:xfrm>
            <a:off x="7240494" y="276240"/>
            <a:ext cx="665958"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Who we are</a:t>
            </a:r>
            <a:endParaRPr lang="en-US" sz="850" dirty="0"/>
          </a:p>
        </p:txBody>
      </p:sp>
      <p:sp>
        <p:nvSpPr>
          <p:cNvPr id="58" name="Text"/>
          <p:cNvSpPr txBox="1"/>
          <p:nvPr/>
        </p:nvSpPr>
        <p:spPr>
          <a:xfrm>
            <a:off x="8151510" y="276240"/>
            <a:ext cx="671261"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044BD9"/>
                </a:solidFill>
                <a:latin typeface="Poppins Medium" pitchFamily="34" charset="0"/>
                <a:ea typeface="Poppins Medium" pitchFamily="34" charset="-122"/>
                <a:cs typeface="Poppins Medium" pitchFamily="34" charset="-120"/>
              </a:rPr>
              <a:t>What we do</a:t>
            </a:r>
            <a:endParaRPr lang="en-US" sz="850" dirty="0"/>
          </a:p>
        </p:txBody>
      </p:sp>
      <p:sp>
        <p:nvSpPr>
          <p:cNvPr id="59" name="Text"/>
          <p:cNvSpPr txBox="1"/>
          <p:nvPr/>
        </p:nvSpPr>
        <p:spPr>
          <a:xfrm>
            <a:off x="9067830" y="276240"/>
            <a:ext cx="1205728"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Sectors and products</a:t>
            </a:r>
            <a:endParaRPr lang="en-US" sz="850" dirty="0"/>
          </a:p>
        </p:txBody>
      </p:sp>
      <p:sp>
        <p:nvSpPr>
          <p:cNvPr id="60" name="Text"/>
          <p:cNvSpPr txBox="1"/>
          <p:nvPr/>
        </p:nvSpPr>
        <p:spPr>
          <a:xfrm>
            <a:off x="10516423" y="276240"/>
            <a:ext cx="298552"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Proof</a:t>
            </a:r>
            <a:endParaRPr lang="en-US" sz="850" dirty="0"/>
          </a:p>
        </p:txBody>
      </p:sp>
      <p:sp>
        <p:nvSpPr>
          <p:cNvPr id="61" name="Text"/>
          <p:cNvSpPr txBox="1"/>
          <p:nvPr/>
        </p:nvSpPr>
        <p:spPr>
          <a:xfrm>
            <a:off x="11061497" y="276240"/>
            <a:ext cx="433700"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Engage</a:t>
            </a:r>
            <a:endParaRPr lang="en-US" sz="850" dirty="0"/>
          </a:p>
        </p:txBody>
      </p:sp>
      <p:sp>
        <p:nvSpPr>
          <p:cNvPr id="62" name="Source"/>
          <p:cNvSpPr txBox="1"/>
          <p:nvPr/>
        </p:nvSpPr>
        <p:spPr>
          <a:xfrm>
            <a:off x="711220" y="6409030"/>
            <a:ext cx="8300740" cy="151150"/>
          </a:xfrm>
          <a:prstGeom prst="rect">
            <a:avLst/>
          </a:prstGeom>
          <a:noFill/>
          <a:ln/>
        </p:spPr>
        <p:txBody>
          <a:bodyPr wrap="square" lIns="0" tIns="0" rIns="0" bIns="0" rtlCol="0" anchor="t"/>
          <a:lstStyle/>
          <a:p>
            <a:pPr algn="l" indent="0" marL="0">
              <a:lnSpc>
                <a:spcPts val="1190"/>
              </a:lnSpc>
              <a:buNone/>
            </a:pPr>
            <a:r>
              <a:rPr lang="en-US" sz="850" dirty="0">
                <a:solidFill>
                  <a:srgbClr val="6B6B6B"/>
                </a:solidFill>
                <a:latin typeface="Poppins" pitchFamily="34" charset="0"/>
                <a:ea typeface="Poppins" pitchFamily="34" charset="-122"/>
                <a:cs typeface="Poppins" pitchFamily="34" charset="-120"/>
              </a:rPr>
              <a:t>Source: alphv.com/services and its six service pages (October 2026).</a:t>
            </a:r>
            <a:endParaRPr lang="en-US" sz="850" dirty="0"/>
          </a:p>
        </p:txBody>
      </p:sp>
      <p:sp>
        <p:nvSpPr>
          <p:cNvPr id="63" name="Text"/>
          <p:cNvSpPr txBox="1"/>
          <p:nvPr/>
        </p:nvSpPr>
        <p:spPr>
          <a:xfrm>
            <a:off x="9373697" y="6409030"/>
            <a:ext cx="393741" cy="151150"/>
          </a:xfrm>
          <a:prstGeom prst="rect">
            <a:avLst/>
          </a:prstGeom>
          <a:noFill/>
          <a:ln/>
        </p:spPr>
        <p:txBody>
          <a:bodyPr wrap="none" lIns="0" tIns="0" rIns="0" bIns="0" rtlCol="0" anchor="t"/>
          <a:lstStyle/>
          <a:p>
            <a:pPr algn="l" indent="0" marL="0">
              <a:lnSpc>
                <a:spcPts val="1190"/>
              </a:lnSpc>
              <a:buNone/>
            </a:pPr>
            <a:r>
              <a:rPr lang="en-US" sz="850" spc="34" kern="0" dirty="0">
                <a:solidFill>
                  <a:srgbClr val="000000"/>
                </a:solidFill>
                <a:latin typeface="Poppins SemiBold" pitchFamily="34" charset="0"/>
                <a:ea typeface="Poppins SemiBold" pitchFamily="34" charset="-122"/>
                <a:cs typeface="Poppins SemiBold" pitchFamily="34" charset="-120"/>
              </a:rPr>
              <a:t>ALPHV</a:t>
            </a:r>
            <a:endParaRPr lang="en-US" sz="850" dirty="0"/>
          </a:p>
        </p:txBody>
      </p:sp>
      <p:sp>
        <p:nvSpPr>
          <p:cNvPr id="64" name="Text"/>
          <p:cNvSpPr txBox="1"/>
          <p:nvPr/>
        </p:nvSpPr>
        <p:spPr>
          <a:xfrm>
            <a:off x="9881646" y="6409030"/>
            <a:ext cx="1377178" cy="151150"/>
          </a:xfrm>
          <a:prstGeom prst="rect">
            <a:avLst/>
          </a:prstGeom>
          <a:noFill/>
          <a:ln/>
        </p:spPr>
        <p:txBody>
          <a:bodyPr wrap="none" lIns="0" tIns="0" rIns="0" bIns="0" rtlCol="0" anchor="t"/>
          <a:lstStyle/>
          <a:p>
            <a:pPr algn="l" indent="0" marL="0">
              <a:lnSpc>
                <a:spcPts val="1190"/>
              </a:lnSpc>
              <a:buNone/>
            </a:pPr>
            <a:r>
              <a:rPr lang="en-US" sz="850" dirty="0">
                <a:solidFill>
                  <a:srgbClr val="6B6B6B"/>
                </a:solidFill>
                <a:latin typeface="Poppins" pitchFamily="34" charset="0"/>
                <a:ea typeface="Poppins" pitchFamily="34" charset="-122"/>
                <a:cs typeface="Poppins" pitchFamily="34" charset="-120"/>
              </a:rPr>
              <a:t>Corporate overview 2026</a:t>
            </a:r>
            <a:endParaRPr lang="en-US" sz="850" dirty="0"/>
          </a:p>
        </p:txBody>
      </p:sp>
      <p:sp>
        <p:nvSpPr>
          <p:cNvPr id="65" name="Text"/>
          <p:cNvSpPr txBox="1"/>
          <p:nvPr/>
        </p:nvSpPr>
        <p:spPr>
          <a:xfrm>
            <a:off x="11373124" y="6409030"/>
            <a:ext cx="133045" cy="151150"/>
          </a:xfrm>
          <a:prstGeom prst="rect">
            <a:avLst/>
          </a:prstGeom>
          <a:noFill/>
          <a:ln/>
        </p:spPr>
        <p:txBody>
          <a:bodyPr wrap="none" lIns="0" tIns="0" rIns="0" bIns="0" rtlCol="0" anchor="t"/>
          <a:lstStyle/>
          <a:p>
            <a:pPr algn="l" indent="0" marL="0">
              <a:lnSpc>
                <a:spcPts val="1190"/>
              </a:lnSpc>
              <a:buNone/>
            </a:pPr>
            <a:r>
              <a:rPr lang="en-US" sz="850" dirty="0">
                <a:solidFill>
                  <a:srgbClr val="000000"/>
                </a:solidFill>
                <a:latin typeface="Poppins Medium" pitchFamily="34" charset="0"/>
                <a:ea typeface="Poppins Medium" pitchFamily="34" charset="-122"/>
                <a:cs typeface="Poppins Medium" pitchFamily="34" charset="-120"/>
              </a:rPr>
              <a:t>14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8F9FA"/>
        </a:solidFill>
      </p:bgPr>
    </p:bg>
    <p:spTree>
      <p:nvGrpSpPr>
        <p:cNvPr id="1" name=""/>
        <p:cNvGrpSpPr/>
        <p:nvPr/>
      </p:nvGrpSpPr>
      <p:grpSpPr>
        <a:xfrm>
          <a:off x="0" y="0"/>
          <a:ext cx="0" cy="0"/>
          <a:chOff x="0" y="0"/>
          <a:chExt cx="0" cy="0"/>
        </a:xfrm>
      </p:grpSpPr>
      <p:sp>
        <p:nvSpPr>
          <p:cNvPr id="2" name="badge"/>
          <p:cNvSpPr/>
          <p:nvPr/>
        </p:nvSpPr>
        <p:spPr>
          <a:xfrm>
            <a:off x="714421" y="536570"/>
            <a:ext cx="1053389" cy="254020"/>
          </a:xfrm>
          <a:prstGeom prst="roundRect">
            <a:avLst>
              <a:gd name="adj" fmla="val 50000"/>
            </a:avLst>
          </a:prstGeom>
          <a:ln w="6350">
            <a:solidFill>
              <a:srgbClr val="155DFC"/>
            </a:solidFill>
            <a:prstDash val="solid"/>
          </a:ln>
        </p:spPr>
      </p:sp>
      <p:sp>
        <p:nvSpPr>
          <p:cNvPr id="3" name="card"/>
          <p:cNvSpPr/>
          <p:nvPr/>
        </p:nvSpPr>
        <p:spPr>
          <a:xfrm>
            <a:off x="714421" y="2077060"/>
            <a:ext cx="3481852" cy="3939601"/>
          </a:xfrm>
          <a:prstGeom prst="roundRect">
            <a:avLst>
              <a:gd name="adj" fmla="val 4286"/>
            </a:avLst>
          </a:prstGeom>
          <a:solidFill>
            <a:srgbClr val="FFFFFF"/>
          </a:solidFill>
          <a:ln w="6350">
            <a:solidFill>
              <a:srgbClr val="F0F0F0"/>
            </a:solidFill>
            <a:prstDash val="solid"/>
          </a:ln>
        </p:spPr>
      </p:sp>
      <p:sp>
        <p:nvSpPr>
          <p:cNvPr id="4" name="tile"/>
          <p:cNvSpPr/>
          <p:nvPr/>
        </p:nvSpPr>
        <p:spPr>
          <a:xfrm>
            <a:off x="946130" y="2353300"/>
            <a:ext cx="381030" cy="381030"/>
          </a:xfrm>
          <a:prstGeom prst="roundRect">
            <a:avLst>
              <a:gd name="adj" fmla="val 29998"/>
            </a:avLst>
          </a:prstGeom>
          <a:solidFill>
            <a:srgbClr val="044BD9"/>
          </a:solidFill>
          <a:ln/>
        </p:spPr>
      </p:sp>
      <p:pic>
        <p:nvPicPr>
          <p:cNvPr id="5" name="Icon" descr="/tmp/deck-pptx-47cOtg/icon-51.png">    </p:cNvPr>
          <p:cNvPicPr>
            <a:picLocks noChangeAspect="1"/>
          </p:cNvPicPr>
          <p:nvPr/>
        </p:nvPicPr>
        <p:blipFill>
          <a:blip r:embed="rId1"/>
          <a:stretch>
            <a:fillRect/>
          </a:stretch>
        </p:blipFill>
        <p:spPr>
          <a:xfrm>
            <a:off x="1047720" y="2454890"/>
            <a:ext cx="177759" cy="177759"/>
          </a:xfrm>
          <a:prstGeom prst="rect">
            <a:avLst/>
          </a:prstGeom>
        </p:spPr>
      </p:pic>
      <p:sp>
        <p:nvSpPr>
          <p:cNvPr id="6" name="Rule"/>
          <p:cNvSpPr/>
          <p:nvPr/>
        </p:nvSpPr>
        <p:spPr>
          <a:xfrm>
            <a:off x="946130" y="3391510"/>
            <a:ext cx="3018343" cy="0"/>
          </a:xfrm>
          <a:prstGeom prst="line">
            <a:avLst/>
          </a:prstGeom>
          <a:noFill/>
          <a:ln w="6350">
            <a:solidFill>
              <a:srgbClr val="F0F0F0"/>
            </a:solidFill>
            <a:prstDash val="solid"/>
          </a:ln>
        </p:spPr>
      </p:sp>
      <p:sp>
        <p:nvSpPr>
          <p:cNvPr id="7" name="li::before"/>
          <p:cNvSpPr/>
          <p:nvPr/>
        </p:nvSpPr>
        <p:spPr>
          <a:xfrm>
            <a:off x="946130" y="3595604"/>
            <a:ext cx="57150" cy="57150"/>
          </a:xfrm>
          <a:prstGeom prst="rect">
            <a:avLst/>
          </a:prstGeom>
          <a:solidFill>
            <a:srgbClr val="044BD9"/>
          </a:solidFill>
          <a:ln/>
        </p:spPr>
      </p:sp>
      <p:sp>
        <p:nvSpPr>
          <p:cNvPr id="8" name="li::before"/>
          <p:cNvSpPr/>
          <p:nvPr/>
        </p:nvSpPr>
        <p:spPr>
          <a:xfrm>
            <a:off x="946130" y="4090843"/>
            <a:ext cx="57150" cy="57150"/>
          </a:xfrm>
          <a:prstGeom prst="rect">
            <a:avLst/>
          </a:prstGeom>
          <a:solidFill>
            <a:srgbClr val="044BD9"/>
          </a:solidFill>
          <a:ln/>
        </p:spPr>
      </p:sp>
      <p:sp>
        <p:nvSpPr>
          <p:cNvPr id="9" name="li::before"/>
          <p:cNvSpPr/>
          <p:nvPr/>
        </p:nvSpPr>
        <p:spPr>
          <a:xfrm>
            <a:off x="946130" y="4586173"/>
            <a:ext cx="57150" cy="57150"/>
          </a:xfrm>
          <a:prstGeom prst="rect">
            <a:avLst/>
          </a:prstGeom>
          <a:solidFill>
            <a:srgbClr val="044BD9"/>
          </a:solidFill>
          <a:ln/>
        </p:spPr>
      </p:sp>
      <p:sp>
        <p:nvSpPr>
          <p:cNvPr id="10" name="Rule"/>
          <p:cNvSpPr/>
          <p:nvPr/>
        </p:nvSpPr>
        <p:spPr>
          <a:xfrm>
            <a:off x="946130" y="5100798"/>
            <a:ext cx="3018343" cy="0"/>
          </a:xfrm>
          <a:prstGeom prst="line">
            <a:avLst/>
          </a:prstGeom>
          <a:noFill/>
          <a:ln w="6350">
            <a:solidFill>
              <a:srgbClr val="F0F0F0"/>
            </a:solidFill>
            <a:prstDash val="solid"/>
          </a:ln>
        </p:spPr>
      </p:sp>
      <p:sp>
        <p:nvSpPr>
          <p:cNvPr id="11" name="card"/>
          <p:cNvSpPr/>
          <p:nvPr/>
        </p:nvSpPr>
        <p:spPr>
          <a:xfrm>
            <a:off x="4355013" y="2077060"/>
            <a:ext cx="3481852" cy="3939601"/>
          </a:xfrm>
          <a:prstGeom prst="roundRect">
            <a:avLst>
              <a:gd name="adj" fmla="val 4286"/>
            </a:avLst>
          </a:prstGeom>
          <a:solidFill>
            <a:srgbClr val="FFFFFF"/>
          </a:solidFill>
          <a:ln w="6350">
            <a:solidFill>
              <a:srgbClr val="F0F0F0"/>
            </a:solidFill>
            <a:prstDash val="solid"/>
          </a:ln>
        </p:spPr>
      </p:sp>
      <p:sp>
        <p:nvSpPr>
          <p:cNvPr id="12" name="tile"/>
          <p:cNvSpPr/>
          <p:nvPr/>
        </p:nvSpPr>
        <p:spPr>
          <a:xfrm>
            <a:off x="4586813" y="2353300"/>
            <a:ext cx="381030" cy="381030"/>
          </a:xfrm>
          <a:prstGeom prst="roundRect">
            <a:avLst>
              <a:gd name="adj" fmla="val 29998"/>
            </a:avLst>
          </a:prstGeom>
          <a:solidFill>
            <a:srgbClr val="044BD9"/>
          </a:solidFill>
          <a:ln/>
        </p:spPr>
      </p:sp>
      <p:pic>
        <p:nvPicPr>
          <p:cNvPr id="13" name="Icon" descr="/tmp/deck-pptx-47cOtg/icon-52.png">    </p:cNvPr>
          <p:cNvPicPr>
            <a:picLocks noChangeAspect="1"/>
          </p:cNvPicPr>
          <p:nvPr/>
        </p:nvPicPr>
        <p:blipFill>
          <a:blip r:embed="rId2"/>
          <a:stretch>
            <a:fillRect/>
          </a:stretch>
        </p:blipFill>
        <p:spPr>
          <a:xfrm>
            <a:off x="4688403" y="2454890"/>
            <a:ext cx="177759" cy="177759"/>
          </a:xfrm>
          <a:prstGeom prst="rect">
            <a:avLst/>
          </a:prstGeom>
        </p:spPr>
      </p:pic>
      <p:sp>
        <p:nvSpPr>
          <p:cNvPr id="14" name="Rule"/>
          <p:cNvSpPr/>
          <p:nvPr/>
        </p:nvSpPr>
        <p:spPr>
          <a:xfrm>
            <a:off x="4586813" y="3391510"/>
            <a:ext cx="3018343" cy="0"/>
          </a:xfrm>
          <a:prstGeom prst="line">
            <a:avLst/>
          </a:prstGeom>
          <a:noFill/>
          <a:ln w="6350">
            <a:solidFill>
              <a:srgbClr val="F0F0F0"/>
            </a:solidFill>
            <a:prstDash val="solid"/>
          </a:ln>
        </p:spPr>
      </p:sp>
      <p:sp>
        <p:nvSpPr>
          <p:cNvPr id="15" name="li::before"/>
          <p:cNvSpPr/>
          <p:nvPr/>
        </p:nvSpPr>
        <p:spPr>
          <a:xfrm>
            <a:off x="4586813" y="3595604"/>
            <a:ext cx="57150" cy="57150"/>
          </a:xfrm>
          <a:prstGeom prst="rect">
            <a:avLst/>
          </a:prstGeom>
          <a:solidFill>
            <a:srgbClr val="044BD9"/>
          </a:solidFill>
          <a:ln/>
        </p:spPr>
      </p:sp>
      <p:sp>
        <p:nvSpPr>
          <p:cNvPr id="16" name="li::before"/>
          <p:cNvSpPr/>
          <p:nvPr/>
        </p:nvSpPr>
        <p:spPr>
          <a:xfrm>
            <a:off x="4586813" y="3881354"/>
            <a:ext cx="57150" cy="57150"/>
          </a:xfrm>
          <a:prstGeom prst="rect">
            <a:avLst/>
          </a:prstGeom>
          <a:solidFill>
            <a:srgbClr val="044BD9"/>
          </a:solidFill>
          <a:ln/>
        </p:spPr>
      </p:sp>
      <p:sp>
        <p:nvSpPr>
          <p:cNvPr id="17" name="li::before"/>
          <p:cNvSpPr/>
          <p:nvPr/>
        </p:nvSpPr>
        <p:spPr>
          <a:xfrm>
            <a:off x="4586813" y="4376593"/>
            <a:ext cx="57150" cy="57150"/>
          </a:xfrm>
          <a:prstGeom prst="rect">
            <a:avLst/>
          </a:prstGeom>
          <a:solidFill>
            <a:srgbClr val="044BD9"/>
          </a:solidFill>
          <a:ln/>
        </p:spPr>
      </p:sp>
      <p:sp>
        <p:nvSpPr>
          <p:cNvPr id="18" name="Rule"/>
          <p:cNvSpPr/>
          <p:nvPr/>
        </p:nvSpPr>
        <p:spPr>
          <a:xfrm>
            <a:off x="4586813" y="5100798"/>
            <a:ext cx="3018343" cy="0"/>
          </a:xfrm>
          <a:prstGeom prst="line">
            <a:avLst/>
          </a:prstGeom>
          <a:noFill/>
          <a:ln w="6350">
            <a:solidFill>
              <a:srgbClr val="F0F0F0"/>
            </a:solidFill>
            <a:prstDash val="solid"/>
          </a:ln>
        </p:spPr>
      </p:sp>
      <p:sp>
        <p:nvSpPr>
          <p:cNvPr id="19" name="card"/>
          <p:cNvSpPr/>
          <p:nvPr/>
        </p:nvSpPr>
        <p:spPr>
          <a:xfrm>
            <a:off x="7995605" y="2077060"/>
            <a:ext cx="3481852" cy="3939601"/>
          </a:xfrm>
          <a:prstGeom prst="roundRect">
            <a:avLst>
              <a:gd name="adj" fmla="val 4286"/>
            </a:avLst>
          </a:prstGeom>
          <a:solidFill>
            <a:srgbClr val="FFFFFF"/>
          </a:solidFill>
          <a:ln w="6350">
            <a:solidFill>
              <a:srgbClr val="F0F0F0"/>
            </a:solidFill>
            <a:prstDash val="solid"/>
          </a:ln>
        </p:spPr>
      </p:sp>
      <p:sp>
        <p:nvSpPr>
          <p:cNvPr id="20" name="tile"/>
          <p:cNvSpPr/>
          <p:nvPr/>
        </p:nvSpPr>
        <p:spPr>
          <a:xfrm>
            <a:off x="8227405" y="2353300"/>
            <a:ext cx="381030" cy="381030"/>
          </a:xfrm>
          <a:prstGeom prst="roundRect">
            <a:avLst>
              <a:gd name="adj" fmla="val 29998"/>
            </a:avLst>
          </a:prstGeom>
          <a:solidFill>
            <a:srgbClr val="044BD9"/>
          </a:solidFill>
          <a:ln/>
        </p:spPr>
      </p:sp>
      <p:pic>
        <p:nvPicPr>
          <p:cNvPr id="21" name="Icon" descr="/tmp/deck-pptx-47cOtg/icon-53.png">    </p:cNvPr>
          <p:cNvPicPr>
            <a:picLocks noChangeAspect="1"/>
          </p:cNvPicPr>
          <p:nvPr/>
        </p:nvPicPr>
        <p:blipFill>
          <a:blip r:embed="rId3"/>
          <a:stretch>
            <a:fillRect/>
          </a:stretch>
        </p:blipFill>
        <p:spPr>
          <a:xfrm>
            <a:off x="8328995" y="2454890"/>
            <a:ext cx="177759" cy="177759"/>
          </a:xfrm>
          <a:prstGeom prst="rect">
            <a:avLst/>
          </a:prstGeom>
        </p:spPr>
      </p:pic>
      <p:sp>
        <p:nvSpPr>
          <p:cNvPr id="22" name="Rule"/>
          <p:cNvSpPr/>
          <p:nvPr/>
        </p:nvSpPr>
        <p:spPr>
          <a:xfrm>
            <a:off x="8227405" y="3391510"/>
            <a:ext cx="3018343" cy="0"/>
          </a:xfrm>
          <a:prstGeom prst="line">
            <a:avLst/>
          </a:prstGeom>
          <a:noFill/>
          <a:ln w="6350">
            <a:solidFill>
              <a:srgbClr val="F0F0F0"/>
            </a:solidFill>
            <a:prstDash val="solid"/>
          </a:ln>
        </p:spPr>
      </p:sp>
      <p:sp>
        <p:nvSpPr>
          <p:cNvPr id="23" name="li::before"/>
          <p:cNvSpPr/>
          <p:nvPr/>
        </p:nvSpPr>
        <p:spPr>
          <a:xfrm>
            <a:off x="8227405" y="3595604"/>
            <a:ext cx="57150" cy="57150"/>
          </a:xfrm>
          <a:prstGeom prst="rect">
            <a:avLst/>
          </a:prstGeom>
          <a:solidFill>
            <a:srgbClr val="044BD9"/>
          </a:solidFill>
          <a:ln/>
        </p:spPr>
      </p:sp>
      <p:sp>
        <p:nvSpPr>
          <p:cNvPr id="24" name="li::before"/>
          <p:cNvSpPr/>
          <p:nvPr/>
        </p:nvSpPr>
        <p:spPr>
          <a:xfrm>
            <a:off x="8227405" y="3881354"/>
            <a:ext cx="57150" cy="57150"/>
          </a:xfrm>
          <a:prstGeom prst="rect">
            <a:avLst/>
          </a:prstGeom>
          <a:solidFill>
            <a:srgbClr val="044BD9"/>
          </a:solidFill>
          <a:ln/>
        </p:spPr>
      </p:sp>
      <p:sp>
        <p:nvSpPr>
          <p:cNvPr id="25" name="li::before"/>
          <p:cNvSpPr/>
          <p:nvPr/>
        </p:nvSpPr>
        <p:spPr>
          <a:xfrm>
            <a:off x="8227405" y="4376593"/>
            <a:ext cx="57150" cy="57150"/>
          </a:xfrm>
          <a:prstGeom prst="rect">
            <a:avLst/>
          </a:prstGeom>
          <a:solidFill>
            <a:srgbClr val="044BD9"/>
          </a:solidFill>
          <a:ln/>
        </p:spPr>
      </p:sp>
      <p:sp>
        <p:nvSpPr>
          <p:cNvPr id="26" name="Rule"/>
          <p:cNvSpPr/>
          <p:nvPr/>
        </p:nvSpPr>
        <p:spPr>
          <a:xfrm>
            <a:off x="8227405" y="5100798"/>
            <a:ext cx="3018343" cy="0"/>
          </a:xfrm>
          <a:prstGeom prst="line">
            <a:avLst/>
          </a:prstGeom>
          <a:noFill/>
          <a:ln w="6350">
            <a:solidFill>
              <a:srgbClr val="F0F0F0"/>
            </a:solidFill>
            <a:prstDash val="solid"/>
          </a:ln>
        </p:spPr>
      </p:sp>
      <p:sp>
        <p:nvSpPr>
          <p:cNvPr id="27" name="span::before"/>
          <p:cNvSpPr/>
          <p:nvPr/>
        </p:nvSpPr>
        <p:spPr>
          <a:xfrm>
            <a:off x="6191860" y="311170"/>
            <a:ext cx="44440" cy="44440"/>
          </a:xfrm>
          <a:prstGeom prst="rect">
            <a:avLst/>
          </a:prstGeom>
          <a:solidFill>
            <a:srgbClr val="A0A6AF">
              <a:alpha val="55000"/>
            </a:srgbClr>
          </a:solidFill>
          <a:ln/>
        </p:spPr>
      </p:sp>
      <p:sp>
        <p:nvSpPr>
          <p:cNvPr id="28" name="span::before"/>
          <p:cNvSpPr/>
          <p:nvPr/>
        </p:nvSpPr>
        <p:spPr>
          <a:xfrm>
            <a:off x="7145213" y="311170"/>
            <a:ext cx="44440" cy="44440"/>
          </a:xfrm>
          <a:prstGeom prst="rect">
            <a:avLst/>
          </a:prstGeom>
          <a:solidFill>
            <a:srgbClr val="A0A6AF">
              <a:alpha val="55000"/>
            </a:srgbClr>
          </a:solidFill>
          <a:ln/>
        </p:spPr>
      </p:sp>
      <p:sp>
        <p:nvSpPr>
          <p:cNvPr id="29" name="on::before"/>
          <p:cNvSpPr/>
          <p:nvPr/>
        </p:nvSpPr>
        <p:spPr>
          <a:xfrm>
            <a:off x="8056230" y="311170"/>
            <a:ext cx="44440" cy="44440"/>
          </a:xfrm>
          <a:prstGeom prst="rect">
            <a:avLst/>
          </a:prstGeom>
          <a:solidFill>
            <a:srgbClr val="044BD9"/>
          </a:solidFill>
          <a:ln/>
        </p:spPr>
      </p:sp>
      <p:sp>
        <p:nvSpPr>
          <p:cNvPr id="30" name="span::before"/>
          <p:cNvSpPr/>
          <p:nvPr/>
        </p:nvSpPr>
        <p:spPr>
          <a:xfrm>
            <a:off x="8972550" y="311170"/>
            <a:ext cx="44440" cy="44440"/>
          </a:xfrm>
          <a:prstGeom prst="rect">
            <a:avLst/>
          </a:prstGeom>
          <a:solidFill>
            <a:srgbClr val="A0A6AF">
              <a:alpha val="55000"/>
            </a:srgbClr>
          </a:solidFill>
          <a:ln/>
        </p:spPr>
      </p:sp>
      <p:sp>
        <p:nvSpPr>
          <p:cNvPr id="31" name="span::before"/>
          <p:cNvSpPr/>
          <p:nvPr/>
        </p:nvSpPr>
        <p:spPr>
          <a:xfrm>
            <a:off x="10421142" y="311170"/>
            <a:ext cx="44440" cy="44440"/>
          </a:xfrm>
          <a:prstGeom prst="rect">
            <a:avLst/>
          </a:prstGeom>
          <a:solidFill>
            <a:srgbClr val="A0A6AF">
              <a:alpha val="55000"/>
            </a:srgbClr>
          </a:solidFill>
          <a:ln/>
        </p:spPr>
      </p:sp>
      <p:sp>
        <p:nvSpPr>
          <p:cNvPr id="32" name="span::before"/>
          <p:cNvSpPr/>
          <p:nvPr/>
        </p:nvSpPr>
        <p:spPr>
          <a:xfrm>
            <a:off x="10966216" y="311170"/>
            <a:ext cx="44440" cy="44440"/>
          </a:xfrm>
          <a:prstGeom prst="rect">
            <a:avLst/>
          </a:prstGeom>
          <a:solidFill>
            <a:srgbClr val="A0A6AF">
              <a:alpha val="55000"/>
            </a:srgbClr>
          </a:solidFill>
          <a:ln/>
        </p:spPr>
      </p:sp>
      <p:sp>
        <p:nvSpPr>
          <p:cNvPr id="33" name="Text"/>
          <p:cNvSpPr txBox="1"/>
          <p:nvPr/>
        </p:nvSpPr>
        <p:spPr>
          <a:xfrm>
            <a:off x="844540" y="603230"/>
            <a:ext cx="818479" cy="120609"/>
          </a:xfrm>
          <a:prstGeom prst="rect">
            <a:avLst/>
          </a:prstGeom>
          <a:noFill/>
          <a:ln/>
        </p:spPr>
        <p:txBody>
          <a:bodyPr wrap="none" lIns="0" tIns="0" rIns="0" bIns="0" rtlCol="0" anchor="t"/>
          <a:lstStyle/>
          <a:p>
            <a:pPr algn="l" indent="0" marL="0">
              <a:lnSpc>
                <a:spcPts val="950"/>
              </a:lnSpc>
              <a:buNone/>
            </a:pPr>
            <a:r>
              <a:rPr lang="en-US" sz="950" spc="10" kern="0" dirty="0">
                <a:solidFill>
                  <a:srgbClr val="155DFC"/>
                </a:solidFill>
                <a:latin typeface="Poppins Medium" pitchFamily="34" charset="0"/>
                <a:ea typeface="Poppins Medium" pitchFamily="34" charset="-122"/>
                <a:cs typeface="Poppins Medium" pitchFamily="34" charset="-120"/>
              </a:rPr>
              <a:t>Services 4–6</a:t>
            </a:r>
            <a:endParaRPr lang="en-US" sz="950" dirty="0"/>
          </a:p>
        </p:txBody>
      </p:sp>
      <p:sp>
        <p:nvSpPr>
          <p:cNvPr id="34" name="Title"/>
          <p:cNvSpPr txBox="1"/>
          <p:nvPr/>
        </p:nvSpPr>
        <p:spPr>
          <a:xfrm>
            <a:off x="711220" y="927750"/>
            <a:ext cx="9398020" cy="861090"/>
          </a:xfrm>
          <a:prstGeom prst="rect">
            <a:avLst/>
          </a:prstGeom>
          <a:noFill/>
          <a:ln/>
        </p:spPr>
        <p:txBody>
          <a:bodyPr wrap="square" lIns="0" tIns="0" rIns="0" bIns="0" rtlCol="0" anchor="t"/>
          <a:lstStyle/>
          <a:p>
            <a:pPr algn="l" indent="0" marL="0">
              <a:lnSpc>
                <a:spcPts val="3390"/>
              </a:lnSpc>
              <a:buNone/>
            </a:pPr>
            <a:r>
              <a:rPr lang="en-US" sz="3000" spc="-45" kern="0" dirty="0">
                <a:solidFill>
                  <a:srgbClr val="000000"/>
                </a:solidFill>
                <a:latin typeface="Poppins Medium" pitchFamily="34" charset="0"/>
                <a:ea typeface="Poppins Medium" pitchFamily="34" charset="-122"/>
                <a:cs typeface="Poppins Medium" pitchFamily="34" charset="-120"/>
              </a:rPr>
              <a:t>Vision, platforms and MLOps carry AI to</a:t>
            </a:r>
            <a:endParaRPr lang="en-US" sz="3000" dirty="0"/>
          </a:p>
          <a:p>
            <a:pPr algn="l" indent="0" marL="0">
              <a:lnSpc>
                <a:spcPts val="3390"/>
              </a:lnSpc>
              <a:buNone/>
            </a:pPr>
            <a:r>
              <a:rPr lang="en-US" sz="3000" spc="-45" kern="0" dirty="0">
                <a:solidFill>
                  <a:srgbClr val="000000"/>
                </a:solidFill>
                <a:latin typeface="Poppins Medium" pitchFamily="34" charset="0"/>
                <a:ea typeface="Poppins Medium" pitchFamily="34" charset="-122"/>
                <a:cs typeface="Poppins Medium" pitchFamily="34" charset="-120"/>
              </a:rPr>
              <a:t>cameras, users and production pipelines</a:t>
            </a:r>
            <a:endParaRPr lang="en-US" sz="3000" dirty="0"/>
          </a:p>
        </p:txBody>
      </p:sp>
      <p:sp>
        <p:nvSpPr>
          <p:cNvPr id="35" name="Text"/>
          <p:cNvSpPr txBox="1"/>
          <p:nvPr/>
        </p:nvSpPr>
        <p:spPr>
          <a:xfrm>
            <a:off x="1454170" y="2306300"/>
            <a:ext cx="2510302" cy="464790"/>
          </a:xfrm>
          <a:prstGeom prst="rect">
            <a:avLst/>
          </a:prstGeom>
          <a:noFill/>
          <a:ln/>
        </p:spPr>
        <p:txBody>
          <a:bodyPr wrap="square" lIns="0" tIns="0" rIns="0" bIns="0" rtlCol="0" anchor="t"/>
          <a:lstStyle/>
          <a:p>
            <a:pPr algn="l" indent="0" marL="0">
              <a:lnSpc>
                <a:spcPts val="1830"/>
              </a:lnSpc>
              <a:buNone/>
            </a:pPr>
            <a:r>
              <a:rPr lang="en-US" sz="1500" dirty="0">
                <a:solidFill>
                  <a:srgbClr val="000000"/>
                </a:solidFill>
                <a:latin typeface="Poppins Medium" pitchFamily="34" charset="0"/>
                <a:ea typeface="Poppins Medium" pitchFamily="34" charset="-122"/>
                <a:cs typeface="Poppins Medium" pitchFamily="34" charset="-120"/>
              </a:rPr>
              <a:t>Computer vision</a:t>
            </a:r>
            <a:endParaRPr lang="en-US" sz="1500" dirty="0"/>
          </a:p>
          <a:p>
            <a:pPr algn="l" indent="0" marL="0">
              <a:lnSpc>
                <a:spcPts val="1830"/>
              </a:lnSpc>
              <a:buNone/>
            </a:pPr>
            <a:r>
              <a:rPr lang="en-US" sz="1500" dirty="0">
                <a:solidFill>
                  <a:srgbClr val="000000"/>
                </a:solidFill>
                <a:latin typeface="Poppins Medium" pitchFamily="34" charset="0"/>
                <a:ea typeface="Poppins Medium" pitchFamily="34" charset="-122"/>
                <a:cs typeface="Poppins Medium" pitchFamily="34" charset="-120"/>
              </a:rPr>
              <a:t>and smart city</a:t>
            </a:r>
            <a:endParaRPr lang="en-US" sz="1500" dirty="0"/>
          </a:p>
        </p:txBody>
      </p:sp>
      <p:sp>
        <p:nvSpPr>
          <p:cNvPr id="36" name="Text"/>
          <p:cNvSpPr txBox="1"/>
          <p:nvPr/>
        </p:nvSpPr>
        <p:spPr>
          <a:xfrm>
            <a:off x="946130" y="2877434"/>
            <a:ext cx="3043123" cy="405171"/>
          </a:xfrm>
          <a:prstGeom prst="rect">
            <a:avLst/>
          </a:prstGeom>
          <a:noFill/>
          <a:ln/>
        </p:spPr>
        <p:txBody>
          <a:bodyPr wrap="square" lIns="0" tIns="0" rIns="0" bIns="0" rtlCol="0" anchor="t"/>
          <a:lstStyle/>
          <a:p>
            <a:pPr algn="l" indent="0" marL="0">
              <a:lnSpc>
                <a:spcPts val="1595"/>
              </a:lnSpc>
              <a:buNone/>
            </a:pPr>
            <a:r>
              <a:rPr lang="en-US" sz="1100" dirty="0">
                <a:solidFill>
                  <a:srgbClr val="000000"/>
                </a:solidFill>
                <a:latin typeface="Poppins Light" pitchFamily="34" charset="0"/>
                <a:ea typeface="Poppins Light" pitchFamily="34" charset="-122"/>
                <a:cs typeface="Poppins Light" pitchFamily="34" charset="-120"/>
              </a:rPr>
              <a:t>Count, classify and track with video analytics</a:t>
            </a:r>
            <a:endParaRPr lang="en-US" sz="1100" dirty="0"/>
          </a:p>
        </p:txBody>
      </p:sp>
      <p:sp>
        <p:nvSpPr>
          <p:cNvPr id="37" name="Text"/>
          <p:cNvSpPr txBox="1"/>
          <p:nvPr/>
        </p:nvSpPr>
        <p:spPr>
          <a:xfrm>
            <a:off x="1111270" y="3509010"/>
            <a:ext cx="2877342" cy="419070"/>
          </a:xfrm>
          <a:prstGeom prst="rect">
            <a:avLst/>
          </a:prstGeom>
          <a:noFill/>
          <a:ln/>
        </p:spPr>
        <p:txBody>
          <a:bodyPr wrap="square" lIns="0" tIns="0" rIns="0" bIns="0" rtlCol="0" anchor="t"/>
          <a:lstStyle/>
          <a:p>
            <a:pPr algn="l" indent="0" marL="0">
              <a:lnSpc>
                <a:spcPts val="1650"/>
              </a:lnSpc>
              <a:buNone/>
            </a:pPr>
            <a:r>
              <a:rPr lang="en-US" sz="1100" dirty="0">
                <a:solidFill>
                  <a:srgbClr val="1F2937"/>
                </a:solidFill>
                <a:latin typeface="Poppins Light" pitchFamily="34" charset="0"/>
                <a:ea typeface="Poppins Light" pitchFamily="34" charset="-122"/>
                <a:cs typeface="Poppins Light" pitchFamily="34" charset="-120"/>
              </a:rPr>
              <a:t>People counting and occupancy with Kiralytics MATA</a:t>
            </a:r>
            <a:endParaRPr lang="en-US" sz="1100" dirty="0"/>
          </a:p>
        </p:txBody>
      </p:sp>
      <p:sp>
        <p:nvSpPr>
          <p:cNvPr id="38" name="Text"/>
          <p:cNvSpPr txBox="1"/>
          <p:nvPr/>
        </p:nvSpPr>
        <p:spPr>
          <a:xfrm>
            <a:off x="1111270" y="4004249"/>
            <a:ext cx="2877342" cy="419070"/>
          </a:xfrm>
          <a:prstGeom prst="rect">
            <a:avLst/>
          </a:prstGeom>
          <a:noFill/>
          <a:ln/>
        </p:spPr>
        <p:txBody>
          <a:bodyPr wrap="square" lIns="0" tIns="0" rIns="0" bIns="0" rtlCol="0" anchor="t"/>
          <a:lstStyle/>
          <a:p>
            <a:pPr algn="l" indent="0" marL="0">
              <a:lnSpc>
                <a:spcPts val="1650"/>
              </a:lnSpc>
              <a:buNone/>
            </a:pPr>
            <a:r>
              <a:rPr lang="en-US" sz="1100" dirty="0">
                <a:solidFill>
                  <a:srgbClr val="1F2937"/>
                </a:solidFill>
                <a:latin typeface="Poppins Light" pitchFamily="34" charset="0"/>
                <a:ea typeface="Poppins Light" pitchFamily="34" charset="-122"/>
                <a:cs typeface="Poppins Light" pitchFamily="34" charset="-120"/>
              </a:rPr>
              <a:t>Traffic counting and speed detection with Kiralytics TRAFFIK</a:t>
            </a:r>
            <a:endParaRPr lang="en-US" sz="1100" dirty="0"/>
          </a:p>
        </p:txBody>
      </p:sp>
      <p:sp>
        <p:nvSpPr>
          <p:cNvPr id="39" name="Text"/>
          <p:cNvSpPr txBox="1"/>
          <p:nvPr/>
        </p:nvSpPr>
        <p:spPr>
          <a:xfrm>
            <a:off x="1111270" y="4499580"/>
            <a:ext cx="2877342" cy="209580"/>
          </a:xfrm>
          <a:prstGeom prst="rect">
            <a:avLst/>
          </a:prstGeom>
          <a:noFill/>
          <a:ln/>
        </p:spPr>
        <p:txBody>
          <a:bodyPr wrap="square" lIns="0" tIns="0" rIns="0" bIns="0" rtlCol="0" anchor="t"/>
          <a:lstStyle/>
          <a:p>
            <a:pPr algn="l" indent="0" marL="0">
              <a:lnSpc>
                <a:spcPts val="1650"/>
              </a:lnSpc>
              <a:buNone/>
            </a:pPr>
            <a:r>
              <a:rPr lang="en-US" sz="1100" dirty="0">
                <a:solidFill>
                  <a:srgbClr val="1F2937"/>
                </a:solidFill>
                <a:latin typeface="Poppins Light" pitchFamily="34" charset="0"/>
                <a:ea typeface="Poppins Light" pitchFamily="34" charset="-122"/>
                <a:cs typeface="Poppins Light" pitchFamily="34" charset="-120"/>
              </a:rPr>
              <a:t>Smart city video analytics</a:t>
            </a:r>
            <a:endParaRPr lang="en-US" sz="1100" dirty="0"/>
          </a:p>
        </p:txBody>
      </p:sp>
      <p:sp>
        <p:nvSpPr>
          <p:cNvPr id="40" name="Text"/>
          <p:cNvSpPr txBox="1"/>
          <p:nvPr/>
        </p:nvSpPr>
        <p:spPr>
          <a:xfrm>
            <a:off x="946130" y="5204490"/>
            <a:ext cx="3043123" cy="167335"/>
          </a:xfrm>
          <a:prstGeom prst="rect">
            <a:avLst/>
          </a:prstGeom>
          <a:noFill/>
          <a:ln/>
        </p:spPr>
        <p:txBody>
          <a:bodyPr wrap="square" lIns="0" tIns="0" rIns="0" bIns="0" rtlCol="0" anchor="t"/>
          <a:lstStyle/>
          <a:p>
            <a:pPr algn="l" indent="0" marL="0">
              <a:lnSpc>
                <a:spcPts val="1318"/>
              </a:lnSpc>
              <a:buNone/>
            </a:pPr>
            <a:r>
              <a:rPr lang="en-US" sz="850" spc="17" kern="0" dirty="0">
                <a:solidFill>
                  <a:srgbClr val="044BD9"/>
                </a:solidFill>
                <a:latin typeface="Poppins Medium" pitchFamily="34" charset="0"/>
                <a:ea typeface="Poppins Medium" pitchFamily="34" charset="-122"/>
                <a:cs typeface="Poppins Medium" pitchFamily="34" charset="-120"/>
              </a:rPr>
              <a:t>Proof</a:t>
            </a:r>
            <a:endParaRPr lang="en-US" sz="850" dirty="0"/>
          </a:p>
        </p:txBody>
      </p:sp>
      <p:sp>
        <p:nvSpPr>
          <p:cNvPr id="41" name="Text"/>
          <p:cNvSpPr txBox="1"/>
          <p:nvPr/>
        </p:nvSpPr>
        <p:spPr>
          <a:xfrm>
            <a:off x="946130" y="5409590"/>
            <a:ext cx="3043123" cy="373990"/>
          </a:xfrm>
          <a:prstGeom prst="rect">
            <a:avLst/>
          </a:prstGeom>
          <a:noFill/>
          <a:ln/>
        </p:spPr>
        <p:txBody>
          <a:bodyPr wrap="square" lIns="0" tIns="0" rIns="0" bIns="0" rtlCol="0" anchor="t"/>
          <a:lstStyle/>
          <a:p>
            <a:pPr algn="l" indent="0" marL="0">
              <a:lnSpc>
                <a:spcPts val="1472"/>
              </a:lnSpc>
              <a:buNone/>
            </a:pPr>
            <a:r>
              <a:rPr lang="en-US" sz="950" dirty="0">
                <a:solidFill>
                  <a:srgbClr val="1F2937"/>
                </a:solidFill>
                <a:latin typeface="Poppins Light" pitchFamily="34" charset="0"/>
                <a:ea typeface="Poppins Light" pitchFamily="34" charset="-122"/>
                <a:cs typeface="Poppins Light" pitchFamily="34" charset="-120"/>
              </a:rPr>
              <a:t>Productised as Kiralytics MATA and TRAFFIK, on live CCTV or with AI hardware from FootfallCam</a:t>
            </a:r>
            <a:endParaRPr lang="en-US" sz="950" dirty="0"/>
          </a:p>
        </p:txBody>
      </p:sp>
      <p:sp>
        <p:nvSpPr>
          <p:cNvPr id="42" name="Text"/>
          <p:cNvSpPr txBox="1"/>
          <p:nvPr/>
        </p:nvSpPr>
        <p:spPr>
          <a:xfrm>
            <a:off x="5094762" y="2422520"/>
            <a:ext cx="2149023" cy="232440"/>
          </a:xfrm>
          <a:prstGeom prst="rect">
            <a:avLst/>
          </a:prstGeom>
          <a:noFill/>
          <a:ln/>
        </p:spPr>
        <p:txBody>
          <a:bodyPr wrap="none" lIns="0" tIns="0" rIns="0" bIns="0" rtlCol="0" anchor="t"/>
          <a:lstStyle/>
          <a:p>
            <a:pPr algn="l" indent="0" marL="0">
              <a:lnSpc>
                <a:spcPts val="1830"/>
              </a:lnSpc>
              <a:buNone/>
            </a:pPr>
            <a:r>
              <a:rPr lang="en-US" sz="1500" dirty="0">
                <a:solidFill>
                  <a:srgbClr val="000000"/>
                </a:solidFill>
                <a:latin typeface="Poppins Medium" pitchFamily="34" charset="0"/>
                <a:ea typeface="Poppins Medium" pitchFamily="34" charset="-122"/>
                <a:cs typeface="Poppins Medium" pitchFamily="34" charset="-120"/>
              </a:rPr>
              <a:t>Web and mobile apps</a:t>
            </a:r>
            <a:endParaRPr lang="en-US" sz="1500" dirty="0"/>
          </a:p>
        </p:txBody>
      </p:sp>
      <p:sp>
        <p:nvSpPr>
          <p:cNvPr id="43" name="Text"/>
          <p:cNvSpPr txBox="1"/>
          <p:nvPr/>
        </p:nvSpPr>
        <p:spPr>
          <a:xfrm>
            <a:off x="4586813" y="2877434"/>
            <a:ext cx="3043123" cy="405171"/>
          </a:xfrm>
          <a:prstGeom prst="rect">
            <a:avLst/>
          </a:prstGeom>
          <a:noFill/>
          <a:ln/>
        </p:spPr>
        <p:txBody>
          <a:bodyPr wrap="square" lIns="0" tIns="0" rIns="0" bIns="0" rtlCol="0" anchor="t"/>
          <a:lstStyle/>
          <a:p>
            <a:pPr algn="l" indent="0" marL="0">
              <a:lnSpc>
                <a:spcPts val="1595"/>
              </a:lnSpc>
              <a:buNone/>
            </a:pPr>
            <a:r>
              <a:rPr lang="en-US" sz="1100" dirty="0">
                <a:solidFill>
                  <a:srgbClr val="000000"/>
                </a:solidFill>
                <a:latin typeface="Poppins Light" pitchFamily="34" charset="0"/>
                <a:ea typeface="Poppins Light" pitchFamily="34" charset="-122"/>
                <a:cs typeface="Poppins Light" pitchFamily="34" charset="-120"/>
              </a:rPr>
              <a:t>Web and mobile platforms used by thousands of people</a:t>
            </a:r>
            <a:endParaRPr lang="en-US" sz="1100" dirty="0"/>
          </a:p>
        </p:txBody>
      </p:sp>
      <p:sp>
        <p:nvSpPr>
          <p:cNvPr id="44" name="Text"/>
          <p:cNvSpPr txBox="1"/>
          <p:nvPr/>
        </p:nvSpPr>
        <p:spPr>
          <a:xfrm>
            <a:off x="4751862" y="3509010"/>
            <a:ext cx="2877342" cy="209580"/>
          </a:xfrm>
          <a:prstGeom prst="rect">
            <a:avLst/>
          </a:prstGeom>
          <a:noFill/>
          <a:ln/>
        </p:spPr>
        <p:txBody>
          <a:bodyPr wrap="square" lIns="0" tIns="0" rIns="0" bIns="0" rtlCol="0" anchor="t"/>
          <a:lstStyle/>
          <a:p>
            <a:pPr algn="l" indent="0" marL="0">
              <a:lnSpc>
                <a:spcPts val="1650"/>
              </a:lnSpc>
              <a:buNone/>
            </a:pPr>
            <a:r>
              <a:rPr lang="en-US" sz="1100" dirty="0">
                <a:solidFill>
                  <a:srgbClr val="1F2937"/>
                </a:solidFill>
                <a:latin typeface="Poppins Light" pitchFamily="34" charset="0"/>
                <a:ea typeface="Poppins Light" pitchFamily="34" charset="-122"/>
                <a:cs typeface="Poppins Light" pitchFamily="34" charset="-120"/>
              </a:rPr>
              <a:t>Product strategy and UI/UX design</a:t>
            </a:r>
            <a:endParaRPr lang="en-US" sz="1100" dirty="0"/>
          </a:p>
        </p:txBody>
      </p:sp>
      <p:sp>
        <p:nvSpPr>
          <p:cNvPr id="45" name="Text"/>
          <p:cNvSpPr txBox="1"/>
          <p:nvPr/>
        </p:nvSpPr>
        <p:spPr>
          <a:xfrm>
            <a:off x="4751862" y="3794760"/>
            <a:ext cx="2877342" cy="419070"/>
          </a:xfrm>
          <a:prstGeom prst="rect">
            <a:avLst/>
          </a:prstGeom>
          <a:noFill/>
          <a:ln/>
        </p:spPr>
        <p:txBody>
          <a:bodyPr wrap="square" lIns="0" tIns="0" rIns="0" bIns="0" rtlCol="0" anchor="t"/>
          <a:lstStyle/>
          <a:p>
            <a:pPr algn="l" indent="0" marL="0">
              <a:lnSpc>
                <a:spcPts val="1650"/>
              </a:lnSpc>
              <a:buNone/>
            </a:pPr>
            <a:r>
              <a:rPr lang="en-US" sz="1100" dirty="0">
                <a:solidFill>
                  <a:srgbClr val="1F2937"/>
                </a:solidFill>
                <a:latin typeface="Poppins Light" pitchFamily="34" charset="0"/>
                <a:ea typeface="Poppins Light" pitchFamily="34" charset="-122"/>
                <a:cs typeface="Poppins Light" pitchFamily="34" charset="-120"/>
              </a:rPr>
              <a:t>Web platforms and mobile apps, engineered through to delivery</a:t>
            </a:r>
            <a:endParaRPr lang="en-US" sz="1100" dirty="0"/>
          </a:p>
        </p:txBody>
      </p:sp>
      <p:sp>
        <p:nvSpPr>
          <p:cNvPr id="46" name="Text"/>
          <p:cNvSpPr txBox="1"/>
          <p:nvPr/>
        </p:nvSpPr>
        <p:spPr>
          <a:xfrm>
            <a:off x="4751862" y="4289999"/>
            <a:ext cx="2877342" cy="419070"/>
          </a:xfrm>
          <a:prstGeom prst="rect">
            <a:avLst/>
          </a:prstGeom>
          <a:noFill/>
          <a:ln/>
        </p:spPr>
        <p:txBody>
          <a:bodyPr wrap="square" lIns="0" tIns="0" rIns="0" bIns="0" rtlCol="0" anchor="t"/>
          <a:lstStyle/>
          <a:p>
            <a:pPr algn="l" indent="0" marL="0">
              <a:lnSpc>
                <a:spcPts val="1650"/>
              </a:lnSpc>
              <a:buNone/>
            </a:pPr>
            <a:r>
              <a:rPr lang="en-US" sz="1100" dirty="0">
                <a:solidFill>
                  <a:srgbClr val="1F2937"/>
                </a:solidFill>
                <a:latin typeface="Poppins Light" pitchFamily="34" charset="0"/>
                <a:ea typeface="Poppins Light" pitchFamily="34" charset="-122"/>
                <a:cs typeface="Poppins Light" pitchFamily="34" charset="-120"/>
              </a:rPr>
              <a:t>AI inside the product, from agents to digital avatars</a:t>
            </a:r>
            <a:endParaRPr lang="en-US" sz="1100" dirty="0"/>
          </a:p>
        </p:txBody>
      </p:sp>
      <p:sp>
        <p:nvSpPr>
          <p:cNvPr id="47" name="Text"/>
          <p:cNvSpPr txBox="1"/>
          <p:nvPr/>
        </p:nvSpPr>
        <p:spPr>
          <a:xfrm>
            <a:off x="4586813" y="5204490"/>
            <a:ext cx="3043123" cy="167335"/>
          </a:xfrm>
          <a:prstGeom prst="rect">
            <a:avLst/>
          </a:prstGeom>
          <a:noFill/>
          <a:ln/>
        </p:spPr>
        <p:txBody>
          <a:bodyPr wrap="square" lIns="0" tIns="0" rIns="0" bIns="0" rtlCol="0" anchor="t"/>
          <a:lstStyle/>
          <a:p>
            <a:pPr algn="l" indent="0" marL="0">
              <a:lnSpc>
                <a:spcPts val="1318"/>
              </a:lnSpc>
              <a:buNone/>
            </a:pPr>
            <a:r>
              <a:rPr lang="en-US" sz="850" spc="17" kern="0" dirty="0">
                <a:solidFill>
                  <a:srgbClr val="044BD9"/>
                </a:solidFill>
                <a:latin typeface="Poppins Medium" pitchFamily="34" charset="0"/>
                <a:ea typeface="Poppins Medium" pitchFamily="34" charset="-122"/>
                <a:cs typeface="Poppins Medium" pitchFamily="34" charset="-120"/>
              </a:rPr>
              <a:t>Proof</a:t>
            </a:r>
            <a:endParaRPr lang="en-US" sz="850" dirty="0"/>
          </a:p>
        </p:txBody>
      </p:sp>
      <p:sp>
        <p:nvSpPr>
          <p:cNvPr id="48" name="Text"/>
          <p:cNvSpPr txBox="1"/>
          <p:nvPr/>
        </p:nvSpPr>
        <p:spPr>
          <a:xfrm>
            <a:off x="4586813" y="5409590"/>
            <a:ext cx="3043123" cy="373990"/>
          </a:xfrm>
          <a:prstGeom prst="rect">
            <a:avLst/>
          </a:prstGeom>
          <a:noFill/>
          <a:ln/>
        </p:spPr>
        <p:txBody>
          <a:bodyPr wrap="square" lIns="0" tIns="0" rIns="0" bIns="0" rtlCol="0" anchor="t"/>
          <a:lstStyle/>
          <a:p>
            <a:pPr algn="l" indent="0" marL="0">
              <a:lnSpc>
                <a:spcPts val="1472"/>
              </a:lnSpc>
              <a:buNone/>
            </a:pPr>
            <a:r>
              <a:rPr lang="en-US" sz="950" dirty="0">
                <a:solidFill>
                  <a:srgbClr val="1F2937"/>
                </a:solidFill>
                <a:latin typeface="Poppins Light" pitchFamily="34" charset="0"/>
                <a:ea typeface="Poppins Light" pitchFamily="34" charset="-122"/>
                <a:cs typeface="Poppins Light" pitchFamily="34" charset="-120"/>
              </a:rPr>
              <a:t>LocumLah:</a:t>
            </a:r>
            <a:pPr algn="l" indent="0" marL="0">
              <a:lnSpc>
                <a:spcPts val="1472"/>
              </a:lnSpc>
              <a:buNone/>
            </a:pPr>
            <a:r>
              <a:rPr lang="en-US" sz="950" dirty="0">
                <a:solidFill>
                  <a:srgbClr val="044BD9"/>
                </a:solidFill>
                <a:latin typeface="Poppins Medium" pitchFamily="34" charset="0"/>
                <a:ea typeface="Poppins Medium" pitchFamily="34" charset="-122"/>
                <a:cs typeface="Poppins Medium" pitchFamily="34" charset="-120"/>
              </a:rPr>
              <a:t> 3,000</a:t>
            </a:r>
            <a:pPr algn="l" indent="0" marL="0">
              <a:lnSpc>
                <a:spcPts val="1472"/>
              </a:lnSpc>
              <a:buNone/>
            </a:pPr>
            <a:r>
              <a:rPr lang="en-US" sz="950" dirty="0">
                <a:solidFill>
                  <a:srgbClr val="1F2937"/>
                </a:solidFill>
                <a:latin typeface="Poppins Light" pitchFamily="34" charset="0"/>
                <a:ea typeface="Poppins Light" pitchFamily="34" charset="-122"/>
                <a:cs typeface="Poppins Light" pitchFamily="34" charset="-120"/>
              </a:rPr>
              <a:t> doctors and</a:t>
            </a:r>
            <a:pPr algn="l" indent="0" marL="0">
              <a:lnSpc>
                <a:spcPts val="1472"/>
              </a:lnSpc>
              <a:buNone/>
            </a:pPr>
            <a:r>
              <a:rPr lang="en-US" sz="950" dirty="0">
                <a:solidFill>
                  <a:srgbClr val="044BD9"/>
                </a:solidFill>
                <a:latin typeface="Poppins Medium" pitchFamily="34" charset="0"/>
                <a:ea typeface="Poppins Medium" pitchFamily="34" charset="-122"/>
                <a:cs typeface="Poppins Medium" pitchFamily="34" charset="-120"/>
              </a:rPr>
              <a:t> 600</a:t>
            </a:r>
            <a:pPr algn="l" indent="0" marL="0">
              <a:lnSpc>
                <a:spcPts val="1472"/>
              </a:lnSpc>
              <a:buNone/>
            </a:pPr>
            <a:r>
              <a:rPr lang="en-US" sz="950" dirty="0">
                <a:solidFill>
                  <a:srgbClr val="1F2937"/>
                </a:solidFill>
                <a:latin typeface="Poppins Light" pitchFamily="34" charset="0"/>
                <a:ea typeface="Poppins Light" pitchFamily="34" charset="-122"/>
                <a:cs typeface="Poppins Light" pitchFamily="34" charset="-120"/>
              </a:rPr>
              <a:t> clinics onboarded; Politikus by Caprice:</a:t>
            </a:r>
            <a:pPr algn="l" indent="0" marL="0">
              <a:lnSpc>
                <a:spcPts val="1472"/>
              </a:lnSpc>
              <a:buNone/>
            </a:pPr>
            <a:r>
              <a:rPr lang="en-US" sz="950" dirty="0">
                <a:solidFill>
                  <a:srgbClr val="044BD9"/>
                </a:solidFill>
                <a:latin typeface="Poppins Medium" pitchFamily="34" charset="0"/>
                <a:ea typeface="Poppins Medium" pitchFamily="34" charset="-122"/>
                <a:cs typeface="Poppins Medium" pitchFamily="34" charset="-120"/>
              </a:rPr>
              <a:t> 32,000</a:t>
            </a:r>
            <a:pPr algn="l" indent="0" marL="0">
              <a:lnSpc>
                <a:spcPts val="1472"/>
              </a:lnSpc>
              <a:buNone/>
            </a:pPr>
            <a:r>
              <a:rPr lang="en-US" sz="950" dirty="0">
                <a:solidFill>
                  <a:srgbClr val="1F2937"/>
                </a:solidFill>
                <a:latin typeface="Poppins Light" pitchFamily="34" charset="0"/>
                <a:ea typeface="Poppins Light" pitchFamily="34" charset="-122"/>
                <a:cs typeface="Poppins Light" pitchFamily="34" charset="-120"/>
              </a:rPr>
              <a:t> swipes</a:t>
            </a:r>
            <a:endParaRPr lang="en-US" sz="950" dirty="0"/>
          </a:p>
        </p:txBody>
      </p:sp>
      <p:sp>
        <p:nvSpPr>
          <p:cNvPr id="49" name="Text"/>
          <p:cNvSpPr txBox="1"/>
          <p:nvPr/>
        </p:nvSpPr>
        <p:spPr>
          <a:xfrm>
            <a:off x="8735446" y="2422520"/>
            <a:ext cx="2062429" cy="232440"/>
          </a:xfrm>
          <a:prstGeom prst="rect">
            <a:avLst/>
          </a:prstGeom>
          <a:noFill/>
          <a:ln/>
        </p:spPr>
        <p:txBody>
          <a:bodyPr wrap="none" lIns="0" tIns="0" rIns="0" bIns="0" rtlCol="0" anchor="t"/>
          <a:lstStyle/>
          <a:p>
            <a:pPr algn="l" indent="0" marL="0">
              <a:lnSpc>
                <a:spcPts val="1830"/>
              </a:lnSpc>
              <a:buNone/>
            </a:pPr>
            <a:r>
              <a:rPr lang="en-US" sz="1500" dirty="0">
                <a:solidFill>
                  <a:srgbClr val="000000"/>
                </a:solidFill>
                <a:latin typeface="Poppins Medium" pitchFamily="34" charset="0"/>
                <a:ea typeface="Poppins Medium" pitchFamily="34" charset="-122"/>
                <a:cs typeface="Poppins Medium" pitchFamily="34" charset="-120"/>
              </a:rPr>
              <a:t>Data, RPA and MLOps</a:t>
            </a:r>
            <a:endParaRPr lang="en-US" sz="1500" dirty="0"/>
          </a:p>
        </p:txBody>
      </p:sp>
      <p:sp>
        <p:nvSpPr>
          <p:cNvPr id="50" name="Text"/>
          <p:cNvSpPr txBox="1"/>
          <p:nvPr/>
        </p:nvSpPr>
        <p:spPr>
          <a:xfrm>
            <a:off x="8227405" y="2877434"/>
            <a:ext cx="3043123" cy="202540"/>
          </a:xfrm>
          <a:prstGeom prst="rect">
            <a:avLst/>
          </a:prstGeom>
          <a:noFill/>
          <a:ln/>
        </p:spPr>
        <p:txBody>
          <a:bodyPr wrap="square" lIns="0" tIns="0" rIns="0" bIns="0" rtlCol="0" anchor="t"/>
          <a:lstStyle/>
          <a:p>
            <a:pPr algn="l" indent="0" marL="0">
              <a:lnSpc>
                <a:spcPts val="1595"/>
              </a:lnSpc>
              <a:buNone/>
            </a:pPr>
            <a:r>
              <a:rPr lang="en-US" sz="1100" dirty="0">
                <a:solidFill>
                  <a:srgbClr val="000000"/>
                </a:solidFill>
                <a:latin typeface="Poppins Light" pitchFamily="34" charset="0"/>
                <a:ea typeface="Poppins Light" pitchFamily="34" charset="-122"/>
                <a:cs typeface="Poppins Light" pitchFamily="34" charset="-120"/>
              </a:rPr>
              <a:t>Keep models accurate in production</a:t>
            </a:r>
            <a:endParaRPr lang="en-US" sz="1100" dirty="0"/>
          </a:p>
        </p:txBody>
      </p:sp>
      <p:sp>
        <p:nvSpPr>
          <p:cNvPr id="51" name="Text"/>
          <p:cNvSpPr txBox="1"/>
          <p:nvPr/>
        </p:nvSpPr>
        <p:spPr>
          <a:xfrm>
            <a:off x="8392546" y="3509010"/>
            <a:ext cx="2878623" cy="209580"/>
          </a:xfrm>
          <a:prstGeom prst="rect">
            <a:avLst/>
          </a:prstGeom>
          <a:noFill/>
          <a:ln/>
        </p:spPr>
        <p:txBody>
          <a:bodyPr wrap="none" lIns="0" tIns="0" rIns="0" bIns="0" rtlCol="0" anchor="t"/>
          <a:lstStyle/>
          <a:p>
            <a:pPr algn="l" indent="0" marL="0">
              <a:lnSpc>
                <a:spcPts val="1650"/>
              </a:lnSpc>
              <a:buNone/>
            </a:pPr>
            <a:r>
              <a:rPr lang="en-US" sz="1100" dirty="0">
                <a:solidFill>
                  <a:srgbClr val="1F2937"/>
                </a:solidFill>
                <a:latin typeface="Poppins Light" pitchFamily="34" charset="0"/>
                <a:ea typeface="Poppins Light" pitchFamily="34" charset="-122"/>
                <a:cs typeface="Poppins Light" pitchFamily="34" charset="-120"/>
              </a:rPr>
              <a:t>Data science, analytics and dashboards</a:t>
            </a:r>
            <a:endParaRPr lang="en-US" sz="1100" dirty="0"/>
          </a:p>
        </p:txBody>
      </p:sp>
      <p:sp>
        <p:nvSpPr>
          <p:cNvPr id="52" name="Text"/>
          <p:cNvSpPr txBox="1"/>
          <p:nvPr/>
        </p:nvSpPr>
        <p:spPr>
          <a:xfrm>
            <a:off x="8392546" y="3794760"/>
            <a:ext cx="2877342" cy="419070"/>
          </a:xfrm>
          <a:prstGeom prst="rect">
            <a:avLst/>
          </a:prstGeom>
          <a:noFill/>
          <a:ln/>
        </p:spPr>
        <p:txBody>
          <a:bodyPr wrap="square" lIns="0" tIns="0" rIns="0" bIns="0" rtlCol="0" anchor="t"/>
          <a:lstStyle/>
          <a:p>
            <a:pPr algn="l" indent="0" marL="0">
              <a:lnSpc>
                <a:spcPts val="1650"/>
              </a:lnSpc>
              <a:buNone/>
            </a:pPr>
            <a:r>
              <a:rPr lang="en-US" sz="1100" dirty="0">
                <a:solidFill>
                  <a:srgbClr val="1F2937"/>
                </a:solidFill>
                <a:latin typeface="Poppins Light" pitchFamily="34" charset="0"/>
                <a:ea typeface="Poppins Light" pitchFamily="34" charset="-122"/>
                <a:cs typeface="Poppins Light" pitchFamily="34" charset="-120"/>
              </a:rPr>
              <a:t>RPA, and agentic RPA for document work that needs judgement</a:t>
            </a:r>
            <a:endParaRPr lang="en-US" sz="1100" dirty="0"/>
          </a:p>
        </p:txBody>
      </p:sp>
      <p:sp>
        <p:nvSpPr>
          <p:cNvPr id="53" name="Text"/>
          <p:cNvSpPr txBox="1"/>
          <p:nvPr/>
        </p:nvSpPr>
        <p:spPr>
          <a:xfrm>
            <a:off x="8392546" y="4289999"/>
            <a:ext cx="2877342" cy="419070"/>
          </a:xfrm>
          <a:prstGeom prst="rect">
            <a:avLst/>
          </a:prstGeom>
          <a:noFill/>
          <a:ln/>
        </p:spPr>
        <p:txBody>
          <a:bodyPr wrap="square" lIns="0" tIns="0" rIns="0" bIns="0" rtlCol="0" anchor="t"/>
          <a:lstStyle/>
          <a:p>
            <a:pPr algn="l" indent="0" marL="0">
              <a:lnSpc>
                <a:spcPts val="1650"/>
              </a:lnSpc>
              <a:buNone/>
            </a:pPr>
            <a:r>
              <a:rPr lang="en-US" sz="1100" dirty="0">
                <a:solidFill>
                  <a:srgbClr val="1F2937"/>
                </a:solidFill>
                <a:latin typeface="Poppins Light" pitchFamily="34" charset="0"/>
                <a:ea typeface="Poppins Light" pitchFamily="34" charset="-122"/>
                <a:cs typeface="Poppins Light" pitchFamily="34" charset="-120"/>
              </a:rPr>
              <a:t>DevOps and MLOps pipelines that retrain, evaluate and redeploy</a:t>
            </a:r>
            <a:endParaRPr lang="en-US" sz="1100" dirty="0"/>
          </a:p>
        </p:txBody>
      </p:sp>
      <p:sp>
        <p:nvSpPr>
          <p:cNvPr id="54" name="Text"/>
          <p:cNvSpPr txBox="1"/>
          <p:nvPr/>
        </p:nvSpPr>
        <p:spPr>
          <a:xfrm>
            <a:off x="8227405" y="5204490"/>
            <a:ext cx="3043123" cy="167335"/>
          </a:xfrm>
          <a:prstGeom prst="rect">
            <a:avLst/>
          </a:prstGeom>
          <a:noFill/>
          <a:ln/>
        </p:spPr>
        <p:txBody>
          <a:bodyPr wrap="square" lIns="0" tIns="0" rIns="0" bIns="0" rtlCol="0" anchor="t"/>
          <a:lstStyle/>
          <a:p>
            <a:pPr algn="l" indent="0" marL="0">
              <a:lnSpc>
                <a:spcPts val="1318"/>
              </a:lnSpc>
              <a:buNone/>
            </a:pPr>
            <a:r>
              <a:rPr lang="en-US" sz="850" spc="17" kern="0" dirty="0">
                <a:solidFill>
                  <a:srgbClr val="044BD9"/>
                </a:solidFill>
                <a:latin typeface="Poppins Medium" pitchFamily="34" charset="0"/>
                <a:ea typeface="Poppins Medium" pitchFamily="34" charset="-122"/>
                <a:cs typeface="Poppins Medium" pitchFamily="34" charset="-120"/>
              </a:rPr>
              <a:t>Proof</a:t>
            </a:r>
            <a:endParaRPr lang="en-US" sz="850" dirty="0"/>
          </a:p>
        </p:txBody>
      </p:sp>
      <p:sp>
        <p:nvSpPr>
          <p:cNvPr id="55" name="Text"/>
          <p:cNvSpPr txBox="1"/>
          <p:nvPr/>
        </p:nvSpPr>
        <p:spPr>
          <a:xfrm>
            <a:off x="8227405" y="5409590"/>
            <a:ext cx="3043123" cy="373990"/>
          </a:xfrm>
          <a:prstGeom prst="rect">
            <a:avLst/>
          </a:prstGeom>
          <a:noFill/>
          <a:ln/>
        </p:spPr>
        <p:txBody>
          <a:bodyPr wrap="square" lIns="0" tIns="0" rIns="0" bIns="0" rtlCol="0" anchor="t"/>
          <a:lstStyle/>
          <a:p>
            <a:pPr algn="l" indent="0" marL="0">
              <a:lnSpc>
                <a:spcPts val="1472"/>
              </a:lnSpc>
              <a:buNone/>
            </a:pPr>
            <a:r>
              <a:rPr lang="en-US" sz="950" dirty="0">
                <a:solidFill>
                  <a:srgbClr val="1F2937"/>
                </a:solidFill>
                <a:latin typeface="Poppins Light" pitchFamily="34" charset="0"/>
                <a:ea typeface="Poppins Light" pitchFamily="34" charset="-122"/>
                <a:cs typeface="Poppins Light" pitchFamily="34" charset="-120"/>
              </a:rPr>
              <a:t>RPA for PowerDNA’s genetic test report generation, in Malaysia and China</a:t>
            </a:r>
            <a:endParaRPr lang="en-US" sz="950" dirty="0"/>
          </a:p>
        </p:txBody>
      </p:sp>
      <p:sp>
        <p:nvSpPr>
          <p:cNvPr id="56" name="Text"/>
          <p:cNvSpPr txBox="1"/>
          <p:nvPr/>
        </p:nvSpPr>
        <p:spPr>
          <a:xfrm>
            <a:off x="6287140" y="276240"/>
            <a:ext cx="708477"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Point of view</a:t>
            </a:r>
            <a:endParaRPr lang="en-US" sz="850" dirty="0"/>
          </a:p>
        </p:txBody>
      </p:sp>
      <p:sp>
        <p:nvSpPr>
          <p:cNvPr id="57" name="Text"/>
          <p:cNvSpPr txBox="1"/>
          <p:nvPr/>
        </p:nvSpPr>
        <p:spPr>
          <a:xfrm>
            <a:off x="7240494" y="276240"/>
            <a:ext cx="665958"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Who we are</a:t>
            </a:r>
            <a:endParaRPr lang="en-US" sz="850" dirty="0"/>
          </a:p>
        </p:txBody>
      </p:sp>
      <p:sp>
        <p:nvSpPr>
          <p:cNvPr id="58" name="Text"/>
          <p:cNvSpPr txBox="1"/>
          <p:nvPr/>
        </p:nvSpPr>
        <p:spPr>
          <a:xfrm>
            <a:off x="8151510" y="276240"/>
            <a:ext cx="671261"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044BD9"/>
                </a:solidFill>
                <a:latin typeface="Poppins Medium" pitchFamily="34" charset="0"/>
                <a:ea typeface="Poppins Medium" pitchFamily="34" charset="-122"/>
                <a:cs typeface="Poppins Medium" pitchFamily="34" charset="-120"/>
              </a:rPr>
              <a:t>What we do</a:t>
            </a:r>
            <a:endParaRPr lang="en-US" sz="850" dirty="0"/>
          </a:p>
        </p:txBody>
      </p:sp>
      <p:sp>
        <p:nvSpPr>
          <p:cNvPr id="59" name="Text"/>
          <p:cNvSpPr txBox="1"/>
          <p:nvPr/>
        </p:nvSpPr>
        <p:spPr>
          <a:xfrm>
            <a:off x="9067830" y="276240"/>
            <a:ext cx="1205728"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Sectors and products</a:t>
            </a:r>
            <a:endParaRPr lang="en-US" sz="850" dirty="0"/>
          </a:p>
        </p:txBody>
      </p:sp>
      <p:sp>
        <p:nvSpPr>
          <p:cNvPr id="60" name="Text"/>
          <p:cNvSpPr txBox="1"/>
          <p:nvPr/>
        </p:nvSpPr>
        <p:spPr>
          <a:xfrm>
            <a:off x="10516423" y="276240"/>
            <a:ext cx="298552"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Proof</a:t>
            </a:r>
            <a:endParaRPr lang="en-US" sz="850" dirty="0"/>
          </a:p>
        </p:txBody>
      </p:sp>
      <p:sp>
        <p:nvSpPr>
          <p:cNvPr id="61" name="Text"/>
          <p:cNvSpPr txBox="1"/>
          <p:nvPr/>
        </p:nvSpPr>
        <p:spPr>
          <a:xfrm>
            <a:off x="11061497" y="276240"/>
            <a:ext cx="433700"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Engage</a:t>
            </a:r>
            <a:endParaRPr lang="en-US" sz="850" dirty="0"/>
          </a:p>
        </p:txBody>
      </p:sp>
      <p:sp>
        <p:nvSpPr>
          <p:cNvPr id="62" name="Source"/>
          <p:cNvSpPr txBox="1"/>
          <p:nvPr/>
        </p:nvSpPr>
        <p:spPr>
          <a:xfrm>
            <a:off x="711220" y="6409030"/>
            <a:ext cx="8300740" cy="151150"/>
          </a:xfrm>
          <a:prstGeom prst="rect">
            <a:avLst/>
          </a:prstGeom>
          <a:noFill/>
          <a:ln/>
        </p:spPr>
        <p:txBody>
          <a:bodyPr wrap="square" lIns="0" tIns="0" rIns="0" bIns="0" rtlCol="0" anchor="t"/>
          <a:lstStyle/>
          <a:p>
            <a:pPr algn="l" indent="0" marL="0">
              <a:lnSpc>
                <a:spcPts val="1190"/>
              </a:lnSpc>
              <a:buNone/>
            </a:pPr>
            <a:r>
              <a:rPr lang="en-US" sz="850" dirty="0">
                <a:solidFill>
                  <a:srgbClr val="6B6B6B"/>
                </a:solidFill>
                <a:latin typeface="Poppins" pitchFamily="34" charset="0"/>
                <a:ea typeface="Poppins" pitchFamily="34" charset="-122"/>
                <a:cs typeface="Poppins" pitchFamily="34" charset="-120"/>
              </a:rPr>
              <a:t>Source: alphv.com/services and its six service pages (October 2026).</a:t>
            </a:r>
            <a:endParaRPr lang="en-US" sz="850" dirty="0"/>
          </a:p>
        </p:txBody>
      </p:sp>
      <p:sp>
        <p:nvSpPr>
          <p:cNvPr id="63" name="Text"/>
          <p:cNvSpPr txBox="1"/>
          <p:nvPr/>
        </p:nvSpPr>
        <p:spPr>
          <a:xfrm>
            <a:off x="9374520" y="6409030"/>
            <a:ext cx="393741" cy="151150"/>
          </a:xfrm>
          <a:prstGeom prst="rect">
            <a:avLst/>
          </a:prstGeom>
          <a:noFill/>
          <a:ln/>
        </p:spPr>
        <p:txBody>
          <a:bodyPr wrap="none" lIns="0" tIns="0" rIns="0" bIns="0" rtlCol="0" anchor="t"/>
          <a:lstStyle/>
          <a:p>
            <a:pPr algn="l" indent="0" marL="0">
              <a:lnSpc>
                <a:spcPts val="1190"/>
              </a:lnSpc>
              <a:buNone/>
            </a:pPr>
            <a:r>
              <a:rPr lang="en-US" sz="850" spc="34" kern="0" dirty="0">
                <a:solidFill>
                  <a:srgbClr val="000000"/>
                </a:solidFill>
                <a:latin typeface="Poppins SemiBold" pitchFamily="34" charset="0"/>
                <a:ea typeface="Poppins SemiBold" pitchFamily="34" charset="-122"/>
                <a:cs typeface="Poppins SemiBold" pitchFamily="34" charset="-120"/>
              </a:rPr>
              <a:t>ALPHV</a:t>
            </a:r>
            <a:endParaRPr lang="en-US" sz="850" dirty="0"/>
          </a:p>
        </p:txBody>
      </p:sp>
      <p:sp>
        <p:nvSpPr>
          <p:cNvPr id="64" name="Text"/>
          <p:cNvSpPr txBox="1"/>
          <p:nvPr/>
        </p:nvSpPr>
        <p:spPr>
          <a:xfrm>
            <a:off x="9882469" y="6409030"/>
            <a:ext cx="1377178" cy="151150"/>
          </a:xfrm>
          <a:prstGeom prst="rect">
            <a:avLst/>
          </a:prstGeom>
          <a:noFill/>
          <a:ln/>
        </p:spPr>
        <p:txBody>
          <a:bodyPr wrap="none" lIns="0" tIns="0" rIns="0" bIns="0" rtlCol="0" anchor="t"/>
          <a:lstStyle/>
          <a:p>
            <a:pPr algn="l" indent="0" marL="0">
              <a:lnSpc>
                <a:spcPts val="1190"/>
              </a:lnSpc>
              <a:buNone/>
            </a:pPr>
            <a:r>
              <a:rPr lang="en-US" sz="850" dirty="0">
                <a:solidFill>
                  <a:srgbClr val="6B6B6B"/>
                </a:solidFill>
                <a:latin typeface="Poppins" pitchFamily="34" charset="0"/>
                <a:ea typeface="Poppins" pitchFamily="34" charset="-122"/>
                <a:cs typeface="Poppins" pitchFamily="34" charset="-120"/>
              </a:rPr>
              <a:t>Corporate overview 2026</a:t>
            </a:r>
            <a:endParaRPr lang="en-US" sz="850" dirty="0"/>
          </a:p>
        </p:txBody>
      </p:sp>
      <p:sp>
        <p:nvSpPr>
          <p:cNvPr id="65" name="Text"/>
          <p:cNvSpPr txBox="1"/>
          <p:nvPr/>
        </p:nvSpPr>
        <p:spPr>
          <a:xfrm>
            <a:off x="11373947" y="6409030"/>
            <a:ext cx="132222" cy="151150"/>
          </a:xfrm>
          <a:prstGeom prst="rect">
            <a:avLst/>
          </a:prstGeom>
          <a:noFill/>
          <a:ln/>
        </p:spPr>
        <p:txBody>
          <a:bodyPr wrap="none" lIns="0" tIns="0" rIns="0" bIns="0" rtlCol="0" anchor="t"/>
          <a:lstStyle/>
          <a:p>
            <a:pPr algn="l" indent="0" marL="0">
              <a:lnSpc>
                <a:spcPts val="1190"/>
              </a:lnSpc>
              <a:buNone/>
            </a:pPr>
            <a:r>
              <a:rPr lang="en-US" sz="850" dirty="0">
                <a:solidFill>
                  <a:srgbClr val="000000"/>
                </a:solidFill>
                <a:latin typeface="Poppins Medium" pitchFamily="34" charset="0"/>
                <a:ea typeface="Poppins Medium" pitchFamily="34" charset="-122"/>
                <a:cs typeface="Poppins Medium" pitchFamily="34" charset="-120"/>
              </a:rPr>
              <a:t>15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badge"/>
          <p:cNvSpPr/>
          <p:nvPr/>
        </p:nvSpPr>
        <p:spPr>
          <a:xfrm>
            <a:off x="714421" y="536570"/>
            <a:ext cx="1061618" cy="254020"/>
          </a:xfrm>
          <a:prstGeom prst="roundRect">
            <a:avLst>
              <a:gd name="adj" fmla="val 50000"/>
            </a:avLst>
          </a:prstGeom>
          <a:ln w="6350">
            <a:solidFill>
              <a:srgbClr val="155DFC"/>
            </a:solidFill>
            <a:prstDash val="solid"/>
          </a:ln>
        </p:spPr>
      </p:sp>
      <p:sp>
        <p:nvSpPr>
          <p:cNvPr id="3" name="Connector"/>
          <p:cNvSpPr/>
          <p:nvPr/>
        </p:nvSpPr>
        <p:spPr>
          <a:xfrm>
            <a:off x="914400" y="2277039"/>
            <a:ext cx="10363170" cy="0"/>
          </a:xfrm>
          <a:prstGeom prst="line">
            <a:avLst/>
          </a:prstGeom>
          <a:noFill/>
          <a:ln w="12700">
            <a:solidFill>
              <a:srgbClr val="044BD9">
                <a:alpha val="20000"/>
              </a:srgbClr>
            </a:solidFill>
            <a:prstDash val="dash"/>
          </a:ln>
        </p:spPr>
      </p:sp>
      <p:sp>
        <p:nvSpPr>
          <p:cNvPr id="4" name="num"/>
          <p:cNvSpPr/>
          <p:nvPr/>
        </p:nvSpPr>
        <p:spPr>
          <a:xfrm>
            <a:off x="711220" y="2073859"/>
            <a:ext cx="406359" cy="406359"/>
          </a:xfrm>
          <a:prstGeom prst="ellipse">
            <a:avLst/>
          </a:prstGeom>
          <a:solidFill>
            <a:srgbClr val="044BD9"/>
          </a:solidFill>
          <a:ln/>
        </p:spPr>
      </p:sp>
      <p:sp>
        <p:nvSpPr>
          <p:cNvPr id="5" name="Rule"/>
          <p:cNvSpPr/>
          <p:nvPr/>
        </p:nvSpPr>
        <p:spPr>
          <a:xfrm>
            <a:off x="711220" y="4298869"/>
            <a:ext cx="2501890" cy="0"/>
          </a:xfrm>
          <a:prstGeom prst="line">
            <a:avLst/>
          </a:prstGeom>
          <a:noFill/>
          <a:ln w="6350">
            <a:solidFill>
              <a:srgbClr val="E3E6EC"/>
            </a:solidFill>
            <a:prstDash val="solid"/>
          </a:ln>
        </p:spPr>
      </p:sp>
      <p:sp>
        <p:nvSpPr>
          <p:cNvPr id="6" name="li::before"/>
          <p:cNvSpPr/>
          <p:nvPr/>
        </p:nvSpPr>
        <p:spPr>
          <a:xfrm>
            <a:off x="711220" y="4482389"/>
            <a:ext cx="57150" cy="57150"/>
          </a:xfrm>
          <a:prstGeom prst="rect">
            <a:avLst/>
          </a:prstGeom>
          <a:solidFill>
            <a:srgbClr val="044BD9"/>
          </a:solidFill>
          <a:ln/>
        </p:spPr>
      </p:sp>
      <p:sp>
        <p:nvSpPr>
          <p:cNvPr id="7" name="li::before"/>
          <p:cNvSpPr/>
          <p:nvPr/>
        </p:nvSpPr>
        <p:spPr>
          <a:xfrm>
            <a:off x="711220" y="4914168"/>
            <a:ext cx="57150" cy="57150"/>
          </a:xfrm>
          <a:prstGeom prst="rect">
            <a:avLst/>
          </a:prstGeom>
          <a:solidFill>
            <a:srgbClr val="044BD9"/>
          </a:solidFill>
          <a:ln/>
        </p:spPr>
      </p:sp>
      <p:sp>
        <p:nvSpPr>
          <p:cNvPr id="8" name="num"/>
          <p:cNvSpPr/>
          <p:nvPr/>
        </p:nvSpPr>
        <p:spPr>
          <a:xfrm>
            <a:off x="3467130" y="2073859"/>
            <a:ext cx="406359" cy="406359"/>
          </a:xfrm>
          <a:prstGeom prst="ellipse">
            <a:avLst/>
          </a:prstGeom>
          <a:solidFill>
            <a:srgbClr val="044BD9"/>
          </a:solidFill>
          <a:ln/>
        </p:spPr>
      </p:sp>
      <p:sp>
        <p:nvSpPr>
          <p:cNvPr id="9" name="Rule"/>
          <p:cNvSpPr/>
          <p:nvPr/>
        </p:nvSpPr>
        <p:spPr>
          <a:xfrm>
            <a:off x="3467130" y="4298869"/>
            <a:ext cx="2501890" cy="0"/>
          </a:xfrm>
          <a:prstGeom prst="line">
            <a:avLst/>
          </a:prstGeom>
          <a:noFill/>
          <a:ln w="6350">
            <a:solidFill>
              <a:srgbClr val="E3E6EC"/>
            </a:solidFill>
            <a:prstDash val="solid"/>
          </a:ln>
        </p:spPr>
      </p:sp>
      <p:sp>
        <p:nvSpPr>
          <p:cNvPr id="10" name="li::before"/>
          <p:cNvSpPr/>
          <p:nvPr/>
        </p:nvSpPr>
        <p:spPr>
          <a:xfrm>
            <a:off x="3467130" y="4482389"/>
            <a:ext cx="57150" cy="57150"/>
          </a:xfrm>
          <a:prstGeom prst="rect">
            <a:avLst/>
          </a:prstGeom>
          <a:solidFill>
            <a:srgbClr val="044BD9"/>
          </a:solidFill>
          <a:ln/>
        </p:spPr>
      </p:sp>
      <p:sp>
        <p:nvSpPr>
          <p:cNvPr id="11" name="li::before"/>
          <p:cNvSpPr/>
          <p:nvPr/>
        </p:nvSpPr>
        <p:spPr>
          <a:xfrm>
            <a:off x="3467130" y="4723699"/>
            <a:ext cx="57150" cy="57150"/>
          </a:xfrm>
          <a:prstGeom prst="rect">
            <a:avLst/>
          </a:prstGeom>
          <a:solidFill>
            <a:srgbClr val="044BD9"/>
          </a:solidFill>
          <a:ln/>
        </p:spPr>
      </p:sp>
      <p:sp>
        <p:nvSpPr>
          <p:cNvPr id="12" name="num"/>
          <p:cNvSpPr/>
          <p:nvPr/>
        </p:nvSpPr>
        <p:spPr>
          <a:xfrm>
            <a:off x="6223041" y="2073859"/>
            <a:ext cx="406359" cy="406359"/>
          </a:xfrm>
          <a:prstGeom prst="ellipse">
            <a:avLst/>
          </a:prstGeom>
          <a:solidFill>
            <a:srgbClr val="044BD9"/>
          </a:solidFill>
          <a:ln/>
        </p:spPr>
      </p:sp>
      <p:sp>
        <p:nvSpPr>
          <p:cNvPr id="13" name="Rule"/>
          <p:cNvSpPr/>
          <p:nvPr/>
        </p:nvSpPr>
        <p:spPr>
          <a:xfrm>
            <a:off x="6223041" y="4298869"/>
            <a:ext cx="2501890" cy="0"/>
          </a:xfrm>
          <a:prstGeom prst="line">
            <a:avLst/>
          </a:prstGeom>
          <a:noFill/>
          <a:ln w="6350">
            <a:solidFill>
              <a:srgbClr val="E3E6EC"/>
            </a:solidFill>
            <a:prstDash val="solid"/>
          </a:ln>
        </p:spPr>
      </p:sp>
      <p:sp>
        <p:nvSpPr>
          <p:cNvPr id="14" name="li::before"/>
          <p:cNvSpPr/>
          <p:nvPr/>
        </p:nvSpPr>
        <p:spPr>
          <a:xfrm>
            <a:off x="6223041" y="4482389"/>
            <a:ext cx="57150" cy="57150"/>
          </a:xfrm>
          <a:prstGeom prst="rect">
            <a:avLst/>
          </a:prstGeom>
          <a:solidFill>
            <a:srgbClr val="044BD9"/>
          </a:solidFill>
          <a:ln/>
        </p:spPr>
      </p:sp>
      <p:sp>
        <p:nvSpPr>
          <p:cNvPr id="15" name="li::before"/>
          <p:cNvSpPr/>
          <p:nvPr/>
        </p:nvSpPr>
        <p:spPr>
          <a:xfrm>
            <a:off x="6223041" y="4914168"/>
            <a:ext cx="57150" cy="57150"/>
          </a:xfrm>
          <a:prstGeom prst="rect">
            <a:avLst/>
          </a:prstGeom>
          <a:solidFill>
            <a:srgbClr val="044BD9"/>
          </a:solidFill>
          <a:ln/>
        </p:spPr>
      </p:sp>
      <p:sp>
        <p:nvSpPr>
          <p:cNvPr id="16" name="num"/>
          <p:cNvSpPr/>
          <p:nvPr/>
        </p:nvSpPr>
        <p:spPr>
          <a:xfrm>
            <a:off x="8978859" y="2073859"/>
            <a:ext cx="406359" cy="406359"/>
          </a:xfrm>
          <a:prstGeom prst="ellipse">
            <a:avLst/>
          </a:prstGeom>
          <a:solidFill>
            <a:srgbClr val="044BD9"/>
          </a:solidFill>
          <a:ln/>
        </p:spPr>
      </p:sp>
      <p:sp>
        <p:nvSpPr>
          <p:cNvPr id="17" name="Rule"/>
          <p:cNvSpPr/>
          <p:nvPr/>
        </p:nvSpPr>
        <p:spPr>
          <a:xfrm>
            <a:off x="8978859" y="4298869"/>
            <a:ext cx="2501890" cy="0"/>
          </a:xfrm>
          <a:prstGeom prst="line">
            <a:avLst/>
          </a:prstGeom>
          <a:noFill/>
          <a:ln w="6350">
            <a:solidFill>
              <a:srgbClr val="E3E6EC"/>
            </a:solidFill>
            <a:prstDash val="solid"/>
          </a:ln>
        </p:spPr>
      </p:sp>
      <p:sp>
        <p:nvSpPr>
          <p:cNvPr id="18" name="li::before"/>
          <p:cNvSpPr/>
          <p:nvPr/>
        </p:nvSpPr>
        <p:spPr>
          <a:xfrm>
            <a:off x="8978859" y="4482389"/>
            <a:ext cx="57150" cy="57150"/>
          </a:xfrm>
          <a:prstGeom prst="rect">
            <a:avLst/>
          </a:prstGeom>
          <a:solidFill>
            <a:srgbClr val="044BD9"/>
          </a:solidFill>
          <a:ln/>
        </p:spPr>
      </p:sp>
      <p:sp>
        <p:nvSpPr>
          <p:cNvPr id="19" name="li::before"/>
          <p:cNvSpPr/>
          <p:nvPr/>
        </p:nvSpPr>
        <p:spPr>
          <a:xfrm>
            <a:off x="8978859" y="4914168"/>
            <a:ext cx="57150" cy="57150"/>
          </a:xfrm>
          <a:prstGeom prst="rect">
            <a:avLst/>
          </a:prstGeom>
          <a:solidFill>
            <a:srgbClr val="044BD9"/>
          </a:solidFill>
          <a:ln/>
        </p:spPr>
      </p:sp>
      <p:sp>
        <p:nvSpPr>
          <p:cNvPr id="20" name="sowhat"/>
          <p:cNvSpPr/>
          <p:nvPr/>
        </p:nvSpPr>
        <p:spPr>
          <a:xfrm>
            <a:off x="711220" y="5419649"/>
            <a:ext cx="10769620" cy="626364"/>
          </a:xfrm>
          <a:prstGeom prst="roundRect">
            <a:avLst>
              <a:gd name="adj" fmla="val 24336"/>
            </a:avLst>
          </a:prstGeom>
          <a:solidFill>
            <a:srgbClr val="044BD9"/>
          </a:solidFill>
          <a:ln/>
        </p:spPr>
      </p:sp>
      <p:sp>
        <p:nvSpPr>
          <p:cNvPr id="21" name="lbl"/>
          <p:cNvSpPr/>
          <p:nvPr/>
        </p:nvSpPr>
        <p:spPr>
          <a:xfrm>
            <a:off x="943021" y="5600609"/>
            <a:ext cx="674370" cy="264444"/>
          </a:xfrm>
          <a:prstGeom prst="roundRect">
            <a:avLst>
              <a:gd name="adj" fmla="val 50000"/>
            </a:avLst>
          </a:prstGeom>
          <a:ln w="6350">
            <a:solidFill>
              <a:srgbClr val="FFFFFF">
                <a:alpha val="55000"/>
              </a:srgbClr>
            </a:solidFill>
            <a:prstDash val="solid"/>
          </a:ln>
        </p:spPr>
      </p:sp>
      <p:sp>
        <p:nvSpPr>
          <p:cNvPr id="22" name="span::before"/>
          <p:cNvSpPr/>
          <p:nvPr/>
        </p:nvSpPr>
        <p:spPr>
          <a:xfrm>
            <a:off x="6191860" y="311170"/>
            <a:ext cx="44440" cy="44440"/>
          </a:xfrm>
          <a:prstGeom prst="rect">
            <a:avLst/>
          </a:prstGeom>
          <a:solidFill>
            <a:srgbClr val="A0A6AF">
              <a:alpha val="55000"/>
            </a:srgbClr>
          </a:solidFill>
          <a:ln/>
        </p:spPr>
      </p:sp>
      <p:sp>
        <p:nvSpPr>
          <p:cNvPr id="23" name="span::before"/>
          <p:cNvSpPr/>
          <p:nvPr/>
        </p:nvSpPr>
        <p:spPr>
          <a:xfrm>
            <a:off x="7145213" y="311170"/>
            <a:ext cx="44440" cy="44440"/>
          </a:xfrm>
          <a:prstGeom prst="rect">
            <a:avLst/>
          </a:prstGeom>
          <a:solidFill>
            <a:srgbClr val="A0A6AF">
              <a:alpha val="55000"/>
            </a:srgbClr>
          </a:solidFill>
          <a:ln/>
        </p:spPr>
      </p:sp>
      <p:sp>
        <p:nvSpPr>
          <p:cNvPr id="24" name="on::before"/>
          <p:cNvSpPr/>
          <p:nvPr/>
        </p:nvSpPr>
        <p:spPr>
          <a:xfrm>
            <a:off x="8056230" y="311170"/>
            <a:ext cx="44440" cy="44440"/>
          </a:xfrm>
          <a:prstGeom prst="rect">
            <a:avLst/>
          </a:prstGeom>
          <a:solidFill>
            <a:srgbClr val="044BD9"/>
          </a:solidFill>
          <a:ln/>
        </p:spPr>
      </p:sp>
      <p:sp>
        <p:nvSpPr>
          <p:cNvPr id="25" name="span::before"/>
          <p:cNvSpPr/>
          <p:nvPr/>
        </p:nvSpPr>
        <p:spPr>
          <a:xfrm>
            <a:off x="8972550" y="311170"/>
            <a:ext cx="44440" cy="44440"/>
          </a:xfrm>
          <a:prstGeom prst="rect">
            <a:avLst/>
          </a:prstGeom>
          <a:solidFill>
            <a:srgbClr val="A0A6AF">
              <a:alpha val="55000"/>
            </a:srgbClr>
          </a:solidFill>
          <a:ln/>
        </p:spPr>
      </p:sp>
      <p:sp>
        <p:nvSpPr>
          <p:cNvPr id="26" name="span::before"/>
          <p:cNvSpPr/>
          <p:nvPr/>
        </p:nvSpPr>
        <p:spPr>
          <a:xfrm>
            <a:off x="10421142" y="311170"/>
            <a:ext cx="44440" cy="44440"/>
          </a:xfrm>
          <a:prstGeom prst="rect">
            <a:avLst/>
          </a:prstGeom>
          <a:solidFill>
            <a:srgbClr val="A0A6AF">
              <a:alpha val="55000"/>
            </a:srgbClr>
          </a:solidFill>
          <a:ln/>
        </p:spPr>
      </p:sp>
      <p:sp>
        <p:nvSpPr>
          <p:cNvPr id="27" name="span::before"/>
          <p:cNvSpPr/>
          <p:nvPr/>
        </p:nvSpPr>
        <p:spPr>
          <a:xfrm>
            <a:off x="10966216" y="311170"/>
            <a:ext cx="44440" cy="44440"/>
          </a:xfrm>
          <a:prstGeom prst="rect">
            <a:avLst/>
          </a:prstGeom>
          <a:solidFill>
            <a:srgbClr val="A0A6AF">
              <a:alpha val="55000"/>
            </a:srgbClr>
          </a:solidFill>
          <a:ln/>
        </p:spPr>
      </p:sp>
      <p:sp>
        <p:nvSpPr>
          <p:cNvPr id="28" name="Text"/>
          <p:cNvSpPr txBox="1"/>
          <p:nvPr/>
        </p:nvSpPr>
        <p:spPr>
          <a:xfrm>
            <a:off x="844540" y="603230"/>
            <a:ext cx="826709" cy="120609"/>
          </a:xfrm>
          <a:prstGeom prst="rect">
            <a:avLst/>
          </a:prstGeom>
          <a:noFill/>
          <a:ln/>
        </p:spPr>
        <p:txBody>
          <a:bodyPr wrap="none" lIns="0" tIns="0" rIns="0" bIns="0" rtlCol="0" anchor="t"/>
          <a:lstStyle/>
          <a:p>
            <a:pPr algn="l" indent="0" marL="0">
              <a:lnSpc>
                <a:spcPts val="950"/>
              </a:lnSpc>
              <a:buNone/>
            </a:pPr>
            <a:r>
              <a:rPr lang="en-US" sz="950" spc="10" kern="0" dirty="0">
                <a:solidFill>
                  <a:srgbClr val="155DFC"/>
                </a:solidFill>
                <a:latin typeface="Poppins Medium" pitchFamily="34" charset="0"/>
                <a:ea typeface="Poppins Medium" pitchFamily="34" charset="-122"/>
                <a:cs typeface="Poppins Medium" pitchFamily="34" charset="-120"/>
              </a:rPr>
              <a:t>How we work</a:t>
            </a:r>
            <a:endParaRPr lang="en-US" sz="950" dirty="0"/>
          </a:p>
        </p:txBody>
      </p:sp>
      <p:sp>
        <p:nvSpPr>
          <p:cNvPr id="29" name="Title"/>
          <p:cNvSpPr txBox="1"/>
          <p:nvPr/>
        </p:nvSpPr>
        <p:spPr>
          <a:xfrm>
            <a:off x="711220" y="927750"/>
            <a:ext cx="9398020" cy="861090"/>
          </a:xfrm>
          <a:prstGeom prst="rect">
            <a:avLst/>
          </a:prstGeom>
          <a:noFill/>
          <a:ln/>
        </p:spPr>
        <p:txBody>
          <a:bodyPr wrap="square" lIns="0" tIns="0" rIns="0" bIns="0" rtlCol="0" anchor="t"/>
          <a:lstStyle/>
          <a:p>
            <a:pPr algn="l" indent="0" marL="0">
              <a:lnSpc>
                <a:spcPts val="3390"/>
              </a:lnSpc>
              <a:buNone/>
            </a:pPr>
            <a:r>
              <a:rPr lang="en-US" sz="3000" spc="-45" kern="0" dirty="0">
                <a:solidFill>
                  <a:srgbClr val="000000"/>
                </a:solidFill>
                <a:latin typeface="Poppins Medium" pitchFamily="34" charset="0"/>
                <a:ea typeface="Poppins Medium" pitchFamily="34" charset="-122"/>
                <a:cs typeface="Poppins Medium" pitchFamily="34" charset="-120"/>
              </a:rPr>
              <a:t>Every engagement moves through four</a:t>
            </a:r>
            <a:endParaRPr lang="en-US" sz="3000" dirty="0"/>
          </a:p>
          <a:p>
            <a:pPr algn="l" indent="0" marL="0">
              <a:lnSpc>
                <a:spcPts val="3390"/>
              </a:lnSpc>
              <a:buNone/>
            </a:pPr>
            <a:r>
              <a:rPr lang="en-US" sz="3000" spc="-45" kern="0" dirty="0">
                <a:solidFill>
                  <a:srgbClr val="000000"/>
                </a:solidFill>
                <a:latin typeface="Poppins Medium" pitchFamily="34" charset="0"/>
                <a:ea typeface="Poppins Medium" pitchFamily="34" charset="-122"/>
                <a:cs typeface="Poppins Medium" pitchFamily="34" charset="-120"/>
              </a:rPr>
              <a:t>steps, run by one accountable team</a:t>
            </a:r>
            <a:endParaRPr lang="en-US" sz="3000" dirty="0"/>
          </a:p>
        </p:txBody>
      </p:sp>
      <p:sp>
        <p:nvSpPr>
          <p:cNvPr id="30" name="Text"/>
          <p:cNvSpPr txBox="1"/>
          <p:nvPr/>
        </p:nvSpPr>
        <p:spPr>
          <a:xfrm>
            <a:off x="837499" y="2158350"/>
            <a:ext cx="293888" cy="236190"/>
          </a:xfrm>
          <a:prstGeom prst="rect">
            <a:avLst/>
          </a:prstGeom>
          <a:noFill/>
          <a:ln/>
        </p:spPr>
        <p:txBody>
          <a:bodyPr wrap="square" lIns="0" tIns="0" rIns="0" bIns="0" rtlCol="0" anchor="t"/>
          <a:lstStyle/>
          <a:p>
            <a:pPr algn="l" indent="0" marL="0">
              <a:lnSpc>
                <a:spcPts val="1860"/>
              </a:lnSpc>
              <a:buNone/>
            </a:pPr>
            <a:r>
              <a:rPr lang="en-US" sz="1200" dirty="0">
                <a:solidFill>
                  <a:srgbClr val="FFFFFF"/>
                </a:solidFill>
                <a:latin typeface="Poppins SemiBold" pitchFamily="34" charset="0"/>
                <a:ea typeface="Poppins SemiBold" pitchFamily="34" charset="-122"/>
                <a:cs typeface="Poppins SemiBold" pitchFamily="34" charset="-120"/>
              </a:rPr>
              <a:t>01</a:t>
            </a:r>
            <a:endParaRPr lang="en-US" sz="1200" dirty="0"/>
          </a:p>
        </p:txBody>
      </p:sp>
      <p:sp>
        <p:nvSpPr>
          <p:cNvPr id="31" name="Text"/>
          <p:cNvSpPr txBox="1"/>
          <p:nvPr/>
        </p:nvSpPr>
        <p:spPr>
          <a:xfrm>
            <a:off x="711220" y="2566355"/>
            <a:ext cx="2524567" cy="177119"/>
          </a:xfrm>
          <a:prstGeom prst="rect">
            <a:avLst/>
          </a:prstGeom>
          <a:noFill/>
          <a:ln/>
        </p:spPr>
        <p:txBody>
          <a:bodyPr wrap="square" lIns="0" tIns="0" rIns="0" bIns="0" rtlCol="0" anchor="t"/>
          <a:lstStyle/>
          <a:p>
            <a:pPr algn="l" indent="0" marL="0">
              <a:lnSpc>
                <a:spcPts val="1395"/>
              </a:lnSpc>
              <a:buNone/>
            </a:pPr>
            <a:r>
              <a:rPr lang="en-US" sz="900" spc="18" kern="0" dirty="0">
                <a:solidFill>
                  <a:srgbClr val="044BD9"/>
                </a:solidFill>
                <a:latin typeface="Poppins Medium" pitchFamily="34" charset="0"/>
                <a:ea typeface="Poppins Medium" pitchFamily="34" charset="-122"/>
                <a:cs typeface="Poppins Medium" pitchFamily="34" charset="-120"/>
              </a:rPr>
              <a:t>Discover</a:t>
            </a:r>
            <a:endParaRPr lang="en-US" sz="900" dirty="0"/>
          </a:p>
        </p:txBody>
      </p:sp>
      <p:sp>
        <p:nvSpPr>
          <p:cNvPr id="32" name="Text"/>
          <p:cNvSpPr txBox="1"/>
          <p:nvPr/>
        </p:nvSpPr>
        <p:spPr>
          <a:xfrm>
            <a:off x="711220" y="2834366"/>
            <a:ext cx="2501890" cy="460400"/>
          </a:xfrm>
          <a:prstGeom prst="rect">
            <a:avLst/>
          </a:prstGeom>
          <a:noFill/>
          <a:ln/>
        </p:spPr>
        <p:txBody>
          <a:bodyPr wrap="square" lIns="0" tIns="0" rIns="0" bIns="0" rtlCol="0" anchor="t"/>
          <a:lstStyle/>
          <a:p>
            <a:pPr algn="l" indent="0" marL="0">
              <a:lnSpc>
                <a:spcPts val="1813"/>
              </a:lnSpc>
              <a:buNone/>
            </a:pPr>
            <a:r>
              <a:rPr lang="en-US" sz="1450" dirty="0">
                <a:solidFill>
                  <a:srgbClr val="000000"/>
                </a:solidFill>
                <a:latin typeface="Poppins Medium" pitchFamily="34" charset="0"/>
                <a:ea typeface="Poppins Medium" pitchFamily="34" charset="-122"/>
                <a:cs typeface="Poppins Medium" pitchFamily="34" charset="-120"/>
              </a:rPr>
              <a:t>Start from the</a:t>
            </a:r>
            <a:endParaRPr lang="en-US" sz="1450" dirty="0"/>
          </a:p>
          <a:p>
            <a:pPr algn="l" indent="0" marL="0">
              <a:lnSpc>
                <a:spcPts val="1813"/>
              </a:lnSpc>
              <a:buNone/>
            </a:pPr>
            <a:r>
              <a:rPr lang="en-US" sz="1450" dirty="0">
                <a:solidFill>
                  <a:srgbClr val="000000"/>
                </a:solidFill>
                <a:latin typeface="Poppins Medium" pitchFamily="34" charset="0"/>
                <a:ea typeface="Poppins Medium" pitchFamily="34" charset="-122"/>
                <a:cs typeface="Poppins Medium" pitchFamily="34" charset="-120"/>
              </a:rPr>
              <a:t>business case</a:t>
            </a:r>
            <a:endParaRPr lang="en-US" sz="1450" dirty="0"/>
          </a:p>
        </p:txBody>
      </p:sp>
      <p:sp>
        <p:nvSpPr>
          <p:cNvPr id="33" name="Text"/>
          <p:cNvSpPr txBox="1"/>
          <p:nvPr/>
        </p:nvSpPr>
        <p:spPr>
          <a:xfrm>
            <a:off x="711220" y="3392424"/>
            <a:ext cx="2524567" cy="600121"/>
          </a:xfrm>
          <a:prstGeom prst="rect">
            <a:avLst/>
          </a:prstGeom>
          <a:noFill/>
          <a:ln/>
        </p:spPr>
        <p:txBody>
          <a:bodyPr wrap="square" lIns="0" tIns="0" rIns="0" bIns="0" rtlCol="0" anchor="t"/>
          <a:lstStyle/>
          <a:p>
            <a:pPr algn="l" indent="0" marL="0">
              <a:lnSpc>
                <a:spcPts val="1575"/>
              </a:lnSpc>
              <a:buNone/>
            </a:pPr>
            <a:r>
              <a:rPr lang="en-US" sz="1050" dirty="0">
                <a:solidFill>
                  <a:srgbClr val="1F2937"/>
                </a:solidFill>
                <a:latin typeface="Poppins Light" pitchFamily="34" charset="0"/>
                <a:ea typeface="Poppins Light" pitchFamily="34" charset="-122"/>
                <a:cs typeface="Poppins Light" pitchFamily="34" charset="-120"/>
              </a:rPr>
              <a:t>Run tech advisory, a data audit and AI strategy research to find where AI pays back, before any build starts.</a:t>
            </a:r>
            <a:endParaRPr lang="en-US" sz="1050" dirty="0"/>
          </a:p>
        </p:txBody>
      </p:sp>
      <p:sp>
        <p:nvSpPr>
          <p:cNvPr id="34" name="Text"/>
          <p:cNvSpPr txBox="1"/>
          <p:nvPr/>
        </p:nvSpPr>
        <p:spPr>
          <a:xfrm>
            <a:off x="876270" y="4403659"/>
            <a:ext cx="2358878" cy="381030"/>
          </a:xfrm>
          <a:prstGeom prst="rect">
            <a:avLst/>
          </a:prstGeom>
          <a:noFill/>
          <a:ln/>
        </p:spPr>
        <p:txBody>
          <a:bodyPr wrap="square" lIns="0" tIns="0" rIns="0" bIns="0" rtlCol="0" anchor="t"/>
          <a:lstStyle/>
          <a:p>
            <a:pPr algn="l" indent="0" marL="0">
              <a:lnSpc>
                <a:spcPts val="1500"/>
              </a:lnSpc>
              <a:buNone/>
            </a:pPr>
            <a:r>
              <a:rPr lang="en-US" sz="1000" dirty="0">
                <a:solidFill>
                  <a:srgbClr val="1F2937"/>
                </a:solidFill>
                <a:latin typeface="Poppins Light" pitchFamily="34" charset="0"/>
                <a:ea typeface="Poppins Light" pitchFamily="34" charset="-122"/>
                <a:cs typeface="Poppins Light" pitchFamily="34" charset="-120"/>
              </a:rPr>
              <a:t>Tech advisory on the systems and processes AI must fit</a:t>
            </a:r>
            <a:endParaRPr lang="en-US" sz="1000" dirty="0"/>
          </a:p>
        </p:txBody>
      </p:sp>
      <p:sp>
        <p:nvSpPr>
          <p:cNvPr id="35" name="Text"/>
          <p:cNvSpPr txBox="1"/>
          <p:nvPr/>
        </p:nvSpPr>
        <p:spPr>
          <a:xfrm>
            <a:off x="876270" y="4835439"/>
            <a:ext cx="2358878" cy="381030"/>
          </a:xfrm>
          <a:prstGeom prst="rect">
            <a:avLst/>
          </a:prstGeom>
          <a:noFill/>
          <a:ln/>
        </p:spPr>
        <p:txBody>
          <a:bodyPr wrap="square" lIns="0" tIns="0" rIns="0" bIns="0" rtlCol="0" anchor="t"/>
          <a:lstStyle/>
          <a:p>
            <a:pPr algn="l" indent="0" marL="0">
              <a:lnSpc>
                <a:spcPts val="1500"/>
              </a:lnSpc>
              <a:buNone/>
            </a:pPr>
            <a:r>
              <a:rPr lang="en-US" sz="1000" dirty="0">
                <a:solidFill>
                  <a:srgbClr val="1F2937"/>
                </a:solidFill>
                <a:latin typeface="Poppins Light" pitchFamily="34" charset="0"/>
                <a:ea typeface="Poppins Light" pitchFamily="34" charset="-122"/>
                <a:cs typeface="Poppins Light" pitchFamily="34" charset="-120"/>
              </a:rPr>
              <a:t>A data audit of what you hold and where it sits</a:t>
            </a:r>
            <a:endParaRPr lang="en-US" sz="1000" dirty="0"/>
          </a:p>
        </p:txBody>
      </p:sp>
      <p:sp>
        <p:nvSpPr>
          <p:cNvPr id="36" name="Text"/>
          <p:cNvSpPr txBox="1"/>
          <p:nvPr/>
        </p:nvSpPr>
        <p:spPr>
          <a:xfrm>
            <a:off x="3577316" y="2158350"/>
            <a:ext cx="310073" cy="236190"/>
          </a:xfrm>
          <a:prstGeom prst="rect">
            <a:avLst/>
          </a:prstGeom>
          <a:noFill/>
          <a:ln/>
        </p:spPr>
        <p:txBody>
          <a:bodyPr wrap="square" lIns="0" tIns="0" rIns="0" bIns="0" rtlCol="0" anchor="t"/>
          <a:lstStyle/>
          <a:p>
            <a:pPr algn="l" indent="0" marL="0">
              <a:lnSpc>
                <a:spcPts val="1860"/>
              </a:lnSpc>
              <a:buNone/>
            </a:pPr>
            <a:r>
              <a:rPr lang="en-US" sz="1200" dirty="0">
                <a:solidFill>
                  <a:srgbClr val="FFFFFF"/>
                </a:solidFill>
                <a:latin typeface="Poppins SemiBold" pitchFamily="34" charset="0"/>
                <a:ea typeface="Poppins SemiBold" pitchFamily="34" charset="-122"/>
                <a:cs typeface="Poppins SemiBold" pitchFamily="34" charset="-120"/>
              </a:rPr>
              <a:t>02</a:t>
            </a:r>
            <a:endParaRPr lang="en-US" sz="1200" dirty="0"/>
          </a:p>
        </p:txBody>
      </p:sp>
      <p:sp>
        <p:nvSpPr>
          <p:cNvPr id="37" name="Text"/>
          <p:cNvSpPr txBox="1"/>
          <p:nvPr/>
        </p:nvSpPr>
        <p:spPr>
          <a:xfrm>
            <a:off x="3467130" y="2566355"/>
            <a:ext cx="2524567" cy="177119"/>
          </a:xfrm>
          <a:prstGeom prst="rect">
            <a:avLst/>
          </a:prstGeom>
          <a:noFill/>
          <a:ln/>
        </p:spPr>
        <p:txBody>
          <a:bodyPr wrap="square" lIns="0" tIns="0" rIns="0" bIns="0" rtlCol="0" anchor="t"/>
          <a:lstStyle/>
          <a:p>
            <a:pPr algn="l" indent="0" marL="0">
              <a:lnSpc>
                <a:spcPts val="1395"/>
              </a:lnSpc>
              <a:buNone/>
            </a:pPr>
            <a:r>
              <a:rPr lang="en-US" sz="900" spc="18" kern="0" dirty="0">
                <a:solidFill>
                  <a:srgbClr val="044BD9"/>
                </a:solidFill>
                <a:latin typeface="Poppins Medium" pitchFamily="34" charset="0"/>
                <a:ea typeface="Poppins Medium" pitchFamily="34" charset="-122"/>
                <a:cs typeface="Poppins Medium" pitchFamily="34" charset="-120"/>
              </a:rPr>
              <a:t>Design</a:t>
            </a:r>
            <a:endParaRPr lang="en-US" sz="900" dirty="0"/>
          </a:p>
        </p:txBody>
      </p:sp>
      <p:sp>
        <p:nvSpPr>
          <p:cNvPr id="38" name="Text"/>
          <p:cNvSpPr txBox="1"/>
          <p:nvPr/>
        </p:nvSpPr>
        <p:spPr>
          <a:xfrm>
            <a:off x="3467130" y="2834366"/>
            <a:ext cx="2501890" cy="460400"/>
          </a:xfrm>
          <a:prstGeom prst="rect">
            <a:avLst/>
          </a:prstGeom>
          <a:noFill/>
          <a:ln/>
        </p:spPr>
        <p:txBody>
          <a:bodyPr wrap="square" lIns="0" tIns="0" rIns="0" bIns="0" rtlCol="0" anchor="t"/>
          <a:lstStyle/>
          <a:p>
            <a:pPr algn="l" indent="0" marL="0">
              <a:lnSpc>
                <a:spcPts val="1813"/>
              </a:lnSpc>
              <a:buNone/>
            </a:pPr>
            <a:r>
              <a:rPr lang="en-US" sz="1450" dirty="0">
                <a:solidFill>
                  <a:srgbClr val="000000"/>
                </a:solidFill>
                <a:latin typeface="Poppins Medium" pitchFamily="34" charset="0"/>
                <a:ea typeface="Poppins Medium" pitchFamily="34" charset="-122"/>
                <a:cs typeface="Poppins Medium" pitchFamily="34" charset="-120"/>
              </a:rPr>
              <a:t>Design an architecture</a:t>
            </a:r>
            <a:endParaRPr lang="en-US" sz="1450" dirty="0"/>
          </a:p>
          <a:p>
            <a:pPr algn="l" indent="0" marL="0">
              <a:lnSpc>
                <a:spcPts val="1813"/>
              </a:lnSpc>
              <a:buNone/>
            </a:pPr>
            <a:r>
              <a:rPr lang="en-US" sz="1450" dirty="0">
                <a:solidFill>
                  <a:srgbClr val="000000"/>
                </a:solidFill>
                <a:latin typeface="Poppins Medium" pitchFamily="34" charset="0"/>
                <a:ea typeface="Poppins Medium" pitchFamily="34" charset="-122"/>
                <a:cs typeface="Poppins Medium" pitchFamily="34" charset="-120"/>
              </a:rPr>
              <a:t>that fits your stack</a:t>
            </a:r>
            <a:endParaRPr lang="en-US" sz="1450" dirty="0"/>
          </a:p>
        </p:txBody>
      </p:sp>
      <p:sp>
        <p:nvSpPr>
          <p:cNvPr id="39" name="Text"/>
          <p:cNvSpPr txBox="1"/>
          <p:nvPr/>
        </p:nvSpPr>
        <p:spPr>
          <a:xfrm>
            <a:off x="3467130" y="3392424"/>
            <a:ext cx="2524567" cy="800100"/>
          </a:xfrm>
          <a:prstGeom prst="rect">
            <a:avLst/>
          </a:prstGeom>
          <a:noFill/>
          <a:ln/>
        </p:spPr>
        <p:txBody>
          <a:bodyPr wrap="square" lIns="0" tIns="0" rIns="0" bIns="0" rtlCol="0" anchor="t"/>
          <a:lstStyle/>
          <a:p>
            <a:pPr algn="l" indent="0" marL="0">
              <a:lnSpc>
                <a:spcPts val="1575"/>
              </a:lnSpc>
              <a:buNone/>
            </a:pPr>
            <a:r>
              <a:rPr lang="en-US" sz="1050" dirty="0">
                <a:solidFill>
                  <a:srgbClr val="1F2937"/>
                </a:solidFill>
                <a:latin typeface="Poppins Light" pitchFamily="34" charset="0"/>
                <a:ea typeface="Poppins Light" pitchFamily="34" charset="-122"/>
                <a:cs typeface="Poppins Light" pitchFamily="34" charset="-120"/>
              </a:rPr>
              <a:t>Choose models, hosting and guardrails around your existing systems, your data and your regulator.</a:t>
            </a:r>
            <a:endParaRPr lang="en-US" sz="1050" dirty="0"/>
          </a:p>
        </p:txBody>
      </p:sp>
      <p:sp>
        <p:nvSpPr>
          <p:cNvPr id="40" name="Text"/>
          <p:cNvSpPr txBox="1"/>
          <p:nvPr/>
        </p:nvSpPr>
        <p:spPr>
          <a:xfrm>
            <a:off x="3632180" y="4403659"/>
            <a:ext cx="2358878" cy="190470"/>
          </a:xfrm>
          <a:prstGeom prst="rect">
            <a:avLst/>
          </a:prstGeom>
          <a:noFill/>
          <a:ln/>
        </p:spPr>
        <p:txBody>
          <a:bodyPr wrap="square" lIns="0" tIns="0" rIns="0" bIns="0" rtlCol="0" anchor="t"/>
          <a:lstStyle/>
          <a:p>
            <a:pPr algn="l" indent="0" marL="0">
              <a:lnSpc>
                <a:spcPts val="1500"/>
              </a:lnSpc>
              <a:buNone/>
            </a:pPr>
            <a:r>
              <a:rPr lang="en-US" sz="1000" dirty="0">
                <a:solidFill>
                  <a:srgbClr val="1F2937"/>
                </a:solidFill>
                <a:latin typeface="Poppins Light" pitchFamily="34" charset="0"/>
                <a:ea typeface="Poppins Light" pitchFamily="34" charset="-122"/>
                <a:cs typeface="Poppins Light" pitchFamily="34" charset="-120"/>
              </a:rPr>
              <a:t>Models chosen per project</a:t>
            </a:r>
            <a:endParaRPr lang="en-US" sz="1000" dirty="0"/>
          </a:p>
        </p:txBody>
      </p:sp>
      <p:sp>
        <p:nvSpPr>
          <p:cNvPr id="41" name="Text"/>
          <p:cNvSpPr txBox="1"/>
          <p:nvPr/>
        </p:nvSpPr>
        <p:spPr>
          <a:xfrm>
            <a:off x="3632180" y="4644969"/>
            <a:ext cx="2358878" cy="381030"/>
          </a:xfrm>
          <a:prstGeom prst="rect">
            <a:avLst/>
          </a:prstGeom>
          <a:noFill/>
          <a:ln/>
        </p:spPr>
        <p:txBody>
          <a:bodyPr wrap="square" lIns="0" tIns="0" rIns="0" bIns="0" rtlCol="0" anchor="t"/>
          <a:lstStyle/>
          <a:p>
            <a:pPr algn="l" indent="0" marL="0">
              <a:lnSpc>
                <a:spcPts val="1500"/>
              </a:lnSpc>
              <a:buNone/>
            </a:pPr>
            <a:r>
              <a:rPr lang="en-US" sz="1000" dirty="0">
                <a:solidFill>
                  <a:srgbClr val="1F2937"/>
                </a:solidFill>
                <a:latin typeface="Poppins Light" pitchFamily="34" charset="0"/>
                <a:ea typeface="Poppins Light" pitchFamily="34" charset="-122"/>
                <a:cs typeface="Poppins Light" pitchFamily="34" charset="-120"/>
              </a:rPr>
              <a:t>Locally hosted models where data must stay in-house</a:t>
            </a:r>
            <a:endParaRPr lang="en-US" sz="1000" dirty="0"/>
          </a:p>
        </p:txBody>
      </p:sp>
      <p:sp>
        <p:nvSpPr>
          <p:cNvPr id="42" name="Text"/>
          <p:cNvSpPr txBox="1"/>
          <p:nvPr/>
        </p:nvSpPr>
        <p:spPr>
          <a:xfrm>
            <a:off x="6331214" y="2158350"/>
            <a:ext cx="312085" cy="236190"/>
          </a:xfrm>
          <a:prstGeom prst="rect">
            <a:avLst/>
          </a:prstGeom>
          <a:noFill/>
          <a:ln/>
        </p:spPr>
        <p:txBody>
          <a:bodyPr wrap="square" lIns="0" tIns="0" rIns="0" bIns="0" rtlCol="0" anchor="t"/>
          <a:lstStyle/>
          <a:p>
            <a:pPr algn="l" indent="0" marL="0">
              <a:lnSpc>
                <a:spcPts val="1860"/>
              </a:lnSpc>
              <a:buNone/>
            </a:pPr>
            <a:r>
              <a:rPr lang="en-US" sz="1200" dirty="0">
                <a:solidFill>
                  <a:srgbClr val="FFFFFF"/>
                </a:solidFill>
                <a:latin typeface="Poppins SemiBold" pitchFamily="34" charset="0"/>
                <a:ea typeface="Poppins SemiBold" pitchFamily="34" charset="-122"/>
                <a:cs typeface="Poppins SemiBold" pitchFamily="34" charset="-120"/>
              </a:rPr>
              <a:t>03</a:t>
            </a:r>
            <a:endParaRPr lang="en-US" sz="1200" dirty="0"/>
          </a:p>
        </p:txBody>
      </p:sp>
      <p:sp>
        <p:nvSpPr>
          <p:cNvPr id="43" name="Text"/>
          <p:cNvSpPr txBox="1"/>
          <p:nvPr/>
        </p:nvSpPr>
        <p:spPr>
          <a:xfrm>
            <a:off x="6223041" y="2566355"/>
            <a:ext cx="2524567" cy="177119"/>
          </a:xfrm>
          <a:prstGeom prst="rect">
            <a:avLst/>
          </a:prstGeom>
          <a:noFill/>
          <a:ln/>
        </p:spPr>
        <p:txBody>
          <a:bodyPr wrap="square" lIns="0" tIns="0" rIns="0" bIns="0" rtlCol="0" anchor="t"/>
          <a:lstStyle/>
          <a:p>
            <a:pPr algn="l" indent="0" marL="0">
              <a:lnSpc>
                <a:spcPts val="1395"/>
              </a:lnSpc>
              <a:buNone/>
            </a:pPr>
            <a:r>
              <a:rPr lang="en-US" sz="900" spc="18" kern="0" dirty="0">
                <a:solidFill>
                  <a:srgbClr val="044BD9"/>
                </a:solidFill>
                <a:latin typeface="Poppins Medium" pitchFamily="34" charset="0"/>
                <a:ea typeface="Poppins Medium" pitchFamily="34" charset="-122"/>
                <a:cs typeface="Poppins Medium" pitchFamily="34" charset="-120"/>
              </a:rPr>
              <a:t>Implement</a:t>
            </a:r>
            <a:endParaRPr lang="en-US" sz="900" dirty="0"/>
          </a:p>
        </p:txBody>
      </p:sp>
      <p:sp>
        <p:nvSpPr>
          <p:cNvPr id="44" name="Text"/>
          <p:cNvSpPr txBox="1"/>
          <p:nvPr/>
        </p:nvSpPr>
        <p:spPr>
          <a:xfrm>
            <a:off x="6223041" y="2834366"/>
            <a:ext cx="2524567" cy="230154"/>
          </a:xfrm>
          <a:prstGeom prst="rect">
            <a:avLst/>
          </a:prstGeom>
          <a:noFill/>
          <a:ln/>
        </p:spPr>
        <p:txBody>
          <a:bodyPr wrap="square" lIns="0" tIns="0" rIns="0" bIns="0" rtlCol="0" anchor="t"/>
          <a:lstStyle/>
          <a:p>
            <a:pPr algn="l" indent="0" marL="0">
              <a:lnSpc>
                <a:spcPts val="1813"/>
              </a:lnSpc>
              <a:buNone/>
            </a:pPr>
            <a:r>
              <a:rPr lang="en-US" sz="1450" dirty="0">
                <a:solidFill>
                  <a:srgbClr val="000000"/>
                </a:solidFill>
                <a:latin typeface="Poppins Medium" pitchFamily="34" charset="0"/>
                <a:ea typeface="Poppins Medium" pitchFamily="34" charset="-122"/>
                <a:cs typeface="Poppins Medium" pitchFamily="34" charset="-120"/>
              </a:rPr>
              <a:t>Build AI into production</a:t>
            </a:r>
            <a:endParaRPr lang="en-US" sz="1450" dirty="0"/>
          </a:p>
        </p:txBody>
      </p:sp>
      <p:sp>
        <p:nvSpPr>
          <p:cNvPr id="45" name="Text"/>
          <p:cNvSpPr txBox="1"/>
          <p:nvPr/>
        </p:nvSpPr>
        <p:spPr>
          <a:xfrm>
            <a:off x="6223041" y="3392424"/>
            <a:ext cx="2524567" cy="800100"/>
          </a:xfrm>
          <a:prstGeom prst="rect">
            <a:avLst/>
          </a:prstGeom>
          <a:noFill/>
          <a:ln/>
        </p:spPr>
        <p:txBody>
          <a:bodyPr wrap="square" lIns="0" tIns="0" rIns="0" bIns="0" rtlCol="0" anchor="t"/>
          <a:lstStyle/>
          <a:p>
            <a:pPr algn="l" indent="0" marL="0">
              <a:lnSpc>
                <a:spcPts val="1575"/>
              </a:lnSpc>
              <a:buNone/>
            </a:pPr>
            <a:r>
              <a:rPr lang="en-US" sz="1050" dirty="0">
                <a:solidFill>
                  <a:srgbClr val="1F2937"/>
                </a:solidFill>
                <a:latin typeface="Poppins Light" pitchFamily="34" charset="0"/>
                <a:ea typeface="Poppins Light" pitchFamily="34" charset="-122"/>
                <a:cs typeface="Poppins Light" pitchFamily="34" charset="-120"/>
              </a:rPr>
              <a:t>Integrate retrieval, agents and automation across your core systems, including bank, government and SSM portals.</a:t>
            </a:r>
            <a:endParaRPr lang="en-US" sz="1050" dirty="0"/>
          </a:p>
        </p:txBody>
      </p:sp>
      <p:sp>
        <p:nvSpPr>
          <p:cNvPr id="46" name="Text"/>
          <p:cNvSpPr txBox="1"/>
          <p:nvPr/>
        </p:nvSpPr>
        <p:spPr>
          <a:xfrm>
            <a:off x="6388090" y="4403659"/>
            <a:ext cx="2358878" cy="381030"/>
          </a:xfrm>
          <a:prstGeom prst="rect">
            <a:avLst/>
          </a:prstGeom>
          <a:noFill/>
          <a:ln/>
        </p:spPr>
        <p:txBody>
          <a:bodyPr wrap="square" lIns="0" tIns="0" rIns="0" bIns="0" rtlCol="0" anchor="t"/>
          <a:lstStyle/>
          <a:p>
            <a:pPr algn="l" indent="0" marL="0">
              <a:lnSpc>
                <a:spcPts val="1500"/>
              </a:lnSpc>
              <a:buNone/>
            </a:pPr>
            <a:r>
              <a:rPr lang="en-US" sz="1000" dirty="0">
                <a:solidFill>
                  <a:srgbClr val="1F2937"/>
                </a:solidFill>
                <a:latin typeface="Poppins Light" pitchFamily="34" charset="0"/>
                <a:ea typeface="Poppins Light" pitchFamily="34" charset="-122"/>
                <a:cs typeface="Poppins Light" pitchFamily="34" charset="-120"/>
              </a:rPr>
              <a:t>Agents with the tools, MCP servers and APIs they need to act safely</a:t>
            </a:r>
            <a:endParaRPr lang="en-US" sz="1000" dirty="0"/>
          </a:p>
        </p:txBody>
      </p:sp>
      <p:sp>
        <p:nvSpPr>
          <p:cNvPr id="47" name="Text"/>
          <p:cNvSpPr txBox="1"/>
          <p:nvPr/>
        </p:nvSpPr>
        <p:spPr>
          <a:xfrm>
            <a:off x="6388090" y="4835439"/>
            <a:ext cx="2358878" cy="381030"/>
          </a:xfrm>
          <a:prstGeom prst="rect">
            <a:avLst/>
          </a:prstGeom>
          <a:noFill/>
          <a:ln/>
        </p:spPr>
        <p:txBody>
          <a:bodyPr wrap="square" lIns="0" tIns="0" rIns="0" bIns="0" rtlCol="0" anchor="t"/>
          <a:lstStyle/>
          <a:p>
            <a:pPr algn="l" indent="0" marL="0">
              <a:lnSpc>
                <a:spcPts val="1500"/>
              </a:lnSpc>
              <a:buNone/>
            </a:pPr>
            <a:r>
              <a:rPr lang="en-US" sz="1000" dirty="0">
                <a:solidFill>
                  <a:srgbClr val="1F2937"/>
                </a:solidFill>
                <a:latin typeface="Poppins Light" pitchFamily="34" charset="0"/>
                <a:ea typeface="Poppins Light" pitchFamily="34" charset="-122"/>
                <a:cs typeface="Poppins Light" pitchFamily="34" charset="-120"/>
              </a:rPr>
              <a:t>Integration with ERP, CRM and third-party portals</a:t>
            </a:r>
            <a:endParaRPr lang="en-US" sz="1000" dirty="0"/>
          </a:p>
        </p:txBody>
      </p:sp>
      <p:sp>
        <p:nvSpPr>
          <p:cNvPr id="48" name="Text"/>
          <p:cNvSpPr txBox="1"/>
          <p:nvPr/>
        </p:nvSpPr>
        <p:spPr>
          <a:xfrm>
            <a:off x="9082461" y="2158350"/>
            <a:ext cx="316748" cy="236190"/>
          </a:xfrm>
          <a:prstGeom prst="rect">
            <a:avLst/>
          </a:prstGeom>
          <a:noFill/>
          <a:ln/>
        </p:spPr>
        <p:txBody>
          <a:bodyPr wrap="square" lIns="0" tIns="0" rIns="0" bIns="0" rtlCol="0" anchor="t"/>
          <a:lstStyle/>
          <a:p>
            <a:pPr algn="l" indent="0" marL="0">
              <a:lnSpc>
                <a:spcPts val="1860"/>
              </a:lnSpc>
              <a:buNone/>
            </a:pPr>
            <a:r>
              <a:rPr lang="en-US" sz="1200" dirty="0">
                <a:solidFill>
                  <a:srgbClr val="FFFFFF"/>
                </a:solidFill>
                <a:latin typeface="Poppins SemiBold" pitchFamily="34" charset="0"/>
                <a:ea typeface="Poppins SemiBold" pitchFamily="34" charset="-122"/>
                <a:cs typeface="Poppins SemiBold" pitchFamily="34" charset="-120"/>
              </a:rPr>
              <a:t>04</a:t>
            </a:r>
            <a:endParaRPr lang="en-US" sz="1200" dirty="0"/>
          </a:p>
        </p:txBody>
      </p:sp>
      <p:sp>
        <p:nvSpPr>
          <p:cNvPr id="49" name="Text"/>
          <p:cNvSpPr txBox="1"/>
          <p:nvPr/>
        </p:nvSpPr>
        <p:spPr>
          <a:xfrm>
            <a:off x="8978859" y="2566355"/>
            <a:ext cx="2524567" cy="177119"/>
          </a:xfrm>
          <a:prstGeom prst="rect">
            <a:avLst/>
          </a:prstGeom>
          <a:noFill/>
          <a:ln/>
        </p:spPr>
        <p:txBody>
          <a:bodyPr wrap="square" lIns="0" tIns="0" rIns="0" bIns="0" rtlCol="0" anchor="t"/>
          <a:lstStyle/>
          <a:p>
            <a:pPr algn="l" indent="0" marL="0">
              <a:lnSpc>
                <a:spcPts val="1395"/>
              </a:lnSpc>
              <a:buNone/>
            </a:pPr>
            <a:r>
              <a:rPr lang="en-US" sz="900" spc="18" kern="0" dirty="0">
                <a:solidFill>
                  <a:srgbClr val="044BD9"/>
                </a:solidFill>
                <a:latin typeface="Poppins Medium" pitchFamily="34" charset="0"/>
                <a:ea typeface="Poppins Medium" pitchFamily="34" charset="-122"/>
                <a:cs typeface="Poppins Medium" pitchFamily="34" charset="-120"/>
              </a:rPr>
              <a:t>Improve</a:t>
            </a:r>
            <a:endParaRPr lang="en-US" sz="900" dirty="0"/>
          </a:p>
        </p:txBody>
      </p:sp>
      <p:sp>
        <p:nvSpPr>
          <p:cNvPr id="50" name="Text"/>
          <p:cNvSpPr txBox="1"/>
          <p:nvPr/>
        </p:nvSpPr>
        <p:spPr>
          <a:xfrm>
            <a:off x="8978859" y="2834366"/>
            <a:ext cx="2501890" cy="460400"/>
          </a:xfrm>
          <a:prstGeom prst="rect">
            <a:avLst/>
          </a:prstGeom>
          <a:noFill/>
          <a:ln/>
        </p:spPr>
        <p:txBody>
          <a:bodyPr wrap="square" lIns="0" tIns="0" rIns="0" bIns="0" rtlCol="0" anchor="t"/>
          <a:lstStyle/>
          <a:p>
            <a:pPr algn="l" indent="0" marL="0">
              <a:lnSpc>
                <a:spcPts val="1813"/>
              </a:lnSpc>
              <a:buNone/>
            </a:pPr>
            <a:r>
              <a:rPr lang="en-US" sz="1450" dirty="0">
                <a:solidFill>
                  <a:srgbClr val="000000"/>
                </a:solidFill>
                <a:latin typeface="Poppins Medium" pitchFamily="34" charset="0"/>
                <a:ea typeface="Poppins Medium" pitchFamily="34" charset="-122"/>
                <a:cs typeface="Poppins Medium" pitchFamily="34" charset="-120"/>
              </a:rPr>
              <a:t>Improve continuously</a:t>
            </a:r>
            <a:endParaRPr lang="en-US" sz="1450" dirty="0"/>
          </a:p>
          <a:p>
            <a:pPr algn="l" indent="0" marL="0">
              <a:lnSpc>
                <a:spcPts val="1813"/>
              </a:lnSpc>
              <a:buNone/>
            </a:pPr>
            <a:r>
              <a:rPr lang="en-US" sz="1450" dirty="0">
                <a:solidFill>
                  <a:srgbClr val="000000"/>
                </a:solidFill>
                <a:latin typeface="Poppins Medium" pitchFamily="34" charset="0"/>
                <a:ea typeface="Poppins Medium" pitchFamily="34" charset="-122"/>
                <a:cs typeface="Poppins Medium" pitchFamily="34" charset="-120"/>
              </a:rPr>
              <a:t>after go-live</a:t>
            </a:r>
            <a:endParaRPr lang="en-US" sz="1450" dirty="0"/>
          </a:p>
        </p:txBody>
      </p:sp>
      <p:sp>
        <p:nvSpPr>
          <p:cNvPr id="51" name="Text"/>
          <p:cNvSpPr txBox="1"/>
          <p:nvPr/>
        </p:nvSpPr>
        <p:spPr>
          <a:xfrm>
            <a:off x="8978859" y="3392424"/>
            <a:ext cx="2524567" cy="800100"/>
          </a:xfrm>
          <a:prstGeom prst="rect">
            <a:avLst/>
          </a:prstGeom>
          <a:noFill/>
          <a:ln/>
        </p:spPr>
        <p:txBody>
          <a:bodyPr wrap="square" lIns="0" tIns="0" rIns="0" bIns="0" rtlCol="0" anchor="t"/>
          <a:lstStyle/>
          <a:p>
            <a:pPr algn="l" indent="0" marL="0">
              <a:lnSpc>
                <a:spcPts val="1575"/>
              </a:lnSpc>
              <a:buNone/>
            </a:pPr>
            <a:r>
              <a:rPr lang="en-US" sz="1050" dirty="0">
                <a:solidFill>
                  <a:srgbClr val="1F2937"/>
                </a:solidFill>
                <a:latin typeface="Poppins Light" pitchFamily="34" charset="0"/>
                <a:ea typeface="Poppins Light" pitchFamily="34" charset="-122"/>
                <a:cs typeface="Poppins Light" pitchFamily="34" charset="-120"/>
              </a:rPr>
              <a:t>Monitor adoption, review model performance and iterate, with improvement scoped into the build from day one.</a:t>
            </a:r>
            <a:endParaRPr lang="en-US" sz="1050" dirty="0"/>
          </a:p>
        </p:txBody>
      </p:sp>
      <p:sp>
        <p:nvSpPr>
          <p:cNvPr id="52" name="Text"/>
          <p:cNvSpPr txBox="1"/>
          <p:nvPr/>
        </p:nvSpPr>
        <p:spPr>
          <a:xfrm>
            <a:off x="9144000" y="4403659"/>
            <a:ext cx="2358878" cy="381030"/>
          </a:xfrm>
          <a:prstGeom prst="rect">
            <a:avLst/>
          </a:prstGeom>
          <a:noFill/>
          <a:ln/>
        </p:spPr>
        <p:txBody>
          <a:bodyPr wrap="square" lIns="0" tIns="0" rIns="0" bIns="0" rtlCol="0" anchor="t"/>
          <a:lstStyle/>
          <a:p>
            <a:pPr algn="l" indent="0" marL="0">
              <a:lnSpc>
                <a:spcPts val="1500"/>
              </a:lnSpc>
              <a:buNone/>
            </a:pPr>
            <a:r>
              <a:rPr lang="en-US" sz="1000" dirty="0">
                <a:solidFill>
                  <a:srgbClr val="1F2937"/>
                </a:solidFill>
                <a:latin typeface="Poppins Light" pitchFamily="34" charset="0"/>
                <a:ea typeface="Poppins Light" pitchFamily="34" charset="-122"/>
                <a:cs typeface="Poppins Light" pitchFamily="34" charset="-120"/>
              </a:rPr>
              <a:t>Model performance reviews, with MLOps to keep models accurate</a:t>
            </a:r>
            <a:endParaRPr lang="en-US" sz="1000" dirty="0"/>
          </a:p>
        </p:txBody>
      </p:sp>
      <p:sp>
        <p:nvSpPr>
          <p:cNvPr id="53" name="Text"/>
          <p:cNvSpPr txBox="1"/>
          <p:nvPr/>
        </p:nvSpPr>
        <p:spPr>
          <a:xfrm>
            <a:off x="9144000" y="4835439"/>
            <a:ext cx="2358878" cy="381030"/>
          </a:xfrm>
          <a:prstGeom prst="rect">
            <a:avLst/>
          </a:prstGeom>
          <a:noFill/>
          <a:ln/>
        </p:spPr>
        <p:txBody>
          <a:bodyPr wrap="square" lIns="0" tIns="0" rIns="0" bIns="0" rtlCol="0" anchor="t"/>
          <a:lstStyle/>
          <a:p>
            <a:pPr algn="l" indent="0" marL="0">
              <a:lnSpc>
                <a:spcPts val="1500"/>
              </a:lnSpc>
              <a:buNone/>
            </a:pPr>
            <a:r>
              <a:rPr lang="en-US" sz="1000" dirty="0">
                <a:solidFill>
                  <a:srgbClr val="1F2937"/>
                </a:solidFill>
                <a:latin typeface="Poppins Light" pitchFamily="34" charset="0"/>
                <a:ea typeface="Poppins Light" pitchFamily="34" charset="-122"/>
                <a:cs typeface="Poppins Light" pitchFamily="34" charset="-120"/>
              </a:rPr>
              <a:t>Iterations planned from day one, not bolted on later</a:t>
            </a:r>
            <a:endParaRPr lang="en-US" sz="1000" dirty="0"/>
          </a:p>
        </p:txBody>
      </p:sp>
      <p:sp>
        <p:nvSpPr>
          <p:cNvPr id="54" name="Text"/>
          <p:cNvSpPr txBox="1"/>
          <p:nvPr/>
        </p:nvSpPr>
        <p:spPr>
          <a:xfrm>
            <a:off x="1047720" y="5652546"/>
            <a:ext cx="490210" cy="156545"/>
          </a:xfrm>
          <a:prstGeom prst="rect">
            <a:avLst/>
          </a:prstGeom>
          <a:noFill/>
          <a:ln/>
        </p:spPr>
        <p:txBody>
          <a:bodyPr wrap="none" lIns="0" tIns="0" rIns="0" bIns="0" rtlCol="0" anchor="t"/>
          <a:lstStyle/>
          <a:p>
            <a:pPr algn="l" indent="0" marL="0">
              <a:lnSpc>
                <a:spcPts val="1232"/>
              </a:lnSpc>
              <a:buNone/>
            </a:pPr>
            <a:r>
              <a:rPr lang="en-US" sz="850" spc="34" kern="0" dirty="0">
                <a:solidFill>
                  <a:srgbClr val="FFFFFF"/>
                </a:solidFill>
                <a:latin typeface="Poppins Medium" pitchFamily="34" charset="0"/>
                <a:ea typeface="Poppins Medium" pitchFamily="34" charset="-122"/>
                <a:cs typeface="Poppins Medium" pitchFamily="34" charset="-120"/>
              </a:rPr>
              <a:t>So what</a:t>
            </a:r>
            <a:endParaRPr lang="en-US" sz="850" dirty="0"/>
          </a:p>
        </p:txBody>
      </p:sp>
      <p:sp>
        <p:nvSpPr>
          <p:cNvPr id="55" name="Text"/>
          <p:cNvSpPr txBox="1"/>
          <p:nvPr/>
        </p:nvSpPr>
        <p:spPr>
          <a:xfrm>
            <a:off x="1798350" y="5613684"/>
            <a:ext cx="8311439" cy="230154"/>
          </a:xfrm>
          <a:prstGeom prst="rect">
            <a:avLst/>
          </a:prstGeom>
          <a:noFill/>
          <a:ln/>
        </p:spPr>
        <p:txBody>
          <a:bodyPr wrap="none" lIns="0" tIns="0" rIns="0" bIns="0" rtlCol="0" anchor="t"/>
          <a:lstStyle/>
          <a:p>
            <a:pPr algn="l" indent="0" marL="0">
              <a:lnSpc>
                <a:spcPts val="1813"/>
              </a:lnSpc>
              <a:buNone/>
            </a:pPr>
            <a:r>
              <a:rPr lang="en-US" sz="1250" dirty="0">
                <a:solidFill>
                  <a:srgbClr val="FFFFFF"/>
                </a:solidFill>
                <a:latin typeface="Poppins Medium" pitchFamily="34" charset="0"/>
                <a:ea typeface="Poppins Medium" pitchFamily="34" charset="-122"/>
                <a:cs typeface="Poppins Medium" pitchFamily="34" charset="-120"/>
              </a:rPr>
              <a:t>Already mid-build? We can take it over,</a:t>
            </a:r>
            <a:pPr algn="l" indent="0" marL="0">
              <a:lnSpc>
                <a:spcPts val="1813"/>
              </a:lnSpc>
              <a:buNone/>
            </a:pPr>
            <a:r>
              <a:rPr lang="en-US" sz="1250" dirty="0">
                <a:solidFill>
                  <a:srgbClr val="FFFFFF"/>
                </a:solidFill>
                <a:latin typeface="Poppins" pitchFamily="34" charset="0"/>
                <a:ea typeface="Poppins" pitchFamily="34" charset="-122"/>
                <a:cs typeface="Poppins" pitchFamily="34" charset="-120"/>
              </a:rPr>
              <a:t> as we did for iPajak Group’s six-branch pawn brokerage system.</a:t>
            </a:r>
            <a:endParaRPr lang="en-US" sz="1250" dirty="0"/>
          </a:p>
        </p:txBody>
      </p:sp>
      <p:sp>
        <p:nvSpPr>
          <p:cNvPr id="56" name="Text"/>
          <p:cNvSpPr txBox="1"/>
          <p:nvPr/>
        </p:nvSpPr>
        <p:spPr>
          <a:xfrm>
            <a:off x="6287140" y="276240"/>
            <a:ext cx="708477"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Point of view</a:t>
            </a:r>
            <a:endParaRPr lang="en-US" sz="850" dirty="0"/>
          </a:p>
        </p:txBody>
      </p:sp>
      <p:sp>
        <p:nvSpPr>
          <p:cNvPr id="57" name="Text"/>
          <p:cNvSpPr txBox="1"/>
          <p:nvPr/>
        </p:nvSpPr>
        <p:spPr>
          <a:xfrm>
            <a:off x="7240494" y="276240"/>
            <a:ext cx="665958"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Who we are</a:t>
            </a:r>
            <a:endParaRPr lang="en-US" sz="850" dirty="0"/>
          </a:p>
        </p:txBody>
      </p:sp>
      <p:sp>
        <p:nvSpPr>
          <p:cNvPr id="58" name="Text"/>
          <p:cNvSpPr txBox="1"/>
          <p:nvPr/>
        </p:nvSpPr>
        <p:spPr>
          <a:xfrm>
            <a:off x="8151510" y="276240"/>
            <a:ext cx="671261"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044BD9"/>
                </a:solidFill>
                <a:latin typeface="Poppins Medium" pitchFamily="34" charset="0"/>
                <a:ea typeface="Poppins Medium" pitchFamily="34" charset="-122"/>
                <a:cs typeface="Poppins Medium" pitchFamily="34" charset="-120"/>
              </a:rPr>
              <a:t>What we do</a:t>
            </a:r>
            <a:endParaRPr lang="en-US" sz="850" dirty="0"/>
          </a:p>
        </p:txBody>
      </p:sp>
      <p:sp>
        <p:nvSpPr>
          <p:cNvPr id="59" name="Text"/>
          <p:cNvSpPr txBox="1"/>
          <p:nvPr/>
        </p:nvSpPr>
        <p:spPr>
          <a:xfrm>
            <a:off x="9067830" y="276240"/>
            <a:ext cx="1205728"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Sectors and products</a:t>
            </a:r>
            <a:endParaRPr lang="en-US" sz="850" dirty="0"/>
          </a:p>
        </p:txBody>
      </p:sp>
      <p:sp>
        <p:nvSpPr>
          <p:cNvPr id="60" name="Text"/>
          <p:cNvSpPr txBox="1"/>
          <p:nvPr/>
        </p:nvSpPr>
        <p:spPr>
          <a:xfrm>
            <a:off x="10516423" y="276240"/>
            <a:ext cx="298552"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Proof</a:t>
            </a:r>
            <a:endParaRPr lang="en-US" sz="850" dirty="0"/>
          </a:p>
        </p:txBody>
      </p:sp>
      <p:sp>
        <p:nvSpPr>
          <p:cNvPr id="61" name="Text"/>
          <p:cNvSpPr txBox="1"/>
          <p:nvPr/>
        </p:nvSpPr>
        <p:spPr>
          <a:xfrm>
            <a:off x="11061497" y="276240"/>
            <a:ext cx="433700"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Engage</a:t>
            </a:r>
            <a:endParaRPr lang="en-US" sz="850" dirty="0"/>
          </a:p>
        </p:txBody>
      </p:sp>
      <p:sp>
        <p:nvSpPr>
          <p:cNvPr id="62" name="Source"/>
          <p:cNvSpPr txBox="1"/>
          <p:nvPr/>
        </p:nvSpPr>
        <p:spPr>
          <a:xfrm>
            <a:off x="711220" y="6409030"/>
            <a:ext cx="8300740" cy="151150"/>
          </a:xfrm>
          <a:prstGeom prst="rect">
            <a:avLst/>
          </a:prstGeom>
          <a:noFill/>
          <a:ln/>
        </p:spPr>
        <p:txBody>
          <a:bodyPr wrap="square" lIns="0" tIns="0" rIns="0" bIns="0" rtlCol="0" anchor="t"/>
          <a:lstStyle/>
          <a:p>
            <a:pPr algn="l" indent="0" marL="0">
              <a:lnSpc>
                <a:spcPts val="1190"/>
              </a:lnSpc>
              <a:buNone/>
            </a:pPr>
            <a:r>
              <a:rPr lang="en-US" sz="850" dirty="0">
                <a:solidFill>
                  <a:srgbClr val="6B6B6B"/>
                </a:solidFill>
                <a:latin typeface="Poppins" pitchFamily="34" charset="0"/>
                <a:ea typeface="Poppins" pitchFamily="34" charset="-122"/>
                <a:cs typeface="Poppins" pitchFamily="34" charset="-120"/>
              </a:rPr>
              <a:t>Source: alphv.com/how-we-work (October 2026).</a:t>
            </a:r>
            <a:endParaRPr lang="en-US" sz="850" dirty="0"/>
          </a:p>
        </p:txBody>
      </p:sp>
      <p:sp>
        <p:nvSpPr>
          <p:cNvPr id="63" name="Text"/>
          <p:cNvSpPr txBox="1"/>
          <p:nvPr/>
        </p:nvSpPr>
        <p:spPr>
          <a:xfrm>
            <a:off x="9374154" y="6409030"/>
            <a:ext cx="393741" cy="151150"/>
          </a:xfrm>
          <a:prstGeom prst="rect">
            <a:avLst/>
          </a:prstGeom>
          <a:noFill/>
          <a:ln/>
        </p:spPr>
        <p:txBody>
          <a:bodyPr wrap="none" lIns="0" tIns="0" rIns="0" bIns="0" rtlCol="0" anchor="t"/>
          <a:lstStyle/>
          <a:p>
            <a:pPr algn="l" indent="0" marL="0">
              <a:lnSpc>
                <a:spcPts val="1190"/>
              </a:lnSpc>
              <a:buNone/>
            </a:pPr>
            <a:r>
              <a:rPr lang="en-US" sz="850" spc="34" kern="0" dirty="0">
                <a:solidFill>
                  <a:srgbClr val="000000"/>
                </a:solidFill>
                <a:latin typeface="Poppins SemiBold" pitchFamily="34" charset="0"/>
                <a:ea typeface="Poppins SemiBold" pitchFamily="34" charset="-122"/>
                <a:cs typeface="Poppins SemiBold" pitchFamily="34" charset="-120"/>
              </a:rPr>
              <a:t>ALPHV</a:t>
            </a:r>
            <a:endParaRPr lang="en-US" sz="850" dirty="0"/>
          </a:p>
        </p:txBody>
      </p:sp>
      <p:sp>
        <p:nvSpPr>
          <p:cNvPr id="64" name="Text"/>
          <p:cNvSpPr txBox="1"/>
          <p:nvPr/>
        </p:nvSpPr>
        <p:spPr>
          <a:xfrm>
            <a:off x="9882195" y="6409030"/>
            <a:ext cx="1377178" cy="151150"/>
          </a:xfrm>
          <a:prstGeom prst="rect">
            <a:avLst/>
          </a:prstGeom>
          <a:noFill/>
          <a:ln/>
        </p:spPr>
        <p:txBody>
          <a:bodyPr wrap="none" lIns="0" tIns="0" rIns="0" bIns="0" rtlCol="0" anchor="t"/>
          <a:lstStyle/>
          <a:p>
            <a:pPr algn="l" indent="0" marL="0">
              <a:lnSpc>
                <a:spcPts val="1190"/>
              </a:lnSpc>
              <a:buNone/>
            </a:pPr>
            <a:r>
              <a:rPr lang="en-US" sz="850" dirty="0">
                <a:solidFill>
                  <a:srgbClr val="6B6B6B"/>
                </a:solidFill>
                <a:latin typeface="Poppins" pitchFamily="34" charset="0"/>
                <a:ea typeface="Poppins" pitchFamily="34" charset="-122"/>
                <a:cs typeface="Poppins" pitchFamily="34" charset="-120"/>
              </a:rPr>
              <a:t>Corporate overview 2026</a:t>
            </a:r>
            <a:endParaRPr lang="en-US" sz="850" dirty="0"/>
          </a:p>
        </p:txBody>
      </p:sp>
      <p:sp>
        <p:nvSpPr>
          <p:cNvPr id="65" name="Text"/>
          <p:cNvSpPr txBox="1"/>
          <p:nvPr/>
        </p:nvSpPr>
        <p:spPr>
          <a:xfrm>
            <a:off x="11373673" y="6409030"/>
            <a:ext cx="132588" cy="151150"/>
          </a:xfrm>
          <a:prstGeom prst="rect">
            <a:avLst/>
          </a:prstGeom>
          <a:noFill/>
          <a:ln/>
        </p:spPr>
        <p:txBody>
          <a:bodyPr wrap="none" lIns="0" tIns="0" rIns="0" bIns="0" rtlCol="0" anchor="t"/>
          <a:lstStyle/>
          <a:p>
            <a:pPr algn="l" indent="0" marL="0">
              <a:lnSpc>
                <a:spcPts val="1190"/>
              </a:lnSpc>
              <a:buNone/>
            </a:pPr>
            <a:r>
              <a:rPr lang="en-US" sz="850" dirty="0">
                <a:solidFill>
                  <a:srgbClr val="000000"/>
                </a:solidFill>
                <a:latin typeface="Poppins Medium" pitchFamily="34" charset="0"/>
                <a:ea typeface="Poppins Medium" pitchFamily="34" charset="-122"/>
                <a:cs typeface="Poppins Medium" pitchFamily="34" charset="-120"/>
              </a:rPr>
              <a:t>16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8F9FA"/>
        </a:solidFill>
      </p:bgPr>
    </p:bg>
    <p:spTree>
      <p:nvGrpSpPr>
        <p:cNvPr id="1" name=""/>
        <p:cNvGrpSpPr/>
        <p:nvPr/>
      </p:nvGrpSpPr>
      <p:grpSpPr>
        <a:xfrm>
          <a:off x="0" y="0"/>
          <a:ext cx="0" cy="0"/>
          <a:chOff x="0" y="0"/>
          <a:chExt cx="0" cy="0"/>
        </a:xfrm>
      </p:grpSpPr>
      <p:sp>
        <p:nvSpPr>
          <p:cNvPr id="2" name="badge"/>
          <p:cNvSpPr/>
          <p:nvPr/>
        </p:nvSpPr>
        <p:spPr>
          <a:xfrm>
            <a:off x="714421" y="536570"/>
            <a:ext cx="1381750" cy="254020"/>
          </a:xfrm>
          <a:prstGeom prst="roundRect">
            <a:avLst>
              <a:gd name="adj" fmla="val 50000"/>
            </a:avLst>
          </a:prstGeom>
          <a:ln w="6350">
            <a:solidFill>
              <a:srgbClr val="155DFC"/>
            </a:solidFill>
            <a:prstDash val="solid"/>
          </a:ln>
        </p:spPr>
      </p:sp>
      <p:sp>
        <p:nvSpPr>
          <p:cNvPr id="3" name="card"/>
          <p:cNvSpPr/>
          <p:nvPr/>
        </p:nvSpPr>
        <p:spPr>
          <a:xfrm>
            <a:off x="714421" y="2077060"/>
            <a:ext cx="3481852" cy="2950677"/>
          </a:xfrm>
          <a:prstGeom prst="roundRect">
            <a:avLst>
              <a:gd name="adj" fmla="val 5057"/>
            </a:avLst>
          </a:prstGeom>
          <a:solidFill>
            <a:srgbClr val="FFFFFF"/>
          </a:solidFill>
          <a:ln w="6350">
            <a:solidFill>
              <a:srgbClr val="F0F0F0"/>
            </a:solidFill>
            <a:prstDash val="solid"/>
          </a:ln>
        </p:spPr>
      </p:sp>
      <p:sp>
        <p:nvSpPr>
          <p:cNvPr id="4" name="tile"/>
          <p:cNvSpPr/>
          <p:nvPr/>
        </p:nvSpPr>
        <p:spPr>
          <a:xfrm>
            <a:off x="920709" y="2315169"/>
            <a:ext cx="381030" cy="381030"/>
          </a:xfrm>
          <a:prstGeom prst="roundRect">
            <a:avLst>
              <a:gd name="adj" fmla="val 29998"/>
            </a:avLst>
          </a:prstGeom>
          <a:solidFill>
            <a:srgbClr val="044BD9"/>
          </a:solidFill>
          <a:ln/>
        </p:spPr>
      </p:sp>
      <p:pic>
        <p:nvPicPr>
          <p:cNvPr id="5" name="Icon" descr="/tmp/deck-pptx-47cOtg/icon-54.png">    </p:cNvPr>
          <p:cNvPicPr>
            <a:picLocks noChangeAspect="1"/>
          </p:cNvPicPr>
          <p:nvPr/>
        </p:nvPicPr>
        <p:blipFill>
          <a:blip r:embed="rId1"/>
          <a:stretch>
            <a:fillRect/>
          </a:stretch>
        </p:blipFill>
        <p:spPr>
          <a:xfrm>
            <a:off x="1022391" y="2416759"/>
            <a:ext cx="177759" cy="177759"/>
          </a:xfrm>
          <a:prstGeom prst="rect">
            <a:avLst/>
          </a:prstGeom>
        </p:spPr>
      </p:pic>
      <p:sp>
        <p:nvSpPr>
          <p:cNvPr id="6" name="Rule"/>
          <p:cNvSpPr/>
          <p:nvPr/>
        </p:nvSpPr>
        <p:spPr>
          <a:xfrm>
            <a:off x="920709" y="3512119"/>
            <a:ext cx="3069092" cy="0"/>
          </a:xfrm>
          <a:prstGeom prst="line">
            <a:avLst/>
          </a:prstGeom>
          <a:noFill/>
          <a:ln w="6350">
            <a:solidFill>
              <a:srgbClr val="F0F0F0"/>
            </a:solidFill>
            <a:prstDash val="solid"/>
          </a:ln>
        </p:spPr>
      </p:sp>
      <p:sp>
        <p:nvSpPr>
          <p:cNvPr id="7" name="li::before"/>
          <p:cNvSpPr/>
          <p:nvPr/>
        </p:nvSpPr>
        <p:spPr>
          <a:xfrm>
            <a:off x="920709" y="3695639"/>
            <a:ext cx="57150" cy="57150"/>
          </a:xfrm>
          <a:prstGeom prst="rect">
            <a:avLst/>
          </a:prstGeom>
          <a:solidFill>
            <a:srgbClr val="044BD9"/>
          </a:solidFill>
          <a:ln/>
        </p:spPr>
      </p:sp>
      <p:sp>
        <p:nvSpPr>
          <p:cNvPr id="8" name="li::before"/>
          <p:cNvSpPr/>
          <p:nvPr/>
        </p:nvSpPr>
        <p:spPr>
          <a:xfrm>
            <a:off x="920709" y="4127419"/>
            <a:ext cx="57150" cy="57150"/>
          </a:xfrm>
          <a:prstGeom prst="rect">
            <a:avLst/>
          </a:prstGeom>
          <a:solidFill>
            <a:srgbClr val="044BD9"/>
          </a:solidFill>
          <a:ln/>
        </p:spPr>
      </p:sp>
      <p:sp>
        <p:nvSpPr>
          <p:cNvPr id="9" name="card"/>
          <p:cNvSpPr/>
          <p:nvPr/>
        </p:nvSpPr>
        <p:spPr>
          <a:xfrm>
            <a:off x="4355013" y="2077060"/>
            <a:ext cx="3481852" cy="2950677"/>
          </a:xfrm>
          <a:prstGeom prst="roundRect">
            <a:avLst>
              <a:gd name="adj" fmla="val 5057"/>
            </a:avLst>
          </a:prstGeom>
          <a:solidFill>
            <a:srgbClr val="FFFFFF"/>
          </a:solidFill>
          <a:ln w="6350">
            <a:solidFill>
              <a:srgbClr val="F0F0F0"/>
            </a:solidFill>
            <a:prstDash val="solid"/>
          </a:ln>
        </p:spPr>
      </p:sp>
      <p:sp>
        <p:nvSpPr>
          <p:cNvPr id="10" name="tile"/>
          <p:cNvSpPr/>
          <p:nvPr/>
        </p:nvSpPr>
        <p:spPr>
          <a:xfrm>
            <a:off x="4561393" y="2315169"/>
            <a:ext cx="381030" cy="381030"/>
          </a:xfrm>
          <a:prstGeom prst="roundRect">
            <a:avLst>
              <a:gd name="adj" fmla="val 29998"/>
            </a:avLst>
          </a:prstGeom>
          <a:solidFill>
            <a:srgbClr val="044BD9"/>
          </a:solidFill>
          <a:ln/>
        </p:spPr>
      </p:sp>
      <p:pic>
        <p:nvPicPr>
          <p:cNvPr id="11" name="Icon" descr="/tmp/deck-pptx-47cOtg/icon-55.png">    </p:cNvPr>
          <p:cNvPicPr>
            <a:picLocks noChangeAspect="1"/>
          </p:cNvPicPr>
          <p:nvPr/>
        </p:nvPicPr>
        <p:blipFill>
          <a:blip r:embed="rId2"/>
          <a:stretch>
            <a:fillRect/>
          </a:stretch>
        </p:blipFill>
        <p:spPr>
          <a:xfrm>
            <a:off x="4662983" y="2416759"/>
            <a:ext cx="177759" cy="177759"/>
          </a:xfrm>
          <a:prstGeom prst="rect">
            <a:avLst/>
          </a:prstGeom>
        </p:spPr>
      </p:pic>
      <p:sp>
        <p:nvSpPr>
          <p:cNvPr id="12" name="Rule"/>
          <p:cNvSpPr/>
          <p:nvPr/>
        </p:nvSpPr>
        <p:spPr>
          <a:xfrm>
            <a:off x="4561393" y="3512119"/>
            <a:ext cx="3069092" cy="0"/>
          </a:xfrm>
          <a:prstGeom prst="line">
            <a:avLst/>
          </a:prstGeom>
          <a:noFill/>
          <a:ln w="6350">
            <a:solidFill>
              <a:srgbClr val="F0F0F0"/>
            </a:solidFill>
            <a:prstDash val="solid"/>
          </a:ln>
        </p:spPr>
      </p:sp>
      <p:sp>
        <p:nvSpPr>
          <p:cNvPr id="13" name="li::before"/>
          <p:cNvSpPr/>
          <p:nvPr/>
        </p:nvSpPr>
        <p:spPr>
          <a:xfrm>
            <a:off x="4561393" y="3695639"/>
            <a:ext cx="57150" cy="57150"/>
          </a:xfrm>
          <a:prstGeom prst="rect">
            <a:avLst/>
          </a:prstGeom>
          <a:solidFill>
            <a:srgbClr val="044BD9"/>
          </a:solidFill>
          <a:ln/>
        </p:spPr>
      </p:sp>
      <p:sp>
        <p:nvSpPr>
          <p:cNvPr id="14" name="li::before"/>
          <p:cNvSpPr/>
          <p:nvPr/>
        </p:nvSpPr>
        <p:spPr>
          <a:xfrm>
            <a:off x="4561393" y="4127419"/>
            <a:ext cx="57150" cy="57150"/>
          </a:xfrm>
          <a:prstGeom prst="rect">
            <a:avLst/>
          </a:prstGeom>
          <a:solidFill>
            <a:srgbClr val="044BD9"/>
          </a:solidFill>
          <a:ln/>
        </p:spPr>
      </p:sp>
      <p:sp>
        <p:nvSpPr>
          <p:cNvPr id="15" name="card"/>
          <p:cNvSpPr/>
          <p:nvPr/>
        </p:nvSpPr>
        <p:spPr>
          <a:xfrm>
            <a:off x="7995605" y="2077060"/>
            <a:ext cx="3481852" cy="2950677"/>
          </a:xfrm>
          <a:prstGeom prst="roundRect">
            <a:avLst>
              <a:gd name="adj" fmla="val 5057"/>
            </a:avLst>
          </a:prstGeom>
          <a:solidFill>
            <a:srgbClr val="FFFFFF"/>
          </a:solidFill>
          <a:ln w="6350">
            <a:solidFill>
              <a:srgbClr val="F0F0F0"/>
            </a:solidFill>
            <a:prstDash val="solid"/>
          </a:ln>
        </p:spPr>
      </p:sp>
      <p:sp>
        <p:nvSpPr>
          <p:cNvPr id="16" name="tile"/>
          <p:cNvSpPr/>
          <p:nvPr/>
        </p:nvSpPr>
        <p:spPr>
          <a:xfrm>
            <a:off x="8201985" y="2315169"/>
            <a:ext cx="381030" cy="381030"/>
          </a:xfrm>
          <a:prstGeom prst="roundRect">
            <a:avLst>
              <a:gd name="adj" fmla="val 29998"/>
            </a:avLst>
          </a:prstGeom>
          <a:solidFill>
            <a:srgbClr val="044BD9"/>
          </a:solidFill>
          <a:ln/>
        </p:spPr>
      </p:sp>
      <p:pic>
        <p:nvPicPr>
          <p:cNvPr id="17" name="Icon" descr="/tmp/deck-pptx-47cOtg/icon-56.png">    </p:cNvPr>
          <p:cNvPicPr>
            <a:picLocks noChangeAspect="1"/>
          </p:cNvPicPr>
          <p:nvPr/>
        </p:nvPicPr>
        <p:blipFill>
          <a:blip r:embed="rId3"/>
          <a:stretch>
            <a:fillRect/>
          </a:stretch>
        </p:blipFill>
        <p:spPr>
          <a:xfrm>
            <a:off x="8303575" y="2416759"/>
            <a:ext cx="177759" cy="177759"/>
          </a:xfrm>
          <a:prstGeom prst="rect">
            <a:avLst/>
          </a:prstGeom>
        </p:spPr>
      </p:pic>
      <p:sp>
        <p:nvSpPr>
          <p:cNvPr id="18" name="Rule"/>
          <p:cNvSpPr/>
          <p:nvPr/>
        </p:nvSpPr>
        <p:spPr>
          <a:xfrm>
            <a:off x="8201985" y="3512119"/>
            <a:ext cx="3069092" cy="0"/>
          </a:xfrm>
          <a:prstGeom prst="line">
            <a:avLst/>
          </a:prstGeom>
          <a:noFill/>
          <a:ln w="6350">
            <a:solidFill>
              <a:srgbClr val="F0F0F0"/>
            </a:solidFill>
            <a:prstDash val="solid"/>
          </a:ln>
        </p:spPr>
      </p:sp>
      <p:sp>
        <p:nvSpPr>
          <p:cNvPr id="19" name="li::before"/>
          <p:cNvSpPr/>
          <p:nvPr/>
        </p:nvSpPr>
        <p:spPr>
          <a:xfrm>
            <a:off x="8201985" y="3695639"/>
            <a:ext cx="57150" cy="57150"/>
          </a:xfrm>
          <a:prstGeom prst="rect">
            <a:avLst/>
          </a:prstGeom>
          <a:solidFill>
            <a:srgbClr val="044BD9"/>
          </a:solidFill>
          <a:ln/>
        </p:spPr>
      </p:sp>
      <p:sp>
        <p:nvSpPr>
          <p:cNvPr id="20" name="li::before"/>
          <p:cNvSpPr/>
          <p:nvPr/>
        </p:nvSpPr>
        <p:spPr>
          <a:xfrm>
            <a:off x="8201985" y="3936949"/>
            <a:ext cx="57150" cy="57150"/>
          </a:xfrm>
          <a:prstGeom prst="rect">
            <a:avLst/>
          </a:prstGeom>
          <a:solidFill>
            <a:srgbClr val="044BD9"/>
          </a:solidFill>
          <a:ln/>
        </p:spPr>
      </p:sp>
      <p:sp>
        <p:nvSpPr>
          <p:cNvPr id="21" name="li::before"/>
          <p:cNvSpPr/>
          <p:nvPr/>
        </p:nvSpPr>
        <p:spPr>
          <a:xfrm>
            <a:off x="8201985" y="4368729"/>
            <a:ext cx="57150" cy="57150"/>
          </a:xfrm>
          <a:prstGeom prst="rect">
            <a:avLst/>
          </a:prstGeom>
          <a:solidFill>
            <a:srgbClr val="044BD9"/>
          </a:solidFill>
          <a:ln/>
        </p:spPr>
      </p:sp>
      <p:sp>
        <p:nvSpPr>
          <p:cNvPr id="22" name="div"/>
          <p:cNvSpPr/>
          <p:nvPr/>
        </p:nvSpPr>
        <p:spPr>
          <a:xfrm>
            <a:off x="714421" y="5186477"/>
            <a:ext cx="10763220" cy="830184"/>
          </a:xfrm>
          <a:prstGeom prst="roundRect">
            <a:avLst>
              <a:gd name="adj" fmla="val 17976"/>
            </a:avLst>
          </a:prstGeom>
          <a:solidFill>
            <a:srgbClr val="044BD9">
              <a:alpha val="8000"/>
            </a:srgbClr>
          </a:solidFill>
          <a:ln w="6350">
            <a:solidFill>
              <a:srgbClr val="044BD9">
                <a:alpha val="20000"/>
              </a:srgbClr>
            </a:solidFill>
            <a:prstDash val="solid"/>
          </a:ln>
        </p:spPr>
      </p:sp>
      <p:sp>
        <p:nvSpPr>
          <p:cNvPr id="23" name="tile"/>
          <p:cNvSpPr/>
          <p:nvPr/>
        </p:nvSpPr>
        <p:spPr>
          <a:xfrm>
            <a:off x="2457450" y="5410962"/>
            <a:ext cx="381030" cy="381030"/>
          </a:xfrm>
          <a:prstGeom prst="roundRect">
            <a:avLst>
              <a:gd name="adj" fmla="val 29998"/>
            </a:avLst>
          </a:prstGeom>
          <a:solidFill>
            <a:srgbClr val="044BD9"/>
          </a:solidFill>
          <a:ln/>
        </p:spPr>
      </p:sp>
      <p:pic>
        <p:nvPicPr>
          <p:cNvPr id="24" name="Icon" descr="/tmp/deck-pptx-47cOtg/icon-57.png">    </p:cNvPr>
          <p:cNvPicPr>
            <a:picLocks noChangeAspect="1"/>
          </p:cNvPicPr>
          <p:nvPr/>
        </p:nvPicPr>
        <p:blipFill>
          <a:blip r:embed="rId4"/>
          <a:stretch>
            <a:fillRect/>
          </a:stretch>
        </p:blipFill>
        <p:spPr>
          <a:xfrm>
            <a:off x="2559040" y="5512552"/>
            <a:ext cx="177759" cy="177759"/>
          </a:xfrm>
          <a:prstGeom prst="rect">
            <a:avLst/>
          </a:prstGeom>
        </p:spPr>
      </p:pic>
      <p:sp>
        <p:nvSpPr>
          <p:cNvPr id="25" name="tile"/>
          <p:cNvSpPr/>
          <p:nvPr/>
        </p:nvSpPr>
        <p:spPr>
          <a:xfrm>
            <a:off x="5463083" y="5410962"/>
            <a:ext cx="381030" cy="381030"/>
          </a:xfrm>
          <a:prstGeom prst="roundRect">
            <a:avLst>
              <a:gd name="adj" fmla="val 29998"/>
            </a:avLst>
          </a:prstGeom>
          <a:solidFill>
            <a:srgbClr val="044BD9"/>
          </a:solidFill>
          <a:ln/>
        </p:spPr>
      </p:sp>
      <p:pic>
        <p:nvPicPr>
          <p:cNvPr id="26" name="Icon" descr="/tmp/deck-pptx-47cOtg/icon-58.png">    </p:cNvPr>
          <p:cNvPicPr>
            <a:picLocks noChangeAspect="1"/>
          </p:cNvPicPr>
          <p:nvPr/>
        </p:nvPicPr>
        <p:blipFill>
          <a:blip r:embed="rId5"/>
          <a:stretch>
            <a:fillRect/>
          </a:stretch>
        </p:blipFill>
        <p:spPr>
          <a:xfrm>
            <a:off x="5564673" y="5512552"/>
            <a:ext cx="177759" cy="177759"/>
          </a:xfrm>
          <a:prstGeom prst="rect">
            <a:avLst/>
          </a:prstGeom>
        </p:spPr>
      </p:pic>
      <p:sp>
        <p:nvSpPr>
          <p:cNvPr id="27" name="tile"/>
          <p:cNvSpPr/>
          <p:nvPr/>
        </p:nvSpPr>
        <p:spPr>
          <a:xfrm>
            <a:off x="8468716" y="5410962"/>
            <a:ext cx="381030" cy="381030"/>
          </a:xfrm>
          <a:prstGeom prst="roundRect">
            <a:avLst>
              <a:gd name="adj" fmla="val 29998"/>
            </a:avLst>
          </a:prstGeom>
          <a:solidFill>
            <a:srgbClr val="044BD9"/>
          </a:solidFill>
          <a:ln/>
        </p:spPr>
      </p:sp>
      <p:pic>
        <p:nvPicPr>
          <p:cNvPr id="28" name="Icon" descr="/tmp/deck-pptx-47cOtg/icon-59.png">    </p:cNvPr>
          <p:cNvPicPr>
            <a:picLocks noChangeAspect="1"/>
          </p:cNvPicPr>
          <p:nvPr/>
        </p:nvPicPr>
        <p:blipFill>
          <a:blip r:embed="rId6"/>
          <a:stretch>
            <a:fillRect/>
          </a:stretch>
        </p:blipFill>
        <p:spPr>
          <a:xfrm>
            <a:off x="8570305" y="5512552"/>
            <a:ext cx="177759" cy="177759"/>
          </a:xfrm>
          <a:prstGeom prst="rect">
            <a:avLst/>
          </a:prstGeom>
        </p:spPr>
      </p:pic>
      <p:sp>
        <p:nvSpPr>
          <p:cNvPr id="29" name="span::before"/>
          <p:cNvSpPr/>
          <p:nvPr/>
        </p:nvSpPr>
        <p:spPr>
          <a:xfrm>
            <a:off x="6191860" y="311170"/>
            <a:ext cx="44440" cy="44440"/>
          </a:xfrm>
          <a:prstGeom prst="rect">
            <a:avLst/>
          </a:prstGeom>
          <a:solidFill>
            <a:srgbClr val="A0A6AF">
              <a:alpha val="55000"/>
            </a:srgbClr>
          </a:solidFill>
          <a:ln/>
        </p:spPr>
      </p:sp>
      <p:sp>
        <p:nvSpPr>
          <p:cNvPr id="30" name="span::before"/>
          <p:cNvSpPr/>
          <p:nvPr/>
        </p:nvSpPr>
        <p:spPr>
          <a:xfrm>
            <a:off x="7145213" y="311170"/>
            <a:ext cx="44440" cy="44440"/>
          </a:xfrm>
          <a:prstGeom prst="rect">
            <a:avLst/>
          </a:prstGeom>
          <a:solidFill>
            <a:srgbClr val="A0A6AF">
              <a:alpha val="55000"/>
            </a:srgbClr>
          </a:solidFill>
          <a:ln/>
        </p:spPr>
      </p:sp>
      <p:sp>
        <p:nvSpPr>
          <p:cNvPr id="31" name="on::before"/>
          <p:cNvSpPr/>
          <p:nvPr/>
        </p:nvSpPr>
        <p:spPr>
          <a:xfrm>
            <a:off x="8056230" y="311170"/>
            <a:ext cx="44440" cy="44440"/>
          </a:xfrm>
          <a:prstGeom prst="rect">
            <a:avLst/>
          </a:prstGeom>
          <a:solidFill>
            <a:srgbClr val="044BD9"/>
          </a:solidFill>
          <a:ln/>
        </p:spPr>
      </p:sp>
      <p:sp>
        <p:nvSpPr>
          <p:cNvPr id="32" name="span::before"/>
          <p:cNvSpPr/>
          <p:nvPr/>
        </p:nvSpPr>
        <p:spPr>
          <a:xfrm>
            <a:off x="8972550" y="311170"/>
            <a:ext cx="44440" cy="44440"/>
          </a:xfrm>
          <a:prstGeom prst="rect">
            <a:avLst/>
          </a:prstGeom>
          <a:solidFill>
            <a:srgbClr val="A0A6AF">
              <a:alpha val="55000"/>
            </a:srgbClr>
          </a:solidFill>
          <a:ln/>
        </p:spPr>
      </p:sp>
      <p:sp>
        <p:nvSpPr>
          <p:cNvPr id="33" name="span::before"/>
          <p:cNvSpPr/>
          <p:nvPr/>
        </p:nvSpPr>
        <p:spPr>
          <a:xfrm>
            <a:off x="10421142" y="311170"/>
            <a:ext cx="44440" cy="44440"/>
          </a:xfrm>
          <a:prstGeom prst="rect">
            <a:avLst/>
          </a:prstGeom>
          <a:solidFill>
            <a:srgbClr val="A0A6AF">
              <a:alpha val="55000"/>
            </a:srgbClr>
          </a:solidFill>
          <a:ln/>
        </p:spPr>
      </p:sp>
      <p:sp>
        <p:nvSpPr>
          <p:cNvPr id="34" name="span::before"/>
          <p:cNvSpPr/>
          <p:nvPr/>
        </p:nvSpPr>
        <p:spPr>
          <a:xfrm>
            <a:off x="10966216" y="311170"/>
            <a:ext cx="44440" cy="44440"/>
          </a:xfrm>
          <a:prstGeom prst="rect">
            <a:avLst/>
          </a:prstGeom>
          <a:solidFill>
            <a:srgbClr val="A0A6AF">
              <a:alpha val="55000"/>
            </a:srgbClr>
          </a:solidFill>
          <a:ln/>
        </p:spPr>
      </p:sp>
      <p:sp>
        <p:nvSpPr>
          <p:cNvPr id="35" name="Text"/>
          <p:cNvSpPr txBox="1"/>
          <p:nvPr/>
        </p:nvSpPr>
        <p:spPr>
          <a:xfrm>
            <a:off x="844540" y="603230"/>
            <a:ext cx="1146749" cy="120609"/>
          </a:xfrm>
          <a:prstGeom prst="rect">
            <a:avLst/>
          </a:prstGeom>
          <a:noFill/>
          <a:ln/>
        </p:spPr>
        <p:txBody>
          <a:bodyPr wrap="none" lIns="0" tIns="0" rIns="0" bIns="0" rtlCol="0" anchor="t"/>
          <a:lstStyle/>
          <a:p>
            <a:pPr algn="l" indent="0" marL="0">
              <a:lnSpc>
                <a:spcPts val="950"/>
              </a:lnSpc>
              <a:buNone/>
            </a:pPr>
            <a:r>
              <a:rPr lang="en-US" sz="950" spc="10" kern="0" dirty="0">
                <a:solidFill>
                  <a:srgbClr val="155DFC"/>
                </a:solidFill>
                <a:latin typeface="Poppins Medium" pitchFamily="34" charset="0"/>
                <a:ea typeface="Poppins Medium" pitchFamily="34" charset="-122"/>
                <a:cs typeface="Poppins Medium" pitchFamily="34" charset="-120"/>
              </a:rPr>
              <a:t>Regulated sectors</a:t>
            </a:r>
            <a:endParaRPr lang="en-US" sz="950" dirty="0"/>
          </a:p>
        </p:txBody>
      </p:sp>
      <p:sp>
        <p:nvSpPr>
          <p:cNvPr id="36" name="Title"/>
          <p:cNvSpPr txBox="1"/>
          <p:nvPr/>
        </p:nvSpPr>
        <p:spPr>
          <a:xfrm>
            <a:off x="711220" y="927750"/>
            <a:ext cx="9398020" cy="861090"/>
          </a:xfrm>
          <a:prstGeom prst="rect">
            <a:avLst/>
          </a:prstGeom>
          <a:noFill/>
          <a:ln/>
        </p:spPr>
        <p:txBody>
          <a:bodyPr wrap="square" lIns="0" tIns="0" rIns="0" bIns="0" rtlCol="0" anchor="t"/>
          <a:lstStyle/>
          <a:p>
            <a:pPr algn="l" indent="0" marL="0">
              <a:lnSpc>
                <a:spcPts val="3390"/>
              </a:lnSpc>
              <a:buNone/>
            </a:pPr>
            <a:r>
              <a:rPr lang="en-US" sz="3000" spc="-45" kern="0" dirty="0">
                <a:solidFill>
                  <a:srgbClr val="000000"/>
                </a:solidFill>
                <a:latin typeface="Poppins Medium" pitchFamily="34" charset="0"/>
                <a:ea typeface="Poppins Medium" pitchFamily="34" charset="-122"/>
                <a:cs typeface="Poppins Medium" pitchFamily="34" charset="-120"/>
              </a:rPr>
              <a:t>Regulated teams keep data in-house,</a:t>
            </a:r>
            <a:endParaRPr lang="en-US" sz="3000" dirty="0"/>
          </a:p>
          <a:p>
            <a:pPr algn="l" indent="0" marL="0">
              <a:lnSpc>
                <a:spcPts val="3390"/>
              </a:lnSpc>
              <a:buNone/>
            </a:pPr>
            <a:r>
              <a:rPr lang="en-US" sz="3000" spc="-45" kern="0" dirty="0">
                <a:solidFill>
                  <a:srgbClr val="000000"/>
                </a:solidFill>
                <a:latin typeface="Poppins Medium" pitchFamily="34" charset="0"/>
                <a:ea typeface="Poppins Medium" pitchFamily="34" charset="-122"/>
                <a:cs typeface="Poppins Medium" pitchFamily="34" charset="-120"/>
              </a:rPr>
              <a:t>reach portals and act within guardrails</a:t>
            </a:r>
            <a:endParaRPr lang="en-US" sz="3000" dirty="0"/>
          </a:p>
        </p:txBody>
      </p:sp>
      <p:sp>
        <p:nvSpPr>
          <p:cNvPr id="37" name="Text"/>
          <p:cNvSpPr txBox="1"/>
          <p:nvPr/>
        </p:nvSpPr>
        <p:spPr>
          <a:xfrm>
            <a:off x="1428750" y="2384389"/>
            <a:ext cx="2420600" cy="232440"/>
          </a:xfrm>
          <a:prstGeom prst="rect">
            <a:avLst/>
          </a:prstGeom>
          <a:noFill/>
          <a:ln/>
        </p:spPr>
        <p:txBody>
          <a:bodyPr wrap="none" lIns="0" tIns="0" rIns="0" bIns="0" rtlCol="0" anchor="t"/>
          <a:lstStyle/>
          <a:p>
            <a:pPr algn="l" indent="0" marL="0">
              <a:lnSpc>
                <a:spcPts val="1830"/>
              </a:lnSpc>
              <a:buNone/>
            </a:pPr>
            <a:r>
              <a:rPr lang="en-US" sz="1500" dirty="0">
                <a:solidFill>
                  <a:srgbClr val="000000"/>
                </a:solidFill>
                <a:latin typeface="Poppins Medium" pitchFamily="34" charset="0"/>
                <a:ea typeface="Poppins Medium" pitchFamily="34" charset="-122"/>
                <a:cs typeface="Poppins Medium" pitchFamily="34" charset="-120"/>
              </a:rPr>
              <a:t>Data that stays in-house</a:t>
            </a:r>
            <a:endParaRPr lang="en-US" sz="1500" dirty="0"/>
          </a:p>
        </p:txBody>
      </p:sp>
      <p:sp>
        <p:nvSpPr>
          <p:cNvPr id="38" name="Text"/>
          <p:cNvSpPr txBox="1"/>
          <p:nvPr/>
        </p:nvSpPr>
        <p:spPr>
          <a:xfrm>
            <a:off x="920709" y="2826319"/>
            <a:ext cx="3094147" cy="590520"/>
          </a:xfrm>
          <a:prstGeom prst="rect">
            <a:avLst/>
          </a:prstGeom>
          <a:noFill/>
          <a:ln/>
        </p:spPr>
        <p:txBody>
          <a:bodyPr wrap="square" lIns="0" tIns="0" rIns="0" bIns="0" rtlCol="0" anchor="t"/>
          <a:lstStyle/>
          <a:p>
            <a:pPr algn="l" indent="0" marL="0">
              <a:lnSpc>
                <a:spcPts val="1550"/>
              </a:lnSpc>
              <a:buNone/>
            </a:pPr>
            <a:r>
              <a:rPr lang="en-US" sz="1000" dirty="0">
                <a:solidFill>
                  <a:srgbClr val="1F2937"/>
                </a:solidFill>
                <a:latin typeface="Poppins Light" pitchFamily="34" charset="0"/>
                <a:ea typeface="Poppins Light" pitchFamily="34" charset="-122"/>
                <a:cs typeface="Poppins Light" pitchFamily="34" charset="-120"/>
              </a:rPr>
              <a:t>Where data must stay inside your organisation, we deploy locally hosted models, for example on your own NVIDIA GPU workstation.</a:t>
            </a:r>
            <a:endParaRPr lang="en-US" sz="1000" dirty="0"/>
          </a:p>
        </p:txBody>
      </p:sp>
      <p:sp>
        <p:nvSpPr>
          <p:cNvPr id="39" name="Text"/>
          <p:cNvSpPr txBox="1"/>
          <p:nvPr/>
        </p:nvSpPr>
        <p:spPr>
          <a:xfrm>
            <a:off x="1085850" y="3616909"/>
            <a:ext cx="2928366" cy="381030"/>
          </a:xfrm>
          <a:prstGeom prst="rect">
            <a:avLst/>
          </a:prstGeom>
          <a:noFill/>
          <a:ln/>
        </p:spPr>
        <p:txBody>
          <a:bodyPr wrap="square" lIns="0" tIns="0" rIns="0" bIns="0" rtlCol="0" anchor="t"/>
          <a:lstStyle/>
          <a:p>
            <a:pPr algn="l" indent="0" marL="0">
              <a:lnSpc>
                <a:spcPts val="1500"/>
              </a:lnSpc>
              <a:buNone/>
            </a:pPr>
            <a:r>
              <a:rPr lang="en-US" sz="1000" dirty="0">
                <a:solidFill>
                  <a:srgbClr val="1F2937"/>
                </a:solidFill>
                <a:latin typeface="Poppins Light" pitchFamily="34" charset="0"/>
                <a:ea typeface="Poppins Light" pitchFamily="34" charset="-122"/>
                <a:cs typeface="Poppins Light" pitchFamily="34" charset="-120"/>
              </a:rPr>
              <a:t>Client data stays inside the firm for a 36-year-old law firm</a:t>
            </a:r>
            <a:endParaRPr lang="en-US" sz="1000" dirty="0"/>
          </a:p>
        </p:txBody>
      </p:sp>
      <p:sp>
        <p:nvSpPr>
          <p:cNvPr id="40" name="Text"/>
          <p:cNvSpPr txBox="1"/>
          <p:nvPr/>
        </p:nvSpPr>
        <p:spPr>
          <a:xfrm>
            <a:off x="1085850" y="4048689"/>
            <a:ext cx="2928366" cy="381030"/>
          </a:xfrm>
          <a:prstGeom prst="rect">
            <a:avLst/>
          </a:prstGeom>
          <a:noFill/>
          <a:ln/>
        </p:spPr>
        <p:txBody>
          <a:bodyPr wrap="square" lIns="0" tIns="0" rIns="0" bIns="0" rtlCol="0" anchor="t"/>
          <a:lstStyle/>
          <a:p>
            <a:pPr algn="l" indent="0" marL="0">
              <a:lnSpc>
                <a:spcPts val="1500"/>
              </a:lnSpc>
              <a:buNone/>
            </a:pPr>
            <a:r>
              <a:rPr lang="en-US" sz="1000" dirty="0">
                <a:solidFill>
                  <a:srgbClr val="1F2937"/>
                </a:solidFill>
                <a:latin typeface="Poppins Light" pitchFamily="34" charset="0"/>
                <a:ea typeface="Poppins Light" pitchFamily="34" charset="-122"/>
                <a:cs typeface="Poppins Light" pitchFamily="34" charset="-120"/>
              </a:rPr>
              <a:t>Models, hosting and guardrails chosen around your regulator</a:t>
            </a:r>
            <a:endParaRPr lang="en-US" sz="1000" dirty="0"/>
          </a:p>
        </p:txBody>
      </p:sp>
      <p:sp>
        <p:nvSpPr>
          <p:cNvPr id="41" name="Text"/>
          <p:cNvSpPr txBox="1"/>
          <p:nvPr/>
        </p:nvSpPr>
        <p:spPr>
          <a:xfrm>
            <a:off x="5069342" y="2268261"/>
            <a:ext cx="2561143" cy="464790"/>
          </a:xfrm>
          <a:prstGeom prst="rect">
            <a:avLst/>
          </a:prstGeom>
          <a:noFill/>
          <a:ln/>
        </p:spPr>
        <p:txBody>
          <a:bodyPr wrap="square" lIns="0" tIns="0" rIns="0" bIns="0" rtlCol="0" anchor="t"/>
          <a:lstStyle/>
          <a:p>
            <a:pPr algn="l" indent="0" marL="0">
              <a:lnSpc>
                <a:spcPts val="1830"/>
              </a:lnSpc>
              <a:buNone/>
            </a:pPr>
            <a:r>
              <a:rPr lang="en-US" sz="1500" dirty="0">
                <a:solidFill>
                  <a:srgbClr val="000000"/>
                </a:solidFill>
                <a:latin typeface="Poppins Medium" pitchFamily="34" charset="0"/>
                <a:ea typeface="Poppins Medium" pitchFamily="34" charset="-122"/>
                <a:cs typeface="Poppins Medium" pitchFamily="34" charset="-120"/>
              </a:rPr>
              <a:t>Integration with the</a:t>
            </a:r>
            <a:endParaRPr lang="en-US" sz="1500" dirty="0"/>
          </a:p>
          <a:p>
            <a:pPr algn="l" indent="0" marL="0">
              <a:lnSpc>
                <a:spcPts val="1830"/>
              </a:lnSpc>
              <a:buNone/>
            </a:pPr>
            <a:r>
              <a:rPr lang="en-US" sz="1500" dirty="0">
                <a:solidFill>
                  <a:srgbClr val="000000"/>
                </a:solidFill>
                <a:latin typeface="Poppins Medium" pitchFamily="34" charset="0"/>
                <a:ea typeface="Poppins Medium" pitchFamily="34" charset="-122"/>
                <a:cs typeface="Poppins Medium" pitchFamily="34" charset="-120"/>
              </a:rPr>
              <a:t>systems you run</a:t>
            </a:r>
            <a:endParaRPr lang="en-US" sz="1500" dirty="0"/>
          </a:p>
        </p:txBody>
      </p:sp>
      <p:sp>
        <p:nvSpPr>
          <p:cNvPr id="42" name="Text"/>
          <p:cNvSpPr txBox="1"/>
          <p:nvPr/>
        </p:nvSpPr>
        <p:spPr>
          <a:xfrm>
            <a:off x="4561393" y="2826319"/>
            <a:ext cx="3094147" cy="590520"/>
          </a:xfrm>
          <a:prstGeom prst="rect">
            <a:avLst/>
          </a:prstGeom>
          <a:noFill/>
          <a:ln/>
        </p:spPr>
        <p:txBody>
          <a:bodyPr wrap="square" lIns="0" tIns="0" rIns="0" bIns="0" rtlCol="0" anchor="t"/>
          <a:lstStyle/>
          <a:p>
            <a:pPr algn="l" indent="0" marL="0">
              <a:lnSpc>
                <a:spcPts val="1550"/>
              </a:lnSpc>
              <a:buNone/>
            </a:pPr>
            <a:r>
              <a:rPr lang="en-US" sz="1000" dirty="0">
                <a:solidFill>
                  <a:srgbClr val="1F2937"/>
                </a:solidFill>
                <a:latin typeface="Poppins Light" pitchFamily="34" charset="0"/>
                <a:ea typeface="Poppins Light" pitchFamily="34" charset="-122"/>
                <a:cs typeface="Poppins Light" pitchFamily="34" charset="-120"/>
              </a:rPr>
              <a:t>Most of our work connects AI to legacy and third-party systems, including bank, government, SSM and CTOS portals.</a:t>
            </a:r>
            <a:endParaRPr lang="en-US" sz="1000" dirty="0"/>
          </a:p>
        </p:txBody>
      </p:sp>
      <p:sp>
        <p:nvSpPr>
          <p:cNvPr id="43" name="Text"/>
          <p:cNvSpPr txBox="1"/>
          <p:nvPr/>
        </p:nvSpPr>
        <p:spPr>
          <a:xfrm>
            <a:off x="4726442" y="3616909"/>
            <a:ext cx="2928366" cy="381030"/>
          </a:xfrm>
          <a:prstGeom prst="rect">
            <a:avLst/>
          </a:prstGeom>
          <a:noFill/>
          <a:ln/>
        </p:spPr>
        <p:txBody>
          <a:bodyPr wrap="square" lIns="0" tIns="0" rIns="0" bIns="0" rtlCol="0" anchor="t"/>
          <a:lstStyle/>
          <a:p>
            <a:pPr algn="l" indent="0" marL="0">
              <a:lnSpc>
                <a:spcPts val="1500"/>
              </a:lnSpc>
              <a:buNone/>
            </a:pPr>
            <a:r>
              <a:rPr lang="en-US" sz="1000" dirty="0">
                <a:solidFill>
                  <a:srgbClr val="044BD9"/>
                </a:solidFill>
                <a:latin typeface="Poppins Medium" pitchFamily="34" charset="0"/>
                <a:ea typeface="Poppins Medium" pitchFamily="34" charset="-122"/>
                <a:cs typeface="Poppins Medium" pitchFamily="34" charset="-120"/>
              </a:rPr>
              <a:t>90+</a:t>
            </a:r>
            <a:pPr algn="l" indent="0" marL="0">
              <a:lnSpc>
                <a:spcPts val="1500"/>
              </a:lnSpc>
              <a:buNone/>
            </a:pPr>
            <a:r>
              <a:rPr lang="en-US" sz="1000" dirty="0">
                <a:solidFill>
                  <a:srgbClr val="1F2937"/>
                </a:solidFill>
                <a:latin typeface="Poppins Light" pitchFamily="34" charset="0"/>
                <a:ea typeface="Poppins Light" pitchFamily="34" charset="-122"/>
                <a:cs typeface="Poppins Light" pitchFamily="34" charset="-120"/>
              </a:rPr>
              <a:t> third-party portal automations for one law firm</a:t>
            </a:r>
            <a:endParaRPr lang="en-US" sz="1000" dirty="0"/>
          </a:p>
        </p:txBody>
      </p:sp>
      <p:sp>
        <p:nvSpPr>
          <p:cNvPr id="44" name="Text"/>
          <p:cNvSpPr txBox="1"/>
          <p:nvPr/>
        </p:nvSpPr>
        <p:spPr>
          <a:xfrm>
            <a:off x="4726442" y="4048689"/>
            <a:ext cx="2928366" cy="381030"/>
          </a:xfrm>
          <a:prstGeom prst="rect">
            <a:avLst/>
          </a:prstGeom>
          <a:noFill/>
          <a:ln/>
        </p:spPr>
        <p:txBody>
          <a:bodyPr wrap="square" lIns="0" tIns="0" rIns="0" bIns="0" rtlCol="0" anchor="t"/>
          <a:lstStyle/>
          <a:p>
            <a:pPr algn="l" indent="0" marL="0">
              <a:lnSpc>
                <a:spcPts val="1500"/>
              </a:lnSpc>
              <a:buNone/>
            </a:pPr>
            <a:r>
              <a:rPr lang="en-US" sz="1000" dirty="0">
                <a:solidFill>
                  <a:srgbClr val="1F2937"/>
                </a:solidFill>
                <a:latin typeface="Poppins Light" pitchFamily="34" charset="0"/>
                <a:ea typeface="Poppins Light" pitchFamily="34" charset="-122"/>
                <a:cs typeface="Poppins Light" pitchFamily="34" charset="-120"/>
              </a:rPr>
              <a:t>Projects taken over midway and delivered, as for iPajak Group</a:t>
            </a:r>
            <a:endParaRPr lang="en-US" sz="1000" dirty="0"/>
          </a:p>
        </p:txBody>
      </p:sp>
      <p:sp>
        <p:nvSpPr>
          <p:cNvPr id="45" name="Text"/>
          <p:cNvSpPr txBox="1"/>
          <p:nvPr/>
        </p:nvSpPr>
        <p:spPr>
          <a:xfrm>
            <a:off x="8710026" y="2268261"/>
            <a:ext cx="2561143" cy="464790"/>
          </a:xfrm>
          <a:prstGeom prst="rect">
            <a:avLst/>
          </a:prstGeom>
          <a:noFill/>
          <a:ln/>
        </p:spPr>
        <p:txBody>
          <a:bodyPr wrap="square" lIns="0" tIns="0" rIns="0" bIns="0" rtlCol="0" anchor="t"/>
          <a:lstStyle/>
          <a:p>
            <a:pPr algn="l" indent="0" marL="0">
              <a:lnSpc>
                <a:spcPts val="1830"/>
              </a:lnSpc>
              <a:buNone/>
            </a:pPr>
            <a:r>
              <a:rPr lang="en-US" sz="1500" dirty="0">
                <a:solidFill>
                  <a:srgbClr val="000000"/>
                </a:solidFill>
                <a:latin typeface="Poppins Medium" pitchFamily="34" charset="0"/>
                <a:ea typeface="Poppins Medium" pitchFamily="34" charset="-122"/>
                <a:cs typeface="Poppins Medium" pitchFamily="34" charset="-120"/>
              </a:rPr>
              <a:t>Guardrails and</a:t>
            </a:r>
            <a:endParaRPr lang="en-US" sz="1500" dirty="0"/>
          </a:p>
          <a:p>
            <a:pPr algn="l" indent="0" marL="0">
              <a:lnSpc>
                <a:spcPts val="1830"/>
              </a:lnSpc>
              <a:buNone/>
            </a:pPr>
            <a:r>
              <a:rPr lang="en-US" sz="1500" dirty="0">
                <a:solidFill>
                  <a:srgbClr val="000000"/>
                </a:solidFill>
                <a:latin typeface="Poppins Medium" pitchFamily="34" charset="0"/>
                <a:ea typeface="Poppins Medium" pitchFamily="34" charset="-122"/>
                <a:cs typeface="Poppins Medium" pitchFamily="34" charset="-120"/>
              </a:rPr>
              <a:t>governance</a:t>
            </a:r>
            <a:endParaRPr lang="en-US" sz="1500" dirty="0"/>
          </a:p>
        </p:txBody>
      </p:sp>
      <p:sp>
        <p:nvSpPr>
          <p:cNvPr id="46" name="Text"/>
          <p:cNvSpPr txBox="1"/>
          <p:nvPr/>
        </p:nvSpPr>
        <p:spPr>
          <a:xfrm>
            <a:off x="8201985" y="2826319"/>
            <a:ext cx="3094147" cy="590520"/>
          </a:xfrm>
          <a:prstGeom prst="rect">
            <a:avLst/>
          </a:prstGeom>
          <a:noFill/>
          <a:ln/>
        </p:spPr>
        <p:txBody>
          <a:bodyPr wrap="square" lIns="0" tIns="0" rIns="0" bIns="0" rtlCol="0" anchor="t"/>
          <a:lstStyle/>
          <a:p>
            <a:pPr algn="l" indent="0" marL="0">
              <a:lnSpc>
                <a:spcPts val="1550"/>
              </a:lnSpc>
              <a:buNone/>
            </a:pPr>
            <a:r>
              <a:rPr lang="en-US" sz="1000" dirty="0">
                <a:solidFill>
                  <a:srgbClr val="1F2937"/>
                </a:solidFill>
                <a:latin typeface="Poppins Light" pitchFamily="34" charset="0"/>
                <a:ea typeface="Poppins Light" pitchFamily="34" charset="-122"/>
                <a:cs typeface="Poppins Light" pitchFamily="34" charset="-120"/>
              </a:rPr>
              <a:t>AI safety and alignment and governance guardrails keep each system accountable, from customer conversations to claims.</a:t>
            </a:r>
            <a:endParaRPr lang="en-US" sz="1000" dirty="0"/>
          </a:p>
        </p:txBody>
      </p:sp>
      <p:sp>
        <p:nvSpPr>
          <p:cNvPr id="47" name="Text"/>
          <p:cNvSpPr txBox="1"/>
          <p:nvPr/>
        </p:nvSpPr>
        <p:spPr>
          <a:xfrm>
            <a:off x="8367126" y="3616909"/>
            <a:ext cx="2929463" cy="190470"/>
          </a:xfrm>
          <a:prstGeom prst="rect">
            <a:avLst/>
          </a:prstGeom>
          <a:noFill/>
          <a:ln/>
        </p:spPr>
        <p:txBody>
          <a:bodyPr wrap="none" lIns="0" tIns="0" rIns="0" bIns="0" rtlCol="0" anchor="t"/>
          <a:lstStyle/>
          <a:p>
            <a:pPr algn="l" indent="0" marL="0">
              <a:lnSpc>
                <a:spcPts val="1500"/>
              </a:lnSpc>
              <a:buNone/>
            </a:pPr>
            <a:r>
              <a:rPr lang="en-US" sz="1000" dirty="0">
                <a:solidFill>
                  <a:srgbClr val="1F2937"/>
                </a:solidFill>
                <a:latin typeface="Poppins Light" pitchFamily="34" charset="0"/>
                <a:ea typeface="Poppins Light" pitchFamily="34" charset="-122"/>
                <a:cs typeface="Poppins Light" pitchFamily="34" charset="-120"/>
              </a:rPr>
              <a:t>Intelligent conversation flows with guardrails</a:t>
            </a:r>
            <a:endParaRPr lang="en-US" sz="1000" dirty="0"/>
          </a:p>
        </p:txBody>
      </p:sp>
      <p:sp>
        <p:nvSpPr>
          <p:cNvPr id="48" name="Text"/>
          <p:cNvSpPr txBox="1"/>
          <p:nvPr/>
        </p:nvSpPr>
        <p:spPr>
          <a:xfrm>
            <a:off x="8367126" y="3858219"/>
            <a:ext cx="2928366" cy="381030"/>
          </a:xfrm>
          <a:prstGeom prst="rect">
            <a:avLst/>
          </a:prstGeom>
          <a:noFill/>
          <a:ln/>
        </p:spPr>
        <p:txBody>
          <a:bodyPr wrap="square" lIns="0" tIns="0" rIns="0" bIns="0" rtlCol="0" anchor="t"/>
          <a:lstStyle/>
          <a:p>
            <a:pPr algn="l" indent="0" marL="0">
              <a:lnSpc>
                <a:spcPts val="1500"/>
              </a:lnSpc>
              <a:buNone/>
            </a:pPr>
            <a:r>
              <a:rPr lang="en-US" sz="1000" dirty="0">
                <a:solidFill>
                  <a:srgbClr val="1F2937"/>
                </a:solidFill>
                <a:latin typeface="Poppins Light" pitchFamily="34" charset="0"/>
                <a:ea typeface="Poppins Light" pitchFamily="34" charset="-122"/>
                <a:cs typeface="Poppins Light" pitchFamily="34" charset="-120"/>
              </a:rPr>
              <a:t>Duplicate claims from the same person identified automatically</a:t>
            </a:r>
            <a:endParaRPr lang="en-US" sz="1000" dirty="0"/>
          </a:p>
        </p:txBody>
      </p:sp>
      <p:sp>
        <p:nvSpPr>
          <p:cNvPr id="49" name="Text"/>
          <p:cNvSpPr txBox="1"/>
          <p:nvPr/>
        </p:nvSpPr>
        <p:spPr>
          <a:xfrm>
            <a:off x="8367126" y="4289999"/>
            <a:ext cx="2928366" cy="190470"/>
          </a:xfrm>
          <a:prstGeom prst="rect">
            <a:avLst/>
          </a:prstGeom>
          <a:noFill/>
          <a:ln/>
        </p:spPr>
        <p:txBody>
          <a:bodyPr wrap="square" lIns="0" tIns="0" rIns="0" bIns="0" rtlCol="0" anchor="t"/>
          <a:lstStyle/>
          <a:p>
            <a:pPr algn="l" indent="0" marL="0">
              <a:lnSpc>
                <a:spcPts val="1500"/>
              </a:lnSpc>
              <a:buNone/>
            </a:pPr>
            <a:r>
              <a:rPr lang="en-US" sz="1000" dirty="0">
                <a:solidFill>
                  <a:srgbClr val="1F2937"/>
                </a:solidFill>
                <a:latin typeface="Poppins Light" pitchFamily="34" charset="0"/>
                <a:ea typeface="Poppins Light" pitchFamily="34" charset="-122"/>
                <a:cs typeface="Poppins Light" pitchFamily="34" charset="-120"/>
              </a:rPr>
              <a:t>CRM features by user access level</a:t>
            </a:r>
            <a:endParaRPr lang="en-US" sz="1000" dirty="0"/>
          </a:p>
        </p:txBody>
      </p:sp>
      <p:sp>
        <p:nvSpPr>
          <p:cNvPr id="50" name="Text"/>
          <p:cNvSpPr txBox="1"/>
          <p:nvPr/>
        </p:nvSpPr>
        <p:spPr>
          <a:xfrm>
            <a:off x="920709" y="5414802"/>
            <a:ext cx="1351575" cy="363200"/>
          </a:xfrm>
          <a:prstGeom prst="rect">
            <a:avLst/>
          </a:prstGeom>
          <a:noFill/>
          <a:ln/>
        </p:spPr>
        <p:txBody>
          <a:bodyPr wrap="square" lIns="0" tIns="0" rIns="0" bIns="0" rtlCol="0" anchor="t"/>
          <a:lstStyle/>
          <a:p>
            <a:pPr algn="l" indent="0" marL="0">
              <a:lnSpc>
                <a:spcPts val="1430"/>
              </a:lnSpc>
              <a:buNone/>
            </a:pPr>
            <a:r>
              <a:rPr lang="en-US" sz="1100" dirty="0">
                <a:solidFill>
                  <a:srgbClr val="000000"/>
                </a:solidFill>
                <a:latin typeface="Poppins Medium" pitchFamily="34" charset="0"/>
                <a:ea typeface="Poppins Medium" pitchFamily="34" charset="-122"/>
                <a:cs typeface="Poppins Medium" pitchFamily="34" charset="-120"/>
              </a:rPr>
              <a:t>Where models run, chosen per project</a:t>
            </a:r>
            <a:endParaRPr lang="en-US" sz="1100" dirty="0"/>
          </a:p>
        </p:txBody>
      </p:sp>
      <p:sp>
        <p:nvSpPr>
          <p:cNvPr id="51" name="Text"/>
          <p:cNvSpPr txBox="1"/>
          <p:nvPr/>
        </p:nvSpPr>
        <p:spPr>
          <a:xfrm>
            <a:off x="2940070" y="5324460"/>
            <a:ext cx="2341778" cy="206654"/>
          </a:xfrm>
          <a:prstGeom prst="rect">
            <a:avLst/>
          </a:prstGeom>
          <a:noFill/>
          <a:ln/>
        </p:spPr>
        <p:txBody>
          <a:bodyPr wrap="square" lIns="0" tIns="0" rIns="0" bIns="0" rtlCol="0" anchor="t"/>
          <a:lstStyle/>
          <a:p>
            <a:pPr algn="l" indent="0" marL="0">
              <a:lnSpc>
                <a:spcPts val="1627"/>
              </a:lnSpc>
              <a:buNone/>
            </a:pPr>
            <a:r>
              <a:rPr lang="en-US" sz="1050" dirty="0">
                <a:solidFill>
                  <a:srgbClr val="000000"/>
                </a:solidFill>
                <a:latin typeface="Poppins Medium" pitchFamily="34" charset="0"/>
                <a:ea typeface="Poppins Medium" pitchFamily="34" charset="-122"/>
                <a:cs typeface="Poppins Medium" pitchFamily="34" charset="-120"/>
              </a:rPr>
              <a:t>Inside your organisation</a:t>
            </a:r>
            <a:endParaRPr lang="en-US" sz="1050" dirty="0"/>
          </a:p>
        </p:txBody>
      </p:sp>
      <p:sp>
        <p:nvSpPr>
          <p:cNvPr id="52" name="Text"/>
          <p:cNvSpPr txBox="1"/>
          <p:nvPr/>
        </p:nvSpPr>
        <p:spPr>
          <a:xfrm>
            <a:off x="2940070" y="5530931"/>
            <a:ext cx="2341778" cy="337779"/>
          </a:xfrm>
          <a:prstGeom prst="rect">
            <a:avLst/>
          </a:prstGeom>
          <a:noFill/>
          <a:ln/>
        </p:spPr>
        <p:txBody>
          <a:bodyPr wrap="square" lIns="0" tIns="0" rIns="0" bIns="0" rtlCol="0" anchor="t"/>
          <a:lstStyle/>
          <a:p>
            <a:pPr algn="l" indent="0" marL="0">
              <a:lnSpc>
                <a:spcPts val="1330"/>
              </a:lnSpc>
              <a:buNone/>
            </a:pPr>
            <a:r>
              <a:rPr lang="en-US" sz="950" dirty="0">
                <a:solidFill>
                  <a:srgbClr val="1F2937"/>
                </a:solidFill>
                <a:latin typeface="Poppins Light" pitchFamily="34" charset="0"/>
                <a:ea typeface="Poppins Light" pitchFamily="34" charset="-122"/>
                <a:cs typeface="Poppins Light" pitchFamily="34" charset="-120"/>
              </a:rPr>
              <a:t>Locally hosted models on your own NVIDIA GPU workstation</a:t>
            </a:r>
            <a:endParaRPr lang="en-US" sz="950" dirty="0"/>
          </a:p>
        </p:txBody>
      </p:sp>
      <p:sp>
        <p:nvSpPr>
          <p:cNvPr id="53" name="Text"/>
          <p:cNvSpPr txBox="1"/>
          <p:nvPr/>
        </p:nvSpPr>
        <p:spPr>
          <a:xfrm>
            <a:off x="5945703" y="5324460"/>
            <a:ext cx="2341778" cy="206654"/>
          </a:xfrm>
          <a:prstGeom prst="rect">
            <a:avLst/>
          </a:prstGeom>
          <a:noFill/>
          <a:ln/>
        </p:spPr>
        <p:txBody>
          <a:bodyPr wrap="square" lIns="0" tIns="0" rIns="0" bIns="0" rtlCol="0" anchor="t"/>
          <a:lstStyle/>
          <a:p>
            <a:pPr algn="l" indent="0" marL="0">
              <a:lnSpc>
                <a:spcPts val="1627"/>
              </a:lnSpc>
              <a:buNone/>
            </a:pPr>
            <a:r>
              <a:rPr lang="en-US" sz="1050" dirty="0">
                <a:solidFill>
                  <a:srgbClr val="000000"/>
                </a:solidFill>
                <a:latin typeface="Poppins Medium" pitchFamily="34" charset="0"/>
                <a:ea typeface="Poppins Medium" pitchFamily="34" charset="-122"/>
                <a:cs typeface="Poppins Medium" pitchFamily="34" charset="-120"/>
              </a:rPr>
              <a:t>Partner GPU cloud</a:t>
            </a:r>
            <a:endParaRPr lang="en-US" sz="1050" dirty="0"/>
          </a:p>
        </p:txBody>
      </p:sp>
      <p:sp>
        <p:nvSpPr>
          <p:cNvPr id="54" name="Text"/>
          <p:cNvSpPr txBox="1"/>
          <p:nvPr/>
        </p:nvSpPr>
        <p:spPr>
          <a:xfrm>
            <a:off x="5945703" y="5530931"/>
            <a:ext cx="2341778" cy="337779"/>
          </a:xfrm>
          <a:prstGeom prst="rect">
            <a:avLst/>
          </a:prstGeom>
          <a:noFill/>
          <a:ln/>
        </p:spPr>
        <p:txBody>
          <a:bodyPr wrap="square" lIns="0" tIns="0" rIns="0" bIns="0" rtlCol="0" anchor="t"/>
          <a:lstStyle/>
          <a:p>
            <a:pPr algn="l" indent="0" marL="0">
              <a:lnSpc>
                <a:spcPts val="1330"/>
              </a:lnSpc>
              <a:buNone/>
            </a:pPr>
            <a:r>
              <a:rPr lang="en-US" sz="950" dirty="0">
                <a:solidFill>
                  <a:srgbClr val="1F2937"/>
                </a:solidFill>
                <a:latin typeface="Poppins Light" pitchFamily="34" charset="0"/>
                <a:ea typeface="Poppins Light" pitchFamily="34" charset="-122"/>
                <a:cs typeface="Poppins Light" pitchFamily="34" charset="-120"/>
              </a:rPr>
              <a:t>H100 SXM through FPT AI Factory, for training and fine-tuning</a:t>
            </a:r>
            <a:endParaRPr lang="en-US" sz="950" dirty="0"/>
          </a:p>
        </p:txBody>
      </p:sp>
      <p:sp>
        <p:nvSpPr>
          <p:cNvPr id="55" name="Text"/>
          <p:cNvSpPr txBox="1"/>
          <p:nvPr/>
        </p:nvSpPr>
        <p:spPr>
          <a:xfrm>
            <a:off x="8951336" y="5324460"/>
            <a:ext cx="2341870" cy="206654"/>
          </a:xfrm>
          <a:prstGeom prst="rect">
            <a:avLst/>
          </a:prstGeom>
          <a:noFill/>
          <a:ln/>
        </p:spPr>
        <p:txBody>
          <a:bodyPr wrap="square" lIns="0" tIns="0" rIns="0" bIns="0" rtlCol="0" anchor="t"/>
          <a:lstStyle/>
          <a:p>
            <a:pPr algn="l" indent="0" marL="0">
              <a:lnSpc>
                <a:spcPts val="1627"/>
              </a:lnSpc>
              <a:buNone/>
            </a:pPr>
            <a:r>
              <a:rPr lang="en-US" sz="1050" dirty="0">
                <a:solidFill>
                  <a:srgbClr val="000000"/>
                </a:solidFill>
                <a:latin typeface="Poppins Medium" pitchFamily="34" charset="0"/>
                <a:ea typeface="Poppins Medium" pitchFamily="34" charset="-122"/>
                <a:cs typeface="Poppins Medium" pitchFamily="34" charset="-120"/>
              </a:rPr>
              <a:t>Public cloud</a:t>
            </a:r>
            <a:endParaRPr lang="en-US" sz="1050" dirty="0"/>
          </a:p>
        </p:txBody>
      </p:sp>
      <p:sp>
        <p:nvSpPr>
          <p:cNvPr id="56" name="Text"/>
          <p:cNvSpPr txBox="1"/>
          <p:nvPr/>
        </p:nvSpPr>
        <p:spPr>
          <a:xfrm>
            <a:off x="8951336" y="5530931"/>
            <a:ext cx="2341870" cy="337779"/>
          </a:xfrm>
          <a:prstGeom prst="rect">
            <a:avLst/>
          </a:prstGeom>
          <a:noFill/>
          <a:ln/>
        </p:spPr>
        <p:txBody>
          <a:bodyPr wrap="square" lIns="0" tIns="0" rIns="0" bIns="0" rtlCol="0" anchor="t"/>
          <a:lstStyle/>
          <a:p>
            <a:pPr algn="l" indent="0" marL="0">
              <a:lnSpc>
                <a:spcPts val="1330"/>
              </a:lnSpc>
              <a:buNone/>
            </a:pPr>
            <a:r>
              <a:rPr lang="en-US" sz="950" dirty="0">
                <a:solidFill>
                  <a:srgbClr val="1F2937"/>
                </a:solidFill>
                <a:latin typeface="Poppins Light" pitchFamily="34" charset="0"/>
                <a:ea typeface="Poppins Light" pitchFamily="34" charset="-122"/>
                <a:cs typeface="Poppins Light" pitchFamily="34" charset="-120"/>
              </a:rPr>
              <a:t>Alibaba Cloud and Google Cloud, chosen for data, cost and residency</a:t>
            </a:r>
            <a:endParaRPr lang="en-US" sz="950" dirty="0"/>
          </a:p>
        </p:txBody>
      </p:sp>
      <p:sp>
        <p:nvSpPr>
          <p:cNvPr id="57" name="Text"/>
          <p:cNvSpPr txBox="1"/>
          <p:nvPr/>
        </p:nvSpPr>
        <p:spPr>
          <a:xfrm>
            <a:off x="6287140" y="276240"/>
            <a:ext cx="708477"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Point of view</a:t>
            </a:r>
            <a:endParaRPr lang="en-US" sz="850" dirty="0"/>
          </a:p>
        </p:txBody>
      </p:sp>
      <p:sp>
        <p:nvSpPr>
          <p:cNvPr id="58" name="Text"/>
          <p:cNvSpPr txBox="1"/>
          <p:nvPr/>
        </p:nvSpPr>
        <p:spPr>
          <a:xfrm>
            <a:off x="7240494" y="276240"/>
            <a:ext cx="665958"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Who we are</a:t>
            </a:r>
            <a:endParaRPr lang="en-US" sz="850" dirty="0"/>
          </a:p>
        </p:txBody>
      </p:sp>
      <p:sp>
        <p:nvSpPr>
          <p:cNvPr id="59" name="Text"/>
          <p:cNvSpPr txBox="1"/>
          <p:nvPr/>
        </p:nvSpPr>
        <p:spPr>
          <a:xfrm>
            <a:off x="8151510" y="276240"/>
            <a:ext cx="671261"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044BD9"/>
                </a:solidFill>
                <a:latin typeface="Poppins Medium" pitchFamily="34" charset="0"/>
                <a:ea typeface="Poppins Medium" pitchFamily="34" charset="-122"/>
                <a:cs typeface="Poppins Medium" pitchFamily="34" charset="-120"/>
              </a:rPr>
              <a:t>What we do</a:t>
            </a:r>
            <a:endParaRPr lang="en-US" sz="850" dirty="0"/>
          </a:p>
        </p:txBody>
      </p:sp>
      <p:sp>
        <p:nvSpPr>
          <p:cNvPr id="60" name="Text"/>
          <p:cNvSpPr txBox="1"/>
          <p:nvPr/>
        </p:nvSpPr>
        <p:spPr>
          <a:xfrm>
            <a:off x="9067830" y="276240"/>
            <a:ext cx="1205728"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Sectors and products</a:t>
            </a:r>
            <a:endParaRPr lang="en-US" sz="850" dirty="0"/>
          </a:p>
        </p:txBody>
      </p:sp>
      <p:sp>
        <p:nvSpPr>
          <p:cNvPr id="61" name="Text"/>
          <p:cNvSpPr txBox="1"/>
          <p:nvPr/>
        </p:nvSpPr>
        <p:spPr>
          <a:xfrm>
            <a:off x="10516423" y="276240"/>
            <a:ext cx="298552"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Proof</a:t>
            </a:r>
            <a:endParaRPr lang="en-US" sz="850" dirty="0"/>
          </a:p>
        </p:txBody>
      </p:sp>
      <p:sp>
        <p:nvSpPr>
          <p:cNvPr id="62" name="Text"/>
          <p:cNvSpPr txBox="1"/>
          <p:nvPr/>
        </p:nvSpPr>
        <p:spPr>
          <a:xfrm>
            <a:off x="11061497" y="276240"/>
            <a:ext cx="433700"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Engage</a:t>
            </a:r>
            <a:endParaRPr lang="en-US" sz="850" dirty="0"/>
          </a:p>
        </p:txBody>
      </p:sp>
      <p:sp>
        <p:nvSpPr>
          <p:cNvPr id="63" name="Source"/>
          <p:cNvSpPr txBox="1"/>
          <p:nvPr/>
        </p:nvSpPr>
        <p:spPr>
          <a:xfrm>
            <a:off x="711220" y="6409030"/>
            <a:ext cx="8300740" cy="151150"/>
          </a:xfrm>
          <a:prstGeom prst="rect">
            <a:avLst/>
          </a:prstGeom>
          <a:noFill/>
          <a:ln/>
        </p:spPr>
        <p:txBody>
          <a:bodyPr wrap="square" lIns="0" tIns="0" rIns="0" bIns="0" rtlCol="0" anchor="t"/>
          <a:lstStyle/>
          <a:p>
            <a:pPr algn="l" indent="0" marL="0">
              <a:lnSpc>
                <a:spcPts val="1190"/>
              </a:lnSpc>
              <a:buNone/>
            </a:pPr>
            <a:r>
              <a:rPr lang="en-US" sz="850" dirty="0">
                <a:solidFill>
                  <a:srgbClr val="6B6B6B"/>
                </a:solidFill>
                <a:latin typeface="Poppins" pitchFamily="34" charset="0"/>
                <a:ea typeface="Poppins" pitchFamily="34" charset="-122"/>
                <a:cs typeface="Poppins" pitchFamily="34" charset="-120"/>
              </a:rPr>
              <a:t>Source: alphv.com/industries; alphv.com/services/ai-engineering; alphv.com/platforms-and-clients (October 2026).</a:t>
            </a:r>
            <a:endParaRPr lang="en-US" sz="850" dirty="0"/>
          </a:p>
        </p:txBody>
      </p:sp>
      <p:sp>
        <p:nvSpPr>
          <p:cNvPr id="64" name="Text"/>
          <p:cNvSpPr txBox="1"/>
          <p:nvPr/>
        </p:nvSpPr>
        <p:spPr>
          <a:xfrm>
            <a:off x="9383024" y="6409030"/>
            <a:ext cx="393741" cy="151150"/>
          </a:xfrm>
          <a:prstGeom prst="rect">
            <a:avLst/>
          </a:prstGeom>
          <a:noFill/>
          <a:ln/>
        </p:spPr>
        <p:txBody>
          <a:bodyPr wrap="none" lIns="0" tIns="0" rIns="0" bIns="0" rtlCol="0" anchor="t"/>
          <a:lstStyle/>
          <a:p>
            <a:pPr algn="l" indent="0" marL="0">
              <a:lnSpc>
                <a:spcPts val="1190"/>
              </a:lnSpc>
              <a:buNone/>
            </a:pPr>
            <a:r>
              <a:rPr lang="en-US" sz="850" spc="34" kern="0" dirty="0">
                <a:solidFill>
                  <a:srgbClr val="000000"/>
                </a:solidFill>
                <a:latin typeface="Poppins SemiBold" pitchFamily="34" charset="0"/>
                <a:ea typeface="Poppins SemiBold" pitchFamily="34" charset="-122"/>
                <a:cs typeface="Poppins SemiBold" pitchFamily="34" charset="-120"/>
              </a:rPr>
              <a:t>ALPHV</a:t>
            </a:r>
            <a:endParaRPr lang="en-US" sz="850" dirty="0"/>
          </a:p>
        </p:txBody>
      </p:sp>
      <p:sp>
        <p:nvSpPr>
          <p:cNvPr id="65" name="Text"/>
          <p:cNvSpPr txBox="1"/>
          <p:nvPr/>
        </p:nvSpPr>
        <p:spPr>
          <a:xfrm>
            <a:off x="9890973" y="6409030"/>
            <a:ext cx="1377178" cy="151150"/>
          </a:xfrm>
          <a:prstGeom prst="rect">
            <a:avLst/>
          </a:prstGeom>
          <a:noFill/>
          <a:ln/>
        </p:spPr>
        <p:txBody>
          <a:bodyPr wrap="none" lIns="0" tIns="0" rIns="0" bIns="0" rtlCol="0" anchor="t"/>
          <a:lstStyle/>
          <a:p>
            <a:pPr algn="l" indent="0" marL="0">
              <a:lnSpc>
                <a:spcPts val="1190"/>
              </a:lnSpc>
              <a:buNone/>
            </a:pPr>
            <a:r>
              <a:rPr lang="en-US" sz="850" dirty="0">
                <a:solidFill>
                  <a:srgbClr val="6B6B6B"/>
                </a:solidFill>
                <a:latin typeface="Poppins" pitchFamily="34" charset="0"/>
                <a:ea typeface="Poppins" pitchFamily="34" charset="-122"/>
                <a:cs typeface="Poppins" pitchFamily="34" charset="-120"/>
              </a:rPr>
              <a:t>Corporate overview 2026</a:t>
            </a:r>
            <a:endParaRPr lang="en-US" sz="850" dirty="0"/>
          </a:p>
        </p:txBody>
      </p:sp>
      <p:sp>
        <p:nvSpPr>
          <p:cNvPr id="66" name="Text"/>
          <p:cNvSpPr txBox="1"/>
          <p:nvPr/>
        </p:nvSpPr>
        <p:spPr>
          <a:xfrm>
            <a:off x="11382451" y="6409030"/>
            <a:ext cx="123718" cy="151150"/>
          </a:xfrm>
          <a:prstGeom prst="rect">
            <a:avLst/>
          </a:prstGeom>
          <a:noFill/>
          <a:ln/>
        </p:spPr>
        <p:txBody>
          <a:bodyPr wrap="none" lIns="0" tIns="0" rIns="0" bIns="0" rtlCol="0" anchor="t"/>
          <a:lstStyle/>
          <a:p>
            <a:pPr algn="l" indent="0" marL="0">
              <a:lnSpc>
                <a:spcPts val="1190"/>
              </a:lnSpc>
              <a:buNone/>
            </a:pPr>
            <a:r>
              <a:rPr lang="en-US" sz="850" dirty="0">
                <a:solidFill>
                  <a:srgbClr val="000000"/>
                </a:solidFill>
                <a:latin typeface="Poppins Medium" pitchFamily="34" charset="0"/>
                <a:ea typeface="Poppins Medium" pitchFamily="34" charset="-122"/>
                <a:cs typeface="Poppins Medium" pitchFamily="34" charset="-120"/>
              </a:rPr>
              <a:t>17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p:cNvSpPr txBox="1"/>
          <p:nvPr/>
        </p:nvSpPr>
        <p:spPr>
          <a:xfrm>
            <a:off x="711220" y="2472720"/>
            <a:ext cx="10825399" cy="1257300"/>
          </a:xfrm>
          <a:prstGeom prst="rect">
            <a:avLst/>
          </a:prstGeom>
          <a:noFill/>
          <a:ln/>
        </p:spPr>
        <p:txBody>
          <a:bodyPr wrap="square" lIns="0" tIns="0" rIns="0" bIns="0" rtlCol="0" anchor="t"/>
          <a:lstStyle/>
          <a:p>
            <a:pPr algn="l" indent="0" marL="0">
              <a:lnSpc>
                <a:spcPts val="9900"/>
              </a:lnSpc>
              <a:buNone/>
            </a:pPr>
            <a:r>
              <a:rPr lang="en-US" sz="11000" spc="-440" kern="0" dirty="0">
                <a:solidFill>
                  <a:srgbClr val="F2F6FD"/>
                </a:solidFill>
                <a:latin typeface="Poppins SemiBold" pitchFamily="34" charset="0"/>
                <a:ea typeface="Poppins SemiBold" pitchFamily="34" charset="-122"/>
                <a:cs typeface="Poppins SemiBold" pitchFamily="34" charset="-120"/>
              </a:rPr>
              <a:t>04</a:t>
            </a:r>
            <a:endParaRPr lang="en-US" sz="11000" dirty="0"/>
          </a:p>
        </p:txBody>
      </p:sp>
      <p:sp>
        <p:nvSpPr>
          <p:cNvPr id="3" name="Text"/>
          <p:cNvSpPr txBox="1"/>
          <p:nvPr/>
        </p:nvSpPr>
        <p:spPr>
          <a:xfrm>
            <a:off x="711220" y="3952951"/>
            <a:ext cx="8889980" cy="1280160"/>
          </a:xfrm>
          <a:prstGeom prst="rect">
            <a:avLst/>
          </a:prstGeom>
          <a:noFill/>
          <a:ln/>
        </p:spPr>
        <p:txBody>
          <a:bodyPr wrap="square" lIns="0" tIns="0" rIns="0" bIns="0" rtlCol="0" anchor="t"/>
          <a:lstStyle/>
          <a:p>
            <a:pPr algn="l" indent="0" marL="0">
              <a:lnSpc>
                <a:spcPts val="5040"/>
              </a:lnSpc>
              <a:buNone/>
            </a:pPr>
            <a:r>
              <a:rPr lang="en-US" sz="4800" spc="-120" kern="0" dirty="0">
                <a:solidFill>
                  <a:srgbClr val="FFFFFF"/>
                </a:solidFill>
                <a:latin typeface="Poppins SemiBold" pitchFamily="34" charset="0"/>
                <a:ea typeface="Poppins SemiBold" pitchFamily="34" charset="-122"/>
                <a:cs typeface="Poppins SemiBold" pitchFamily="34" charset="-120"/>
              </a:rPr>
              <a:t>Work shaped</a:t>
            </a:r>
            <a:endParaRPr lang="en-US" sz="4800" dirty="0"/>
          </a:p>
          <a:p>
            <a:pPr algn="l" indent="0" marL="0">
              <a:lnSpc>
                <a:spcPts val="5040"/>
              </a:lnSpc>
              <a:buNone/>
            </a:pPr>
            <a:r>
              <a:rPr lang="en-US" sz="4800" spc="-120" kern="0" dirty="0">
                <a:solidFill>
                  <a:srgbClr val="FFFFFF"/>
                </a:solidFill>
                <a:latin typeface="Poppins SemiBold" pitchFamily="34" charset="0"/>
                <a:ea typeface="Poppins SemiBold" pitchFamily="34" charset="-122"/>
                <a:cs typeface="Poppins SemiBold" pitchFamily="34" charset="-120"/>
              </a:rPr>
              <a:t>around your sector</a:t>
            </a:r>
            <a:endParaRPr lang="en-US" sz="4800" dirty="0"/>
          </a:p>
        </p:txBody>
      </p:sp>
      <p:sp>
        <p:nvSpPr>
          <p:cNvPr id="4" name="Text"/>
          <p:cNvSpPr txBox="1"/>
          <p:nvPr/>
        </p:nvSpPr>
        <p:spPr>
          <a:xfrm>
            <a:off x="711220" y="5462626"/>
            <a:ext cx="7153168" cy="552480"/>
          </a:xfrm>
          <a:prstGeom prst="rect">
            <a:avLst/>
          </a:prstGeom>
          <a:noFill/>
          <a:ln/>
        </p:spPr>
        <p:txBody>
          <a:bodyPr wrap="square" lIns="0" tIns="0" rIns="0" bIns="0" rtlCol="0" anchor="t"/>
          <a:lstStyle/>
          <a:p>
            <a:pPr algn="l" indent="0" marL="0">
              <a:lnSpc>
                <a:spcPts val="2175"/>
              </a:lnSpc>
              <a:buNone/>
            </a:pPr>
            <a:r>
              <a:rPr lang="en-US" sz="1450" dirty="0">
                <a:solidFill>
                  <a:srgbClr val="E1E9FA"/>
                </a:solidFill>
                <a:latin typeface="Poppins Light" pitchFamily="34" charset="0"/>
                <a:ea typeface="Poppins Light" pitchFamily="34" charset="-122"/>
                <a:cs typeface="Poppins Light" pitchFamily="34" charset="-120"/>
              </a:rPr>
              <a:t>Six sectors with work to show, and five products that package proven solutions.</a:t>
            </a:r>
            <a:endParaRPr lang="en-US" sz="14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badge"/>
          <p:cNvSpPr/>
          <p:nvPr/>
        </p:nvSpPr>
        <p:spPr>
          <a:xfrm>
            <a:off x="714421" y="536570"/>
            <a:ext cx="869046" cy="254020"/>
          </a:xfrm>
          <a:prstGeom prst="roundRect">
            <a:avLst>
              <a:gd name="adj" fmla="val 50000"/>
            </a:avLst>
          </a:prstGeom>
          <a:ln w="6350">
            <a:solidFill>
              <a:srgbClr val="155DFC"/>
            </a:solidFill>
            <a:prstDash val="solid"/>
          </a:ln>
        </p:spPr>
      </p:sp>
      <p:sp>
        <p:nvSpPr>
          <p:cNvPr id="3" name="Rule"/>
          <p:cNvSpPr/>
          <p:nvPr/>
        </p:nvSpPr>
        <p:spPr>
          <a:xfrm>
            <a:off x="711220" y="2319193"/>
            <a:ext cx="1270010" cy="0"/>
          </a:xfrm>
          <a:prstGeom prst="line">
            <a:avLst/>
          </a:prstGeom>
          <a:noFill/>
          <a:ln w="6350">
            <a:solidFill>
              <a:srgbClr val="E3E6EC"/>
            </a:solidFill>
            <a:prstDash val="solid"/>
          </a:ln>
        </p:spPr>
      </p:sp>
      <p:sp>
        <p:nvSpPr>
          <p:cNvPr id="4" name="Rule"/>
          <p:cNvSpPr/>
          <p:nvPr/>
        </p:nvSpPr>
        <p:spPr>
          <a:xfrm>
            <a:off x="1981230" y="2319193"/>
            <a:ext cx="1524030" cy="0"/>
          </a:xfrm>
          <a:prstGeom prst="line">
            <a:avLst/>
          </a:prstGeom>
          <a:noFill/>
          <a:ln w="6350">
            <a:solidFill>
              <a:srgbClr val="E3E6EC"/>
            </a:solidFill>
            <a:prstDash val="solid"/>
          </a:ln>
        </p:spPr>
      </p:sp>
      <p:sp>
        <p:nvSpPr>
          <p:cNvPr id="5" name="Rule"/>
          <p:cNvSpPr/>
          <p:nvPr/>
        </p:nvSpPr>
        <p:spPr>
          <a:xfrm>
            <a:off x="3505170" y="2319193"/>
            <a:ext cx="3301990" cy="0"/>
          </a:xfrm>
          <a:prstGeom prst="line">
            <a:avLst/>
          </a:prstGeom>
          <a:noFill/>
          <a:ln w="6350">
            <a:solidFill>
              <a:srgbClr val="E3E6EC"/>
            </a:solidFill>
            <a:prstDash val="solid"/>
          </a:ln>
        </p:spPr>
      </p:sp>
      <p:sp>
        <p:nvSpPr>
          <p:cNvPr id="6" name="Rule"/>
          <p:cNvSpPr/>
          <p:nvPr/>
        </p:nvSpPr>
        <p:spPr>
          <a:xfrm>
            <a:off x="6807159" y="2319193"/>
            <a:ext cx="2095530" cy="0"/>
          </a:xfrm>
          <a:prstGeom prst="line">
            <a:avLst/>
          </a:prstGeom>
          <a:noFill/>
          <a:ln w="6350">
            <a:solidFill>
              <a:srgbClr val="E3E6EC"/>
            </a:solidFill>
            <a:prstDash val="solid"/>
          </a:ln>
        </p:spPr>
      </p:sp>
      <p:sp>
        <p:nvSpPr>
          <p:cNvPr id="7" name="Rule"/>
          <p:cNvSpPr/>
          <p:nvPr/>
        </p:nvSpPr>
        <p:spPr>
          <a:xfrm>
            <a:off x="8902690" y="2319193"/>
            <a:ext cx="2578059" cy="0"/>
          </a:xfrm>
          <a:prstGeom prst="line">
            <a:avLst/>
          </a:prstGeom>
          <a:noFill/>
          <a:ln w="6350">
            <a:solidFill>
              <a:srgbClr val="E3E6EC"/>
            </a:solidFill>
            <a:prstDash val="solid"/>
          </a:ln>
        </p:spPr>
      </p:sp>
      <p:sp>
        <p:nvSpPr>
          <p:cNvPr id="8" name="Rule"/>
          <p:cNvSpPr/>
          <p:nvPr/>
        </p:nvSpPr>
        <p:spPr>
          <a:xfrm>
            <a:off x="711220" y="2897094"/>
            <a:ext cx="1270010" cy="0"/>
          </a:xfrm>
          <a:prstGeom prst="line">
            <a:avLst/>
          </a:prstGeom>
          <a:noFill/>
          <a:ln w="6350">
            <a:solidFill>
              <a:srgbClr val="E3E6EC"/>
            </a:solidFill>
            <a:prstDash val="solid"/>
          </a:ln>
        </p:spPr>
      </p:sp>
      <p:sp>
        <p:nvSpPr>
          <p:cNvPr id="9" name="Rule"/>
          <p:cNvSpPr/>
          <p:nvPr/>
        </p:nvSpPr>
        <p:spPr>
          <a:xfrm>
            <a:off x="1981230" y="2897094"/>
            <a:ext cx="1524030" cy="0"/>
          </a:xfrm>
          <a:prstGeom prst="line">
            <a:avLst/>
          </a:prstGeom>
          <a:noFill/>
          <a:ln w="6350">
            <a:solidFill>
              <a:srgbClr val="E3E6EC"/>
            </a:solidFill>
            <a:prstDash val="solid"/>
          </a:ln>
        </p:spPr>
      </p:sp>
      <p:sp>
        <p:nvSpPr>
          <p:cNvPr id="10" name="Rule"/>
          <p:cNvSpPr/>
          <p:nvPr/>
        </p:nvSpPr>
        <p:spPr>
          <a:xfrm>
            <a:off x="3505170" y="2897094"/>
            <a:ext cx="3301990" cy="0"/>
          </a:xfrm>
          <a:prstGeom prst="line">
            <a:avLst/>
          </a:prstGeom>
          <a:noFill/>
          <a:ln w="6350">
            <a:solidFill>
              <a:srgbClr val="E3E6EC"/>
            </a:solidFill>
            <a:prstDash val="solid"/>
          </a:ln>
        </p:spPr>
      </p:sp>
      <p:sp>
        <p:nvSpPr>
          <p:cNvPr id="11" name="Rule"/>
          <p:cNvSpPr/>
          <p:nvPr/>
        </p:nvSpPr>
        <p:spPr>
          <a:xfrm>
            <a:off x="6807159" y="2897094"/>
            <a:ext cx="2095530" cy="0"/>
          </a:xfrm>
          <a:prstGeom prst="line">
            <a:avLst/>
          </a:prstGeom>
          <a:noFill/>
          <a:ln w="6350">
            <a:solidFill>
              <a:srgbClr val="E3E6EC"/>
            </a:solidFill>
            <a:prstDash val="solid"/>
          </a:ln>
        </p:spPr>
      </p:sp>
      <p:sp>
        <p:nvSpPr>
          <p:cNvPr id="12" name="tag"/>
          <p:cNvSpPr/>
          <p:nvPr/>
        </p:nvSpPr>
        <p:spPr>
          <a:xfrm>
            <a:off x="6810360" y="2411273"/>
            <a:ext cx="456834" cy="177759"/>
          </a:xfrm>
          <a:prstGeom prst="roundRect">
            <a:avLst>
              <a:gd name="adj" fmla="val 50000"/>
            </a:avLst>
          </a:prstGeom>
          <a:solidFill>
            <a:srgbClr val="FFFFFF"/>
          </a:solidFill>
          <a:ln w="6350">
            <a:solidFill>
              <a:srgbClr val="E3E6EC"/>
            </a:solidFill>
            <a:prstDash val="solid"/>
          </a:ln>
        </p:spPr>
      </p:sp>
      <p:sp>
        <p:nvSpPr>
          <p:cNvPr id="13" name="tag"/>
          <p:cNvSpPr/>
          <p:nvPr/>
        </p:nvSpPr>
        <p:spPr>
          <a:xfrm>
            <a:off x="7311634" y="2411273"/>
            <a:ext cx="760049" cy="177759"/>
          </a:xfrm>
          <a:prstGeom prst="roundRect">
            <a:avLst>
              <a:gd name="adj" fmla="val 50000"/>
            </a:avLst>
          </a:prstGeom>
          <a:solidFill>
            <a:srgbClr val="FFFFFF"/>
          </a:solidFill>
          <a:ln w="6350">
            <a:solidFill>
              <a:srgbClr val="E3E6EC"/>
            </a:solidFill>
            <a:prstDash val="solid"/>
          </a:ln>
        </p:spPr>
      </p:sp>
      <p:sp>
        <p:nvSpPr>
          <p:cNvPr id="14" name="tag"/>
          <p:cNvSpPr/>
          <p:nvPr/>
        </p:nvSpPr>
        <p:spPr>
          <a:xfrm>
            <a:off x="6810360" y="2633563"/>
            <a:ext cx="800374" cy="177759"/>
          </a:xfrm>
          <a:prstGeom prst="roundRect">
            <a:avLst>
              <a:gd name="adj" fmla="val 50000"/>
            </a:avLst>
          </a:prstGeom>
          <a:solidFill>
            <a:srgbClr val="FFFFFF"/>
          </a:solidFill>
          <a:ln w="6350">
            <a:solidFill>
              <a:srgbClr val="E3E6EC"/>
            </a:solidFill>
            <a:prstDash val="solid"/>
          </a:ln>
        </p:spPr>
      </p:sp>
      <p:sp>
        <p:nvSpPr>
          <p:cNvPr id="15" name="tag"/>
          <p:cNvSpPr/>
          <p:nvPr/>
        </p:nvSpPr>
        <p:spPr>
          <a:xfrm>
            <a:off x="7655265" y="2633563"/>
            <a:ext cx="757855" cy="177759"/>
          </a:xfrm>
          <a:prstGeom prst="roundRect">
            <a:avLst>
              <a:gd name="adj" fmla="val 50000"/>
            </a:avLst>
          </a:prstGeom>
          <a:solidFill>
            <a:srgbClr val="FFFFFF"/>
          </a:solidFill>
          <a:ln w="6350">
            <a:solidFill>
              <a:srgbClr val="E3E6EC"/>
            </a:solidFill>
            <a:prstDash val="solid"/>
          </a:ln>
        </p:spPr>
      </p:sp>
      <p:sp>
        <p:nvSpPr>
          <p:cNvPr id="16" name="Rule"/>
          <p:cNvSpPr/>
          <p:nvPr/>
        </p:nvSpPr>
        <p:spPr>
          <a:xfrm>
            <a:off x="8902690" y="2897094"/>
            <a:ext cx="2578059" cy="0"/>
          </a:xfrm>
          <a:prstGeom prst="line">
            <a:avLst/>
          </a:prstGeom>
          <a:noFill/>
          <a:ln w="6350">
            <a:solidFill>
              <a:srgbClr val="E3E6EC"/>
            </a:solidFill>
            <a:prstDash val="solid"/>
          </a:ln>
        </p:spPr>
      </p:sp>
      <p:sp>
        <p:nvSpPr>
          <p:cNvPr id="17" name="Rule"/>
          <p:cNvSpPr/>
          <p:nvPr/>
        </p:nvSpPr>
        <p:spPr>
          <a:xfrm>
            <a:off x="711220" y="3474903"/>
            <a:ext cx="1270010" cy="0"/>
          </a:xfrm>
          <a:prstGeom prst="line">
            <a:avLst/>
          </a:prstGeom>
          <a:noFill/>
          <a:ln w="6350">
            <a:solidFill>
              <a:srgbClr val="E3E6EC"/>
            </a:solidFill>
            <a:prstDash val="solid"/>
          </a:ln>
        </p:spPr>
      </p:sp>
      <p:sp>
        <p:nvSpPr>
          <p:cNvPr id="18" name="Rule"/>
          <p:cNvSpPr/>
          <p:nvPr/>
        </p:nvSpPr>
        <p:spPr>
          <a:xfrm>
            <a:off x="1981230" y="3474903"/>
            <a:ext cx="1524030" cy="0"/>
          </a:xfrm>
          <a:prstGeom prst="line">
            <a:avLst/>
          </a:prstGeom>
          <a:noFill/>
          <a:ln w="6350">
            <a:solidFill>
              <a:srgbClr val="E3E6EC"/>
            </a:solidFill>
            <a:prstDash val="solid"/>
          </a:ln>
        </p:spPr>
      </p:sp>
      <p:sp>
        <p:nvSpPr>
          <p:cNvPr id="19" name="Rule"/>
          <p:cNvSpPr/>
          <p:nvPr/>
        </p:nvSpPr>
        <p:spPr>
          <a:xfrm>
            <a:off x="3505170" y="3474903"/>
            <a:ext cx="3301990" cy="0"/>
          </a:xfrm>
          <a:prstGeom prst="line">
            <a:avLst/>
          </a:prstGeom>
          <a:noFill/>
          <a:ln w="6350">
            <a:solidFill>
              <a:srgbClr val="E3E6EC"/>
            </a:solidFill>
            <a:prstDash val="solid"/>
          </a:ln>
        </p:spPr>
      </p:sp>
      <p:sp>
        <p:nvSpPr>
          <p:cNvPr id="20" name="Rule"/>
          <p:cNvSpPr/>
          <p:nvPr/>
        </p:nvSpPr>
        <p:spPr>
          <a:xfrm>
            <a:off x="6807159" y="3474903"/>
            <a:ext cx="2095530" cy="0"/>
          </a:xfrm>
          <a:prstGeom prst="line">
            <a:avLst/>
          </a:prstGeom>
          <a:noFill/>
          <a:ln w="6350">
            <a:solidFill>
              <a:srgbClr val="E3E6EC"/>
            </a:solidFill>
            <a:prstDash val="solid"/>
          </a:ln>
        </p:spPr>
      </p:sp>
      <p:sp>
        <p:nvSpPr>
          <p:cNvPr id="21" name="tag"/>
          <p:cNvSpPr/>
          <p:nvPr/>
        </p:nvSpPr>
        <p:spPr>
          <a:xfrm>
            <a:off x="6810360" y="2989174"/>
            <a:ext cx="456834" cy="177759"/>
          </a:xfrm>
          <a:prstGeom prst="roundRect">
            <a:avLst>
              <a:gd name="adj" fmla="val 50000"/>
            </a:avLst>
          </a:prstGeom>
          <a:solidFill>
            <a:srgbClr val="FFFFFF"/>
          </a:solidFill>
          <a:ln w="6350">
            <a:solidFill>
              <a:srgbClr val="E3E6EC"/>
            </a:solidFill>
            <a:prstDash val="solid"/>
          </a:ln>
        </p:spPr>
      </p:sp>
      <p:sp>
        <p:nvSpPr>
          <p:cNvPr id="22" name="tag"/>
          <p:cNvSpPr/>
          <p:nvPr/>
        </p:nvSpPr>
        <p:spPr>
          <a:xfrm>
            <a:off x="7311634" y="2989174"/>
            <a:ext cx="896203" cy="177759"/>
          </a:xfrm>
          <a:prstGeom prst="roundRect">
            <a:avLst>
              <a:gd name="adj" fmla="val 50000"/>
            </a:avLst>
          </a:prstGeom>
          <a:solidFill>
            <a:srgbClr val="FFFFFF"/>
          </a:solidFill>
          <a:ln w="6350">
            <a:solidFill>
              <a:srgbClr val="E3E6EC"/>
            </a:solidFill>
            <a:prstDash val="solid"/>
          </a:ln>
        </p:spPr>
      </p:sp>
      <p:sp>
        <p:nvSpPr>
          <p:cNvPr id="23" name="tag"/>
          <p:cNvSpPr/>
          <p:nvPr/>
        </p:nvSpPr>
        <p:spPr>
          <a:xfrm>
            <a:off x="6810360" y="3211373"/>
            <a:ext cx="696407" cy="177759"/>
          </a:xfrm>
          <a:prstGeom prst="roundRect">
            <a:avLst>
              <a:gd name="adj" fmla="val 50000"/>
            </a:avLst>
          </a:prstGeom>
          <a:solidFill>
            <a:srgbClr val="FFFFFF"/>
          </a:solidFill>
          <a:ln w="6350">
            <a:solidFill>
              <a:srgbClr val="E3E6EC"/>
            </a:solidFill>
            <a:prstDash val="solid"/>
          </a:ln>
        </p:spPr>
      </p:sp>
      <p:sp>
        <p:nvSpPr>
          <p:cNvPr id="24" name="Rule"/>
          <p:cNvSpPr/>
          <p:nvPr/>
        </p:nvSpPr>
        <p:spPr>
          <a:xfrm>
            <a:off x="8902690" y="3474903"/>
            <a:ext cx="2578059" cy="0"/>
          </a:xfrm>
          <a:prstGeom prst="line">
            <a:avLst/>
          </a:prstGeom>
          <a:noFill/>
          <a:ln w="6350">
            <a:solidFill>
              <a:srgbClr val="E3E6EC"/>
            </a:solidFill>
            <a:prstDash val="solid"/>
          </a:ln>
        </p:spPr>
      </p:sp>
      <p:sp>
        <p:nvSpPr>
          <p:cNvPr id="25" name="Rule"/>
          <p:cNvSpPr/>
          <p:nvPr/>
        </p:nvSpPr>
        <p:spPr>
          <a:xfrm>
            <a:off x="711220" y="4014673"/>
            <a:ext cx="1270010" cy="0"/>
          </a:xfrm>
          <a:prstGeom prst="line">
            <a:avLst/>
          </a:prstGeom>
          <a:noFill/>
          <a:ln w="6350">
            <a:solidFill>
              <a:srgbClr val="E3E6EC"/>
            </a:solidFill>
            <a:prstDash val="solid"/>
          </a:ln>
        </p:spPr>
      </p:sp>
      <p:sp>
        <p:nvSpPr>
          <p:cNvPr id="26" name="Rule"/>
          <p:cNvSpPr/>
          <p:nvPr/>
        </p:nvSpPr>
        <p:spPr>
          <a:xfrm>
            <a:off x="1981230" y="4014673"/>
            <a:ext cx="1524030" cy="0"/>
          </a:xfrm>
          <a:prstGeom prst="line">
            <a:avLst/>
          </a:prstGeom>
          <a:noFill/>
          <a:ln w="6350">
            <a:solidFill>
              <a:srgbClr val="E3E6EC"/>
            </a:solidFill>
            <a:prstDash val="solid"/>
          </a:ln>
        </p:spPr>
      </p:sp>
      <p:sp>
        <p:nvSpPr>
          <p:cNvPr id="27" name="Rule"/>
          <p:cNvSpPr/>
          <p:nvPr/>
        </p:nvSpPr>
        <p:spPr>
          <a:xfrm>
            <a:off x="3505170" y="4014673"/>
            <a:ext cx="3301990" cy="0"/>
          </a:xfrm>
          <a:prstGeom prst="line">
            <a:avLst/>
          </a:prstGeom>
          <a:noFill/>
          <a:ln w="6350">
            <a:solidFill>
              <a:srgbClr val="E3E6EC"/>
            </a:solidFill>
            <a:prstDash val="solid"/>
          </a:ln>
        </p:spPr>
      </p:sp>
      <p:sp>
        <p:nvSpPr>
          <p:cNvPr id="28" name="Rule"/>
          <p:cNvSpPr/>
          <p:nvPr/>
        </p:nvSpPr>
        <p:spPr>
          <a:xfrm>
            <a:off x="6807159" y="4014673"/>
            <a:ext cx="2095530" cy="0"/>
          </a:xfrm>
          <a:prstGeom prst="line">
            <a:avLst/>
          </a:prstGeom>
          <a:noFill/>
          <a:ln w="6350">
            <a:solidFill>
              <a:srgbClr val="E3E6EC"/>
            </a:solidFill>
            <a:prstDash val="solid"/>
          </a:ln>
        </p:spPr>
      </p:sp>
      <p:sp>
        <p:nvSpPr>
          <p:cNvPr id="29" name="tag"/>
          <p:cNvSpPr/>
          <p:nvPr/>
        </p:nvSpPr>
        <p:spPr>
          <a:xfrm>
            <a:off x="6810360" y="3566983"/>
            <a:ext cx="456834" cy="177759"/>
          </a:xfrm>
          <a:prstGeom prst="roundRect">
            <a:avLst>
              <a:gd name="adj" fmla="val 50000"/>
            </a:avLst>
          </a:prstGeom>
          <a:solidFill>
            <a:srgbClr val="FFFFFF"/>
          </a:solidFill>
          <a:ln w="6350">
            <a:solidFill>
              <a:srgbClr val="E3E6EC"/>
            </a:solidFill>
            <a:prstDash val="solid"/>
          </a:ln>
        </p:spPr>
      </p:sp>
      <p:sp>
        <p:nvSpPr>
          <p:cNvPr id="30" name="tag"/>
          <p:cNvSpPr/>
          <p:nvPr/>
        </p:nvSpPr>
        <p:spPr>
          <a:xfrm>
            <a:off x="7311634" y="3566983"/>
            <a:ext cx="541050" cy="177759"/>
          </a:xfrm>
          <a:prstGeom prst="roundRect">
            <a:avLst>
              <a:gd name="adj" fmla="val 50000"/>
            </a:avLst>
          </a:prstGeom>
          <a:solidFill>
            <a:srgbClr val="FFFFFF"/>
          </a:solidFill>
          <a:ln w="6350">
            <a:solidFill>
              <a:srgbClr val="E3E6EC"/>
            </a:solidFill>
            <a:prstDash val="solid"/>
          </a:ln>
        </p:spPr>
      </p:sp>
      <p:sp>
        <p:nvSpPr>
          <p:cNvPr id="31" name="tag"/>
          <p:cNvSpPr/>
          <p:nvPr/>
        </p:nvSpPr>
        <p:spPr>
          <a:xfrm>
            <a:off x="7897124" y="3566983"/>
            <a:ext cx="353781" cy="177759"/>
          </a:xfrm>
          <a:prstGeom prst="roundRect">
            <a:avLst>
              <a:gd name="adj" fmla="val 50000"/>
            </a:avLst>
          </a:prstGeom>
          <a:solidFill>
            <a:srgbClr val="FFFFFF"/>
          </a:solidFill>
          <a:ln w="6350">
            <a:solidFill>
              <a:srgbClr val="E3E6EC"/>
            </a:solidFill>
            <a:prstDash val="solid"/>
          </a:ln>
        </p:spPr>
      </p:sp>
      <p:sp>
        <p:nvSpPr>
          <p:cNvPr id="32" name="Rule"/>
          <p:cNvSpPr/>
          <p:nvPr/>
        </p:nvSpPr>
        <p:spPr>
          <a:xfrm>
            <a:off x="8902690" y="4014673"/>
            <a:ext cx="2578059" cy="0"/>
          </a:xfrm>
          <a:prstGeom prst="line">
            <a:avLst/>
          </a:prstGeom>
          <a:noFill/>
          <a:ln w="6350">
            <a:solidFill>
              <a:srgbClr val="E3E6EC"/>
            </a:solidFill>
            <a:prstDash val="solid"/>
          </a:ln>
        </p:spPr>
      </p:sp>
      <p:sp>
        <p:nvSpPr>
          <p:cNvPr id="33" name="Rule"/>
          <p:cNvSpPr/>
          <p:nvPr/>
        </p:nvSpPr>
        <p:spPr>
          <a:xfrm>
            <a:off x="711220" y="4554444"/>
            <a:ext cx="1270010" cy="0"/>
          </a:xfrm>
          <a:prstGeom prst="line">
            <a:avLst/>
          </a:prstGeom>
          <a:noFill/>
          <a:ln w="6350">
            <a:solidFill>
              <a:srgbClr val="E3E6EC"/>
            </a:solidFill>
            <a:prstDash val="solid"/>
          </a:ln>
        </p:spPr>
      </p:sp>
      <p:sp>
        <p:nvSpPr>
          <p:cNvPr id="34" name="Rule"/>
          <p:cNvSpPr/>
          <p:nvPr/>
        </p:nvSpPr>
        <p:spPr>
          <a:xfrm>
            <a:off x="1981230" y="4554444"/>
            <a:ext cx="1524030" cy="0"/>
          </a:xfrm>
          <a:prstGeom prst="line">
            <a:avLst/>
          </a:prstGeom>
          <a:noFill/>
          <a:ln w="6350">
            <a:solidFill>
              <a:srgbClr val="E3E6EC"/>
            </a:solidFill>
            <a:prstDash val="solid"/>
          </a:ln>
        </p:spPr>
      </p:sp>
      <p:sp>
        <p:nvSpPr>
          <p:cNvPr id="35" name="Rule"/>
          <p:cNvSpPr/>
          <p:nvPr/>
        </p:nvSpPr>
        <p:spPr>
          <a:xfrm>
            <a:off x="3505170" y="4554444"/>
            <a:ext cx="3301990" cy="0"/>
          </a:xfrm>
          <a:prstGeom prst="line">
            <a:avLst/>
          </a:prstGeom>
          <a:noFill/>
          <a:ln w="6350">
            <a:solidFill>
              <a:srgbClr val="E3E6EC"/>
            </a:solidFill>
            <a:prstDash val="solid"/>
          </a:ln>
        </p:spPr>
      </p:sp>
      <p:sp>
        <p:nvSpPr>
          <p:cNvPr id="36" name="Rule"/>
          <p:cNvSpPr/>
          <p:nvPr/>
        </p:nvSpPr>
        <p:spPr>
          <a:xfrm>
            <a:off x="6807159" y="4554444"/>
            <a:ext cx="2095530" cy="0"/>
          </a:xfrm>
          <a:prstGeom prst="line">
            <a:avLst/>
          </a:prstGeom>
          <a:noFill/>
          <a:ln w="6350">
            <a:solidFill>
              <a:srgbClr val="E3E6EC"/>
            </a:solidFill>
            <a:prstDash val="solid"/>
          </a:ln>
        </p:spPr>
      </p:sp>
      <p:sp>
        <p:nvSpPr>
          <p:cNvPr id="37" name="tag"/>
          <p:cNvSpPr/>
          <p:nvPr/>
        </p:nvSpPr>
        <p:spPr>
          <a:xfrm>
            <a:off x="6810360" y="4106753"/>
            <a:ext cx="456834" cy="177759"/>
          </a:xfrm>
          <a:prstGeom prst="roundRect">
            <a:avLst>
              <a:gd name="adj" fmla="val 50000"/>
            </a:avLst>
          </a:prstGeom>
          <a:solidFill>
            <a:srgbClr val="FFFFFF"/>
          </a:solidFill>
          <a:ln w="6350">
            <a:solidFill>
              <a:srgbClr val="E3E6EC"/>
            </a:solidFill>
            <a:prstDash val="solid"/>
          </a:ln>
        </p:spPr>
      </p:sp>
      <p:sp>
        <p:nvSpPr>
          <p:cNvPr id="38" name="tag"/>
          <p:cNvSpPr/>
          <p:nvPr/>
        </p:nvSpPr>
        <p:spPr>
          <a:xfrm>
            <a:off x="7311634" y="4106753"/>
            <a:ext cx="716615" cy="177759"/>
          </a:xfrm>
          <a:prstGeom prst="roundRect">
            <a:avLst>
              <a:gd name="adj" fmla="val 50000"/>
            </a:avLst>
          </a:prstGeom>
          <a:solidFill>
            <a:srgbClr val="FFFFFF"/>
          </a:solidFill>
          <a:ln w="6350">
            <a:solidFill>
              <a:srgbClr val="E3E6EC"/>
            </a:solidFill>
            <a:prstDash val="solid"/>
          </a:ln>
        </p:spPr>
      </p:sp>
      <p:sp>
        <p:nvSpPr>
          <p:cNvPr id="39" name="tag"/>
          <p:cNvSpPr/>
          <p:nvPr/>
        </p:nvSpPr>
        <p:spPr>
          <a:xfrm>
            <a:off x="8072780" y="4106753"/>
            <a:ext cx="658734" cy="177759"/>
          </a:xfrm>
          <a:prstGeom prst="roundRect">
            <a:avLst>
              <a:gd name="adj" fmla="val 50000"/>
            </a:avLst>
          </a:prstGeom>
          <a:solidFill>
            <a:srgbClr val="FFFFFF"/>
          </a:solidFill>
          <a:ln w="6350">
            <a:solidFill>
              <a:srgbClr val="E3E6EC"/>
            </a:solidFill>
            <a:prstDash val="solid"/>
          </a:ln>
        </p:spPr>
      </p:sp>
      <p:sp>
        <p:nvSpPr>
          <p:cNvPr id="40" name="Rule"/>
          <p:cNvSpPr/>
          <p:nvPr/>
        </p:nvSpPr>
        <p:spPr>
          <a:xfrm>
            <a:off x="8902690" y="4554444"/>
            <a:ext cx="2578059" cy="0"/>
          </a:xfrm>
          <a:prstGeom prst="line">
            <a:avLst/>
          </a:prstGeom>
          <a:noFill/>
          <a:ln w="6350">
            <a:solidFill>
              <a:srgbClr val="E3E6EC"/>
            </a:solidFill>
            <a:prstDash val="solid"/>
          </a:ln>
        </p:spPr>
      </p:sp>
      <p:sp>
        <p:nvSpPr>
          <p:cNvPr id="41" name="Rule"/>
          <p:cNvSpPr/>
          <p:nvPr/>
        </p:nvSpPr>
        <p:spPr>
          <a:xfrm>
            <a:off x="711220" y="5132253"/>
            <a:ext cx="1270010" cy="0"/>
          </a:xfrm>
          <a:prstGeom prst="line">
            <a:avLst/>
          </a:prstGeom>
          <a:noFill/>
          <a:ln w="6350">
            <a:solidFill>
              <a:srgbClr val="E3E6EC"/>
            </a:solidFill>
            <a:prstDash val="solid"/>
          </a:ln>
        </p:spPr>
      </p:sp>
      <p:sp>
        <p:nvSpPr>
          <p:cNvPr id="42" name="Rule"/>
          <p:cNvSpPr/>
          <p:nvPr/>
        </p:nvSpPr>
        <p:spPr>
          <a:xfrm>
            <a:off x="1981230" y="5132253"/>
            <a:ext cx="1524030" cy="0"/>
          </a:xfrm>
          <a:prstGeom prst="line">
            <a:avLst/>
          </a:prstGeom>
          <a:noFill/>
          <a:ln w="6350">
            <a:solidFill>
              <a:srgbClr val="E3E6EC"/>
            </a:solidFill>
            <a:prstDash val="solid"/>
          </a:ln>
        </p:spPr>
      </p:sp>
      <p:sp>
        <p:nvSpPr>
          <p:cNvPr id="43" name="Rule"/>
          <p:cNvSpPr/>
          <p:nvPr/>
        </p:nvSpPr>
        <p:spPr>
          <a:xfrm>
            <a:off x="3505170" y="5132253"/>
            <a:ext cx="3301990" cy="0"/>
          </a:xfrm>
          <a:prstGeom prst="line">
            <a:avLst/>
          </a:prstGeom>
          <a:noFill/>
          <a:ln w="6350">
            <a:solidFill>
              <a:srgbClr val="E3E6EC"/>
            </a:solidFill>
            <a:prstDash val="solid"/>
          </a:ln>
        </p:spPr>
      </p:sp>
      <p:sp>
        <p:nvSpPr>
          <p:cNvPr id="44" name="Rule"/>
          <p:cNvSpPr/>
          <p:nvPr/>
        </p:nvSpPr>
        <p:spPr>
          <a:xfrm>
            <a:off x="6807159" y="5132253"/>
            <a:ext cx="2095530" cy="0"/>
          </a:xfrm>
          <a:prstGeom prst="line">
            <a:avLst/>
          </a:prstGeom>
          <a:noFill/>
          <a:ln w="6350">
            <a:solidFill>
              <a:srgbClr val="E3E6EC"/>
            </a:solidFill>
            <a:prstDash val="solid"/>
          </a:ln>
        </p:spPr>
      </p:sp>
      <p:sp>
        <p:nvSpPr>
          <p:cNvPr id="45" name="tag"/>
          <p:cNvSpPr/>
          <p:nvPr/>
        </p:nvSpPr>
        <p:spPr>
          <a:xfrm>
            <a:off x="6810360" y="4646524"/>
            <a:ext cx="1179485" cy="177759"/>
          </a:xfrm>
          <a:prstGeom prst="roundRect">
            <a:avLst>
              <a:gd name="adj" fmla="val 50000"/>
            </a:avLst>
          </a:prstGeom>
          <a:solidFill>
            <a:srgbClr val="FFFFFF"/>
          </a:solidFill>
          <a:ln w="6350">
            <a:solidFill>
              <a:srgbClr val="E3E6EC"/>
            </a:solidFill>
            <a:prstDash val="solid"/>
          </a:ln>
        </p:spPr>
      </p:sp>
      <p:sp>
        <p:nvSpPr>
          <p:cNvPr id="46" name="tag"/>
          <p:cNvSpPr/>
          <p:nvPr/>
        </p:nvSpPr>
        <p:spPr>
          <a:xfrm>
            <a:off x="8034376" y="4646524"/>
            <a:ext cx="736641" cy="177759"/>
          </a:xfrm>
          <a:prstGeom prst="roundRect">
            <a:avLst>
              <a:gd name="adj" fmla="val 50000"/>
            </a:avLst>
          </a:prstGeom>
          <a:solidFill>
            <a:srgbClr val="FFFFFF"/>
          </a:solidFill>
          <a:ln w="6350">
            <a:solidFill>
              <a:srgbClr val="E3E6EC"/>
            </a:solidFill>
            <a:prstDash val="solid"/>
          </a:ln>
        </p:spPr>
      </p:sp>
      <p:sp>
        <p:nvSpPr>
          <p:cNvPr id="47" name="tag"/>
          <p:cNvSpPr/>
          <p:nvPr/>
        </p:nvSpPr>
        <p:spPr>
          <a:xfrm>
            <a:off x="6810360" y="4868723"/>
            <a:ext cx="450251" cy="177759"/>
          </a:xfrm>
          <a:prstGeom prst="roundRect">
            <a:avLst>
              <a:gd name="adj" fmla="val 50000"/>
            </a:avLst>
          </a:prstGeom>
          <a:solidFill>
            <a:srgbClr val="FFFFFF"/>
          </a:solidFill>
          <a:ln w="6350">
            <a:solidFill>
              <a:srgbClr val="E3E6EC"/>
            </a:solidFill>
            <a:prstDash val="solid"/>
          </a:ln>
        </p:spPr>
      </p:sp>
      <p:sp>
        <p:nvSpPr>
          <p:cNvPr id="48" name="Rule"/>
          <p:cNvSpPr/>
          <p:nvPr/>
        </p:nvSpPr>
        <p:spPr>
          <a:xfrm>
            <a:off x="8902690" y="5132253"/>
            <a:ext cx="2578059" cy="0"/>
          </a:xfrm>
          <a:prstGeom prst="line">
            <a:avLst/>
          </a:prstGeom>
          <a:noFill/>
          <a:ln w="6350">
            <a:solidFill>
              <a:srgbClr val="E3E6EC"/>
            </a:solidFill>
            <a:prstDash val="solid"/>
          </a:ln>
        </p:spPr>
      </p:sp>
      <p:sp>
        <p:nvSpPr>
          <p:cNvPr id="49" name="tag"/>
          <p:cNvSpPr/>
          <p:nvPr/>
        </p:nvSpPr>
        <p:spPr>
          <a:xfrm>
            <a:off x="6810360" y="5224333"/>
            <a:ext cx="535381" cy="177759"/>
          </a:xfrm>
          <a:prstGeom prst="roundRect">
            <a:avLst>
              <a:gd name="adj" fmla="val 50000"/>
            </a:avLst>
          </a:prstGeom>
          <a:solidFill>
            <a:srgbClr val="FFFFFF"/>
          </a:solidFill>
          <a:ln w="6350">
            <a:solidFill>
              <a:srgbClr val="E3E6EC"/>
            </a:solidFill>
            <a:prstDash val="solid"/>
          </a:ln>
        </p:spPr>
      </p:sp>
      <p:sp>
        <p:nvSpPr>
          <p:cNvPr id="50" name="tag"/>
          <p:cNvSpPr/>
          <p:nvPr/>
        </p:nvSpPr>
        <p:spPr>
          <a:xfrm>
            <a:off x="7390181" y="5224333"/>
            <a:ext cx="896203" cy="177759"/>
          </a:xfrm>
          <a:prstGeom prst="roundRect">
            <a:avLst>
              <a:gd name="adj" fmla="val 50000"/>
            </a:avLst>
          </a:prstGeom>
          <a:solidFill>
            <a:srgbClr val="FFFFFF"/>
          </a:solidFill>
          <a:ln w="6350">
            <a:solidFill>
              <a:srgbClr val="E3E6EC"/>
            </a:solidFill>
            <a:prstDash val="solid"/>
          </a:ln>
        </p:spPr>
      </p:sp>
      <p:sp>
        <p:nvSpPr>
          <p:cNvPr id="51" name="tag"/>
          <p:cNvSpPr/>
          <p:nvPr/>
        </p:nvSpPr>
        <p:spPr>
          <a:xfrm>
            <a:off x="6810360" y="5446624"/>
            <a:ext cx="1319571" cy="177759"/>
          </a:xfrm>
          <a:prstGeom prst="roundRect">
            <a:avLst>
              <a:gd name="adj" fmla="val 50000"/>
            </a:avLst>
          </a:prstGeom>
          <a:solidFill>
            <a:srgbClr val="FFFFFF"/>
          </a:solidFill>
          <a:ln w="6350">
            <a:solidFill>
              <a:srgbClr val="E3E6EC"/>
            </a:solidFill>
            <a:prstDash val="solid"/>
          </a:ln>
        </p:spPr>
      </p:sp>
      <p:sp>
        <p:nvSpPr>
          <p:cNvPr id="52" name="span::before"/>
          <p:cNvSpPr/>
          <p:nvPr/>
        </p:nvSpPr>
        <p:spPr>
          <a:xfrm>
            <a:off x="6191860" y="311170"/>
            <a:ext cx="44440" cy="44440"/>
          </a:xfrm>
          <a:prstGeom prst="rect">
            <a:avLst/>
          </a:prstGeom>
          <a:solidFill>
            <a:srgbClr val="A0A6AF">
              <a:alpha val="55000"/>
            </a:srgbClr>
          </a:solidFill>
          <a:ln/>
        </p:spPr>
      </p:sp>
      <p:sp>
        <p:nvSpPr>
          <p:cNvPr id="53" name="span::before"/>
          <p:cNvSpPr/>
          <p:nvPr/>
        </p:nvSpPr>
        <p:spPr>
          <a:xfrm>
            <a:off x="7145213" y="311170"/>
            <a:ext cx="44440" cy="44440"/>
          </a:xfrm>
          <a:prstGeom prst="rect">
            <a:avLst/>
          </a:prstGeom>
          <a:solidFill>
            <a:srgbClr val="A0A6AF">
              <a:alpha val="55000"/>
            </a:srgbClr>
          </a:solidFill>
          <a:ln/>
        </p:spPr>
      </p:sp>
      <p:sp>
        <p:nvSpPr>
          <p:cNvPr id="54" name="span::before"/>
          <p:cNvSpPr/>
          <p:nvPr/>
        </p:nvSpPr>
        <p:spPr>
          <a:xfrm>
            <a:off x="8056230" y="311170"/>
            <a:ext cx="44440" cy="44440"/>
          </a:xfrm>
          <a:prstGeom prst="rect">
            <a:avLst/>
          </a:prstGeom>
          <a:solidFill>
            <a:srgbClr val="A0A6AF">
              <a:alpha val="55000"/>
            </a:srgbClr>
          </a:solidFill>
          <a:ln/>
        </p:spPr>
      </p:sp>
      <p:sp>
        <p:nvSpPr>
          <p:cNvPr id="55" name="on::before"/>
          <p:cNvSpPr/>
          <p:nvPr/>
        </p:nvSpPr>
        <p:spPr>
          <a:xfrm>
            <a:off x="8972550" y="311170"/>
            <a:ext cx="44440" cy="44440"/>
          </a:xfrm>
          <a:prstGeom prst="rect">
            <a:avLst/>
          </a:prstGeom>
          <a:solidFill>
            <a:srgbClr val="044BD9"/>
          </a:solidFill>
          <a:ln/>
        </p:spPr>
      </p:sp>
      <p:sp>
        <p:nvSpPr>
          <p:cNvPr id="56" name="span::before"/>
          <p:cNvSpPr/>
          <p:nvPr/>
        </p:nvSpPr>
        <p:spPr>
          <a:xfrm>
            <a:off x="10421142" y="311170"/>
            <a:ext cx="44440" cy="44440"/>
          </a:xfrm>
          <a:prstGeom prst="rect">
            <a:avLst/>
          </a:prstGeom>
          <a:solidFill>
            <a:srgbClr val="A0A6AF">
              <a:alpha val="55000"/>
            </a:srgbClr>
          </a:solidFill>
          <a:ln/>
        </p:spPr>
      </p:sp>
      <p:sp>
        <p:nvSpPr>
          <p:cNvPr id="57" name="span::before"/>
          <p:cNvSpPr/>
          <p:nvPr/>
        </p:nvSpPr>
        <p:spPr>
          <a:xfrm>
            <a:off x="10966216" y="311170"/>
            <a:ext cx="44440" cy="44440"/>
          </a:xfrm>
          <a:prstGeom prst="rect">
            <a:avLst/>
          </a:prstGeom>
          <a:solidFill>
            <a:srgbClr val="A0A6AF">
              <a:alpha val="55000"/>
            </a:srgbClr>
          </a:solidFill>
          <a:ln/>
        </p:spPr>
      </p:sp>
      <p:sp>
        <p:nvSpPr>
          <p:cNvPr id="58" name="Text"/>
          <p:cNvSpPr txBox="1"/>
          <p:nvPr/>
        </p:nvSpPr>
        <p:spPr>
          <a:xfrm>
            <a:off x="844540" y="603230"/>
            <a:ext cx="634136" cy="120609"/>
          </a:xfrm>
          <a:prstGeom prst="rect">
            <a:avLst/>
          </a:prstGeom>
          <a:noFill/>
          <a:ln/>
        </p:spPr>
        <p:txBody>
          <a:bodyPr wrap="none" lIns="0" tIns="0" rIns="0" bIns="0" rtlCol="0" anchor="t"/>
          <a:lstStyle/>
          <a:p>
            <a:pPr algn="l" indent="0" marL="0">
              <a:lnSpc>
                <a:spcPts val="950"/>
              </a:lnSpc>
              <a:buNone/>
            </a:pPr>
            <a:r>
              <a:rPr lang="en-US" sz="950" spc="10" kern="0" dirty="0">
                <a:solidFill>
                  <a:srgbClr val="155DFC"/>
                </a:solidFill>
                <a:latin typeface="Poppins Medium" pitchFamily="34" charset="0"/>
                <a:ea typeface="Poppins Medium" pitchFamily="34" charset="-122"/>
                <a:cs typeface="Poppins Medium" pitchFamily="34" charset="-120"/>
              </a:rPr>
              <a:t>Industries</a:t>
            </a:r>
            <a:endParaRPr lang="en-US" sz="950" dirty="0"/>
          </a:p>
        </p:txBody>
      </p:sp>
      <p:sp>
        <p:nvSpPr>
          <p:cNvPr id="59" name="Title"/>
          <p:cNvSpPr txBox="1"/>
          <p:nvPr/>
        </p:nvSpPr>
        <p:spPr>
          <a:xfrm>
            <a:off x="711220" y="927750"/>
            <a:ext cx="9398020" cy="861090"/>
          </a:xfrm>
          <a:prstGeom prst="rect">
            <a:avLst/>
          </a:prstGeom>
          <a:noFill/>
          <a:ln/>
        </p:spPr>
        <p:txBody>
          <a:bodyPr wrap="square" lIns="0" tIns="0" rIns="0" bIns="0" rtlCol="0" anchor="t"/>
          <a:lstStyle/>
          <a:p>
            <a:pPr algn="l" indent="0" marL="0">
              <a:lnSpc>
                <a:spcPts val="3390"/>
              </a:lnSpc>
              <a:buNone/>
            </a:pPr>
            <a:r>
              <a:rPr lang="en-US" sz="3000" spc="-45" kern="0" dirty="0">
                <a:solidFill>
                  <a:srgbClr val="000000"/>
                </a:solidFill>
                <a:latin typeface="Poppins Medium" pitchFamily="34" charset="0"/>
                <a:ea typeface="Poppins Medium" pitchFamily="34" charset="-122"/>
                <a:cs typeface="Poppins Medium" pitchFamily="34" charset="-120"/>
              </a:rPr>
              <a:t>Work to show in six sectors, from a</a:t>
            </a:r>
            <a:endParaRPr lang="en-US" sz="3000" dirty="0"/>
          </a:p>
          <a:p>
            <a:pPr algn="l" indent="0" marL="0">
              <a:lnSpc>
                <a:spcPts val="3390"/>
              </a:lnSpc>
              <a:buNone/>
            </a:pPr>
            <a:r>
              <a:rPr lang="en-US" sz="3000" spc="-45" kern="0" dirty="0">
                <a:solidFill>
                  <a:srgbClr val="000000"/>
                </a:solidFill>
                <a:latin typeface="Poppins Medium" pitchFamily="34" charset="0"/>
                <a:ea typeface="Poppins Medium" pitchFamily="34" charset="-122"/>
                <a:cs typeface="Poppins Medium" pitchFamily="34" charset="-120"/>
              </a:rPr>
              <a:t>36-year-old law firm to a Vietnamese insurer</a:t>
            </a:r>
            <a:endParaRPr lang="en-US" sz="3000" dirty="0"/>
          </a:p>
        </p:txBody>
      </p:sp>
      <p:sp>
        <p:nvSpPr>
          <p:cNvPr id="60" name="Text"/>
          <p:cNvSpPr txBox="1"/>
          <p:nvPr/>
        </p:nvSpPr>
        <p:spPr>
          <a:xfrm>
            <a:off x="711220" y="2071848"/>
            <a:ext cx="1160282" cy="156545"/>
          </a:xfrm>
          <a:prstGeom prst="rect">
            <a:avLst/>
          </a:prstGeom>
          <a:noFill/>
          <a:ln/>
        </p:spPr>
        <p:txBody>
          <a:bodyPr wrap="square" lIns="0" tIns="0" rIns="0" bIns="0" rtlCol="0" anchor="t"/>
          <a:lstStyle/>
          <a:p>
            <a:pPr algn="l" indent="0" marL="0">
              <a:lnSpc>
                <a:spcPts val="1232"/>
              </a:lnSpc>
              <a:buNone/>
            </a:pPr>
            <a:r>
              <a:rPr lang="en-US" sz="850" spc="17" kern="0" dirty="0">
                <a:solidFill>
                  <a:srgbClr val="6B6B6B"/>
                </a:solidFill>
                <a:latin typeface="Poppins Medium" pitchFamily="34" charset="0"/>
                <a:ea typeface="Poppins Medium" pitchFamily="34" charset="-122"/>
                <a:cs typeface="Poppins Medium" pitchFamily="34" charset="-120"/>
              </a:rPr>
              <a:t>Sector</a:t>
            </a:r>
            <a:endParaRPr lang="en-US" sz="850" dirty="0"/>
          </a:p>
        </p:txBody>
      </p:sp>
      <p:sp>
        <p:nvSpPr>
          <p:cNvPr id="61" name="Text"/>
          <p:cNvSpPr txBox="1"/>
          <p:nvPr/>
        </p:nvSpPr>
        <p:spPr>
          <a:xfrm>
            <a:off x="1981230" y="2071848"/>
            <a:ext cx="1415308" cy="156545"/>
          </a:xfrm>
          <a:prstGeom prst="rect">
            <a:avLst/>
          </a:prstGeom>
          <a:noFill/>
          <a:ln/>
        </p:spPr>
        <p:txBody>
          <a:bodyPr wrap="square" lIns="0" tIns="0" rIns="0" bIns="0" rtlCol="0" anchor="t"/>
          <a:lstStyle/>
          <a:p>
            <a:pPr algn="l" indent="0" marL="0">
              <a:lnSpc>
                <a:spcPts val="1232"/>
              </a:lnSpc>
              <a:buNone/>
            </a:pPr>
            <a:r>
              <a:rPr lang="en-US" sz="850" spc="17" kern="0" dirty="0">
                <a:solidFill>
                  <a:srgbClr val="6B6B6B"/>
                </a:solidFill>
                <a:latin typeface="Poppins Medium" pitchFamily="34" charset="0"/>
                <a:ea typeface="Poppins Medium" pitchFamily="34" charset="-122"/>
                <a:cs typeface="Poppins Medium" pitchFamily="34" charset="-120"/>
              </a:rPr>
              <a:t>Client</a:t>
            </a:r>
            <a:endParaRPr lang="en-US" sz="850" dirty="0"/>
          </a:p>
        </p:txBody>
      </p:sp>
      <p:sp>
        <p:nvSpPr>
          <p:cNvPr id="62" name="Text"/>
          <p:cNvSpPr txBox="1"/>
          <p:nvPr/>
        </p:nvSpPr>
        <p:spPr>
          <a:xfrm>
            <a:off x="3505170" y="2071848"/>
            <a:ext cx="3200400" cy="156545"/>
          </a:xfrm>
          <a:prstGeom prst="rect">
            <a:avLst/>
          </a:prstGeom>
          <a:noFill/>
          <a:ln/>
        </p:spPr>
        <p:txBody>
          <a:bodyPr wrap="square" lIns="0" tIns="0" rIns="0" bIns="0" rtlCol="0" anchor="t"/>
          <a:lstStyle/>
          <a:p>
            <a:pPr algn="l" indent="0" marL="0">
              <a:lnSpc>
                <a:spcPts val="1232"/>
              </a:lnSpc>
              <a:buNone/>
            </a:pPr>
            <a:r>
              <a:rPr lang="en-US" sz="850" spc="17" kern="0" dirty="0">
                <a:solidFill>
                  <a:srgbClr val="6B6B6B"/>
                </a:solidFill>
                <a:latin typeface="Poppins Medium" pitchFamily="34" charset="0"/>
                <a:ea typeface="Poppins Medium" pitchFamily="34" charset="-122"/>
                <a:cs typeface="Poppins Medium" pitchFamily="34" charset="-120"/>
              </a:rPr>
              <a:t>What ALPHV built</a:t>
            </a:r>
            <a:endParaRPr lang="en-US" sz="850" dirty="0"/>
          </a:p>
        </p:txBody>
      </p:sp>
      <p:sp>
        <p:nvSpPr>
          <p:cNvPr id="63" name="Text"/>
          <p:cNvSpPr txBox="1"/>
          <p:nvPr/>
        </p:nvSpPr>
        <p:spPr>
          <a:xfrm>
            <a:off x="6807159" y="2071848"/>
            <a:ext cx="1989094" cy="156545"/>
          </a:xfrm>
          <a:prstGeom prst="rect">
            <a:avLst/>
          </a:prstGeom>
          <a:noFill/>
          <a:ln/>
        </p:spPr>
        <p:txBody>
          <a:bodyPr wrap="square" lIns="0" tIns="0" rIns="0" bIns="0" rtlCol="0" anchor="t"/>
          <a:lstStyle/>
          <a:p>
            <a:pPr algn="l" indent="0" marL="0">
              <a:lnSpc>
                <a:spcPts val="1232"/>
              </a:lnSpc>
              <a:buNone/>
            </a:pPr>
            <a:r>
              <a:rPr lang="en-US" sz="850" spc="17" kern="0" dirty="0">
                <a:solidFill>
                  <a:srgbClr val="6B6B6B"/>
                </a:solidFill>
                <a:latin typeface="Poppins Medium" pitchFamily="34" charset="0"/>
                <a:ea typeface="Poppins Medium" pitchFamily="34" charset="-122"/>
                <a:cs typeface="Poppins Medium" pitchFamily="34" charset="-120"/>
              </a:rPr>
              <a:t>Models and systems</a:t>
            </a:r>
            <a:endParaRPr lang="en-US" sz="850" dirty="0"/>
          </a:p>
        </p:txBody>
      </p:sp>
      <p:sp>
        <p:nvSpPr>
          <p:cNvPr id="64" name="Text"/>
          <p:cNvSpPr txBox="1"/>
          <p:nvPr/>
        </p:nvSpPr>
        <p:spPr>
          <a:xfrm>
            <a:off x="8902690" y="2071848"/>
            <a:ext cx="2473635" cy="156545"/>
          </a:xfrm>
          <a:prstGeom prst="rect">
            <a:avLst/>
          </a:prstGeom>
          <a:noFill/>
          <a:ln/>
        </p:spPr>
        <p:txBody>
          <a:bodyPr wrap="square" lIns="0" tIns="0" rIns="0" bIns="0" rtlCol="0" anchor="t"/>
          <a:lstStyle/>
          <a:p>
            <a:pPr algn="l" indent="0" marL="0">
              <a:lnSpc>
                <a:spcPts val="1232"/>
              </a:lnSpc>
              <a:buNone/>
            </a:pPr>
            <a:r>
              <a:rPr lang="en-US" sz="850" spc="17" kern="0" dirty="0">
                <a:solidFill>
                  <a:srgbClr val="6B6B6B"/>
                </a:solidFill>
                <a:latin typeface="Poppins Medium" pitchFamily="34" charset="0"/>
                <a:ea typeface="Poppins Medium" pitchFamily="34" charset="-122"/>
                <a:cs typeface="Poppins Medium" pitchFamily="34" charset="-120"/>
              </a:rPr>
              <a:t>Proof</a:t>
            </a:r>
            <a:endParaRPr lang="en-US" sz="850" dirty="0"/>
          </a:p>
        </p:txBody>
      </p:sp>
      <p:sp>
        <p:nvSpPr>
          <p:cNvPr id="65" name="Text"/>
          <p:cNvSpPr txBox="1"/>
          <p:nvPr/>
        </p:nvSpPr>
        <p:spPr>
          <a:xfrm>
            <a:off x="711220" y="2404963"/>
            <a:ext cx="1160282" cy="184160"/>
          </a:xfrm>
          <a:prstGeom prst="rect">
            <a:avLst/>
          </a:prstGeom>
          <a:noFill/>
          <a:ln/>
        </p:spPr>
        <p:txBody>
          <a:bodyPr wrap="square" lIns="0" tIns="0" rIns="0" bIns="0" rtlCol="0" anchor="t"/>
          <a:lstStyle/>
          <a:p>
            <a:pPr algn="l" indent="0" marL="0">
              <a:lnSpc>
                <a:spcPts val="1450"/>
              </a:lnSpc>
              <a:buNone/>
            </a:pPr>
            <a:r>
              <a:rPr lang="en-US" sz="1000" dirty="0">
                <a:solidFill>
                  <a:srgbClr val="000000"/>
                </a:solidFill>
                <a:latin typeface="Poppins Medium" pitchFamily="34" charset="0"/>
                <a:ea typeface="Poppins Medium" pitchFamily="34" charset="-122"/>
                <a:cs typeface="Poppins Medium" pitchFamily="34" charset="-120"/>
              </a:rPr>
              <a:t>Legal</a:t>
            </a:r>
            <a:endParaRPr lang="en-US" sz="1000" dirty="0"/>
          </a:p>
        </p:txBody>
      </p:sp>
      <p:sp>
        <p:nvSpPr>
          <p:cNvPr id="66" name="Text"/>
          <p:cNvSpPr txBox="1"/>
          <p:nvPr/>
        </p:nvSpPr>
        <p:spPr>
          <a:xfrm>
            <a:off x="1981230" y="2404963"/>
            <a:ext cx="1415308" cy="368320"/>
          </a:xfrm>
          <a:prstGeom prst="rect">
            <a:avLst/>
          </a:prstGeom>
          <a:noFill/>
          <a:ln/>
        </p:spPr>
        <p:txBody>
          <a:bodyPr wrap="square" lIns="0" tIns="0" rIns="0" bIns="0" rtlCol="0" anchor="t"/>
          <a:lstStyle/>
          <a:p>
            <a:pPr algn="l" indent="0" marL="0">
              <a:lnSpc>
                <a:spcPts val="1450"/>
              </a:lnSpc>
              <a:buNone/>
            </a:pPr>
            <a:r>
              <a:rPr lang="en-US" sz="1000" dirty="0">
                <a:solidFill>
                  <a:srgbClr val="1F2937"/>
                </a:solidFill>
                <a:latin typeface="Poppins Light" pitchFamily="34" charset="0"/>
                <a:ea typeface="Poppins Light" pitchFamily="34" charset="-122"/>
                <a:cs typeface="Poppins Light" pitchFamily="34" charset="-120"/>
              </a:rPr>
              <a:t>Abraham Ooi &amp; Partners, 2025</a:t>
            </a:r>
            <a:endParaRPr lang="en-US" sz="1000" dirty="0"/>
          </a:p>
        </p:txBody>
      </p:sp>
      <p:sp>
        <p:nvSpPr>
          <p:cNvPr id="67" name="Text"/>
          <p:cNvSpPr txBox="1"/>
          <p:nvPr/>
        </p:nvSpPr>
        <p:spPr>
          <a:xfrm>
            <a:off x="3505170" y="2404963"/>
            <a:ext cx="3200400" cy="368320"/>
          </a:xfrm>
          <a:prstGeom prst="rect">
            <a:avLst/>
          </a:prstGeom>
          <a:noFill/>
          <a:ln/>
        </p:spPr>
        <p:txBody>
          <a:bodyPr wrap="square" lIns="0" tIns="0" rIns="0" bIns="0" rtlCol="0" anchor="t"/>
          <a:lstStyle/>
          <a:p>
            <a:pPr algn="l" indent="0" marL="0">
              <a:lnSpc>
                <a:spcPts val="1450"/>
              </a:lnSpc>
              <a:buNone/>
            </a:pPr>
            <a:r>
              <a:rPr lang="en-US" sz="1000" dirty="0">
                <a:solidFill>
                  <a:srgbClr val="1F2937"/>
                </a:solidFill>
                <a:latin typeface="Poppins Light" pitchFamily="34" charset="0"/>
                <a:ea typeface="Poppins Light" pitchFamily="34" charset="-122"/>
                <a:cs typeface="Poppins Light" pitchFamily="34" charset="-120"/>
              </a:rPr>
              <a:t>One platform for case management, back office and accounting, replacing legacy</a:t>
            </a:r>
            <a:endParaRPr lang="en-US" sz="1000" dirty="0"/>
          </a:p>
        </p:txBody>
      </p:sp>
      <p:sp>
        <p:nvSpPr>
          <p:cNvPr id="68" name="Text"/>
          <p:cNvSpPr txBox="1"/>
          <p:nvPr/>
        </p:nvSpPr>
        <p:spPr>
          <a:xfrm>
            <a:off x="6883420" y="2443094"/>
            <a:ext cx="336133" cy="107991"/>
          </a:xfrm>
          <a:prstGeom prst="rect">
            <a:avLst/>
          </a:prstGeom>
          <a:noFill/>
          <a:ln/>
        </p:spPr>
        <p:txBody>
          <a:bodyPr wrap="none" lIns="0" tIns="0" rIns="0" bIns="0" rtlCol="0" anchor="t"/>
          <a:lstStyle/>
          <a:p>
            <a:pPr algn="l" indent="0" marL="0">
              <a:lnSpc>
                <a:spcPts val="850"/>
              </a:lnSpc>
              <a:buNone/>
            </a:pPr>
            <a:r>
              <a:rPr lang="en-US" sz="850" dirty="0">
                <a:solidFill>
                  <a:srgbClr val="1F2937"/>
                </a:solidFill>
                <a:latin typeface="Poppins Medium" pitchFamily="34" charset="0"/>
                <a:ea typeface="Poppins Medium" pitchFamily="34" charset="-122"/>
                <a:cs typeface="Poppins Medium" pitchFamily="34" charset="-120"/>
              </a:rPr>
              <a:t>Qwen</a:t>
            </a:r>
            <a:endParaRPr lang="en-US" sz="850" dirty="0"/>
          </a:p>
        </p:txBody>
      </p:sp>
      <p:sp>
        <p:nvSpPr>
          <p:cNvPr id="69" name="Text"/>
          <p:cNvSpPr txBox="1"/>
          <p:nvPr/>
        </p:nvSpPr>
        <p:spPr>
          <a:xfrm>
            <a:off x="7384694" y="2443094"/>
            <a:ext cx="639348" cy="107991"/>
          </a:xfrm>
          <a:prstGeom prst="rect">
            <a:avLst/>
          </a:prstGeom>
          <a:noFill/>
          <a:ln/>
        </p:spPr>
        <p:txBody>
          <a:bodyPr wrap="none" lIns="0" tIns="0" rIns="0" bIns="0" rtlCol="0" anchor="t"/>
          <a:lstStyle/>
          <a:p>
            <a:pPr algn="l" indent="0" marL="0">
              <a:lnSpc>
                <a:spcPts val="850"/>
              </a:lnSpc>
              <a:buNone/>
            </a:pPr>
            <a:r>
              <a:rPr lang="en-US" sz="850" dirty="0">
                <a:solidFill>
                  <a:srgbClr val="1F2937"/>
                </a:solidFill>
                <a:latin typeface="Poppins Medium" pitchFamily="34" charset="0"/>
                <a:ea typeface="Poppins Medium" pitchFamily="34" charset="-122"/>
                <a:cs typeface="Poppins Medium" pitchFamily="34" charset="-120"/>
              </a:rPr>
              <a:t>GenAI-RAG</a:t>
            </a:r>
            <a:endParaRPr lang="en-US" sz="850" dirty="0"/>
          </a:p>
        </p:txBody>
      </p:sp>
      <p:sp>
        <p:nvSpPr>
          <p:cNvPr id="70" name="Text"/>
          <p:cNvSpPr txBox="1"/>
          <p:nvPr/>
        </p:nvSpPr>
        <p:spPr>
          <a:xfrm>
            <a:off x="6883420" y="2665293"/>
            <a:ext cx="679765" cy="107991"/>
          </a:xfrm>
          <a:prstGeom prst="rect">
            <a:avLst/>
          </a:prstGeom>
          <a:noFill/>
          <a:ln/>
        </p:spPr>
        <p:txBody>
          <a:bodyPr wrap="none" lIns="0" tIns="0" rIns="0" bIns="0" rtlCol="0" anchor="t"/>
          <a:lstStyle/>
          <a:p>
            <a:pPr algn="l" indent="0" marL="0">
              <a:lnSpc>
                <a:spcPts val="850"/>
              </a:lnSpc>
              <a:buNone/>
            </a:pPr>
            <a:r>
              <a:rPr lang="en-US" sz="850" dirty="0">
                <a:solidFill>
                  <a:srgbClr val="1F2937"/>
                </a:solidFill>
                <a:latin typeface="Poppins Medium" pitchFamily="34" charset="0"/>
                <a:ea typeface="Poppins Medium" pitchFamily="34" charset="-122"/>
                <a:cs typeface="Poppins Medium" pitchFamily="34" charset="-120"/>
              </a:rPr>
              <a:t>Agentic RPA</a:t>
            </a:r>
            <a:endParaRPr lang="en-US" sz="850" dirty="0"/>
          </a:p>
        </p:txBody>
      </p:sp>
      <p:sp>
        <p:nvSpPr>
          <p:cNvPr id="71" name="Text"/>
          <p:cNvSpPr txBox="1"/>
          <p:nvPr/>
        </p:nvSpPr>
        <p:spPr>
          <a:xfrm>
            <a:off x="7728234" y="2665293"/>
            <a:ext cx="637154" cy="107991"/>
          </a:xfrm>
          <a:prstGeom prst="rect">
            <a:avLst/>
          </a:prstGeom>
          <a:noFill/>
          <a:ln/>
        </p:spPr>
        <p:txBody>
          <a:bodyPr wrap="none" lIns="0" tIns="0" rIns="0" bIns="0" rtlCol="0" anchor="t"/>
          <a:lstStyle/>
          <a:p>
            <a:pPr algn="l" indent="0" marL="0">
              <a:lnSpc>
                <a:spcPts val="850"/>
              </a:lnSpc>
              <a:buNone/>
            </a:pPr>
            <a:r>
              <a:rPr lang="en-US" sz="850" dirty="0">
                <a:solidFill>
                  <a:srgbClr val="1F2937"/>
                </a:solidFill>
                <a:latin typeface="Poppins Medium" pitchFamily="34" charset="0"/>
                <a:ea typeface="Poppins Medium" pitchFamily="34" charset="-122"/>
                <a:cs typeface="Poppins Medium" pitchFamily="34" charset="-120"/>
              </a:rPr>
              <a:t>NVIDIA GPU</a:t>
            </a:r>
            <a:endParaRPr lang="en-US" sz="850" dirty="0"/>
          </a:p>
        </p:txBody>
      </p:sp>
      <p:sp>
        <p:nvSpPr>
          <p:cNvPr id="72" name="Text"/>
          <p:cNvSpPr txBox="1"/>
          <p:nvPr/>
        </p:nvSpPr>
        <p:spPr>
          <a:xfrm>
            <a:off x="8902690" y="2404963"/>
            <a:ext cx="2473635" cy="368320"/>
          </a:xfrm>
          <a:prstGeom prst="rect">
            <a:avLst/>
          </a:prstGeom>
          <a:noFill/>
          <a:ln/>
        </p:spPr>
        <p:txBody>
          <a:bodyPr wrap="square" lIns="0" tIns="0" rIns="0" bIns="0" rtlCol="0" anchor="t"/>
          <a:lstStyle/>
          <a:p>
            <a:pPr algn="l" indent="0" marL="0">
              <a:lnSpc>
                <a:spcPts val="1450"/>
              </a:lnSpc>
              <a:buNone/>
            </a:pPr>
            <a:r>
              <a:rPr lang="en-US" sz="1000" dirty="0">
                <a:solidFill>
                  <a:srgbClr val="044BD9"/>
                </a:solidFill>
                <a:latin typeface="Poppins Medium" pitchFamily="34" charset="0"/>
                <a:ea typeface="Poppins Medium" pitchFamily="34" charset="-122"/>
                <a:cs typeface="Poppins Medium" pitchFamily="34" charset="-120"/>
              </a:rPr>
              <a:t>90+</a:t>
            </a:r>
            <a:pPr algn="l" indent="0" marL="0">
              <a:lnSpc>
                <a:spcPts val="1450"/>
              </a:lnSpc>
              <a:buNone/>
            </a:pPr>
            <a:r>
              <a:rPr lang="en-US" sz="1000" dirty="0">
                <a:solidFill>
                  <a:srgbClr val="1F2937"/>
                </a:solidFill>
                <a:latin typeface="Poppins Light" pitchFamily="34" charset="0"/>
                <a:ea typeface="Poppins Light" pitchFamily="34" charset="-122"/>
                <a:cs typeface="Poppins Light" pitchFamily="34" charset="-120"/>
              </a:rPr>
              <a:t> third-party portal automations; client data stays inside the firm</a:t>
            </a:r>
            <a:endParaRPr lang="en-US" sz="1000" dirty="0"/>
          </a:p>
        </p:txBody>
      </p:sp>
      <p:sp>
        <p:nvSpPr>
          <p:cNvPr id="73" name="Text"/>
          <p:cNvSpPr txBox="1"/>
          <p:nvPr/>
        </p:nvSpPr>
        <p:spPr>
          <a:xfrm>
            <a:off x="711220" y="2982773"/>
            <a:ext cx="1160282" cy="184160"/>
          </a:xfrm>
          <a:prstGeom prst="rect">
            <a:avLst/>
          </a:prstGeom>
          <a:noFill/>
          <a:ln/>
        </p:spPr>
        <p:txBody>
          <a:bodyPr wrap="square" lIns="0" tIns="0" rIns="0" bIns="0" rtlCol="0" anchor="t"/>
          <a:lstStyle/>
          <a:p>
            <a:pPr algn="l" indent="0" marL="0">
              <a:lnSpc>
                <a:spcPts val="1450"/>
              </a:lnSpc>
              <a:buNone/>
            </a:pPr>
            <a:r>
              <a:rPr lang="en-US" sz="1000" dirty="0">
                <a:solidFill>
                  <a:srgbClr val="000000"/>
                </a:solidFill>
                <a:latin typeface="Poppins Medium" pitchFamily="34" charset="0"/>
                <a:ea typeface="Poppins Medium" pitchFamily="34" charset="-122"/>
                <a:cs typeface="Poppins Medium" pitchFamily="34" charset="-120"/>
              </a:rPr>
              <a:t>Insurance</a:t>
            </a:r>
            <a:endParaRPr lang="en-US" sz="1000" dirty="0"/>
          </a:p>
        </p:txBody>
      </p:sp>
      <p:sp>
        <p:nvSpPr>
          <p:cNvPr id="74" name="Text"/>
          <p:cNvSpPr txBox="1"/>
          <p:nvPr/>
        </p:nvSpPr>
        <p:spPr>
          <a:xfrm>
            <a:off x="1981230" y="2982773"/>
            <a:ext cx="1415308" cy="368320"/>
          </a:xfrm>
          <a:prstGeom prst="rect">
            <a:avLst/>
          </a:prstGeom>
          <a:noFill/>
          <a:ln/>
        </p:spPr>
        <p:txBody>
          <a:bodyPr wrap="square" lIns="0" tIns="0" rIns="0" bIns="0" rtlCol="0" anchor="t"/>
          <a:lstStyle/>
          <a:p>
            <a:pPr algn="l" indent="0" marL="0">
              <a:lnSpc>
                <a:spcPts val="1450"/>
              </a:lnSpc>
              <a:buNone/>
            </a:pPr>
            <a:r>
              <a:rPr lang="en-US" sz="1000" dirty="0">
                <a:solidFill>
                  <a:srgbClr val="1F2937"/>
                </a:solidFill>
                <a:latin typeface="Poppins Light" pitchFamily="34" charset="0"/>
                <a:ea typeface="Poppins Light" pitchFamily="34" charset="-122"/>
                <a:cs typeface="Poppins Light" pitchFamily="34" charset="-120"/>
              </a:rPr>
              <a:t>Tasco Insurance, Vietnam</a:t>
            </a:r>
            <a:endParaRPr lang="en-US" sz="1000" dirty="0"/>
          </a:p>
        </p:txBody>
      </p:sp>
      <p:sp>
        <p:nvSpPr>
          <p:cNvPr id="75" name="Text"/>
          <p:cNvSpPr txBox="1"/>
          <p:nvPr/>
        </p:nvSpPr>
        <p:spPr>
          <a:xfrm>
            <a:off x="3505170" y="2982773"/>
            <a:ext cx="3200400" cy="368320"/>
          </a:xfrm>
          <a:prstGeom prst="rect">
            <a:avLst/>
          </a:prstGeom>
          <a:noFill/>
          <a:ln/>
        </p:spPr>
        <p:txBody>
          <a:bodyPr wrap="square" lIns="0" tIns="0" rIns="0" bIns="0" rtlCol="0" anchor="t"/>
          <a:lstStyle/>
          <a:p>
            <a:pPr algn="l" indent="0" marL="0">
              <a:lnSpc>
                <a:spcPts val="1450"/>
              </a:lnSpc>
              <a:buNone/>
            </a:pPr>
            <a:r>
              <a:rPr lang="en-US" sz="1000" dirty="0">
                <a:solidFill>
                  <a:srgbClr val="1F2937"/>
                </a:solidFill>
                <a:latin typeface="Poppins Light" pitchFamily="34" charset="0"/>
                <a:ea typeface="Poppins Light" pitchFamily="34" charset="-122"/>
                <a:cs typeface="Poppins Light" pitchFamily="34" charset="-120"/>
              </a:rPr>
              <a:t>A multimodal case system that assesses asset damage from images and video</a:t>
            </a:r>
            <a:endParaRPr lang="en-US" sz="1000" dirty="0"/>
          </a:p>
        </p:txBody>
      </p:sp>
      <p:sp>
        <p:nvSpPr>
          <p:cNvPr id="76" name="Text"/>
          <p:cNvSpPr txBox="1"/>
          <p:nvPr/>
        </p:nvSpPr>
        <p:spPr>
          <a:xfrm>
            <a:off x="6883420" y="3020903"/>
            <a:ext cx="336133" cy="107991"/>
          </a:xfrm>
          <a:prstGeom prst="rect">
            <a:avLst/>
          </a:prstGeom>
          <a:noFill/>
          <a:ln/>
        </p:spPr>
        <p:txBody>
          <a:bodyPr wrap="none" lIns="0" tIns="0" rIns="0" bIns="0" rtlCol="0" anchor="t"/>
          <a:lstStyle/>
          <a:p>
            <a:pPr algn="l" indent="0" marL="0">
              <a:lnSpc>
                <a:spcPts val="850"/>
              </a:lnSpc>
              <a:buNone/>
            </a:pPr>
            <a:r>
              <a:rPr lang="en-US" sz="850" dirty="0">
                <a:solidFill>
                  <a:srgbClr val="1F2937"/>
                </a:solidFill>
                <a:latin typeface="Poppins Medium" pitchFamily="34" charset="0"/>
                <a:ea typeface="Poppins Medium" pitchFamily="34" charset="-122"/>
                <a:cs typeface="Poppins Medium" pitchFamily="34" charset="-120"/>
              </a:rPr>
              <a:t>Qwen</a:t>
            </a:r>
            <a:endParaRPr lang="en-US" sz="850" dirty="0"/>
          </a:p>
        </p:txBody>
      </p:sp>
      <p:sp>
        <p:nvSpPr>
          <p:cNvPr id="77" name="Text"/>
          <p:cNvSpPr txBox="1"/>
          <p:nvPr/>
        </p:nvSpPr>
        <p:spPr>
          <a:xfrm>
            <a:off x="7384694" y="3020903"/>
            <a:ext cx="775594" cy="107991"/>
          </a:xfrm>
          <a:prstGeom prst="rect">
            <a:avLst/>
          </a:prstGeom>
          <a:noFill/>
          <a:ln/>
        </p:spPr>
        <p:txBody>
          <a:bodyPr wrap="none" lIns="0" tIns="0" rIns="0" bIns="0" rtlCol="0" anchor="t"/>
          <a:lstStyle/>
          <a:p>
            <a:pPr algn="l" indent="0" marL="0">
              <a:lnSpc>
                <a:spcPts val="850"/>
              </a:lnSpc>
              <a:buNone/>
            </a:pPr>
            <a:r>
              <a:rPr lang="en-US" sz="850" dirty="0">
                <a:solidFill>
                  <a:srgbClr val="1F2937"/>
                </a:solidFill>
                <a:latin typeface="Poppins Medium" pitchFamily="34" charset="0"/>
                <a:ea typeface="Poppins Medium" pitchFamily="34" charset="-122"/>
                <a:cs typeface="Poppins Medium" pitchFamily="34" charset="-120"/>
              </a:rPr>
              <a:t>Multimodal AI</a:t>
            </a:r>
            <a:endParaRPr lang="en-US" sz="850" dirty="0"/>
          </a:p>
        </p:txBody>
      </p:sp>
      <p:sp>
        <p:nvSpPr>
          <p:cNvPr id="78" name="Text"/>
          <p:cNvSpPr txBox="1"/>
          <p:nvPr/>
        </p:nvSpPr>
        <p:spPr>
          <a:xfrm>
            <a:off x="6883420" y="3243194"/>
            <a:ext cx="575798" cy="107991"/>
          </a:xfrm>
          <a:prstGeom prst="rect">
            <a:avLst/>
          </a:prstGeom>
          <a:noFill/>
          <a:ln/>
        </p:spPr>
        <p:txBody>
          <a:bodyPr wrap="none" lIns="0" tIns="0" rIns="0" bIns="0" rtlCol="0" anchor="t"/>
          <a:lstStyle/>
          <a:p>
            <a:pPr algn="l" indent="0" marL="0">
              <a:lnSpc>
                <a:spcPts val="850"/>
              </a:lnSpc>
              <a:buNone/>
            </a:pPr>
            <a:r>
              <a:rPr lang="en-US" sz="850" dirty="0">
                <a:solidFill>
                  <a:srgbClr val="1F2937"/>
                </a:solidFill>
                <a:latin typeface="Poppins Medium" pitchFamily="34" charset="0"/>
                <a:ea typeface="Poppins Medium" pitchFamily="34" charset="-122"/>
                <a:cs typeface="Poppins Medium" pitchFamily="34" charset="-120"/>
              </a:rPr>
              <a:t>Agentic AI</a:t>
            </a:r>
            <a:endParaRPr lang="en-US" sz="850" dirty="0"/>
          </a:p>
        </p:txBody>
      </p:sp>
      <p:sp>
        <p:nvSpPr>
          <p:cNvPr id="79" name="Text"/>
          <p:cNvSpPr txBox="1"/>
          <p:nvPr/>
        </p:nvSpPr>
        <p:spPr>
          <a:xfrm>
            <a:off x="8902690" y="2982773"/>
            <a:ext cx="2473635" cy="368320"/>
          </a:xfrm>
          <a:prstGeom prst="rect">
            <a:avLst/>
          </a:prstGeom>
          <a:noFill/>
          <a:ln/>
        </p:spPr>
        <p:txBody>
          <a:bodyPr wrap="square" lIns="0" tIns="0" rIns="0" bIns="0" rtlCol="0" anchor="t"/>
          <a:lstStyle/>
          <a:p>
            <a:pPr algn="l" indent="0" marL="0">
              <a:lnSpc>
                <a:spcPts val="1450"/>
              </a:lnSpc>
              <a:buNone/>
            </a:pPr>
            <a:r>
              <a:rPr lang="en-US" sz="1000" dirty="0">
                <a:solidFill>
                  <a:srgbClr val="000000"/>
                </a:solidFill>
                <a:latin typeface="Poppins Medium" pitchFamily="34" charset="0"/>
                <a:ea typeface="Poppins Medium" pitchFamily="34" charset="-122"/>
                <a:cs typeface="Poppins Medium" pitchFamily="34" charset="-120"/>
              </a:rPr>
              <a:t>Proof of concept, 2026:</a:t>
            </a:r>
            <a:pPr algn="l" indent="0" marL="0">
              <a:lnSpc>
                <a:spcPts val="1450"/>
              </a:lnSpc>
              <a:buNone/>
            </a:pPr>
            <a:r>
              <a:rPr lang="en-US" sz="1000" dirty="0">
                <a:solidFill>
                  <a:srgbClr val="044BD9"/>
                </a:solidFill>
                <a:latin typeface="Poppins Medium" pitchFamily="34" charset="0"/>
                <a:ea typeface="Poppins Medium" pitchFamily="34" charset="-122"/>
                <a:cs typeface="Poppins Medium" pitchFamily="34" charset="-120"/>
              </a:rPr>
              <a:t> 24/7</a:t>
            </a:r>
            <a:pPr algn="l" indent="0" marL="0">
              <a:lnSpc>
                <a:spcPts val="1450"/>
              </a:lnSpc>
              <a:buNone/>
            </a:pPr>
            <a:r>
              <a:rPr lang="en-US" sz="1000" dirty="0">
                <a:solidFill>
                  <a:srgbClr val="1F2937"/>
                </a:solidFill>
                <a:latin typeface="Poppins Light" pitchFamily="34" charset="0"/>
                <a:ea typeface="Poppins Light" pitchFamily="34" charset="-122"/>
                <a:cs typeface="Poppins Light" pitchFamily="34" charset="-120"/>
              </a:rPr>
              <a:t> damage assessment; no production results yet</a:t>
            </a:r>
            <a:endParaRPr lang="en-US" sz="1000" dirty="0"/>
          </a:p>
        </p:txBody>
      </p:sp>
      <p:sp>
        <p:nvSpPr>
          <p:cNvPr id="80" name="Text"/>
          <p:cNvSpPr txBox="1"/>
          <p:nvPr/>
        </p:nvSpPr>
        <p:spPr>
          <a:xfrm>
            <a:off x="711220" y="3560674"/>
            <a:ext cx="1160282" cy="184160"/>
          </a:xfrm>
          <a:prstGeom prst="rect">
            <a:avLst/>
          </a:prstGeom>
          <a:noFill/>
          <a:ln/>
        </p:spPr>
        <p:txBody>
          <a:bodyPr wrap="square" lIns="0" tIns="0" rIns="0" bIns="0" rtlCol="0" anchor="t"/>
          <a:lstStyle/>
          <a:p>
            <a:pPr algn="l" indent="0" marL="0">
              <a:lnSpc>
                <a:spcPts val="1450"/>
              </a:lnSpc>
              <a:buNone/>
            </a:pPr>
            <a:r>
              <a:rPr lang="en-US" sz="1000" dirty="0">
                <a:solidFill>
                  <a:srgbClr val="000000"/>
                </a:solidFill>
                <a:latin typeface="Poppins Medium" pitchFamily="34" charset="0"/>
                <a:ea typeface="Poppins Medium" pitchFamily="34" charset="-122"/>
                <a:cs typeface="Poppins Medium" pitchFamily="34" charset="-120"/>
              </a:rPr>
              <a:t>Healthcare</a:t>
            </a:r>
            <a:endParaRPr lang="en-US" sz="1000" dirty="0"/>
          </a:p>
        </p:txBody>
      </p:sp>
      <p:sp>
        <p:nvSpPr>
          <p:cNvPr id="81" name="Text"/>
          <p:cNvSpPr txBox="1"/>
          <p:nvPr/>
        </p:nvSpPr>
        <p:spPr>
          <a:xfrm>
            <a:off x="1981230" y="3560674"/>
            <a:ext cx="1415308" cy="368320"/>
          </a:xfrm>
          <a:prstGeom prst="rect">
            <a:avLst/>
          </a:prstGeom>
          <a:noFill/>
          <a:ln/>
        </p:spPr>
        <p:txBody>
          <a:bodyPr wrap="square" lIns="0" tIns="0" rIns="0" bIns="0" rtlCol="0" anchor="t"/>
          <a:lstStyle/>
          <a:p>
            <a:pPr algn="l" indent="0" marL="0">
              <a:lnSpc>
                <a:spcPts val="1450"/>
              </a:lnSpc>
              <a:buNone/>
            </a:pPr>
            <a:r>
              <a:rPr lang="en-US" sz="1000" dirty="0">
                <a:solidFill>
                  <a:srgbClr val="1F2937"/>
                </a:solidFill>
                <a:latin typeface="Poppins Light" pitchFamily="34" charset="0"/>
                <a:ea typeface="Poppins Light" pitchFamily="34" charset="-122"/>
                <a:cs typeface="Poppins Light" pitchFamily="34" charset="-120"/>
              </a:rPr>
              <a:t>Leading healthcare group, 2026</a:t>
            </a:r>
            <a:endParaRPr lang="en-US" sz="1000" dirty="0"/>
          </a:p>
        </p:txBody>
      </p:sp>
      <p:sp>
        <p:nvSpPr>
          <p:cNvPr id="82" name="Text"/>
          <p:cNvSpPr txBox="1"/>
          <p:nvPr/>
        </p:nvSpPr>
        <p:spPr>
          <a:xfrm>
            <a:off x="3505170" y="3560674"/>
            <a:ext cx="3200400" cy="368320"/>
          </a:xfrm>
          <a:prstGeom prst="rect">
            <a:avLst/>
          </a:prstGeom>
          <a:noFill/>
          <a:ln/>
        </p:spPr>
        <p:txBody>
          <a:bodyPr wrap="square" lIns="0" tIns="0" rIns="0" bIns="0" rtlCol="0" anchor="t"/>
          <a:lstStyle/>
          <a:p>
            <a:pPr algn="l" indent="0" marL="0">
              <a:lnSpc>
                <a:spcPts val="1450"/>
              </a:lnSpc>
              <a:buNone/>
            </a:pPr>
            <a:r>
              <a:rPr lang="en-US" sz="1000" dirty="0">
                <a:solidFill>
                  <a:srgbClr val="1F2937"/>
                </a:solidFill>
                <a:latin typeface="Poppins Light" pitchFamily="34" charset="0"/>
                <a:ea typeface="Poppins Light" pitchFamily="34" charset="-122"/>
                <a:cs typeface="Poppins Light" pitchFamily="34" charset="-120"/>
              </a:rPr>
              <a:t>An engine that assesses medicolegal and insurance cases and generates the report</a:t>
            </a:r>
            <a:endParaRPr lang="en-US" sz="1000" dirty="0"/>
          </a:p>
        </p:txBody>
      </p:sp>
      <p:sp>
        <p:nvSpPr>
          <p:cNvPr id="83" name="Text"/>
          <p:cNvSpPr txBox="1"/>
          <p:nvPr/>
        </p:nvSpPr>
        <p:spPr>
          <a:xfrm>
            <a:off x="6883420" y="3598804"/>
            <a:ext cx="336133" cy="107991"/>
          </a:xfrm>
          <a:prstGeom prst="rect">
            <a:avLst/>
          </a:prstGeom>
          <a:noFill/>
          <a:ln/>
        </p:spPr>
        <p:txBody>
          <a:bodyPr wrap="none" lIns="0" tIns="0" rIns="0" bIns="0" rtlCol="0" anchor="t"/>
          <a:lstStyle/>
          <a:p>
            <a:pPr algn="l" indent="0" marL="0">
              <a:lnSpc>
                <a:spcPts val="850"/>
              </a:lnSpc>
              <a:buNone/>
            </a:pPr>
            <a:r>
              <a:rPr lang="en-US" sz="850" dirty="0">
                <a:solidFill>
                  <a:srgbClr val="1F2937"/>
                </a:solidFill>
                <a:latin typeface="Poppins Medium" pitchFamily="34" charset="0"/>
                <a:ea typeface="Poppins Medium" pitchFamily="34" charset="-122"/>
                <a:cs typeface="Poppins Medium" pitchFamily="34" charset="-120"/>
              </a:rPr>
              <a:t>Qwen</a:t>
            </a:r>
            <a:endParaRPr lang="en-US" sz="850" dirty="0"/>
          </a:p>
        </p:txBody>
      </p:sp>
      <p:sp>
        <p:nvSpPr>
          <p:cNvPr id="84" name="Text"/>
          <p:cNvSpPr txBox="1"/>
          <p:nvPr/>
        </p:nvSpPr>
        <p:spPr>
          <a:xfrm>
            <a:off x="7384694" y="3598804"/>
            <a:ext cx="420350" cy="107991"/>
          </a:xfrm>
          <a:prstGeom prst="rect">
            <a:avLst/>
          </a:prstGeom>
          <a:noFill/>
          <a:ln/>
        </p:spPr>
        <p:txBody>
          <a:bodyPr wrap="none" lIns="0" tIns="0" rIns="0" bIns="0" rtlCol="0" anchor="t"/>
          <a:lstStyle/>
          <a:p>
            <a:pPr algn="l" indent="0" marL="0">
              <a:lnSpc>
                <a:spcPts val="850"/>
              </a:lnSpc>
              <a:buNone/>
            </a:pPr>
            <a:r>
              <a:rPr lang="en-US" sz="850" dirty="0">
                <a:solidFill>
                  <a:srgbClr val="1F2937"/>
                </a:solidFill>
                <a:latin typeface="Poppins Medium" pitchFamily="34" charset="0"/>
                <a:ea typeface="Poppins Medium" pitchFamily="34" charset="-122"/>
                <a:cs typeface="Poppins Medium" pitchFamily="34" charset="-120"/>
              </a:rPr>
              <a:t>Claude</a:t>
            </a:r>
            <a:endParaRPr lang="en-US" sz="850" dirty="0"/>
          </a:p>
        </p:txBody>
      </p:sp>
      <p:sp>
        <p:nvSpPr>
          <p:cNvPr id="85" name="Text"/>
          <p:cNvSpPr txBox="1"/>
          <p:nvPr/>
        </p:nvSpPr>
        <p:spPr>
          <a:xfrm>
            <a:off x="7970185" y="3598804"/>
            <a:ext cx="233172" cy="107991"/>
          </a:xfrm>
          <a:prstGeom prst="rect">
            <a:avLst/>
          </a:prstGeom>
          <a:noFill/>
          <a:ln/>
        </p:spPr>
        <p:txBody>
          <a:bodyPr wrap="none" lIns="0" tIns="0" rIns="0" bIns="0" rtlCol="0" anchor="t"/>
          <a:lstStyle/>
          <a:p>
            <a:pPr algn="l" indent="0" marL="0">
              <a:lnSpc>
                <a:spcPts val="850"/>
              </a:lnSpc>
              <a:buNone/>
            </a:pPr>
            <a:r>
              <a:rPr lang="en-US" sz="850" dirty="0">
                <a:solidFill>
                  <a:srgbClr val="1F2937"/>
                </a:solidFill>
                <a:latin typeface="Poppins Medium" pitchFamily="34" charset="0"/>
                <a:ea typeface="Poppins Medium" pitchFamily="34" charset="-122"/>
                <a:cs typeface="Poppins Medium" pitchFamily="34" charset="-120"/>
              </a:rPr>
              <a:t>RPA</a:t>
            </a:r>
            <a:endParaRPr lang="en-US" sz="850" dirty="0"/>
          </a:p>
        </p:txBody>
      </p:sp>
      <p:sp>
        <p:nvSpPr>
          <p:cNvPr id="86" name="Text"/>
          <p:cNvSpPr txBox="1"/>
          <p:nvPr/>
        </p:nvSpPr>
        <p:spPr>
          <a:xfrm>
            <a:off x="8902690" y="3560674"/>
            <a:ext cx="2473635" cy="368320"/>
          </a:xfrm>
          <a:prstGeom prst="rect">
            <a:avLst/>
          </a:prstGeom>
          <a:noFill/>
          <a:ln/>
        </p:spPr>
        <p:txBody>
          <a:bodyPr wrap="square" lIns="0" tIns="0" rIns="0" bIns="0" rtlCol="0" anchor="t"/>
          <a:lstStyle/>
          <a:p>
            <a:pPr algn="l" indent="0" marL="0">
              <a:lnSpc>
                <a:spcPts val="1450"/>
              </a:lnSpc>
              <a:buNone/>
            </a:pPr>
            <a:r>
              <a:rPr lang="en-US" sz="1000" dirty="0">
                <a:solidFill>
                  <a:srgbClr val="1F2937"/>
                </a:solidFill>
                <a:latin typeface="Poppins Light" pitchFamily="34" charset="0"/>
                <a:ea typeface="Poppins Light" pitchFamily="34" charset="-122"/>
                <a:cs typeface="Poppins Light" pitchFamily="34" charset="-120"/>
              </a:rPr>
              <a:t>Clinicians review a draft instead of writing from scratch</a:t>
            </a:r>
            <a:endParaRPr lang="en-US" sz="1000" dirty="0"/>
          </a:p>
        </p:txBody>
      </p:sp>
      <p:sp>
        <p:nvSpPr>
          <p:cNvPr id="87" name="Text"/>
          <p:cNvSpPr txBox="1"/>
          <p:nvPr/>
        </p:nvSpPr>
        <p:spPr>
          <a:xfrm>
            <a:off x="711220" y="4100444"/>
            <a:ext cx="1160282" cy="184160"/>
          </a:xfrm>
          <a:prstGeom prst="rect">
            <a:avLst/>
          </a:prstGeom>
          <a:noFill/>
          <a:ln/>
        </p:spPr>
        <p:txBody>
          <a:bodyPr wrap="square" lIns="0" tIns="0" rIns="0" bIns="0" rtlCol="0" anchor="t"/>
          <a:lstStyle/>
          <a:p>
            <a:pPr algn="l" indent="0" marL="0">
              <a:lnSpc>
                <a:spcPts val="1450"/>
              </a:lnSpc>
              <a:buNone/>
            </a:pPr>
            <a:r>
              <a:rPr lang="en-US" sz="1000" dirty="0">
                <a:solidFill>
                  <a:srgbClr val="000000"/>
                </a:solidFill>
                <a:latin typeface="Poppins Medium" pitchFamily="34" charset="0"/>
                <a:ea typeface="Poppins Medium" pitchFamily="34" charset="-122"/>
                <a:cs typeface="Poppins Medium" pitchFamily="34" charset="-120"/>
              </a:rPr>
              <a:t>Hospitality</a:t>
            </a:r>
            <a:endParaRPr lang="en-US" sz="1000" dirty="0"/>
          </a:p>
        </p:txBody>
      </p:sp>
      <p:sp>
        <p:nvSpPr>
          <p:cNvPr id="88" name="Text"/>
          <p:cNvSpPr txBox="1"/>
          <p:nvPr/>
        </p:nvSpPr>
        <p:spPr>
          <a:xfrm>
            <a:off x="1981230" y="4100444"/>
            <a:ext cx="1415308" cy="368320"/>
          </a:xfrm>
          <a:prstGeom prst="rect">
            <a:avLst/>
          </a:prstGeom>
          <a:noFill/>
          <a:ln/>
        </p:spPr>
        <p:txBody>
          <a:bodyPr wrap="square" lIns="0" tIns="0" rIns="0" bIns="0" rtlCol="0" anchor="t"/>
          <a:lstStyle/>
          <a:p>
            <a:pPr algn="l" indent="0" marL="0">
              <a:lnSpc>
                <a:spcPts val="1450"/>
              </a:lnSpc>
              <a:buNone/>
            </a:pPr>
            <a:r>
              <a:rPr lang="en-US" sz="1000" dirty="0">
                <a:solidFill>
                  <a:srgbClr val="1F2937"/>
                </a:solidFill>
                <a:latin typeface="Poppins Light" pitchFamily="34" charset="0"/>
                <a:ea typeface="Poppins Light" pitchFamily="34" charset="-122"/>
                <a:cs typeface="Poppins Light" pitchFamily="34" charset="-120"/>
              </a:rPr>
              <a:t>Singapore hospitality group, 2026</a:t>
            </a:r>
            <a:endParaRPr lang="en-US" sz="1000" dirty="0"/>
          </a:p>
        </p:txBody>
      </p:sp>
      <p:sp>
        <p:nvSpPr>
          <p:cNvPr id="89" name="Text"/>
          <p:cNvSpPr txBox="1"/>
          <p:nvPr/>
        </p:nvSpPr>
        <p:spPr>
          <a:xfrm>
            <a:off x="3505170" y="4100444"/>
            <a:ext cx="3200400" cy="368320"/>
          </a:xfrm>
          <a:prstGeom prst="rect">
            <a:avLst/>
          </a:prstGeom>
          <a:noFill/>
          <a:ln/>
        </p:spPr>
        <p:txBody>
          <a:bodyPr wrap="square" lIns="0" tIns="0" rIns="0" bIns="0" rtlCol="0" anchor="t"/>
          <a:lstStyle/>
          <a:p>
            <a:pPr algn="l" indent="0" marL="0">
              <a:lnSpc>
                <a:spcPts val="1450"/>
              </a:lnSpc>
              <a:buNone/>
            </a:pPr>
            <a:r>
              <a:rPr lang="en-US" sz="1000" dirty="0">
                <a:solidFill>
                  <a:srgbClr val="1F2937"/>
                </a:solidFill>
                <a:latin typeface="Poppins Light" pitchFamily="34" charset="0"/>
                <a:ea typeface="Poppins Light" pitchFamily="34" charset="-122"/>
                <a:cs typeface="Poppins Light" pitchFamily="34" charset="-120"/>
              </a:rPr>
              <a:t>WhatsApp AI agents that handle conversations 24/7 and sync every lead to the CRM</a:t>
            </a:r>
            <a:endParaRPr lang="en-US" sz="1000" dirty="0"/>
          </a:p>
        </p:txBody>
      </p:sp>
      <p:sp>
        <p:nvSpPr>
          <p:cNvPr id="90" name="Text"/>
          <p:cNvSpPr txBox="1"/>
          <p:nvPr/>
        </p:nvSpPr>
        <p:spPr>
          <a:xfrm>
            <a:off x="6883420" y="4138483"/>
            <a:ext cx="336133" cy="107991"/>
          </a:xfrm>
          <a:prstGeom prst="rect">
            <a:avLst/>
          </a:prstGeom>
          <a:noFill/>
          <a:ln/>
        </p:spPr>
        <p:txBody>
          <a:bodyPr wrap="none" lIns="0" tIns="0" rIns="0" bIns="0" rtlCol="0" anchor="t"/>
          <a:lstStyle/>
          <a:p>
            <a:pPr algn="l" indent="0" marL="0">
              <a:lnSpc>
                <a:spcPts val="850"/>
              </a:lnSpc>
              <a:buNone/>
            </a:pPr>
            <a:r>
              <a:rPr lang="en-US" sz="850" dirty="0">
                <a:solidFill>
                  <a:srgbClr val="1F2937"/>
                </a:solidFill>
                <a:latin typeface="Poppins Medium" pitchFamily="34" charset="0"/>
                <a:ea typeface="Poppins Medium" pitchFamily="34" charset="-122"/>
                <a:cs typeface="Poppins Medium" pitchFamily="34" charset="-120"/>
              </a:rPr>
              <a:t>Qwen</a:t>
            </a:r>
            <a:endParaRPr lang="en-US" sz="850" dirty="0"/>
          </a:p>
        </p:txBody>
      </p:sp>
      <p:sp>
        <p:nvSpPr>
          <p:cNvPr id="91" name="Text"/>
          <p:cNvSpPr txBox="1"/>
          <p:nvPr/>
        </p:nvSpPr>
        <p:spPr>
          <a:xfrm>
            <a:off x="7384694" y="4138483"/>
            <a:ext cx="596006" cy="107991"/>
          </a:xfrm>
          <a:prstGeom prst="rect">
            <a:avLst/>
          </a:prstGeom>
          <a:noFill/>
          <a:ln/>
        </p:spPr>
        <p:txBody>
          <a:bodyPr wrap="none" lIns="0" tIns="0" rIns="0" bIns="0" rtlCol="0" anchor="t"/>
          <a:lstStyle/>
          <a:p>
            <a:pPr algn="l" indent="0" marL="0">
              <a:lnSpc>
                <a:spcPts val="850"/>
              </a:lnSpc>
              <a:buNone/>
            </a:pPr>
            <a:r>
              <a:rPr lang="en-US" sz="850" dirty="0">
                <a:solidFill>
                  <a:srgbClr val="1F2937"/>
                </a:solidFill>
                <a:latin typeface="Poppins Medium" pitchFamily="34" charset="0"/>
                <a:ea typeface="Poppins Medium" pitchFamily="34" charset="-122"/>
                <a:cs typeface="Poppins Medium" pitchFamily="34" charset="-120"/>
              </a:rPr>
              <a:t>WhatsApp</a:t>
            </a:r>
            <a:endParaRPr lang="en-US" sz="850" dirty="0"/>
          </a:p>
        </p:txBody>
      </p:sp>
      <p:sp>
        <p:nvSpPr>
          <p:cNvPr id="92" name="Text"/>
          <p:cNvSpPr txBox="1"/>
          <p:nvPr/>
        </p:nvSpPr>
        <p:spPr>
          <a:xfrm>
            <a:off x="8145750" y="4138483"/>
            <a:ext cx="538033" cy="107991"/>
          </a:xfrm>
          <a:prstGeom prst="rect">
            <a:avLst/>
          </a:prstGeom>
          <a:noFill/>
          <a:ln/>
        </p:spPr>
        <p:txBody>
          <a:bodyPr wrap="none" lIns="0" tIns="0" rIns="0" bIns="0" rtlCol="0" anchor="t"/>
          <a:lstStyle/>
          <a:p>
            <a:pPr algn="l" indent="0" marL="0">
              <a:lnSpc>
                <a:spcPts val="850"/>
              </a:lnSpc>
              <a:buNone/>
            </a:pPr>
            <a:r>
              <a:rPr lang="en-US" sz="850" dirty="0">
                <a:solidFill>
                  <a:srgbClr val="1F2937"/>
                </a:solidFill>
                <a:latin typeface="Poppins Medium" pitchFamily="34" charset="0"/>
                <a:ea typeface="Poppins Medium" pitchFamily="34" charset="-122"/>
                <a:cs typeface="Poppins Medium" pitchFamily="34" charset="-120"/>
              </a:rPr>
              <a:t>AI agents</a:t>
            </a:r>
            <a:endParaRPr lang="en-US" sz="850" dirty="0"/>
          </a:p>
        </p:txBody>
      </p:sp>
      <p:sp>
        <p:nvSpPr>
          <p:cNvPr id="93" name="Text"/>
          <p:cNvSpPr txBox="1"/>
          <p:nvPr/>
        </p:nvSpPr>
        <p:spPr>
          <a:xfrm>
            <a:off x="8902690" y="4100444"/>
            <a:ext cx="2473635" cy="184160"/>
          </a:xfrm>
          <a:prstGeom prst="rect">
            <a:avLst/>
          </a:prstGeom>
          <a:noFill/>
          <a:ln/>
        </p:spPr>
        <p:txBody>
          <a:bodyPr wrap="square" lIns="0" tIns="0" rIns="0" bIns="0" rtlCol="0" anchor="t"/>
          <a:lstStyle/>
          <a:p>
            <a:pPr algn="l" indent="0" marL="0">
              <a:lnSpc>
                <a:spcPts val="1450"/>
              </a:lnSpc>
              <a:buNone/>
            </a:pPr>
            <a:r>
              <a:rPr lang="en-US" sz="1000" dirty="0">
                <a:solidFill>
                  <a:srgbClr val="044BD9"/>
                </a:solidFill>
                <a:latin typeface="Poppins Medium" pitchFamily="34" charset="0"/>
                <a:ea typeface="Poppins Medium" pitchFamily="34" charset="-122"/>
                <a:cs typeface="Poppins Medium" pitchFamily="34" charset="-120"/>
              </a:rPr>
              <a:t>80%</a:t>
            </a:r>
            <a:pPr algn="l" indent="0" marL="0">
              <a:lnSpc>
                <a:spcPts val="1450"/>
              </a:lnSpc>
              <a:buNone/>
            </a:pPr>
            <a:r>
              <a:rPr lang="en-US" sz="1000" dirty="0">
                <a:solidFill>
                  <a:srgbClr val="1F2937"/>
                </a:solidFill>
                <a:latin typeface="Poppins Light" pitchFamily="34" charset="0"/>
                <a:ea typeface="Poppins Light" pitchFamily="34" charset="-122"/>
                <a:cs typeface="Poppins Light" pitchFamily="34" charset="-120"/>
              </a:rPr>
              <a:t> less manual data entry time</a:t>
            </a:r>
            <a:endParaRPr lang="en-US" sz="1000" dirty="0"/>
          </a:p>
        </p:txBody>
      </p:sp>
      <p:sp>
        <p:nvSpPr>
          <p:cNvPr id="94" name="Text"/>
          <p:cNvSpPr txBox="1"/>
          <p:nvPr/>
        </p:nvSpPr>
        <p:spPr>
          <a:xfrm>
            <a:off x="711220" y="4640123"/>
            <a:ext cx="1168420" cy="184160"/>
          </a:xfrm>
          <a:prstGeom prst="rect">
            <a:avLst/>
          </a:prstGeom>
          <a:noFill/>
          <a:ln/>
        </p:spPr>
        <p:txBody>
          <a:bodyPr wrap="none" lIns="0" tIns="0" rIns="0" bIns="0" rtlCol="0" anchor="t"/>
          <a:lstStyle/>
          <a:p>
            <a:pPr algn="l" indent="0" marL="0">
              <a:lnSpc>
                <a:spcPts val="1450"/>
              </a:lnSpc>
              <a:buNone/>
            </a:pPr>
            <a:r>
              <a:rPr lang="en-US" sz="1000" dirty="0">
                <a:solidFill>
                  <a:srgbClr val="000000"/>
                </a:solidFill>
                <a:latin typeface="Poppins Medium" pitchFamily="34" charset="0"/>
                <a:ea typeface="Poppins Medium" pitchFamily="34" charset="-122"/>
                <a:cs typeface="Poppins Medium" pitchFamily="34" charset="-120"/>
              </a:rPr>
              <a:t>Financial services</a:t>
            </a:r>
            <a:endParaRPr lang="en-US" sz="1000" dirty="0"/>
          </a:p>
        </p:txBody>
      </p:sp>
      <p:sp>
        <p:nvSpPr>
          <p:cNvPr id="95" name="Text"/>
          <p:cNvSpPr txBox="1"/>
          <p:nvPr/>
        </p:nvSpPr>
        <p:spPr>
          <a:xfrm>
            <a:off x="1981230" y="4640123"/>
            <a:ext cx="1415308" cy="368320"/>
          </a:xfrm>
          <a:prstGeom prst="rect">
            <a:avLst/>
          </a:prstGeom>
          <a:noFill/>
          <a:ln/>
        </p:spPr>
        <p:txBody>
          <a:bodyPr wrap="square" lIns="0" tIns="0" rIns="0" bIns="0" rtlCol="0" anchor="t"/>
          <a:lstStyle/>
          <a:p>
            <a:pPr algn="l" indent="0" marL="0">
              <a:lnSpc>
                <a:spcPts val="1450"/>
              </a:lnSpc>
              <a:buNone/>
            </a:pPr>
            <a:r>
              <a:rPr lang="en-US" sz="1000" dirty="0">
                <a:solidFill>
                  <a:srgbClr val="1F2937"/>
                </a:solidFill>
                <a:latin typeface="Poppins Light" pitchFamily="34" charset="0"/>
                <a:ea typeface="Poppins Light" pitchFamily="34" charset="-122"/>
                <a:cs typeface="Poppins Light" pitchFamily="34" charset="-120"/>
              </a:rPr>
              <a:t>Fundaztic and iPajak Group</a:t>
            </a:r>
            <a:endParaRPr lang="en-US" sz="1000" dirty="0"/>
          </a:p>
        </p:txBody>
      </p:sp>
      <p:sp>
        <p:nvSpPr>
          <p:cNvPr id="96" name="Text"/>
          <p:cNvSpPr txBox="1"/>
          <p:nvPr/>
        </p:nvSpPr>
        <p:spPr>
          <a:xfrm>
            <a:off x="3505170" y="4640123"/>
            <a:ext cx="3200400" cy="368320"/>
          </a:xfrm>
          <a:prstGeom prst="rect">
            <a:avLst/>
          </a:prstGeom>
          <a:noFill/>
          <a:ln/>
        </p:spPr>
        <p:txBody>
          <a:bodyPr wrap="square" lIns="0" tIns="0" rIns="0" bIns="0" rtlCol="0" anchor="t"/>
          <a:lstStyle/>
          <a:p>
            <a:pPr algn="l" indent="0" marL="0">
              <a:lnSpc>
                <a:spcPts val="1450"/>
              </a:lnSpc>
              <a:buNone/>
            </a:pPr>
            <a:r>
              <a:rPr lang="en-US" sz="1000" dirty="0">
                <a:solidFill>
                  <a:srgbClr val="1F2937"/>
                </a:solidFill>
                <a:latin typeface="Poppins Light" pitchFamily="34" charset="0"/>
                <a:ea typeface="Poppins Light" pitchFamily="34" charset="-122"/>
                <a:cs typeface="Poppins Light" pitchFamily="34" charset="-120"/>
              </a:rPr>
              <a:t>Debt recovery management for Fundaztic; pawn brokerage for iPajak Group, taken over midway</a:t>
            </a:r>
            <a:endParaRPr lang="en-US" sz="1000" dirty="0"/>
          </a:p>
        </p:txBody>
      </p:sp>
      <p:sp>
        <p:nvSpPr>
          <p:cNvPr id="97" name="Text"/>
          <p:cNvSpPr txBox="1"/>
          <p:nvPr/>
        </p:nvSpPr>
        <p:spPr>
          <a:xfrm>
            <a:off x="6883420" y="4678253"/>
            <a:ext cx="1058875" cy="107991"/>
          </a:xfrm>
          <a:prstGeom prst="rect">
            <a:avLst/>
          </a:prstGeom>
          <a:noFill/>
          <a:ln/>
        </p:spPr>
        <p:txBody>
          <a:bodyPr wrap="none" lIns="0" tIns="0" rIns="0" bIns="0" rtlCol="0" anchor="t"/>
          <a:lstStyle/>
          <a:p>
            <a:pPr algn="l" indent="0" marL="0">
              <a:lnSpc>
                <a:spcPts val="850"/>
              </a:lnSpc>
              <a:buNone/>
            </a:pPr>
            <a:r>
              <a:rPr lang="en-US" sz="850" dirty="0">
                <a:solidFill>
                  <a:srgbClr val="1F2937"/>
                </a:solidFill>
                <a:latin typeface="Poppins Medium" pitchFamily="34" charset="0"/>
                <a:ea typeface="Poppins Medium" pitchFamily="34" charset="-122"/>
                <a:cs typeface="Poppins Medium" pitchFamily="34" charset="-120"/>
              </a:rPr>
              <a:t>System integration</a:t>
            </a:r>
            <a:endParaRPr lang="en-US" sz="850" dirty="0"/>
          </a:p>
        </p:txBody>
      </p:sp>
      <p:sp>
        <p:nvSpPr>
          <p:cNvPr id="98" name="Text"/>
          <p:cNvSpPr txBox="1"/>
          <p:nvPr/>
        </p:nvSpPr>
        <p:spPr>
          <a:xfrm>
            <a:off x="8107345" y="4678253"/>
            <a:ext cx="615940" cy="107991"/>
          </a:xfrm>
          <a:prstGeom prst="rect">
            <a:avLst/>
          </a:prstGeom>
          <a:noFill/>
          <a:ln/>
        </p:spPr>
        <p:txBody>
          <a:bodyPr wrap="none" lIns="0" tIns="0" rIns="0" bIns="0" rtlCol="0" anchor="t"/>
          <a:lstStyle/>
          <a:p>
            <a:pPr algn="l" indent="0" marL="0">
              <a:lnSpc>
                <a:spcPts val="850"/>
              </a:lnSpc>
              <a:buNone/>
            </a:pPr>
            <a:r>
              <a:rPr lang="en-US" sz="850" dirty="0">
                <a:solidFill>
                  <a:srgbClr val="1F2937"/>
                </a:solidFill>
                <a:latin typeface="Poppins Medium" pitchFamily="34" charset="0"/>
                <a:ea typeface="Poppins Medium" pitchFamily="34" charset="-122"/>
                <a:cs typeface="Poppins Medium" pitchFamily="34" charset="-120"/>
              </a:rPr>
              <a:t>Consulting</a:t>
            </a:r>
            <a:endParaRPr lang="en-US" sz="850" dirty="0"/>
          </a:p>
        </p:txBody>
      </p:sp>
      <p:sp>
        <p:nvSpPr>
          <p:cNvPr id="99" name="Text"/>
          <p:cNvSpPr txBox="1"/>
          <p:nvPr/>
        </p:nvSpPr>
        <p:spPr>
          <a:xfrm>
            <a:off x="6883420" y="4900544"/>
            <a:ext cx="329641" cy="107991"/>
          </a:xfrm>
          <a:prstGeom prst="rect">
            <a:avLst/>
          </a:prstGeom>
          <a:noFill/>
          <a:ln/>
        </p:spPr>
        <p:txBody>
          <a:bodyPr wrap="none" lIns="0" tIns="0" rIns="0" bIns="0" rtlCol="0" anchor="t"/>
          <a:lstStyle/>
          <a:p>
            <a:pPr algn="l" indent="0" marL="0">
              <a:lnSpc>
                <a:spcPts val="850"/>
              </a:lnSpc>
              <a:buNone/>
            </a:pPr>
            <a:r>
              <a:rPr lang="en-US" sz="850" dirty="0">
                <a:solidFill>
                  <a:srgbClr val="1F2937"/>
                </a:solidFill>
                <a:latin typeface="Poppins Medium" pitchFamily="34" charset="0"/>
                <a:ea typeface="Poppins Medium" pitchFamily="34" charset="-122"/>
                <a:cs typeface="Poppins Medium" pitchFamily="34" charset="-120"/>
              </a:rPr>
              <a:t>UI/UX</a:t>
            </a:r>
            <a:endParaRPr lang="en-US" sz="850" dirty="0"/>
          </a:p>
        </p:txBody>
      </p:sp>
      <p:sp>
        <p:nvSpPr>
          <p:cNvPr id="100" name="Text"/>
          <p:cNvSpPr txBox="1"/>
          <p:nvPr/>
        </p:nvSpPr>
        <p:spPr>
          <a:xfrm>
            <a:off x="8902690" y="4640123"/>
            <a:ext cx="2473635" cy="368320"/>
          </a:xfrm>
          <a:prstGeom prst="rect">
            <a:avLst/>
          </a:prstGeom>
          <a:noFill/>
          <a:ln/>
        </p:spPr>
        <p:txBody>
          <a:bodyPr wrap="square" lIns="0" tIns="0" rIns="0" bIns="0" rtlCol="0" anchor="t"/>
          <a:lstStyle/>
          <a:p>
            <a:pPr algn="l" indent="0" marL="0">
              <a:lnSpc>
                <a:spcPts val="1450"/>
              </a:lnSpc>
              <a:buNone/>
            </a:pPr>
            <a:r>
              <a:rPr lang="en-US" sz="1000" dirty="0">
                <a:solidFill>
                  <a:srgbClr val="044BD9"/>
                </a:solidFill>
                <a:latin typeface="Poppins Medium" pitchFamily="34" charset="0"/>
                <a:ea typeface="Poppins Medium" pitchFamily="34" charset="-122"/>
                <a:cs typeface="Poppins Medium" pitchFamily="34" charset="-120"/>
              </a:rPr>
              <a:t>6</a:t>
            </a:r>
            <a:pPr algn="l" indent="0" marL="0">
              <a:lnSpc>
                <a:spcPts val="1450"/>
              </a:lnSpc>
              <a:buNone/>
            </a:pPr>
            <a:r>
              <a:rPr lang="en-US" sz="1000" dirty="0">
                <a:solidFill>
                  <a:srgbClr val="1F2937"/>
                </a:solidFill>
                <a:latin typeface="Poppins Light" pitchFamily="34" charset="0"/>
                <a:ea typeface="Poppins Light" pitchFamily="34" charset="-122"/>
                <a:cs typeface="Poppins Light" pitchFamily="34" charset="-120"/>
              </a:rPr>
              <a:t> iPajak branches on one system, across Malaysia</a:t>
            </a:r>
            <a:endParaRPr lang="en-US" sz="1000" dirty="0"/>
          </a:p>
        </p:txBody>
      </p:sp>
      <p:sp>
        <p:nvSpPr>
          <p:cNvPr id="101" name="Text"/>
          <p:cNvSpPr txBox="1"/>
          <p:nvPr/>
        </p:nvSpPr>
        <p:spPr>
          <a:xfrm>
            <a:off x="711220" y="5218024"/>
            <a:ext cx="1160282" cy="184160"/>
          </a:xfrm>
          <a:prstGeom prst="rect">
            <a:avLst/>
          </a:prstGeom>
          <a:noFill/>
          <a:ln/>
        </p:spPr>
        <p:txBody>
          <a:bodyPr wrap="square" lIns="0" tIns="0" rIns="0" bIns="0" rtlCol="0" anchor="t"/>
          <a:lstStyle/>
          <a:p>
            <a:pPr algn="l" indent="0" marL="0">
              <a:lnSpc>
                <a:spcPts val="1450"/>
              </a:lnSpc>
              <a:buNone/>
            </a:pPr>
            <a:r>
              <a:rPr lang="en-US" sz="1000" dirty="0">
                <a:solidFill>
                  <a:srgbClr val="000000"/>
                </a:solidFill>
                <a:latin typeface="Poppins Medium" pitchFamily="34" charset="0"/>
                <a:ea typeface="Poppins Medium" pitchFamily="34" charset="-122"/>
                <a:cs typeface="Poppins Medium" pitchFamily="34" charset="-120"/>
              </a:rPr>
              <a:t>Retail</a:t>
            </a:r>
            <a:endParaRPr lang="en-US" sz="1000" dirty="0"/>
          </a:p>
        </p:txBody>
      </p:sp>
      <p:sp>
        <p:nvSpPr>
          <p:cNvPr id="102" name="Text"/>
          <p:cNvSpPr txBox="1"/>
          <p:nvPr/>
        </p:nvSpPr>
        <p:spPr>
          <a:xfrm>
            <a:off x="1981230" y="5218024"/>
            <a:ext cx="1415308" cy="184160"/>
          </a:xfrm>
          <a:prstGeom prst="rect">
            <a:avLst/>
          </a:prstGeom>
          <a:noFill/>
          <a:ln/>
        </p:spPr>
        <p:txBody>
          <a:bodyPr wrap="square" lIns="0" tIns="0" rIns="0" bIns="0" rtlCol="0" anchor="t"/>
          <a:lstStyle/>
          <a:p>
            <a:pPr algn="l" indent="0" marL="0">
              <a:lnSpc>
                <a:spcPts val="1450"/>
              </a:lnSpc>
              <a:buNone/>
            </a:pPr>
            <a:r>
              <a:rPr lang="en-US" sz="1000" dirty="0">
                <a:solidFill>
                  <a:srgbClr val="1F2937"/>
                </a:solidFill>
                <a:latin typeface="Poppins Light" pitchFamily="34" charset="0"/>
                <a:ea typeface="Poppins Light" pitchFamily="34" charset="-122"/>
                <a:cs typeface="Poppins Light" pitchFamily="34" charset="-120"/>
              </a:rPr>
              <a:t>Eastern Decorator</a:t>
            </a:r>
            <a:endParaRPr lang="en-US" sz="1000" dirty="0"/>
          </a:p>
        </p:txBody>
      </p:sp>
      <p:sp>
        <p:nvSpPr>
          <p:cNvPr id="103" name="Text"/>
          <p:cNvSpPr txBox="1"/>
          <p:nvPr/>
        </p:nvSpPr>
        <p:spPr>
          <a:xfrm>
            <a:off x="3505170" y="5218024"/>
            <a:ext cx="3200400" cy="368320"/>
          </a:xfrm>
          <a:prstGeom prst="rect">
            <a:avLst/>
          </a:prstGeom>
          <a:noFill/>
          <a:ln/>
        </p:spPr>
        <p:txBody>
          <a:bodyPr wrap="square" lIns="0" tIns="0" rIns="0" bIns="0" rtlCol="0" anchor="t"/>
          <a:lstStyle/>
          <a:p>
            <a:pPr algn="l" indent="0" marL="0">
              <a:lnSpc>
                <a:spcPts val="1450"/>
              </a:lnSpc>
              <a:buNone/>
            </a:pPr>
            <a:r>
              <a:rPr lang="en-US" sz="1000" dirty="0">
                <a:solidFill>
                  <a:srgbClr val="1F2937"/>
                </a:solidFill>
                <a:latin typeface="Poppins Light" pitchFamily="34" charset="0"/>
                <a:ea typeface="Poppins Light" pitchFamily="34" charset="-122"/>
                <a:cs typeface="Poppins Light" pitchFamily="34" charset="-120"/>
              </a:rPr>
              <a:t>An AI content factory that automates e-commerce product photoshoots</a:t>
            </a:r>
            <a:endParaRPr lang="en-US" sz="1000" dirty="0"/>
          </a:p>
        </p:txBody>
      </p:sp>
      <p:sp>
        <p:nvSpPr>
          <p:cNvPr id="104" name="Text"/>
          <p:cNvSpPr txBox="1"/>
          <p:nvPr/>
        </p:nvSpPr>
        <p:spPr>
          <a:xfrm>
            <a:off x="6883420" y="5256154"/>
            <a:ext cx="414772" cy="107991"/>
          </a:xfrm>
          <a:prstGeom prst="rect">
            <a:avLst/>
          </a:prstGeom>
          <a:noFill/>
          <a:ln/>
        </p:spPr>
        <p:txBody>
          <a:bodyPr wrap="none" lIns="0" tIns="0" rIns="0" bIns="0" rtlCol="0" anchor="t"/>
          <a:lstStyle/>
          <a:p>
            <a:pPr algn="l" indent="0" marL="0">
              <a:lnSpc>
                <a:spcPts val="850"/>
              </a:lnSpc>
              <a:buNone/>
            </a:pPr>
            <a:r>
              <a:rPr lang="en-US" sz="850" dirty="0">
                <a:solidFill>
                  <a:srgbClr val="1F2937"/>
                </a:solidFill>
                <a:latin typeface="Poppins Medium" pitchFamily="34" charset="0"/>
                <a:ea typeface="Poppins Medium" pitchFamily="34" charset="-122"/>
                <a:cs typeface="Poppins Medium" pitchFamily="34" charset="-120"/>
              </a:rPr>
              <a:t>Gemini</a:t>
            </a:r>
            <a:endParaRPr lang="en-US" sz="850" dirty="0"/>
          </a:p>
        </p:txBody>
      </p:sp>
      <p:sp>
        <p:nvSpPr>
          <p:cNvPr id="105" name="Text"/>
          <p:cNvSpPr txBox="1"/>
          <p:nvPr/>
        </p:nvSpPr>
        <p:spPr>
          <a:xfrm>
            <a:off x="7463241" y="5256154"/>
            <a:ext cx="775594" cy="107991"/>
          </a:xfrm>
          <a:prstGeom prst="rect">
            <a:avLst/>
          </a:prstGeom>
          <a:noFill/>
          <a:ln/>
        </p:spPr>
        <p:txBody>
          <a:bodyPr wrap="none" lIns="0" tIns="0" rIns="0" bIns="0" rtlCol="0" anchor="t"/>
          <a:lstStyle/>
          <a:p>
            <a:pPr algn="l" indent="0" marL="0">
              <a:lnSpc>
                <a:spcPts val="850"/>
              </a:lnSpc>
              <a:buNone/>
            </a:pPr>
            <a:r>
              <a:rPr lang="en-US" sz="850" dirty="0">
                <a:solidFill>
                  <a:srgbClr val="1F2937"/>
                </a:solidFill>
                <a:latin typeface="Poppins Medium" pitchFamily="34" charset="0"/>
                <a:ea typeface="Poppins Medium" pitchFamily="34" charset="-122"/>
                <a:cs typeface="Poppins Medium" pitchFamily="34" charset="-120"/>
              </a:rPr>
              <a:t>Multimodal AI</a:t>
            </a:r>
            <a:endParaRPr lang="en-US" sz="850" dirty="0"/>
          </a:p>
        </p:txBody>
      </p:sp>
      <p:sp>
        <p:nvSpPr>
          <p:cNvPr id="106" name="Text"/>
          <p:cNvSpPr txBox="1"/>
          <p:nvPr/>
        </p:nvSpPr>
        <p:spPr>
          <a:xfrm>
            <a:off x="6883420" y="5478353"/>
            <a:ext cx="1198961" cy="107991"/>
          </a:xfrm>
          <a:prstGeom prst="rect">
            <a:avLst/>
          </a:prstGeom>
          <a:noFill/>
          <a:ln/>
        </p:spPr>
        <p:txBody>
          <a:bodyPr wrap="none" lIns="0" tIns="0" rIns="0" bIns="0" rtlCol="0" anchor="t"/>
          <a:lstStyle/>
          <a:p>
            <a:pPr algn="l" indent="0" marL="0">
              <a:lnSpc>
                <a:spcPts val="850"/>
              </a:lnSpc>
              <a:buNone/>
            </a:pPr>
            <a:r>
              <a:rPr lang="en-US" sz="850" dirty="0">
                <a:solidFill>
                  <a:srgbClr val="1F2937"/>
                </a:solidFill>
                <a:latin typeface="Poppins Medium" pitchFamily="34" charset="0"/>
                <a:ea typeface="Poppins Medium" pitchFamily="34" charset="-122"/>
                <a:cs typeface="Poppins Medium" pitchFamily="34" charset="-120"/>
              </a:rPr>
              <a:t>Workflow automation</a:t>
            </a:r>
            <a:endParaRPr lang="en-US" sz="850" dirty="0"/>
          </a:p>
        </p:txBody>
      </p:sp>
      <p:sp>
        <p:nvSpPr>
          <p:cNvPr id="107" name="Text"/>
          <p:cNvSpPr txBox="1"/>
          <p:nvPr/>
        </p:nvSpPr>
        <p:spPr>
          <a:xfrm>
            <a:off x="8902690" y="5218024"/>
            <a:ext cx="2473635" cy="368320"/>
          </a:xfrm>
          <a:prstGeom prst="rect">
            <a:avLst/>
          </a:prstGeom>
          <a:noFill/>
          <a:ln/>
        </p:spPr>
        <p:txBody>
          <a:bodyPr wrap="square" lIns="0" tIns="0" rIns="0" bIns="0" rtlCol="0" anchor="t"/>
          <a:lstStyle/>
          <a:p>
            <a:pPr algn="l" indent="0" marL="0">
              <a:lnSpc>
                <a:spcPts val="1450"/>
              </a:lnSpc>
              <a:buNone/>
            </a:pPr>
            <a:r>
              <a:rPr lang="en-US" sz="1000" dirty="0">
                <a:solidFill>
                  <a:srgbClr val="044BD9"/>
                </a:solidFill>
                <a:latin typeface="Poppins Medium" pitchFamily="34" charset="0"/>
                <a:ea typeface="Poppins Medium" pitchFamily="34" charset="-122"/>
                <a:cs typeface="Poppins Medium" pitchFamily="34" charset="-120"/>
              </a:rPr>
              <a:t>3</a:t>
            </a:r>
            <a:pPr algn="l" indent="0" marL="0">
              <a:lnSpc>
                <a:spcPts val="1450"/>
              </a:lnSpc>
              <a:buNone/>
            </a:pPr>
            <a:r>
              <a:rPr lang="en-US" sz="1000" dirty="0">
                <a:solidFill>
                  <a:srgbClr val="1F2937"/>
                </a:solidFill>
                <a:latin typeface="Poppins Light" pitchFamily="34" charset="0"/>
                <a:ea typeface="Poppins Light" pitchFamily="34" charset="-122"/>
                <a:cs typeface="Poppins Light" pitchFamily="34" charset="-120"/>
              </a:rPr>
              <a:t> content types per product: imagery, copy and listing variants</a:t>
            </a:r>
            <a:endParaRPr lang="en-US" sz="1000" dirty="0"/>
          </a:p>
        </p:txBody>
      </p:sp>
      <p:sp>
        <p:nvSpPr>
          <p:cNvPr id="108" name="Text"/>
          <p:cNvSpPr txBox="1"/>
          <p:nvPr/>
        </p:nvSpPr>
        <p:spPr>
          <a:xfrm>
            <a:off x="6287140" y="276240"/>
            <a:ext cx="708477"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Point of view</a:t>
            </a:r>
            <a:endParaRPr lang="en-US" sz="850" dirty="0"/>
          </a:p>
        </p:txBody>
      </p:sp>
      <p:sp>
        <p:nvSpPr>
          <p:cNvPr id="109" name="Text"/>
          <p:cNvSpPr txBox="1"/>
          <p:nvPr/>
        </p:nvSpPr>
        <p:spPr>
          <a:xfrm>
            <a:off x="7240494" y="276240"/>
            <a:ext cx="665958"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Who we are</a:t>
            </a:r>
            <a:endParaRPr lang="en-US" sz="850" dirty="0"/>
          </a:p>
        </p:txBody>
      </p:sp>
      <p:sp>
        <p:nvSpPr>
          <p:cNvPr id="110" name="Text"/>
          <p:cNvSpPr txBox="1"/>
          <p:nvPr/>
        </p:nvSpPr>
        <p:spPr>
          <a:xfrm>
            <a:off x="8151510" y="276240"/>
            <a:ext cx="671261"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What we do</a:t>
            </a:r>
            <a:endParaRPr lang="en-US" sz="850" dirty="0"/>
          </a:p>
        </p:txBody>
      </p:sp>
      <p:sp>
        <p:nvSpPr>
          <p:cNvPr id="111" name="Text"/>
          <p:cNvSpPr txBox="1"/>
          <p:nvPr/>
        </p:nvSpPr>
        <p:spPr>
          <a:xfrm>
            <a:off x="9067830" y="276240"/>
            <a:ext cx="1205728"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044BD9"/>
                </a:solidFill>
                <a:latin typeface="Poppins Medium" pitchFamily="34" charset="0"/>
                <a:ea typeface="Poppins Medium" pitchFamily="34" charset="-122"/>
                <a:cs typeface="Poppins Medium" pitchFamily="34" charset="-120"/>
              </a:rPr>
              <a:t>Sectors and products</a:t>
            </a:r>
            <a:endParaRPr lang="en-US" sz="850" dirty="0"/>
          </a:p>
        </p:txBody>
      </p:sp>
      <p:sp>
        <p:nvSpPr>
          <p:cNvPr id="112" name="Text"/>
          <p:cNvSpPr txBox="1"/>
          <p:nvPr/>
        </p:nvSpPr>
        <p:spPr>
          <a:xfrm>
            <a:off x="10516423" y="276240"/>
            <a:ext cx="298552"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Proof</a:t>
            </a:r>
            <a:endParaRPr lang="en-US" sz="850" dirty="0"/>
          </a:p>
        </p:txBody>
      </p:sp>
      <p:sp>
        <p:nvSpPr>
          <p:cNvPr id="113" name="Text"/>
          <p:cNvSpPr txBox="1"/>
          <p:nvPr/>
        </p:nvSpPr>
        <p:spPr>
          <a:xfrm>
            <a:off x="11061497" y="276240"/>
            <a:ext cx="433700"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Engage</a:t>
            </a:r>
            <a:endParaRPr lang="en-US" sz="850" dirty="0"/>
          </a:p>
        </p:txBody>
      </p:sp>
      <p:sp>
        <p:nvSpPr>
          <p:cNvPr id="114" name="Source"/>
          <p:cNvSpPr txBox="1"/>
          <p:nvPr/>
        </p:nvSpPr>
        <p:spPr>
          <a:xfrm>
            <a:off x="711220" y="6409030"/>
            <a:ext cx="8300740" cy="151150"/>
          </a:xfrm>
          <a:prstGeom prst="rect">
            <a:avLst/>
          </a:prstGeom>
          <a:noFill/>
          <a:ln/>
        </p:spPr>
        <p:txBody>
          <a:bodyPr wrap="square" lIns="0" tIns="0" rIns="0" bIns="0" rtlCol="0" anchor="t"/>
          <a:lstStyle/>
          <a:p>
            <a:pPr algn="l" indent="0" marL="0">
              <a:lnSpc>
                <a:spcPts val="1190"/>
              </a:lnSpc>
              <a:buNone/>
            </a:pPr>
            <a:r>
              <a:rPr lang="en-US" sz="850" dirty="0">
                <a:solidFill>
                  <a:srgbClr val="6B6B6B"/>
                </a:solidFill>
                <a:latin typeface="Poppins" pitchFamily="34" charset="0"/>
                <a:ea typeface="Poppins" pitchFamily="34" charset="-122"/>
                <a:cs typeface="Poppins" pitchFamily="34" charset="-120"/>
              </a:rPr>
              <a:t>Source: alphv.com/industries, its six sector pages and alphv.com/insights (October 2026). Six of the 16 industry verticals ALPHV serves.</a:t>
            </a:r>
            <a:endParaRPr lang="en-US" sz="850" dirty="0"/>
          </a:p>
        </p:txBody>
      </p:sp>
      <p:sp>
        <p:nvSpPr>
          <p:cNvPr id="115" name="Text"/>
          <p:cNvSpPr txBox="1"/>
          <p:nvPr/>
        </p:nvSpPr>
        <p:spPr>
          <a:xfrm>
            <a:off x="9374977" y="6409030"/>
            <a:ext cx="393741" cy="151150"/>
          </a:xfrm>
          <a:prstGeom prst="rect">
            <a:avLst/>
          </a:prstGeom>
          <a:noFill/>
          <a:ln/>
        </p:spPr>
        <p:txBody>
          <a:bodyPr wrap="none" lIns="0" tIns="0" rIns="0" bIns="0" rtlCol="0" anchor="t"/>
          <a:lstStyle/>
          <a:p>
            <a:pPr algn="l" indent="0" marL="0">
              <a:lnSpc>
                <a:spcPts val="1190"/>
              </a:lnSpc>
              <a:buNone/>
            </a:pPr>
            <a:r>
              <a:rPr lang="en-US" sz="850" spc="34" kern="0" dirty="0">
                <a:solidFill>
                  <a:srgbClr val="000000"/>
                </a:solidFill>
                <a:latin typeface="Poppins SemiBold" pitchFamily="34" charset="0"/>
                <a:ea typeface="Poppins SemiBold" pitchFamily="34" charset="-122"/>
                <a:cs typeface="Poppins SemiBold" pitchFamily="34" charset="-120"/>
              </a:rPr>
              <a:t>ALPHV</a:t>
            </a:r>
            <a:endParaRPr lang="en-US" sz="850" dirty="0"/>
          </a:p>
        </p:txBody>
      </p:sp>
      <p:sp>
        <p:nvSpPr>
          <p:cNvPr id="116" name="Text"/>
          <p:cNvSpPr txBox="1"/>
          <p:nvPr/>
        </p:nvSpPr>
        <p:spPr>
          <a:xfrm>
            <a:off x="9883018" y="6409030"/>
            <a:ext cx="1377178" cy="151150"/>
          </a:xfrm>
          <a:prstGeom prst="rect">
            <a:avLst/>
          </a:prstGeom>
          <a:noFill/>
          <a:ln/>
        </p:spPr>
        <p:txBody>
          <a:bodyPr wrap="none" lIns="0" tIns="0" rIns="0" bIns="0" rtlCol="0" anchor="t"/>
          <a:lstStyle/>
          <a:p>
            <a:pPr algn="l" indent="0" marL="0">
              <a:lnSpc>
                <a:spcPts val="1190"/>
              </a:lnSpc>
              <a:buNone/>
            </a:pPr>
            <a:r>
              <a:rPr lang="en-US" sz="850" dirty="0">
                <a:solidFill>
                  <a:srgbClr val="6B6B6B"/>
                </a:solidFill>
                <a:latin typeface="Poppins" pitchFamily="34" charset="0"/>
                <a:ea typeface="Poppins" pitchFamily="34" charset="-122"/>
                <a:cs typeface="Poppins" pitchFamily="34" charset="-120"/>
              </a:rPr>
              <a:t>Corporate overview 2026</a:t>
            </a:r>
            <a:endParaRPr lang="en-US" sz="850" dirty="0"/>
          </a:p>
        </p:txBody>
      </p:sp>
      <p:sp>
        <p:nvSpPr>
          <p:cNvPr id="117" name="Text"/>
          <p:cNvSpPr txBox="1"/>
          <p:nvPr/>
        </p:nvSpPr>
        <p:spPr>
          <a:xfrm>
            <a:off x="11374404" y="6409030"/>
            <a:ext cx="131765" cy="151150"/>
          </a:xfrm>
          <a:prstGeom prst="rect">
            <a:avLst/>
          </a:prstGeom>
          <a:noFill/>
          <a:ln/>
        </p:spPr>
        <p:txBody>
          <a:bodyPr wrap="none" lIns="0" tIns="0" rIns="0" bIns="0" rtlCol="0" anchor="t"/>
          <a:lstStyle/>
          <a:p>
            <a:pPr algn="l" indent="0" marL="0">
              <a:lnSpc>
                <a:spcPts val="1190"/>
              </a:lnSpc>
              <a:buNone/>
            </a:pPr>
            <a:r>
              <a:rPr lang="en-US" sz="850" dirty="0">
                <a:solidFill>
                  <a:srgbClr val="000000"/>
                </a:solidFill>
                <a:latin typeface="Poppins Medium" pitchFamily="34" charset="0"/>
                <a:ea typeface="Poppins Medium" pitchFamily="34" charset="-122"/>
                <a:cs typeface="Poppins Medium" pitchFamily="34" charset="-120"/>
              </a:rPr>
              <a:t>19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8F9FA"/>
        </a:solidFill>
      </p:bgPr>
    </p:bg>
    <p:spTree>
      <p:nvGrpSpPr>
        <p:cNvPr id="1" name=""/>
        <p:cNvGrpSpPr/>
        <p:nvPr/>
      </p:nvGrpSpPr>
      <p:grpSpPr>
        <a:xfrm>
          <a:off x="0" y="0"/>
          <a:ext cx="0" cy="0"/>
          <a:chOff x="0" y="0"/>
          <a:chExt cx="0" cy="0"/>
        </a:xfrm>
      </p:grpSpPr>
      <p:sp>
        <p:nvSpPr>
          <p:cNvPr id="2" name="badge"/>
          <p:cNvSpPr/>
          <p:nvPr/>
        </p:nvSpPr>
        <p:spPr>
          <a:xfrm>
            <a:off x="714421" y="536570"/>
            <a:ext cx="806958" cy="254020"/>
          </a:xfrm>
          <a:prstGeom prst="roundRect">
            <a:avLst>
              <a:gd name="adj" fmla="val 50000"/>
            </a:avLst>
          </a:prstGeom>
          <a:ln w="6350">
            <a:solidFill>
              <a:srgbClr val="155DFC"/>
            </a:solidFill>
            <a:prstDash val="solid"/>
          </a:ln>
        </p:spPr>
      </p:sp>
      <p:sp>
        <p:nvSpPr>
          <p:cNvPr id="3" name="Rule"/>
          <p:cNvSpPr/>
          <p:nvPr/>
        </p:nvSpPr>
        <p:spPr>
          <a:xfrm>
            <a:off x="711220" y="2080260"/>
            <a:ext cx="1270010" cy="0"/>
          </a:xfrm>
          <a:prstGeom prst="line">
            <a:avLst/>
          </a:prstGeom>
          <a:noFill/>
          <a:ln w="12700">
            <a:solidFill>
              <a:srgbClr val="000000"/>
            </a:solidFill>
            <a:prstDash val="solid"/>
          </a:ln>
        </p:spPr>
      </p:sp>
      <p:sp>
        <p:nvSpPr>
          <p:cNvPr id="4" name="card"/>
          <p:cNvSpPr/>
          <p:nvPr/>
        </p:nvSpPr>
        <p:spPr>
          <a:xfrm>
            <a:off x="2162190" y="2077060"/>
            <a:ext cx="9315450" cy="596097"/>
          </a:xfrm>
          <a:prstGeom prst="roundRect">
            <a:avLst>
              <a:gd name="adj" fmla="val 25035"/>
            </a:avLst>
          </a:prstGeom>
          <a:solidFill>
            <a:srgbClr val="FFFFFF"/>
          </a:solidFill>
          <a:ln w="6350">
            <a:solidFill>
              <a:srgbClr val="F0F0F0"/>
            </a:solidFill>
            <a:prstDash val="solid"/>
          </a:ln>
        </p:spPr>
      </p:sp>
      <p:sp>
        <p:nvSpPr>
          <p:cNvPr id="5" name="tile"/>
          <p:cNvSpPr/>
          <p:nvPr/>
        </p:nvSpPr>
        <p:spPr>
          <a:xfrm>
            <a:off x="2317730" y="2184593"/>
            <a:ext cx="381030" cy="381030"/>
          </a:xfrm>
          <a:prstGeom prst="roundRect">
            <a:avLst>
              <a:gd name="adj" fmla="val 29998"/>
            </a:avLst>
          </a:prstGeom>
          <a:solidFill>
            <a:srgbClr val="044BD9"/>
          </a:solidFill>
          <a:ln/>
        </p:spPr>
      </p:sp>
      <p:pic>
        <p:nvPicPr>
          <p:cNvPr id="6" name="Icon" descr="/tmp/deck-pptx-47cOtg/icon-60.png">    </p:cNvPr>
          <p:cNvPicPr>
            <a:picLocks noChangeAspect="1"/>
          </p:cNvPicPr>
          <p:nvPr/>
        </p:nvPicPr>
        <p:blipFill>
          <a:blip r:embed="rId1"/>
          <a:stretch>
            <a:fillRect/>
          </a:stretch>
        </p:blipFill>
        <p:spPr>
          <a:xfrm>
            <a:off x="2419320" y="2286183"/>
            <a:ext cx="177759" cy="177759"/>
          </a:xfrm>
          <a:prstGeom prst="rect">
            <a:avLst/>
          </a:prstGeom>
        </p:spPr>
      </p:pic>
      <p:sp>
        <p:nvSpPr>
          <p:cNvPr id="7" name="tag"/>
          <p:cNvSpPr/>
          <p:nvPr/>
        </p:nvSpPr>
        <p:spPr>
          <a:xfrm>
            <a:off x="4157045" y="2376160"/>
            <a:ext cx="605973" cy="177759"/>
          </a:xfrm>
          <a:prstGeom prst="roundRect">
            <a:avLst>
              <a:gd name="adj" fmla="val 50000"/>
            </a:avLst>
          </a:prstGeom>
          <a:solidFill>
            <a:srgbClr val="FFFFFF"/>
          </a:solidFill>
          <a:ln w="6350">
            <a:solidFill>
              <a:srgbClr val="155DFC"/>
            </a:solidFill>
            <a:prstDash val="solid"/>
          </a:ln>
        </p:spPr>
      </p:sp>
      <p:sp>
        <p:nvSpPr>
          <p:cNvPr id="8" name="li::before"/>
          <p:cNvSpPr/>
          <p:nvPr/>
        </p:nvSpPr>
        <p:spPr>
          <a:xfrm>
            <a:off x="8337591" y="2256191"/>
            <a:ext cx="57150" cy="57150"/>
          </a:xfrm>
          <a:prstGeom prst="rect">
            <a:avLst/>
          </a:prstGeom>
          <a:solidFill>
            <a:srgbClr val="044BD9"/>
          </a:solidFill>
          <a:ln/>
        </p:spPr>
      </p:sp>
      <p:sp>
        <p:nvSpPr>
          <p:cNvPr id="9" name="li::before"/>
          <p:cNvSpPr/>
          <p:nvPr/>
        </p:nvSpPr>
        <p:spPr>
          <a:xfrm>
            <a:off x="8337591" y="2462571"/>
            <a:ext cx="57150" cy="57150"/>
          </a:xfrm>
          <a:prstGeom prst="rect">
            <a:avLst/>
          </a:prstGeom>
          <a:solidFill>
            <a:srgbClr val="044BD9"/>
          </a:solidFill>
          <a:ln/>
        </p:spPr>
      </p:sp>
      <p:sp>
        <p:nvSpPr>
          <p:cNvPr id="10" name="card"/>
          <p:cNvSpPr/>
          <p:nvPr/>
        </p:nvSpPr>
        <p:spPr>
          <a:xfrm>
            <a:off x="2162190" y="2755727"/>
            <a:ext cx="9315450" cy="596097"/>
          </a:xfrm>
          <a:prstGeom prst="roundRect">
            <a:avLst>
              <a:gd name="adj" fmla="val 25035"/>
            </a:avLst>
          </a:prstGeom>
          <a:solidFill>
            <a:srgbClr val="FFFFFF"/>
          </a:solidFill>
          <a:ln w="6350">
            <a:solidFill>
              <a:srgbClr val="F0F0F0"/>
            </a:solidFill>
            <a:prstDash val="solid"/>
          </a:ln>
        </p:spPr>
      </p:sp>
      <p:sp>
        <p:nvSpPr>
          <p:cNvPr id="11" name="tile"/>
          <p:cNvSpPr/>
          <p:nvPr/>
        </p:nvSpPr>
        <p:spPr>
          <a:xfrm>
            <a:off x="2317730" y="2863261"/>
            <a:ext cx="381030" cy="381030"/>
          </a:xfrm>
          <a:prstGeom prst="roundRect">
            <a:avLst>
              <a:gd name="adj" fmla="val 29998"/>
            </a:avLst>
          </a:prstGeom>
          <a:solidFill>
            <a:srgbClr val="044BD9"/>
          </a:solidFill>
          <a:ln/>
        </p:spPr>
      </p:sp>
      <p:pic>
        <p:nvPicPr>
          <p:cNvPr id="12" name="Icon" descr="/tmp/deck-pptx-47cOtg/icon-61.png">    </p:cNvPr>
          <p:cNvPicPr>
            <a:picLocks noChangeAspect="1"/>
          </p:cNvPicPr>
          <p:nvPr/>
        </p:nvPicPr>
        <p:blipFill>
          <a:blip r:embed="rId2"/>
          <a:stretch>
            <a:fillRect/>
          </a:stretch>
        </p:blipFill>
        <p:spPr>
          <a:xfrm>
            <a:off x="2419320" y="2964851"/>
            <a:ext cx="177759" cy="177759"/>
          </a:xfrm>
          <a:prstGeom prst="rect">
            <a:avLst/>
          </a:prstGeom>
        </p:spPr>
      </p:pic>
      <p:sp>
        <p:nvSpPr>
          <p:cNvPr id="13" name="li::before"/>
          <p:cNvSpPr/>
          <p:nvPr/>
        </p:nvSpPr>
        <p:spPr>
          <a:xfrm>
            <a:off x="8337591" y="2934858"/>
            <a:ext cx="57150" cy="57150"/>
          </a:xfrm>
          <a:prstGeom prst="rect">
            <a:avLst/>
          </a:prstGeom>
          <a:solidFill>
            <a:srgbClr val="044BD9"/>
          </a:solidFill>
          <a:ln/>
        </p:spPr>
      </p:sp>
      <p:sp>
        <p:nvSpPr>
          <p:cNvPr id="14" name="li::before"/>
          <p:cNvSpPr/>
          <p:nvPr/>
        </p:nvSpPr>
        <p:spPr>
          <a:xfrm>
            <a:off x="8337591" y="3141238"/>
            <a:ext cx="57150" cy="57150"/>
          </a:xfrm>
          <a:prstGeom prst="rect">
            <a:avLst/>
          </a:prstGeom>
          <a:solidFill>
            <a:srgbClr val="044BD9"/>
          </a:solidFill>
          <a:ln/>
        </p:spPr>
      </p:sp>
      <p:sp>
        <p:nvSpPr>
          <p:cNvPr id="15" name="card"/>
          <p:cNvSpPr/>
          <p:nvPr/>
        </p:nvSpPr>
        <p:spPr>
          <a:xfrm>
            <a:off x="2162190" y="3434395"/>
            <a:ext cx="9315450" cy="596189"/>
          </a:xfrm>
          <a:prstGeom prst="roundRect">
            <a:avLst>
              <a:gd name="adj" fmla="val 25031"/>
            </a:avLst>
          </a:prstGeom>
          <a:solidFill>
            <a:srgbClr val="FFFFFF"/>
          </a:solidFill>
          <a:ln w="6350">
            <a:solidFill>
              <a:srgbClr val="F0F0F0"/>
            </a:solidFill>
            <a:prstDash val="solid"/>
          </a:ln>
        </p:spPr>
      </p:sp>
      <p:sp>
        <p:nvSpPr>
          <p:cNvPr id="16" name="tile"/>
          <p:cNvSpPr/>
          <p:nvPr/>
        </p:nvSpPr>
        <p:spPr>
          <a:xfrm>
            <a:off x="2317730" y="3541928"/>
            <a:ext cx="381030" cy="381030"/>
          </a:xfrm>
          <a:prstGeom prst="roundRect">
            <a:avLst>
              <a:gd name="adj" fmla="val 29998"/>
            </a:avLst>
          </a:prstGeom>
          <a:solidFill>
            <a:srgbClr val="044BD9"/>
          </a:solidFill>
          <a:ln/>
        </p:spPr>
      </p:sp>
      <p:pic>
        <p:nvPicPr>
          <p:cNvPr id="17" name="Icon" descr="/tmp/deck-pptx-47cOtg/icon-62.png">    </p:cNvPr>
          <p:cNvPicPr>
            <a:picLocks noChangeAspect="1"/>
          </p:cNvPicPr>
          <p:nvPr/>
        </p:nvPicPr>
        <p:blipFill>
          <a:blip r:embed="rId3"/>
          <a:stretch>
            <a:fillRect/>
          </a:stretch>
        </p:blipFill>
        <p:spPr>
          <a:xfrm>
            <a:off x="2419320" y="3643518"/>
            <a:ext cx="177759" cy="177759"/>
          </a:xfrm>
          <a:prstGeom prst="rect">
            <a:avLst/>
          </a:prstGeom>
        </p:spPr>
      </p:pic>
      <p:sp>
        <p:nvSpPr>
          <p:cNvPr id="18" name="li::before"/>
          <p:cNvSpPr/>
          <p:nvPr/>
        </p:nvSpPr>
        <p:spPr>
          <a:xfrm>
            <a:off x="8337591" y="3613526"/>
            <a:ext cx="57150" cy="57150"/>
          </a:xfrm>
          <a:prstGeom prst="rect">
            <a:avLst/>
          </a:prstGeom>
          <a:solidFill>
            <a:srgbClr val="044BD9"/>
          </a:solidFill>
          <a:ln/>
        </p:spPr>
      </p:sp>
      <p:sp>
        <p:nvSpPr>
          <p:cNvPr id="19" name="li::before"/>
          <p:cNvSpPr/>
          <p:nvPr/>
        </p:nvSpPr>
        <p:spPr>
          <a:xfrm>
            <a:off x="8337591" y="3819906"/>
            <a:ext cx="57150" cy="57150"/>
          </a:xfrm>
          <a:prstGeom prst="rect">
            <a:avLst/>
          </a:prstGeom>
          <a:solidFill>
            <a:srgbClr val="044BD9"/>
          </a:solidFill>
          <a:ln/>
        </p:spPr>
      </p:sp>
      <p:sp>
        <p:nvSpPr>
          <p:cNvPr id="20" name="Rule"/>
          <p:cNvSpPr/>
          <p:nvPr/>
        </p:nvSpPr>
        <p:spPr>
          <a:xfrm>
            <a:off x="711220" y="4192524"/>
            <a:ext cx="1270010" cy="0"/>
          </a:xfrm>
          <a:prstGeom prst="line">
            <a:avLst/>
          </a:prstGeom>
          <a:noFill/>
          <a:ln w="12700">
            <a:solidFill>
              <a:srgbClr val="000000"/>
            </a:solidFill>
            <a:prstDash val="solid"/>
          </a:ln>
        </p:spPr>
      </p:sp>
      <p:sp>
        <p:nvSpPr>
          <p:cNvPr id="21" name="card"/>
          <p:cNvSpPr/>
          <p:nvPr/>
        </p:nvSpPr>
        <p:spPr>
          <a:xfrm>
            <a:off x="2162190" y="4189324"/>
            <a:ext cx="9315450" cy="519928"/>
          </a:xfrm>
          <a:prstGeom prst="roundRect">
            <a:avLst>
              <a:gd name="adj" fmla="val 28702"/>
            </a:avLst>
          </a:prstGeom>
          <a:solidFill>
            <a:srgbClr val="FFFFFF"/>
          </a:solidFill>
          <a:ln w="6350">
            <a:solidFill>
              <a:srgbClr val="F0F0F0"/>
            </a:solidFill>
            <a:prstDash val="solid"/>
          </a:ln>
        </p:spPr>
      </p:sp>
      <p:sp>
        <p:nvSpPr>
          <p:cNvPr id="22" name="tile"/>
          <p:cNvSpPr/>
          <p:nvPr/>
        </p:nvSpPr>
        <p:spPr>
          <a:xfrm>
            <a:off x="2317730" y="4287713"/>
            <a:ext cx="381030" cy="381030"/>
          </a:xfrm>
          <a:prstGeom prst="roundRect">
            <a:avLst>
              <a:gd name="adj" fmla="val 29998"/>
            </a:avLst>
          </a:prstGeom>
          <a:solidFill>
            <a:srgbClr val="044BD9"/>
          </a:solidFill>
          <a:ln/>
        </p:spPr>
      </p:sp>
      <p:pic>
        <p:nvPicPr>
          <p:cNvPr id="23" name="Icon" descr="/tmp/deck-pptx-47cOtg/icon-63.png">    </p:cNvPr>
          <p:cNvPicPr>
            <a:picLocks noChangeAspect="1"/>
          </p:cNvPicPr>
          <p:nvPr/>
        </p:nvPicPr>
        <p:blipFill>
          <a:blip r:embed="rId4"/>
          <a:stretch>
            <a:fillRect/>
          </a:stretch>
        </p:blipFill>
        <p:spPr>
          <a:xfrm>
            <a:off x="2419320" y="4389303"/>
            <a:ext cx="177759" cy="177759"/>
          </a:xfrm>
          <a:prstGeom prst="rect">
            <a:avLst/>
          </a:prstGeom>
        </p:spPr>
      </p:pic>
      <p:sp>
        <p:nvSpPr>
          <p:cNvPr id="24" name="tag"/>
          <p:cNvSpPr/>
          <p:nvPr/>
        </p:nvSpPr>
        <p:spPr>
          <a:xfrm>
            <a:off x="4049329" y="4479371"/>
            <a:ext cx="605973" cy="177759"/>
          </a:xfrm>
          <a:prstGeom prst="roundRect">
            <a:avLst>
              <a:gd name="adj" fmla="val 50000"/>
            </a:avLst>
          </a:prstGeom>
          <a:solidFill>
            <a:srgbClr val="FFFFFF"/>
          </a:solidFill>
          <a:ln w="6350">
            <a:solidFill>
              <a:srgbClr val="155DFC"/>
            </a:solidFill>
            <a:prstDash val="solid"/>
          </a:ln>
        </p:spPr>
      </p:sp>
      <p:sp>
        <p:nvSpPr>
          <p:cNvPr id="25" name="li::before"/>
          <p:cNvSpPr/>
          <p:nvPr/>
        </p:nvSpPr>
        <p:spPr>
          <a:xfrm>
            <a:off x="8337591" y="4359402"/>
            <a:ext cx="57150" cy="57150"/>
          </a:xfrm>
          <a:prstGeom prst="rect">
            <a:avLst/>
          </a:prstGeom>
          <a:solidFill>
            <a:srgbClr val="044BD9"/>
          </a:solidFill>
          <a:ln/>
        </p:spPr>
      </p:sp>
      <p:sp>
        <p:nvSpPr>
          <p:cNvPr id="26" name="li::before"/>
          <p:cNvSpPr/>
          <p:nvPr/>
        </p:nvSpPr>
        <p:spPr>
          <a:xfrm>
            <a:off x="8337591" y="4565782"/>
            <a:ext cx="57150" cy="57150"/>
          </a:xfrm>
          <a:prstGeom prst="rect">
            <a:avLst/>
          </a:prstGeom>
          <a:solidFill>
            <a:srgbClr val="044BD9"/>
          </a:solidFill>
          <a:ln/>
        </p:spPr>
      </p:sp>
      <p:sp>
        <p:nvSpPr>
          <p:cNvPr id="27" name="card"/>
          <p:cNvSpPr/>
          <p:nvPr/>
        </p:nvSpPr>
        <p:spPr>
          <a:xfrm>
            <a:off x="2162190" y="4791730"/>
            <a:ext cx="9315450" cy="596097"/>
          </a:xfrm>
          <a:prstGeom prst="roundRect">
            <a:avLst>
              <a:gd name="adj" fmla="val 25035"/>
            </a:avLst>
          </a:prstGeom>
          <a:solidFill>
            <a:srgbClr val="FFFFFF"/>
          </a:solidFill>
          <a:ln w="6350">
            <a:solidFill>
              <a:srgbClr val="F0F0F0"/>
            </a:solidFill>
            <a:prstDash val="solid"/>
          </a:ln>
        </p:spPr>
      </p:sp>
      <p:sp>
        <p:nvSpPr>
          <p:cNvPr id="28" name="tile"/>
          <p:cNvSpPr/>
          <p:nvPr/>
        </p:nvSpPr>
        <p:spPr>
          <a:xfrm>
            <a:off x="2317730" y="4899355"/>
            <a:ext cx="381030" cy="381030"/>
          </a:xfrm>
          <a:prstGeom prst="roundRect">
            <a:avLst>
              <a:gd name="adj" fmla="val 29998"/>
            </a:avLst>
          </a:prstGeom>
          <a:solidFill>
            <a:srgbClr val="044BD9"/>
          </a:solidFill>
          <a:ln/>
        </p:spPr>
      </p:sp>
      <p:pic>
        <p:nvPicPr>
          <p:cNvPr id="29" name="Icon" descr="/tmp/deck-pptx-47cOtg/icon-64.png">    </p:cNvPr>
          <p:cNvPicPr>
            <a:picLocks noChangeAspect="1"/>
          </p:cNvPicPr>
          <p:nvPr/>
        </p:nvPicPr>
        <p:blipFill>
          <a:blip r:embed="rId5"/>
          <a:stretch>
            <a:fillRect/>
          </a:stretch>
        </p:blipFill>
        <p:spPr>
          <a:xfrm>
            <a:off x="2419320" y="5000945"/>
            <a:ext cx="177759" cy="177759"/>
          </a:xfrm>
          <a:prstGeom prst="rect">
            <a:avLst/>
          </a:prstGeom>
        </p:spPr>
      </p:pic>
      <p:sp>
        <p:nvSpPr>
          <p:cNvPr id="30" name="li::before"/>
          <p:cNvSpPr/>
          <p:nvPr/>
        </p:nvSpPr>
        <p:spPr>
          <a:xfrm>
            <a:off x="8337591" y="4970953"/>
            <a:ext cx="57150" cy="57150"/>
          </a:xfrm>
          <a:prstGeom prst="rect">
            <a:avLst/>
          </a:prstGeom>
          <a:solidFill>
            <a:srgbClr val="044BD9"/>
          </a:solidFill>
          <a:ln/>
        </p:spPr>
      </p:sp>
      <p:sp>
        <p:nvSpPr>
          <p:cNvPr id="31" name="li::before"/>
          <p:cNvSpPr/>
          <p:nvPr/>
        </p:nvSpPr>
        <p:spPr>
          <a:xfrm>
            <a:off x="8337591" y="5177333"/>
            <a:ext cx="57150" cy="57150"/>
          </a:xfrm>
          <a:prstGeom prst="rect">
            <a:avLst/>
          </a:prstGeom>
          <a:solidFill>
            <a:srgbClr val="044BD9"/>
          </a:solidFill>
          <a:ln/>
        </p:spPr>
      </p:sp>
      <p:sp>
        <p:nvSpPr>
          <p:cNvPr id="32" name="Rule"/>
          <p:cNvSpPr/>
          <p:nvPr/>
        </p:nvSpPr>
        <p:spPr>
          <a:xfrm>
            <a:off x="711220" y="5546659"/>
            <a:ext cx="1270010" cy="0"/>
          </a:xfrm>
          <a:prstGeom prst="line">
            <a:avLst/>
          </a:prstGeom>
          <a:noFill/>
          <a:ln w="6350">
            <a:solidFill>
              <a:srgbClr val="E3E6EC"/>
            </a:solidFill>
            <a:prstDash val="solid"/>
          </a:ln>
        </p:spPr>
      </p:sp>
      <p:sp>
        <p:nvSpPr>
          <p:cNvPr id="33" name="Rule"/>
          <p:cNvSpPr/>
          <p:nvPr/>
        </p:nvSpPr>
        <p:spPr>
          <a:xfrm>
            <a:off x="2158990" y="5546659"/>
            <a:ext cx="9321759" cy="0"/>
          </a:xfrm>
          <a:prstGeom prst="line">
            <a:avLst/>
          </a:prstGeom>
          <a:noFill/>
          <a:ln w="6350">
            <a:solidFill>
              <a:srgbClr val="E3E6EC"/>
            </a:solidFill>
            <a:prstDash val="solid"/>
          </a:ln>
        </p:spPr>
      </p:sp>
      <p:sp>
        <p:nvSpPr>
          <p:cNvPr id="34" name="span::before"/>
          <p:cNvSpPr/>
          <p:nvPr/>
        </p:nvSpPr>
        <p:spPr>
          <a:xfrm>
            <a:off x="6191860" y="311170"/>
            <a:ext cx="44440" cy="44440"/>
          </a:xfrm>
          <a:prstGeom prst="rect">
            <a:avLst/>
          </a:prstGeom>
          <a:solidFill>
            <a:srgbClr val="A0A6AF">
              <a:alpha val="55000"/>
            </a:srgbClr>
          </a:solidFill>
          <a:ln/>
        </p:spPr>
      </p:sp>
      <p:sp>
        <p:nvSpPr>
          <p:cNvPr id="35" name="span::before"/>
          <p:cNvSpPr/>
          <p:nvPr/>
        </p:nvSpPr>
        <p:spPr>
          <a:xfrm>
            <a:off x="7145213" y="311170"/>
            <a:ext cx="44440" cy="44440"/>
          </a:xfrm>
          <a:prstGeom prst="rect">
            <a:avLst/>
          </a:prstGeom>
          <a:solidFill>
            <a:srgbClr val="A0A6AF">
              <a:alpha val="55000"/>
            </a:srgbClr>
          </a:solidFill>
          <a:ln/>
        </p:spPr>
      </p:sp>
      <p:sp>
        <p:nvSpPr>
          <p:cNvPr id="36" name="span::before"/>
          <p:cNvSpPr/>
          <p:nvPr/>
        </p:nvSpPr>
        <p:spPr>
          <a:xfrm>
            <a:off x="8056230" y="311170"/>
            <a:ext cx="44440" cy="44440"/>
          </a:xfrm>
          <a:prstGeom prst="rect">
            <a:avLst/>
          </a:prstGeom>
          <a:solidFill>
            <a:srgbClr val="A0A6AF">
              <a:alpha val="55000"/>
            </a:srgbClr>
          </a:solidFill>
          <a:ln/>
        </p:spPr>
      </p:sp>
      <p:sp>
        <p:nvSpPr>
          <p:cNvPr id="37" name="on::before"/>
          <p:cNvSpPr/>
          <p:nvPr/>
        </p:nvSpPr>
        <p:spPr>
          <a:xfrm>
            <a:off x="8972550" y="311170"/>
            <a:ext cx="44440" cy="44440"/>
          </a:xfrm>
          <a:prstGeom prst="rect">
            <a:avLst/>
          </a:prstGeom>
          <a:solidFill>
            <a:srgbClr val="044BD9"/>
          </a:solidFill>
          <a:ln/>
        </p:spPr>
      </p:sp>
      <p:sp>
        <p:nvSpPr>
          <p:cNvPr id="38" name="span::before"/>
          <p:cNvSpPr/>
          <p:nvPr/>
        </p:nvSpPr>
        <p:spPr>
          <a:xfrm>
            <a:off x="10421142" y="311170"/>
            <a:ext cx="44440" cy="44440"/>
          </a:xfrm>
          <a:prstGeom prst="rect">
            <a:avLst/>
          </a:prstGeom>
          <a:solidFill>
            <a:srgbClr val="A0A6AF">
              <a:alpha val="55000"/>
            </a:srgbClr>
          </a:solidFill>
          <a:ln/>
        </p:spPr>
      </p:sp>
      <p:sp>
        <p:nvSpPr>
          <p:cNvPr id="39" name="span::before"/>
          <p:cNvSpPr/>
          <p:nvPr/>
        </p:nvSpPr>
        <p:spPr>
          <a:xfrm>
            <a:off x="10966216" y="311170"/>
            <a:ext cx="44440" cy="44440"/>
          </a:xfrm>
          <a:prstGeom prst="rect">
            <a:avLst/>
          </a:prstGeom>
          <a:solidFill>
            <a:srgbClr val="A0A6AF">
              <a:alpha val="55000"/>
            </a:srgbClr>
          </a:solidFill>
          <a:ln/>
        </p:spPr>
      </p:sp>
      <p:sp>
        <p:nvSpPr>
          <p:cNvPr id="40" name="Text"/>
          <p:cNvSpPr txBox="1"/>
          <p:nvPr/>
        </p:nvSpPr>
        <p:spPr>
          <a:xfrm>
            <a:off x="844540" y="603230"/>
            <a:ext cx="571957" cy="120609"/>
          </a:xfrm>
          <a:prstGeom prst="rect">
            <a:avLst/>
          </a:prstGeom>
          <a:noFill/>
          <a:ln/>
        </p:spPr>
        <p:txBody>
          <a:bodyPr wrap="none" lIns="0" tIns="0" rIns="0" bIns="0" rtlCol="0" anchor="t"/>
          <a:lstStyle/>
          <a:p>
            <a:pPr algn="l" indent="0" marL="0">
              <a:lnSpc>
                <a:spcPts val="950"/>
              </a:lnSpc>
              <a:buNone/>
            </a:pPr>
            <a:r>
              <a:rPr lang="en-US" sz="950" spc="10" kern="0" dirty="0">
                <a:solidFill>
                  <a:srgbClr val="155DFC"/>
                </a:solidFill>
                <a:latin typeface="Poppins Medium" pitchFamily="34" charset="0"/>
                <a:ea typeface="Poppins Medium" pitchFamily="34" charset="-122"/>
                <a:cs typeface="Poppins Medium" pitchFamily="34" charset="-120"/>
              </a:rPr>
              <a:t>Products</a:t>
            </a:r>
            <a:endParaRPr lang="en-US" sz="950" dirty="0"/>
          </a:p>
        </p:txBody>
      </p:sp>
      <p:sp>
        <p:nvSpPr>
          <p:cNvPr id="41" name="Title"/>
          <p:cNvSpPr txBox="1"/>
          <p:nvPr/>
        </p:nvSpPr>
        <p:spPr>
          <a:xfrm>
            <a:off x="711220" y="927750"/>
            <a:ext cx="9398020" cy="861090"/>
          </a:xfrm>
          <a:prstGeom prst="rect">
            <a:avLst/>
          </a:prstGeom>
          <a:noFill/>
          <a:ln/>
        </p:spPr>
        <p:txBody>
          <a:bodyPr wrap="square" lIns="0" tIns="0" rIns="0" bIns="0" rtlCol="0" anchor="t"/>
          <a:lstStyle/>
          <a:p>
            <a:pPr algn="l" indent="0" marL="0">
              <a:lnSpc>
                <a:spcPts val="3390"/>
              </a:lnSpc>
              <a:buNone/>
            </a:pPr>
            <a:r>
              <a:rPr lang="en-US" sz="3000" spc="-45" kern="0" dirty="0">
                <a:solidFill>
                  <a:srgbClr val="000000"/>
                </a:solidFill>
                <a:latin typeface="Poppins Medium" pitchFamily="34" charset="0"/>
                <a:ea typeface="Poppins Medium" pitchFamily="34" charset="-122"/>
                <a:cs typeface="Poppins Medium" pitchFamily="34" charset="-120"/>
              </a:rPr>
              <a:t>Five products give engagements</a:t>
            </a:r>
            <a:endParaRPr lang="en-US" sz="3000" dirty="0"/>
          </a:p>
          <a:p>
            <a:pPr algn="l" indent="0" marL="0">
              <a:lnSpc>
                <a:spcPts val="3390"/>
              </a:lnSpc>
              <a:buNone/>
            </a:pPr>
            <a:r>
              <a:rPr lang="en-US" sz="3000" spc="-45" kern="0" dirty="0">
                <a:solidFill>
                  <a:srgbClr val="000000"/>
                </a:solidFill>
                <a:latin typeface="Poppins Medium" pitchFamily="34" charset="0"/>
                <a:ea typeface="Poppins Medium" pitchFamily="34" charset="-122"/>
                <a:cs typeface="Poppins Medium" pitchFamily="34" charset="-120"/>
              </a:rPr>
              <a:t>a working starting point</a:t>
            </a:r>
            <a:endParaRPr lang="en-US" sz="3000" dirty="0"/>
          </a:p>
        </p:txBody>
      </p:sp>
      <p:sp>
        <p:nvSpPr>
          <p:cNvPr id="42" name="Text"/>
          <p:cNvSpPr txBox="1"/>
          <p:nvPr/>
        </p:nvSpPr>
        <p:spPr>
          <a:xfrm>
            <a:off x="711220" y="2185782"/>
            <a:ext cx="1287750" cy="365120"/>
          </a:xfrm>
          <a:prstGeom prst="rect">
            <a:avLst/>
          </a:prstGeom>
          <a:noFill/>
          <a:ln/>
        </p:spPr>
        <p:txBody>
          <a:bodyPr wrap="square" lIns="0" tIns="0" rIns="0" bIns="0" rtlCol="0" anchor="t"/>
          <a:lstStyle/>
          <a:p>
            <a:pPr algn="l" indent="0" marL="0">
              <a:lnSpc>
                <a:spcPts val="1438"/>
              </a:lnSpc>
              <a:buNone/>
            </a:pPr>
            <a:r>
              <a:rPr lang="en-US" sz="1150" dirty="0">
                <a:solidFill>
                  <a:srgbClr val="000000"/>
                </a:solidFill>
                <a:latin typeface="Poppins Medium" pitchFamily="34" charset="0"/>
                <a:ea typeface="Poppins Medium" pitchFamily="34" charset="-122"/>
                <a:cs typeface="Poppins Medium" pitchFamily="34" charset="-120"/>
              </a:rPr>
              <a:t>The Kiralytics family</a:t>
            </a:r>
            <a:endParaRPr lang="en-US" sz="1150" dirty="0"/>
          </a:p>
        </p:txBody>
      </p:sp>
      <p:sp>
        <p:nvSpPr>
          <p:cNvPr id="43" name="Text"/>
          <p:cNvSpPr txBox="1"/>
          <p:nvPr/>
        </p:nvSpPr>
        <p:spPr>
          <a:xfrm>
            <a:off x="711220" y="2586289"/>
            <a:ext cx="1287750" cy="675650"/>
          </a:xfrm>
          <a:prstGeom prst="rect">
            <a:avLst/>
          </a:prstGeom>
          <a:noFill/>
          <a:ln/>
        </p:spPr>
        <p:txBody>
          <a:bodyPr wrap="square" lIns="0" tIns="0" rIns="0" bIns="0" rtlCol="0" anchor="t"/>
          <a:lstStyle/>
          <a:p>
            <a:pPr algn="l" indent="0" marL="0">
              <a:lnSpc>
                <a:spcPts val="1330"/>
              </a:lnSpc>
              <a:buNone/>
            </a:pPr>
            <a:r>
              <a:rPr lang="en-US" sz="950" dirty="0">
                <a:solidFill>
                  <a:srgbClr val="6B6B6B"/>
                </a:solidFill>
                <a:latin typeface="Poppins Light" pitchFamily="34" charset="0"/>
                <a:ea typeface="Poppins Light" pitchFamily="34" charset="-122"/>
                <a:cs typeface="Poppins Light" pitchFamily="34" charset="-120"/>
              </a:rPr>
              <a:t>Analytics for workforces, shop floors, roads and brands</a:t>
            </a:r>
            <a:endParaRPr lang="en-US" sz="950" dirty="0"/>
          </a:p>
        </p:txBody>
      </p:sp>
      <p:sp>
        <p:nvSpPr>
          <p:cNvPr id="44" name="Text"/>
          <p:cNvSpPr txBox="1"/>
          <p:nvPr/>
        </p:nvSpPr>
        <p:spPr>
          <a:xfrm>
            <a:off x="2813060" y="2186422"/>
            <a:ext cx="1973641" cy="167335"/>
          </a:xfrm>
          <a:prstGeom prst="rect">
            <a:avLst/>
          </a:prstGeom>
          <a:noFill/>
          <a:ln/>
        </p:spPr>
        <p:txBody>
          <a:bodyPr wrap="square" lIns="0" tIns="0" rIns="0" bIns="0" rtlCol="0" anchor="t"/>
          <a:lstStyle/>
          <a:p>
            <a:pPr algn="l" indent="0" marL="0">
              <a:lnSpc>
                <a:spcPts val="1318"/>
              </a:lnSpc>
              <a:buNone/>
            </a:pPr>
            <a:r>
              <a:rPr lang="en-US" sz="850" spc="17" kern="0" dirty="0">
                <a:solidFill>
                  <a:srgbClr val="044BD9"/>
                </a:solidFill>
                <a:latin typeface="Poppins Medium" pitchFamily="34" charset="0"/>
                <a:ea typeface="Poppins Medium" pitchFamily="34" charset="-122"/>
                <a:cs typeface="Poppins Medium" pitchFamily="34" charset="-120"/>
              </a:rPr>
              <a:t>Workforce optimiser</a:t>
            </a:r>
            <a:endParaRPr lang="en-US" sz="850" dirty="0"/>
          </a:p>
        </p:txBody>
      </p:sp>
      <p:sp>
        <p:nvSpPr>
          <p:cNvPr id="45" name="Text"/>
          <p:cNvSpPr txBox="1"/>
          <p:nvPr/>
        </p:nvSpPr>
        <p:spPr>
          <a:xfrm>
            <a:off x="2813060" y="2362078"/>
            <a:ext cx="1290036" cy="195042"/>
          </a:xfrm>
          <a:prstGeom prst="rect">
            <a:avLst/>
          </a:prstGeom>
          <a:noFill/>
          <a:ln/>
        </p:spPr>
        <p:txBody>
          <a:bodyPr wrap="none" lIns="0" tIns="0" rIns="0" bIns="0" rtlCol="0" anchor="t"/>
          <a:lstStyle/>
          <a:p>
            <a:pPr algn="l" indent="0" marL="0">
              <a:lnSpc>
                <a:spcPts val="1536"/>
              </a:lnSpc>
              <a:buNone/>
            </a:pPr>
            <a:r>
              <a:rPr lang="en-US" sz="1200" dirty="0">
                <a:solidFill>
                  <a:srgbClr val="000000"/>
                </a:solidFill>
                <a:latin typeface="Poppins Medium" pitchFamily="34" charset="0"/>
                <a:ea typeface="Poppins Medium" pitchFamily="34" charset="-122"/>
                <a:cs typeface="Poppins Medium" pitchFamily="34" charset="-120"/>
              </a:rPr>
              <a:t>Kiralytics SHIFT™</a:t>
            </a:r>
            <a:endParaRPr lang="en-US" sz="1200" dirty="0"/>
          </a:p>
        </p:txBody>
      </p:sp>
      <p:sp>
        <p:nvSpPr>
          <p:cNvPr id="46" name="Text"/>
          <p:cNvSpPr txBox="1"/>
          <p:nvPr/>
        </p:nvSpPr>
        <p:spPr>
          <a:xfrm>
            <a:off x="4230106" y="2407981"/>
            <a:ext cx="485272" cy="107991"/>
          </a:xfrm>
          <a:prstGeom prst="rect">
            <a:avLst/>
          </a:prstGeom>
          <a:noFill/>
          <a:ln/>
        </p:spPr>
        <p:txBody>
          <a:bodyPr wrap="none" lIns="0" tIns="0" rIns="0" bIns="0" rtlCol="0" anchor="t"/>
          <a:lstStyle/>
          <a:p>
            <a:pPr algn="l" indent="0" marL="0">
              <a:lnSpc>
                <a:spcPts val="850"/>
              </a:lnSpc>
              <a:buNone/>
            </a:pPr>
            <a:r>
              <a:rPr lang="en-US" sz="850" dirty="0">
                <a:solidFill>
                  <a:srgbClr val="044BD9"/>
                </a:solidFill>
                <a:latin typeface="Poppins Medium" pitchFamily="34" charset="0"/>
                <a:ea typeface="Poppins Medium" pitchFamily="34" charset="-122"/>
                <a:cs typeface="Poppins Medium" pitchFamily="34" charset="-120"/>
              </a:rPr>
              <a:t>Flagship</a:t>
            </a:r>
            <a:endParaRPr lang="en-US" sz="850" dirty="0"/>
          </a:p>
        </p:txBody>
      </p:sp>
      <p:sp>
        <p:nvSpPr>
          <p:cNvPr id="47" name="Text"/>
          <p:cNvSpPr txBox="1"/>
          <p:nvPr/>
        </p:nvSpPr>
        <p:spPr>
          <a:xfrm>
            <a:off x="5333970" y="2175083"/>
            <a:ext cx="2837017" cy="393741"/>
          </a:xfrm>
          <a:prstGeom prst="rect">
            <a:avLst/>
          </a:prstGeom>
          <a:noFill/>
          <a:ln/>
        </p:spPr>
        <p:txBody>
          <a:bodyPr wrap="square" lIns="0" tIns="0" rIns="0" bIns="0" rtlCol="0" anchor="t"/>
          <a:lstStyle/>
          <a:p>
            <a:pPr algn="l" indent="0" marL="0">
              <a:lnSpc>
                <a:spcPts val="1550"/>
              </a:lnSpc>
              <a:buNone/>
            </a:pPr>
            <a:r>
              <a:rPr lang="en-US" sz="1000" dirty="0">
                <a:solidFill>
                  <a:srgbClr val="1F2937"/>
                </a:solidFill>
                <a:latin typeface="Poppins Light" pitchFamily="34" charset="0"/>
                <a:ea typeface="Poppins Light" pitchFamily="34" charset="-122"/>
                <a:cs typeface="Poppins Light" pitchFamily="34" charset="-120"/>
              </a:rPr>
              <a:t>Rostering, GPS-verified attendance and workforce analytics for multi-location retail.</a:t>
            </a:r>
            <a:endParaRPr lang="en-US" sz="1000" dirty="0"/>
          </a:p>
        </p:txBody>
      </p:sp>
      <p:sp>
        <p:nvSpPr>
          <p:cNvPr id="48" name="Text"/>
          <p:cNvSpPr txBox="1"/>
          <p:nvPr/>
        </p:nvSpPr>
        <p:spPr>
          <a:xfrm>
            <a:off x="8502640" y="2176638"/>
            <a:ext cx="2844790" cy="180960"/>
          </a:xfrm>
          <a:prstGeom prst="rect">
            <a:avLst/>
          </a:prstGeom>
          <a:noFill/>
          <a:ln/>
        </p:spPr>
        <p:txBody>
          <a:bodyPr wrap="none" lIns="0" tIns="0" rIns="0" bIns="0" rtlCol="0" anchor="t"/>
          <a:lstStyle/>
          <a:p>
            <a:pPr algn="l" indent="0" marL="0">
              <a:lnSpc>
                <a:spcPts val="1425"/>
              </a:lnSpc>
              <a:buNone/>
            </a:pPr>
            <a:r>
              <a:rPr lang="en-US" sz="950" dirty="0">
                <a:solidFill>
                  <a:srgbClr val="1F2937"/>
                </a:solidFill>
                <a:latin typeface="Poppins Light" pitchFamily="34" charset="0"/>
                <a:ea typeface="Poppins Light" pitchFamily="34" charset="-122"/>
                <a:cs typeface="Poppins Light" pitchFamily="34" charset="-120"/>
              </a:rPr>
              <a:t>GPS-verified clock-in with geofence validation</a:t>
            </a:r>
            <a:endParaRPr lang="en-US" sz="950" dirty="0"/>
          </a:p>
        </p:txBody>
      </p:sp>
      <p:sp>
        <p:nvSpPr>
          <p:cNvPr id="49" name="Text"/>
          <p:cNvSpPr txBox="1"/>
          <p:nvPr/>
        </p:nvSpPr>
        <p:spPr>
          <a:xfrm>
            <a:off x="8502640" y="2383018"/>
            <a:ext cx="2844790" cy="180960"/>
          </a:xfrm>
          <a:prstGeom prst="rect">
            <a:avLst/>
          </a:prstGeom>
          <a:noFill/>
          <a:ln/>
        </p:spPr>
        <p:txBody>
          <a:bodyPr wrap="none" lIns="0" tIns="0" rIns="0" bIns="0" rtlCol="0" anchor="t"/>
          <a:lstStyle/>
          <a:p>
            <a:pPr algn="l" indent="0" marL="0">
              <a:lnSpc>
                <a:spcPts val="1425"/>
              </a:lnSpc>
              <a:buNone/>
            </a:pPr>
            <a:r>
              <a:rPr lang="en-US" sz="950" dirty="0">
                <a:solidFill>
                  <a:srgbClr val="1F2937"/>
                </a:solidFill>
                <a:latin typeface="Poppins Light" pitchFamily="34" charset="0"/>
                <a:ea typeface="Poppins Light" pitchFamily="34" charset="-122"/>
                <a:cs typeface="Poppins Light" pitchFamily="34" charset="-120"/>
              </a:rPr>
              <a:t>Cross-branch KPIs and unified reporting for HQ</a:t>
            </a:r>
            <a:endParaRPr lang="en-US" sz="950" dirty="0"/>
          </a:p>
        </p:txBody>
      </p:sp>
      <p:sp>
        <p:nvSpPr>
          <p:cNvPr id="50" name="Text"/>
          <p:cNvSpPr txBox="1"/>
          <p:nvPr/>
        </p:nvSpPr>
        <p:spPr>
          <a:xfrm>
            <a:off x="2813060" y="2865090"/>
            <a:ext cx="2157893" cy="167335"/>
          </a:xfrm>
          <a:prstGeom prst="rect">
            <a:avLst/>
          </a:prstGeom>
          <a:noFill/>
          <a:ln/>
        </p:spPr>
        <p:txBody>
          <a:bodyPr wrap="square" lIns="0" tIns="0" rIns="0" bIns="0" rtlCol="0" anchor="t"/>
          <a:lstStyle/>
          <a:p>
            <a:pPr algn="l" indent="0" marL="0">
              <a:lnSpc>
                <a:spcPts val="1318"/>
              </a:lnSpc>
              <a:buNone/>
            </a:pPr>
            <a:r>
              <a:rPr lang="en-US" sz="850" spc="17" kern="0" dirty="0">
                <a:solidFill>
                  <a:srgbClr val="044BD9"/>
                </a:solidFill>
                <a:latin typeface="Poppins Medium" pitchFamily="34" charset="0"/>
                <a:ea typeface="Poppins Medium" pitchFamily="34" charset="-122"/>
                <a:cs typeface="Poppins Medium" pitchFamily="34" charset="-120"/>
              </a:rPr>
              <a:t>People and traffic counting</a:t>
            </a:r>
            <a:endParaRPr lang="en-US" sz="850" dirty="0"/>
          </a:p>
        </p:txBody>
      </p:sp>
      <p:sp>
        <p:nvSpPr>
          <p:cNvPr id="51" name="Text"/>
          <p:cNvSpPr txBox="1"/>
          <p:nvPr/>
        </p:nvSpPr>
        <p:spPr>
          <a:xfrm>
            <a:off x="2813060" y="3040746"/>
            <a:ext cx="2162099" cy="195042"/>
          </a:xfrm>
          <a:prstGeom prst="rect">
            <a:avLst/>
          </a:prstGeom>
          <a:noFill/>
          <a:ln/>
        </p:spPr>
        <p:txBody>
          <a:bodyPr wrap="none" lIns="0" tIns="0" rIns="0" bIns="0" rtlCol="0" anchor="t"/>
          <a:lstStyle/>
          <a:p>
            <a:pPr algn="l" indent="0" marL="0">
              <a:lnSpc>
                <a:spcPts val="1536"/>
              </a:lnSpc>
              <a:buNone/>
            </a:pPr>
            <a:r>
              <a:rPr lang="en-US" sz="1200" dirty="0">
                <a:solidFill>
                  <a:srgbClr val="000000"/>
                </a:solidFill>
                <a:latin typeface="Poppins Medium" pitchFamily="34" charset="0"/>
                <a:ea typeface="Poppins Medium" pitchFamily="34" charset="-122"/>
                <a:cs typeface="Poppins Medium" pitchFamily="34" charset="-120"/>
              </a:rPr>
              <a:t>Kiralytics MATA and TRAFFIK</a:t>
            </a:r>
            <a:endParaRPr lang="en-US" sz="1200" dirty="0"/>
          </a:p>
        </p:txBody>
      </p:sp>
      <p:sp>
        <p:nvSpPr>
          <p:cNvPr id="52" name="Text"/>
          <p:cNvSpPr txBox="1"/>
          <p:nvPr/>
        </p:nvSpPr>
        <p:spPr>
          <a:xfrm>
            <a:off x="5333970" y="2853751"/>
            <a:ext cx="2837017" cy="393741"/>
          </a:xfrm>
          <a:prstGeom prst="rect">
            <a:avLst/>
          </a:prstGeom>
          <a:noFill/>
          <a:ln/>
        </p:spPr>
        <p:txBody>
          <a:bodyPr wrap="square" lIns="0" tIns="0" rIns="0" bIns="0" rtlCol="0" anchor="t"/>
          <a:lstStyle/>
          <a:p>
            <a:pPr algn="l" indent="0" marL="0">
              <a:lnSpc>
                <a:spcPts val="1550"/>
              </a:lnSpc>
              <a:buNone/>
            </a:pPr>
            <a:r>
              <a:rPr lang="en-US" sz="1000" dirty="0">
                <a:solidFill>
                  <a:srgbClr val="1F2937"/>
                </a:solidFill>
                <a:latin typeface="Poppins Light" pitchFamily="34" charset="0"/>
                <a:ea typeface="Poppins Light" pitchFamily="34" charset="-122"/>
                <a:cs typeface="Poppins Light" pitchFamily="34" charset="-120"/>
              </a:rPr>
              <a:t>People counting for retail floors and traffic analytics for road planning.</a:t>
            </a:r>
            <a:endParaRPr lang="en-US" sz="1000" dirty="0"/>
          </a:p>
        </p:txBody>
      </p:sp>
      <p:sp>
        <p:nvSpPr>
          <p:cNvPr id="53" name="Text"/>
          <p:cNvSpPr txBox="1"/>
          <p:nvPr/>
        </p:nvSpPr>
        <p:spPr>
          <a:xfrm>
            <a:off x="8502640" y="2855305"/>
            <a:ext cx="2844790" cy="180960"/>
          </a:xfrm>
          <a:prstGeom prst="rect">
            <a:avLst/>
          </a:prstGeom>
          <a:noFill/>
          <a:ln/>
        </p:spPr>
        <p:txBody>
          <a:bodyPr wrap="none" lIns="0" tIns="0" rIns="0" bIns="0" rtlCol="0" anchor="t"/>
          <a:lstStyle/>
          <a:p>
            <a:pPr algn="l" indent="0" marL="0">
              <a:lnSpc>
                <a:spcPts val="1425"/>
              </a:lnSpc>
              <a:buNone/>
            </a:pPr>
            <a:r>
              <a:rPr lang="en-US" sz="950" dirty="0">
                <a:solidFill>
                  <a:srgbClr val="1F2937"/>
                </a:solidFill>
                <a:latin typeface="Poppins Light" pitchFamily="34" charset="0"/>
                <a:ea typeface="Poppins Light" pitchFamily="34" charset="-122"/>
                <a:cs typeface="Poppins Light" pitchFamily="34" charset="-120"/>
              </a:rPr>
              <a:t>Foot traffic, flow and occupancy on live CCTV</a:t>
            </a:r>
            <a:endParaRPr lang="en-US" sz="950" dirty="0"/>
          </a:p>
        </p:txBody>
      </p:sp>
      <p:sp>
        <p:nvSpPr>
          <p:cNvPr id="54" name="Text"/>
          <p:cNvSpPr txBox="1"/>
          <p:nvPr/>
        </p:nvSpPr>
        <p:spPr>
          <a:xfrm>
            <a:off x="8502640" y="3061686"/>
            <a:ext cx="2843418" cy="180960"/>
          </a:xfrm>
          <a:prstGeom prst="rect">
            <a:avLst/>
          </a:prstGeom>
          <a:noFill/>
          <a:ln/>
        </p:spPr>
        <p:txBody>
          <a:bodyPr wrap="square" lIns="0" tIns="0" rIns="0" bIns="0" rtlCol="0" anchor="t"/>
          <a:lstStyle/>
          <a:p>
            <a:pPr algn="l" indent="0" marL="0">
              <a:lnSpc>
                <a:spcPts val="1425"/>
              </a:lnSpc>
              <a:buNone/>
            </a:pPr>
            <a:r>
              <a:rPr lang="en-US" sz="950" dirty="0">
                <a:solidFill>
                  <a:srgbClr val="1F2937"/>
                </a:solidFill>
                <a:latin typeface="Poppins Light" pitchFamily="34" charset="0"/>
                <a:ea typeface="Poppins Light" pitchFamily="34" charset="-122"/>
                <a:cs typeface="Poppins Light" pitchFamily="34" charset="-120"/>
              </a:rPr>
              <a:t>Vehicle classification and speed detection</a:t>
            </a:r>
            <a:endParaRPr lang="en-US" sz="950" dirty="0"/>
          </a:p>
        </p:txBody>
      </p:sp>
      <p:sp>
        <p:nvSpPr>
          <p:cNvPr id="55" name="Text"/>
          <p:cNvSpPr txBox="1"/>
          <p:nvPr/>
        </p:nvSpPr>
        <p:spPr>
          <a:xfrm>
            <a:off x="2813060" y="3543757"/>
            <a:ext cx="1258032" cy="167335"/>
          </a:xfrm>
          <a:prstGeom prst="rect">
            <a:avLst/>
          </a:prstGeom>
          <a:noFill/>
          <a:ln/>
        </p:spPr>
        <p:txBody>
          <a:bodyPr wrap="none" lIns="0" tIns="0" rIns="0" bIns="0" rtlCol="0" anchor="t"/>
          <a:lstStyle/>
          <a:p>
            <a:pPr algn="l" indent="0" marL="0">
              <a:lnSpc>
                <a:spcPts val="1318"/>
              </a:lnSpc>
              <a:buNone/>
            </a:pPr>
            <a:r>
              <a:rPr lang="en-US" sz="850" spc="17" kern="0" dirty="0">
                <a:solidFill>
                  <a:srgbClr val="044BD9"/>
                </a:solidFill>
                <a:latin typeface="Poppins Medium" pitchFamily="34" charset="0"/>
                <a:ea typeface="Poppins Medium" pitchFamily="34" charset="-122"/>
                <a:cs typeface="Poppins Medium" pitchFamily="34" charset="-120"/>
              </a:rPr>
              <a:t>Sentiment monitoring</a:t>
            </a:r>
            <a:endParaRPr lang="en-US" sz="850" dirty="0"/>
          </a:p>
        </p:txBody>
      </p:sp>
      <p:sp>
        <p:nvSpPr>
          <p:cNvPr id="56" name="Text"/>
          <p:cNvSpPr txBox="1"/>
          <p:nvPr/>
        </p:nvSpPr>
        <p:spPr>
          <a:xfrm>
            <a:off x="2813060" y="3719413"/>
            <a:ext cx="1258032" cy="195042"/>
          </a:xfrm>
          <a:prstGeom prst="rect">
            <a:avLst/>
          </a:prstGeom>
          <a:noFill/>
          <a:ln/>
        </p:spPr>
        <p:txBody>
          <a:bodyPr wrap="none" lIns="0" tIns="0" rIns="0" bIns="0" rtlCol="0" anchor="t"/>
          <a:lstStyle/>
          <a:p>
            <a:pPr algn="l" indent="0" marL="0">
              <a:lnSpc>
                <a:spcPts val="1536"/>
              </a:lnSpc>
              <a:buNone/>
            </a:pPr>
            <a:r>
              <a:rPr lang="en-US" sz="1200" dirty="0">
                <a:solidFill>
                  <a:srgbClr val="000000"/>
                </a:solidFill>
                <a:latin typeface="Poppins Medium" pitchFamily="34" charset="0"/>
                <a:ea typeface="Poppins Medium" pitchFamily="34" charset="-122"/>
                <a:cs typeface="Poppins Medium" pitchFamily="34" charset="-120"/>
              </a:rPr>
              <a:t>Kiralytics EMOSI</a:t>
            </a:r>
            <a:endParaRPr lang="en-US" sz="1200" dirty="0"/>
          </a:p>
        </p:txBody>
      </p:sp>
      <p:sp>
        <p:nvSpPr>
          <p:cNvPr id="57" name="Text"/>
          <p:cNvSpPr txBox="1"/>
          <p:nvPr/>
        </p:nvSpPr>
        <p:spPr>
          <a:xfrm>
            <a:off x="5333970" y="3532419"/>
            <a:ext cx="2837017" cy="393741"/>
          </a:xfrm>
          <a:prstGeom prst="rect">
            <a:avLst/>
          </a:prstGeom>
          <a:noFill/>
          <a:ln/>
        </p:spPr>
        <p:txBody>
          <a:bodyPr wrap="square" lIns="0" tIns="0" rIns="0" bIns="0" rtlCol="0" anchor="t"/>
          <a:lstStyle/>
          <a:p>
            <a:pPr algn="l" indent="0" marL="0">
              <a:lnSpc>
                <a:spcPts val="1550"/>
              </a:lnSpc>
              <a:buNone/>
            </a:pPr>
            <a:r>
              <a:rPr lang="en-US" sz="1000" dirty="0">
                <a:solidFill>
                  <a:srgbClr val="1F2937"/>
                </a:solidFill>
                <a:latin typeface="Poppins Light" pitchFamily="34" charset="0"/>
                <a:ea typeface="Poppins Light" pitchFamily="34" charset="-122"/>
                <a:cs typeface="Poppins Light" pitchFamily="34" charset="-120"/>
              </a:rPr>
              <a:t>Track brand perception across Facebook, X, Instagram, TikTok and news.</a:t>
            </a:r>
            <a:endParaRPr lang="en-US" sz="1000" dirty="0"/>
          </a:p>
        </p:txBody>
      </p:sp>
      <p:sp>
        <p:nvSpPr>
          <p:cNvPr id="58" name="Text"/>
          <p:cNvSpPr txBox="1"/>
          <p:nvPr/>
        </p:nvSpPr>
        <p:spPr>
          <a:xfrm>
            <a:off x="8502640" y="3533973"/>
            <a:ext cx="2843418" cy="180960"/>
          </a:xfrm>
          <a:prstGeom prst="rect">
            <a:avLst/>
          </a:prstGeom>
          <a:noFill/>
          <a:ln/>
        </p:spPr>
        <p:txBody>
          <a:bodyPr wrap="square" lIns="0" tIns="0" rIns="0" bIns="0" rtlCol="0" anchor="t"/>
          <a:lstStyle/>
          <a:p>
            <a:pPr algn="l" indent="0" marL="0">
              <a:lnSpc>
                <a:spcPts val="1425"/>
              </a:lnSpc>
              <a:buNone/>
            </a:pPr>
            <a:r>
              <a:rPr lang="en-US" sz="950" dirty="0">
                <a:solidFill>
                  <a:srgbClr val="1F2937"/>
                </a:solidFill>
                <a:latin typeface="Poppins Light" pitchFamily="34" charset="0"/>
                <a:ea typeface="Poppins Light" pitchFamily="34" charset="-122"/>
                <a:cs typeface="Poppins Light" pitchFamily="34" charset="-120"/>
              </a:rPr>
              <a:t>Social: Facebook, X, Instagram and TikTok</a:t>
            </a:r>
            <a:endParaRPr lang="en-US" sz="950" dirty="0"/>
          </a:p>
        </p:txBody>
      </p:sp>
      <p:sp>
        <p:nvSpPr>
          <p:cNvPr id="59" name="Text"/>
          <p:cNvSpPr txBox="1"/>
          <p:nvPr/>
        </p:nvSpPr>
        <p:spPr>
          <a:xfrm>
            <a:off x="8502640" y="3740353"/>
            <a:ext cx="2843418" cy="180960"/>
          </a:xfrm>
          <a:prstGeom prst="rect">
            <a:avLst/>
          </a:prstGeom>
          <a:noFill/>
          <a:ln/>
        </p:spPr>
        <p:txBody>
          <a:bodyPr wrap="square" lIns="0" tIns="0" rIns="0" bIns="0" rtlCol="0" anchor="t"/>
          <a:lstStyle/>
          <a:p>
            <a:pPr algn="l" indent="0" marL="0">
              <a:lnSpc>
                <a:spcPts val="1425"/>
              </a:lnSpc>
              <a:buNone/>
            </a:pPr>
            <a:r>
              <a:rPr lang="en-US" sz="950" dirty="0">
                <a:solidFill>
                  <a:srgbClr val="1F2937"/>
                </a:solidFill>
                <a:latin typeface="Poppins Light" pitchFamily="34" charset="0"/>
                <a:ea typeface="Poppins Light" pitchFamily="34" charset="-122"/>
                <a:cs typeface="Poppins Light" pitchFamily="34" charset="-120"/>
              </a:rPr>
              <a:t>News coverage alongside social channels</a:t>
            </a:r>
            <a:endParaRPr lang="en-US" sz="950" dirty="0"/>
          </a:p>
        </p:txBody>
      </p:sp>
      <p:sp>
        <p:nvSpPr>
          <p:cNvPr id="60" name="Text"/>
          <p:cNvSpPr txBox="1"/>
          <p:nvPr/>
        </p:nvSpPr>
        <p:spPr>
          <a:xfrm>
            <a:off x="711220" y="4298046"/>
            <a:ext cx="1287750" cy="182606"/>
          </a:xfrm>
          <a:prstGeom prst="rect">
            <a:avLst/>
          </a:prstGeom>
          <a:noFill/>
          <a:ln/>
        </p:spPr>
        <p:txBody>
          <a:bodyPr wrap="square" lIns="0" tIns="0" rIns="0" bIns="0" rtlCol="0" anchor="t"/>
          <a:lstStyle/>
          <a:p>
            <a:pPr algn="l" indent="0" marL="0">
              <a:lnSpc>
                <a:spcPts val="1438"/>
              </a:lnSpc>
              <a:buNone/>
            </a:pPr>
            <a:r>
              <a:rPr lang="en-US" sz="1150" dirty="0">
                <a:solidFill>
                  <a:srgbClr val="000000"/>
                </a:solidFill>
                <a:latin typeface="Poppins Medium" pitchFamily="34" charset="0"/>
                <a:ea typeface="Poppins Medium" pitchFamily="34" charset="-122"/>
                <a:cs typeface="Poppins Medium" pitchFamily="34" charset="-120"/>
              </a:rPr>
              <a:t>ALPHV avatars</a:t>
            </a:r>
            <a:endParaRPr lang="en-US" sz="1150" dirty="0"/>
          </a:p>
        </p:txBody>
      </p:sp>
      <p:sp>
        <p:nvSpPr>
          <p:cNvPr id="61" name="Text"/>
          <p:cNvSpPr txBox="1"/>
          <p:nvPr/>
        </p:nvSpPr>
        <p:spPr>
          <a:xfrm>
            <a:off x="711220" y="4516039"/>
            <a:ext cx="1287750" cy="337779"/>
          </a:xfrm>
          <a:prstGeom prst="rect">
            <a:avLst/>
          </a:prstGeom>
          <a:noFill/>
          <a:ln/>
        </p:spPr>
        <p:txBody>
          <a:bodyPr wrap="square" lIns="0" tIns="0" rIns="0" bIns="0" rtlCol="0" anchor="t"/>
          <a:lstStyle/>
          <a:p>
            <a:pPr algn="l" indent="0" marL="0">
              <a:lnSpc>
                <a:spcPts val="1330"/>
              </a:lnSpc>
              <a:buNone/>
            </a:pPr>
            <a:r>
              <a:rPr lang="en-US" sz="950" dirty="0">
                <a:solidFill>
                  <a:srgbClr val="6B6B6B"/>
                </a:solidFill>
                <a:latin typeface="Poppins Light" pitchFamily="34" charset="0"/>
                <a:ea typeface="Poppins Light" pitchFamily="34" charset="-122"/>
                <a:cs typeface="Poppins Light" pitchFamily="34" charset="-120"/>
              </a:rPr>
              <a:t>For orders, answers and interviews</a:t>
            </a:r>
            <a:endParaRPr lang="en-US" sz="950" dirty="0"/>
          </a:p>
        </p:txBody>
      </p:sp>
      <p:sp>
        <p:nvSpPr>
          <p:cNvPr id="62" name="Text"/>
          <p:cNvSpPr txBox="1"/>
          <p:nvPr/>
        </p:nvSpPr>
        <p:spPr>
          <a:xfrm>
            <a:off x="2813060" y="4289633"/>
            <a:ext cx="1865467" cy="167335"/>
          </a:xfrm>
          <a:prstGeom prst="rect">
            <a:avLst/>
          </a:prstGeom>
          <a:noFill/>
          <a:ln/>
        </p:spPr>
        <p:txBody>
          <a:bodyPr wrap="square" lIns="0" tIns="0" rIns="0" bIns="0" rtlCol="0" anchor="t"/>
          <a:lstStyle/>
          <a:p>
            <a:pPr algn="l" indent="0" marL="0">
              <a:lnSpc>
                <a:spcPts val="1318"/>
              </a:lnSpc>
              <a:buNone/>
            </a:pPr>
            <a:r>
              <a:rPr lang="en-US" sz="850" spc="17" kern="0" dirty="0">
                <a:solidFill>
                  <a:srgbClr val="044BD9"/>
                </a:solidFill>
                <a:latin typeface="Poppins Medium" pitchFamily="34" charset="0"/>
                <a:ea typeface="Poppins Medium" pitchFamily="34" charset="-122"/>
                <a:cs typeface="Poppins Medium" pitchFamily="34" charset="-120"/>
              </a:rPr>
              <a:t>Digital avatars</a:t>
            </a:r>
            <a:endParaRPr lang="en-US" sz="850" dirty="0"/>
          </a:p>
        </p:txBody>
      </p:sp>
      <p:sp>
        <p:nvSpPr>
          <p:cNvPr id="63" name="Text"/>
          <p:cNvSpPr txBox="1"/>
          <p:nvPr/>
        </p:nvSpPr>
        <p:spPr>
          <a:xfrm>
            <a:off x="2813060" y="4465198"/>
            <a:ext cx="1182319" cy="195042"/>
          </a:xfrm>
          <a:prstGeom prst="rect">
            <a:avLst/>
          </a:prstGeom>
          <a:noFill/>
          <a:ln/>
        </p:spPr>
        <p:txBody>
          <a:bodyPr wrap="none" lIns="0" tIns="0" rIns="0" bIns="0" rtlCol="0" anchor="t"/>
          <a:lstStyle/>
          <a:p>
            <a:pPr algn="l" indent="0" marL="0">
              <a:lnSpc>
                <a:spcPts val="1536"/>
              </a:lnSpc>
              <a:buNone/>
            </a:pPr>
            <a:r>
              <a:rPr lang="en-US" sz="1200" dirty="0">
                <a:solidFill>
                  <a:srgbClr val="000000"/>
                </a:solidFill>
                <a:latin typeface="Poppins Medium" pitchFamily="34" charset="0"/>
                <a:ea typeface="Poppins Medium" pitchFamily="34" charset="-122"/>
                <a:cs typeface="Poppins Medium" pitchFamily="34" charset="-120"/>
              </a:rPr>
              <a:t>ALPHV Avatar™</a:t>
            </a:r>
            <a:endParaRPr lang="en-US" sz="1200" dirty="0"/>
          </a:p>
        </p:txBody>
      </p:sp>
      <p:sp>
        <p:nvSpPr>
          <p:cNvPr id="64" name="Text"/>
          <p:cNvSpPr txBox="1"/>
          <p:nvPr/>
        </p:nvSpPr>
        <p:spPr>
          <a:xfrm>
            <a:off x="4122298" y="4511101"/>
            <a:ext cx="485272" cy="107991"/>
          </a:xfrm>
          <a:prstGeom prst="rect">
            <a:avLst/>
          </a:prstGeom>
          <a:noFill/>
          <a:ln/>
        </p:spPr>
        <p:txBody>
          <a:bodyPr wrap="none" lIns="0" tIns="0" rIns="0" bIns="0" rtlCol="0" anchor="t"/>
          <a:lstStyle/>
          <a:p>
            <a:pPr algn="l" indent="0" marL="0">
              <a:lnSpc>
                <a:spcPts val="850"/>
              </a:lnSpc>
              <a:buNone/>
            </a:pPr>
            <a:r>
              <a:rPr lang="en-US" sz="850" dirty="0">
                <a:solidFill>
                  <a:srgbClr val="044BD9"/>
                </a:solidFill>
                <a:latin typeface="Poppins Medium" pitchFamily="34" charset="0"/>
                <a:ea typeface="Poppins Medium" pitchFamily="34" charset="-122"/>
                <a:cs typeface="Poppins Medium" pitchFamily="34" charset="-120"/>
              </a:rPr>
              <a:t>Flagship</a:t>
            </a:r>
            <a:endParaRPr lang="en-US" sz="850" dirty="0"/>
          </a:p>
        </p:txBody>
      </p:sp>
      <p:sp>
        <p:nvSpPr>
          <p:cNvPr id="65" name="Text"/>
          <p:cNvSpPr txBox="1"/>
          <p:nvPr/>
        </p:nvSpPr>
        <p:spPr>
          <a:xfrm>
            <a:off x="5333970" y="4278203"/>
            <a:ext cx="2837017" cy="393741"/>
          </a:xfrm>
          <a:prstGeom prst="rect">
            <a:avLst/>
          </a:prstGeom>
          <a:noFill/>
          <a:ln/>
        </p:spPr>
        <p:txBody>
          <a:bodyPr wrap="square" lIns="0" tIns="0" rIns="0" bIns="0" rtlCol="0" anchor="t"/>
          <a:lstStyle/>
          <a:p>
            <a:pPr algn="l" indent="0" marL="0">
              <a:lnSpc>
                <a:spcPts val="1550"/>
              </a:lnSpc>
              <a:buNone/>
            </a:pPr>
            <a:r>
              <a:rPr lang="en-US" sz="1000" dirty="0">
                <a:solidFill>
                  <a:srgbClr val="1F2937"/>
                </a:solidFill>
                <a:latin typeface="Poppins Light" pitchFamily="34" charset="0"/>
                <a:ea typeface="Poppins Light" pitchFamily="34" charset="-122"/>
                <a:cs typeface="Poppins Light" pitchFamily="34" charset="-120"/>
              </a:rPr>
              <a:t>Digital avatars that take orders, answer questions and screen candidates.</a:t>
            </a:r>
            <a:endParaRPr lang="en-US" sz="1000" dirty="0"/>
          </a:p>
        </p:txBody>
      </p:sp>
      <p:sp>
        <p:nvSpPr>
          <p:cNvPr id="66" name="Text"/>
          <p:cNvSpPr txBox="1"/>
          <p:nvPr/>
        </p:nvSpPr>
        <p:spPr>
          <a:xfrm>
            <a:off x="8502640" y="4279758"/>
            <a:ext cx="2844790" cy="180960"/>
          </a:xfrm>
          <a:prstGeom prst="rect">
            <a:avLst/>
          </a:prstGeom>
          <a:noFill/>
          <a:ln/>
        </p:spPr>
        <p:txBody>
          <a:bodyPr wrap="none" lIns="0" tIns="0" rIns="0" bIns="0" rtlCol="0" anchor="t"/>
          <a:lstStyle/>
          <a:p>
            <a:pPr algn="l" indent="0" marL="0">
              <a:lnSpc>
                <a:spcPts val="1425"/>
              </a:lnSpc>
              <a:buNone/>
            </a:pPr>
            <a:r>
              <a:rPr lang="en-US" sz="950" dirty="0">
                <a:solidFill>
                  <a:srgbClr val="1F2937"/>
                </a:solidFill>
                <a:latin typeface="Poppins Light" pitchFamily="34" charset="0"/>
                <a:ea typeface="Poppins Light" pitchFamily="34" charset="-122"/>
                <a:cs typeface="Poppins Light" pitchFamily="34" charset="-120"/>
              </a:rPr>
              <a:t>Digital Mamak, Digital Ustaz, Digital Interviewer</a:t>
            </a:r>
            <a:endParaRPr lang="en-US" sz="950" dirty="0"/>
          </a:p>
        </p:txBody>
      </p:sp>
      <p:sp>
        <p:nvSpPr>
          <p:cNvPr id="67" name="Text"/>
          <p:cNvSpPr txBox="1"/>
          <p:nvPr/>
        </p:nvSpPr>
        <p:spPr>
          <a:xfrm>
            <a:off x="8502640" y="4486138"/>
            <a:ext cx="2843418" cy="180960"/>
          </a:xfrm>
          <a:prstGeom prst="rect">
            <a:avLst/>
          </a:prstGeom>
          <a:noFill/>
          <a:ln/>
        </p:spPr>
        <p:txBody>
          <a:bodyPr wrap="square" lIns="0" tIns="0" rIns="0" bIns="0" rtlCol="0" anchor="t"/>
          <a:lstStyle/>
          <a:p>
            <a:pPr algn="l" indent="0" marL="0">
              <a:lnSpc>
                <a:spcPts val="1425"/>
              </a:lnSpc>
              <a:buNone/>
            </a:pPr>
            <a:r>
              <a:rPr lang="en-US" sz="950" dirty="0">
                <a:solidFill>
                  <a:srgbClr val="1F2937"/>
                </a:solidFill>
                <a:latin typeface="Poppins Light" pitchFamily="34" charset="0"/>
                <a:ea typeface="Poppins Light" pitchFamily="34" charset="-122"/>
                <a:cs typeface="Poppins Light" pitchFamily="34" charset="-120"/>
              </a:rPr>
              <a:t>Digital Ustaz is live at digitalustaz.com</a:t>
            </a:r>
            <a:endParaRPr lang="en-US" sz="950" dirty="0"/>
          </a:p>
        </p:txBody>
      </p:sp>
      <p:sp>
        <p:nvSpPr>
          <p:cNvPr id="68" name="Text"/>
          <p:cNvSpPr txBox="1"/>
          <p:nvPr/>
        </p:nvSpPr>
        <p:spPr>
          <a:xfrm>
            <a:off x="2813060" y="4901184"/>
            <a:ext cx="1399764" cy="167335"/>
          </a:xfrm>
          <a:prstGeom prst="rect">
            <a:avLst/>
          </a:prstGeom>
          <a:noFill/>
          <a:ln/>
        </p:spPr>
        <p:txBody>
          <a:bodyPr wrap="none" lIns="0" tIns="0" rIns="0" bIns="0" rtlCol="0" anchor="t"/>
          <a:lstStyle/>
          <a:p>
            <a:pPr algn="l" indent="0" marL="0">
              <a:lnSpc>
                <a:spcPts val="1318"/>
              </a:lnSpc>
              <a:buNone/>
            </a:pPr>
            <a:r>
              <a:rPr lang="en-US" sz="850" spc="17" kern="0" dirty="0">
                <a:solidFill>
                  <a:srgbClr val="044BD9"/>
                </a:solidFill>
                <a:latin typeface="Poppins Medium" pitchFamily="34" charset="0"/>
                <a:ea typeface="Poppins Medium" pitchFamily="34" charset="-122"/>
                <a:cs typeface="Poppins Medium" pitchFamily="34" charset="-120"/>
              </a:rPr>
              <a:t>Video and voice avatars</a:t>
            </a:r>
            <a:endParaRPr lang="en-US" sz="850" dirty="0"/>
          </a:p>
        </p:txBody>
      </p:sp>
      <p:sp>
        <p:nvSpPr>
          <p:cNvPr id="69" name="Text"/>
          <p:cNvSpPr txBox="1"/>
          <p:nvPr/>
        </p:nvSpPr>
        <p:spPr>
          <a:xfrm>
            <a:off x="2813060" y="5076840"/>
            <a:ext cx="1399764" cy="195042"/>
          </a:xfrm>
          <a:prstGeom prst="rect">
            <a:avLst/>
          </a:prstGeom>
          <a:noFill/>
          <a:ln/>
        </p:spPr>
        <p:txBody>
          <a:bodyPr wrap="none" lIns="0" tIns="0" rIns="0" bIns="0" rtlCol="0" anchor="t"/>
          <a:lstStyle/>
          <a:p>
            <a:pPr algn="l" indent="0" marL="0">
              <a:lnSpc>
                <a:spcPts val="1536"/>
              </a:lnSpc>
              <a:buNone/>
            </a:pPr>
            <a:r>
              <a:rPr lang="en-US" sz="1200" dirty="0">
                <a:solidFill>
                  <a:srgbClr val="000000"/>
                </a:solidFill>
                <a:latin typeface="Poppins Medium" pitchFamily="34" charset="0"/>
                <a:ea typeface="Poppins Medium" pitchFamily="34" charset="-122"/>
                <a:cs typeface="Poppins Medium" pitchFamily="34" charset="-120"/>
              </a:rPr>
              <a:t>ALPHV HelloGen™</a:t>
            </a:r>
            <a:endParaRPr lang="en-US" sz="1200" dirty="0"/>
          </a:p>
        </p:txBody>
      </p:sp>
      <p:sp>
        <p:nvSpPr>
          <p:cNvPr id="70" name="Text"/>
          <p:cNvSpPr txBox="1"/>
          <p:nvPr/>
        </p:nvSpPr>
        <p:spPr>
          <a:xfrm>
            <a:off x="5333970" y="4889754"/>
            <a:ext cx="2837017" cy="393741"/>
          </a:xfrm>
          <a:prstGeom prst="rect">
            <a:avLst/>
          </a:prstGeom>
          <a:noFill/>
          <a:ln/>
        </p:spPr>
        <p:txBody>
          <a:bodyPr wrap="square" lIns="0" tIns="0" rIns="0" bIns="0" rtlCol="0" anchor="t"/>
          <a:lstStyle/>
          <a:p>
            <a:pPr algn="l" indent="0" marL="0">
              <a:lnSpc>
                <a:spcPts val="1550"/>
              </a:lnSpc>
              <a:buNone/>
            </a:pPr>
            <a:r>
              <a:rPr lang="en-US" sz="1000" dirty="0">
                <a:solidFill>
                  <a:srgbClr val="1F2937"/>
                </a:solidFill>
                <a:latin typeface="Poppins Light" pitchFamily="34" charset="0"/>
                <a:ea typeface="Poppins Light" pitchFamily="34" charset="-122"/>
                <a:cs typeface="Poppins Light" pitchFamily="34" charset="-120"/>
              </a:rPr>
              <a:t>Turn a 3-minute clip into a life-like avatar with lip-sync and low-latency replies.</a:t>
            </a:r>
            <a:endParaRPr lang="en-US" sz="1000" dirty="0"/>
          </a:p>
        </p:txBody>
      </p:sp>
      <p:sp>
        <p:nvSpPr>
          <p:cNvPr id="71" name="Text"/>
          <p:cNvSpPr txBox="1"/>
          <p:nvPr/>
        </p:nvSpPr>
        <p:spPr>
          <a:xfrm>
            <a:off x="8502640" y="4891400"/>
            <a:ext cx="2843418" cy="180960"/>
          </a:xfrm>
          <a:prstGeom prst="rect">
            <a:avLst/>
          </a:prstGeom>
          <a:noFill/>
          <a:ln/>
        </p:spPr>
        <p:txBody>
          <a:bodyPr wrap="square" lIns="0" tIns="0" rIns="0" bIns="0" rtlCol="0" anchor="t"/>
          <a:lstStyle/>
          <a:p>
            <a:pPr algn="l" indent="0" marL="0">
              <a:lnSpc>
                <a:spcPts val="1425"/>
              </a:lnSpc>
              <a:buNone/>
            </a:pPr>
            <a:r>
              <a:rPr lang="en-US" sz="950" dirty="0">
                <a:solidFill>
                  <a:srgbClr val="1F2937"/>
                </a:solidFill>
                <a:latin typeface="Poppins Light" pitchFamily="34" charset="0"/>
                <a:ea typeface="Poppins Light" pitchFamily="34" charset="-122"/>
                <a:cs typeface="Poppins Light" pitchFamily="34" charset="-120"/>
              </a:rPr>
              <a:t>Lip-synced video and voice</a:t>
            </a:r>
            <a:endParaRPr lang="en-US" sz="950" dirty="0"/>
          </a:p>
        </p:txBody>
      </p:sp>
      <p:sp>
        <p:nvSpPr>
          <p:cNvPr id="72" name="Text"/>
          <p:cNvSpPr txBox="1"/>
          <p:nvPr/>
        </p:nvSpPr>
        <p:spPr>
          <a:xfrm>
            <a:off x="8502640" y="5097780"/>
            <a:ext cx="2843418" cy="180960"/>
          </a:xfrm>
          <a:prstGeom prst="rect">
            <a:avLst/>
          </a:prstGeom>
          <a:noFill/>
          <a:ln/>
        </p:spPr>
        <p:txBody>
          <a:bodyPr wrap="square" lIns="0" tIns="0" rIns="0" bIns="0" rtlCol="0" anchor="t"/>
          <a:lstStyle/>
          <a:p>
            <a:pPr algn="l" indent="0" marL="0">
              <a:lnSpc>
                <a:spcPts val="1425"/>
              </a:lnSpc>
              <a:buNone/>
            </a:pPr>
            <a:r>
              <a:rPr lang="en-US" sz="950" dirty="0">
                <a:solidFill>
                  <a:srgbClr val="1F2937"/>
                </a:solidFill>
                <a:latin typeface="Poppins Light" pitchFamily="34" charset="0"/>
                <a:ea typeface="Poppins Light" pitchFamily="34" charset="-122"/>
                <a:cs typeface="Poppins Light" pitchFamily="34" charset="-120"/>
              </a:rPr>
              <a:t>Low-latency replies</a:t>
            </a:r>
            <a:endParaRPr lang="en-US" sz="950" dirty="0"/>
          </a:p>
        </p:txBody>
      </p:sp>
      <p:sp>
        <p:nvSpPr>
          <p:cNvPr id="73" name="Text"/>
          <p:cNvSpPr txBox="1"/>
          <p:nvPr/>
        </p:nvSpPr>
        <p:spPr>
          <a:xfrm>
            <a:off x="711220" y="5657118"/>
            <a:ext cx="1287750" cy="236190"/>
          </a:xfrm>
          <a:prstGeom prst="rect">
            <a:avLst/>
          </a:prstGeom>
          <a:noFill/>
          <a:ln/>
        </p:spPr>
        <p:txBody>
          <a:bodyPr wrap="square" lIns="0" tIns="0" rIns="0" bIns="0" rtlCol="0" anchor="t"/>
          <a:lstStyle/>
          <a:p>
            <a:pPr algn="l" indent="0" marL="0">
              <a:lnSpc>
                <a:spcPts val="1860"/>
              </a:lnSpc>
              <a:buNone/>
            </a:pPr>
            <a:r>
              <a:rPr lang="en-US" sz="1050" dirty="0">
                <a:solidFill>
                  <a:srgbClr val="000000"/>
                </a:solidFill>
                <a:latin typeface="Poppins Medium" pitchFamily="34" charset="0"/>
                <a:ea typeface="Poppins Medium" pitchFamily="34" charset="-122"/>
                <a:cs typeface="Poppins Medium" pitchFamily="34" charset="-120"/>
              </a:rPr>
              <a:t>Also from ALPHV</a:t>
            </a:r>
            <a:endParaRPr lang="en-US" sz="1050" dirty="0"/>
          </a:p>
        </p:txBody>
      </p:sp>
      <p:sp>
        <p:nvSpPr>
          <p:cNvPr id="74" name="Text"/>
          <p:cNvSpPr txBox="1"/>
          <p:nvPr/>
        </p:nvSpPr>
        <p:spPr>
          <a:xfrm>
            <a:off x="2311420" y="5648249"/>
            <a:ext cx="4411706" cy="368320"/>
          </a:xfrm>
          <a:prstGeom prst="rect">
            <a:avLst/>
          </a:prstGeom>
          <a:noFill/>
          <a:ln/>
        </p:spPr>
        <p:txBody>
          <a:bodyPr wrap="square" lIns="0" tIns="0" rIns="0" bIns="0" rtlCol="0" anchor="t"/>
          <a:lstStyle/>
          <a:p>
            <a:pPr algn="l" indent="0" marL="0">
              <a:lnSpc>
                <a:spcPts val="1450"/>
              </a:lnSpc>
              <a:buNone/>
            </a:pPr>
            <a:r>
              <a:rPr lang="en-US" sz="1000" dirty="0">
                <a:solidFill>
                  <a:srgbClr val="000000"/>
                </a:solidFill>
                <a:latin typeface="Poppins Medium" pitchFamily="34" charset="0"/>
                <a:ea typeface="Poppins Medium" pitchFamily="34" charset="-122"/>
                <a:cs typeface="Poppins Medium" pitchFamily="34" charset="-120"/>
              </a:rPr>
              <a:t>AI-generated UGC and ads</a:t>
            </a:r>
            <a:pPr algn="l" indent="0" marL="0">
              <a:lnSpc>
                <a:spcPts val="1450"/>
              </a:lnSpc>
              <a:buNone/>
            </a:pPr>
            <a:r>
              <a:rPr lang="en-US" sz="1000" dirty="0">
                <a:solidFill>
                  <a:srgbClr val="1F2937"/>
                </a:solidFill>
                <a:latin typeface="Poppins Light" pitchFamily="34" charset="0"/>
                <a:ea typeface="Poppins Light" pitchFamily="34" charset="-122"/>
                <a:cs typeface="Poppins Light" pitchFamily="34" charset="-120"/>
              </a:rPr>
              <a:t> for brands, including a client reel with</a:t>
            </a:r>
            <a:pPr algn="l" indent="0" marL="0">
              <a:lnSpc>
                <a:spcPts val="1450"/>
              </a:lnSpc>
              <a:buNone/>
            </a:pPr>
            <a:r>
              <a:rPr lang="en-US" sz="1000" dirty="0">
                <a:solidFill>
                  <a:srgbClr val="044BD9"/>
                </a:solidFill>
                <a:latin typeface="Poppins Medium" pitchFamily="34" charset="0"/>
                <a:ea typeface="Poppins Medium" pitchFamily="34" charset="-122"/>
                <a:cs typeface="Poppins Medium" pitchFamily="34" charset="-120"/>
              </a:rPr>
              <a:t> 50.1K</a:t>
            </a:r>
            <a:pPr algn="l" indent="0" marL="0">
              <a:lnSpc>
                <a:spcPts val="1450"/>
              </a:lnSpc>
              <a:buNone/>
            </a:pPr>
            <a:r>
              <a:rPr lang="en-US" sz="1000" dirty="0">
                <a:solidFill>
                  <a:srgbClr val="1F2937"/>
                </a:solidFill>
                <a:latin typeface="Poppins Light" pitchFamily="34" charset="0"/>
                <a:ea typeface="Poppins Light" pitchFamily="34" charset="-122"/>
                <a:cs typeface="Poppins Light" pitchFamily="34" charset="-120"/>
              </a:rPr>
              <a:t> views for @richdadwilliam</a:t>
            </a:r>
            <a:endParaRPr lang="en-US" sz="1000" dirty="0"/>
          </a:p>
        </p:txBody>
      </p:sp>
      <p:sp>
        <p:nvSpPr>
          <p:cNvPr id="75" name="Text"/>
          <p:cNvSpPr txBox="1"/>
          <p:nvPr/>
        </p:nvSpPr>
        <p:spPr>
          <a:xfrm>
            <a:off x="6946880" y="5648249"/>
            <a:ext cx="4411706" cy="368320"/>
          </a:xfrm>
          <a:prstGeom prst="rect">
            <a:avLst/>
          </a:prstGeom>
          <a:noFill/>
          <a:ln/>
        </p:spPr>
        <p:txBody>
          <a:bodyPr wrap="square" lIns="0" tIns="0" rIns="0" bIns="0" rtlCol="0" anchor="t"/>
          <a:lstStyle/>
          <a:p>
            <a:pPr algn="l" indent="0" marL="0">
              <a:lnSpc>
                <a:spcPts val="1450"/>
              </a:lnSpc>
              <a:buNone/>
            </a:pPr>
            <a:r>
              <a:rPr lang="en-US" sz="1000" dirty="0">
                <a:solidFill>
                  <a:srgbClr val="000000"/>
                </a:solidFill>
                <a:latin typeface="Poppins Medium" pitchFamily="34" charset="0"/>
                <a:ea typeface="Poppins Medium" pitchFamily="34" charset="-122"/>
                <a:cs typeface="Poppins Medium" pitchFamily="34" charset="-120"/>
              </a:rPr>
              <a:t>Kiralytics FIGHT,</a:t>
            </a:r>
            <a:pPr algn="l" indent="0" marL="0">
              <a:lnSpc>
                <a:spcPts val="1450"/>
              </a:lnSpc>
              <a:buNone/>
            </a:pPr>
            <a:r>
              <a:rPr lang="en-US" sz="1000" dirty="0">
                <a:solidFill>
                  <a:srgbClr val="1F2937"/>
                </a:solidFill>
                <a:latin typeface="Poppins Light" pitchFamily="34" charset="0"/>
                <a:ea typeface="Poppins Light" pitchFamily="34" charset="-122"/>
                <a:cs typeface="Poppins Light" pitchFamily="34" charset="-120"/>
              </a:rPr>
              <a:t> a real-time combat sports analysis prototype for national athletes, in development</a:t>
            </a:r>
            <a:endParaRPr lang="en-US" sz="1000" dirty="0"/>
          </a:p>
        </p:txBody>
      </p:sp>
      <p:sp>
        <p:nvSpPr>
          <p:cNvPr id="76" name="Text"/>
          <p:cNvSpPr txBox="1"/>
          <p:nvPr/>
        </p:nvSpPr>
        <p:spPr>
          <a:xfrm>
            <a:off x="6287140" y="276240"/>
            <a:ext cx="708477"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Point of view</a:t>
            </a:r>
            <a:endParaRPr lang="en-US" sz="850" dirty="0"/>
          </a:p>
        </p:txBody>
      </p:sp>
      <p:sp>
        <p:nvSpPr>
          <p:cNvPr id="77" name="Text"/>
          <p:cNvSpPr txBox="1"/>
          <p:nvPr/>
        </p:nvSpPr>
        <p:spPr>
          <a:xfrm>
            <a:off x="7240494" y="276240"/>
            <a:ext cx="665958"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Who we are</a:t>
            </a:r>
            <a:endParaRPr lang="en-US" sz="850" dirty="0"/>
          </a:p>
        </p:txBody>
      </p:sp>
      <p:sp>
        <p:nvSpPr>
          <p:cNvPr id="78" name="Text"/>
          <p:cNvSpPr txBox="1"/>
          <p:nvPr/>
        </p:nvSpPr>
        <p:spPr>
          <a:xfrm>
            <a:off x="8151510" y="276240"/>
            <a:ext cx="671261"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What we do</a:t>
            </a:r>
            <a:endParaRPr lang="en-US" sz="850" dirty="0"/>
          </a:p>
        </p:txBody>
      </p:sp>
      <p:sp>
        <p:nvSpPr>
          <p:cNvPr id="79" name="Text"/>
          <p:cNvSpPr txBox="1"/>
          <p:nvPr/>
        </p:nvSpPr>
        <p:spPr>
          <a:xfrm>
            <a:off x="9067830" y="276240"/>
            <a:ext cx="1205728"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044BD9"/>
                </a:solidFill>
                <a:latin typeface="Poppins Medium" pitchFamily="34" charset="0"/>
                <a:ea typeface="Poppins Medium" pitchFamily="34" charset="-122"/>
                <a:cs typeface="Poppins Medium" pitchFamily="34" charset="-120"/>
              </a:rPr>
              <a:t>Sectors and products</a:t>
            </a:r>
            <a:endParaRPr lang="en-US" sz="850" dirty="0"/>
          </a:p>
        </p:txBody>
      </p:sp>
      <p:sp>
        <p:nvSpPr>
          <p:cNvPr id="80" name="Text"/>
          <p:cNvSpPr txBox="1"/>
          <p:nvPr/>
        </p:nvSpPr>
        <p:spPr>
          <a:xfrm>
            <a:off x="10516423" y="276240"/>
            <a:ext cx="298552"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Proof</a:t>
            </a:r>
            <a:endParaRPr lang="en-US" sz="850" dirty="0"/>
          </a:p>
        </p:txBody>
      </p:sp>
      <p:sp>
        <p:nvSpPr>
          <p:cNvPr id="81" name="Text"/>
          <p:cNvSpPr txBox="1"/>
          <p:nvPr/>
        </p:nvSpPr>
        <p:spPr>
          <a:xfrm>
            <a:off x="11061497" y="276240"/>
            <a:ext cx="433700"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Engage</a:t>
            </a:r>
            <a:endParaRPr lang="en-US" sz="850" dirty="0"/>
          </a:p>
        </p:txBody>
      </p:sp>
      <p:sp>
        <p:nvSpPr>
          <p:cNvPr id="82" name="Source"/>
          <p:cNvSpPr txBox="1"/>
          <p:nvPr/>
        </p:nvSpPr>
        <p:spPr>
          <a:xfrm>
            <a:off x="711220" y="6409030"/>
            <a:ext cx="8280441" cy="151150"/>
          </a:xfrm>
          <a:prstGeom prst="rect">
            <a:avLst/>
          </a:prstGeom>
          <a:noFill/>
          <a:ln/>
        </p:spPr>
        <p:txBody>
          <a:bodyPr wrap="none" lIns="0" tIns="0" rIns="0" bIns="0" rtlCol="0" anchor="t"/>
          <a:lstStyle/>
          <a:p>
            <a:pPr algn="l" indent="0" marL="0">
              <a:lnSpc>
                <a:spcPts val="1190"/>
              </a:lnSpc>
              <a:buNone/>
            </a:pPr>
            <a:r>
              <a:rPr lang="en-US" sz="850" dirty="0">
                <a:solidFill>
                  <a:srgbClr val="6B6B6B"/>
                </a:solidFill>
                <a:latin typeface="Poppins" pitchFamily="34" charset="0"/>
                <a:ea typeface="Poppins" pitchFamily="34" charset="-122"/>
                <a:cs typeface="Poppins" pitchFamily="34" charset="-120"/>
              </a:rPr>
              <a:t>Source: alphv.com/products and its product pages (October 2026). The 50.1K views come from a separate AI content service, not from ALPHV HelloGen™.</a:t>
            </a:r>
            <a:endParaRPr lang="en-US" sz="850" dirty="0"/>
          </a:p>
        </p:txBody>
      </p:sp>
      <p:sp>
        <p:nvSpPr>
          <p:cNvPr id="83" name="Text"/>
          <p:cNvSpPr txBox="1"/>
          <p:nvPr/>
        </p:nvSpPr>
        <p:spPr>
          <a:xfrm>
            <a:off x="9349740" y="6409030"/>
            <a:ext cx="393741" cy="151150"/>
          </a:xfrm>
          <a:prstGeom prst="rect">
            <a:avLst/>
          </a:prstGeom>
          <a:noFill/>
          <a:ln/>
        </p:spPr>
        <p:txBody>
          <a:bodyPr wrap="none" lIns="0" tIns="0" rIns="0" bIns="0" rtlCol="0" anchor="t"/>
          <a:lstStyle/>
          <a:p>
            <a:pPr algn="l" indent="0" marL="0">
              <a:lnSpc>
                <a:spcPts val="1190"/>
              </a:lnSpc>
              <a:buNone/>
            </a:pPr>
            <a:r>
              <a:rPr lang="en-US" sz="850" spc="34" kern="0" dirty="0">
                <a:solidFill>
                  <a:srgbClr val="000000"/>
                </a:solidFill>
                <a:latin typeface="Poppins SemiBold" pitchFamily="34" charset="0"/>
                <a:ea typeface="Poppins SemiBold" pitchFamily="34" charset="-122"/>
                <a:cs typeface="Poppins SemiBold" pitchFamily="34" charset="-120"/>
              </a:rPr>
              <a:t>ALPHV</a:t>
            </a:r>
            <a:endParaRPr lang="en-US" sz="850" dirty="0"/>
          </a:p>
        </p:txBody>
      </p:sp>
      <p:sp>
        <p:nvSpPr>
          <p:cNvPr id="84" name="Text"/>
          <p:cNvSpPr txBox="1"/>
          <p:nvPr/>
        </p:nvSpPr>
        <p:spPr>
          <a:xfrm>
            <a:off x="9857781" y="6409030"/>
            <a:ext cx="1377178" cy="151150"/>
          </a:xfrm>
          <a:prstGeom prst="rect">
            <a:avLst/>
          </a:prstGeom>
          <a:noFill/>
          <a:ln/>
        </p:spPr>
        <p:txBody>
          <a:bodyPr wrap="none" lIns="0" tIns="0" rIns="0" bIns="0" rtlCol="0" anchor="t"/>
          <a:lstStyle/>
          <a:p>
            <a:pPr algn="l" indent="0" marL="0">
              <a:lnSpc>
                <a:spcPts val="1190"/>
              </a:lnSpc>
              <a:buNone/>
            </a:pPr>
            <a:r>
              <a:rPr lang="en-US" sz="850" dirty="0">
                <a:solidFill>
                  <a:srgbClr val="6B6B6B"/>
                </a:solidFill>
                <a:latin typeface="Poppins" pitchFamily="34" charset="0"/>
                <a:ea typeface="Poppins" pitchFamily="34" charset="-122"/>
                <a:cs typeface="Poppins" pitchFamily="34" charset="-120"/>
              </a:rPr>
              <a:t>Corporate overview 2026</a:t>
            </a:r>
            <a:endParaRPr lang="en-US" sz="850" dirty="0"/>
          </a:p>
        </p:txBody>
      </p:sp>
      <p:sp>
        <p:nvSpPr>
          <p:cNvPr id="85" name="Text"/>
          <p:cNvSpPr txBox="1"/>
          <p:nvPr/>
        </p:nvSpPr>
        <p:spPr>
          <a:xfrm>
            <a:off x="11349258" y="6409030"/>
            <a:ext cx="157002" cy="151150"/>
          </a:xfrm>
          <a:prstGeom prst="rect">
            <a:avLst/>
          </a:prstGeom>
          <a:noFill/>
          <a:ln/>
        </p:spPr>
        <p:txBody>
          <a:bodyPr wrap="none" lIns="0" tIns="0" rIns="0" bIns="0" rtlCol="0" anchor="t"/>
          <a:lstStyle/>
          <a:p>
            <a:pPr algn="l" indent="0" marL="0">
              <a:lnSpc>
                <a:spcPts val="1190"/>
              </a:lnSpc>
              <a:buNone/>
            </a:pPr>
            <a:r>
              <a:rPr lang="en-US" sz="850" dirty="0">
                <a:solidFill>
                  <a:srgbClr val="000000"/>
                </a:solidFill>
                <a:latin typeface="Poppins Medium" pitchFamily="34" charset="0"/>
                <a:ea typeface="Poppins Medium" pitchFamily="34" charset="-122"/>
                <a:cs typeface="Poppins Medium" pitchFamily="34" charset="-120"/>
              </a:rPr>
              <a:t>20</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badge"/>
          <p:cNvSpPr/>
          <p:nvPr/>
        </p:nvSpPr>
        <p:spPr>
          <a:xfrm>
            <a:off x="714421" y="536570"/>
            <a:ext cx="1373154" cy="254020"/>
          </a:xfrm>
          <a:prstGeom prst="roundRect">
            <a:avLst>
              <a:gd name="adj" fmla="val 50000"/>
            </a:avLst>
          </a:prstGeom>
          <a:ln w="6350">
            <a:solidFill>
              <a:srgbClr val="155DFC"/>
            </a:solidFill>
            <a:prstDash val="solid"/>
          </a:ln>
        </p:spPr>
      </p:sp>
      <p:sp>
        <p:nvSpPr>
          <p:cNvPr id="3" name="div"/>
          <p:cNvSpPr/>
          <p:nvPr/>
        </p:nvSpPr>
        <p:spPr>
          <a:xfrm>
            <a:off x="711220" y="2073859"/>
            <a:ext cx="1689080" cy="3945910"/>
          </a:xfrm>
          <a:prstGeom prst="roundRect">
            <a:avLst>
              <a:gd name="adj" fmla="val 9024"/>
            </a:avLst>
          </a:prstGeom>
          <a:solidFill>
            <a:srgbClr val="F8F9FA"/>
          </a:solidFill>
          <a:ln/>
        </p:spPr>
      </p:sp>
      <p:pic>
        <p:nvPicPr>
          <p:cNvPr id="4" name="Picture" descr="Kiralytics SHIFT™ clock-in screen showing a staff member’s location at the branch">    </p:cNvPr>
          <p:cNvPicPr>
            <a:picLocks noChangeAspect="1"/>
          </p:cNvPicPr>
          <p:nvPr/>
        </p:nvPicPr>
        <p:blipFill>
          <a:blip r:embed="rId1"/>
          <a:stretch>
            <a:fillRect/>
          </a:stretch>
        </p:blipFill>
        <p:spPr>
          <a:xfrm>
            <a:off x="816193" y="2495306"/>
            <a:ext cx="1479316" cy="3103291"/>
          </a:xfrm>
          <a:prstGeom prst="roundRect">
            <a:avLst>
              <a:gd name="adj" fmla="val 16312"/>
            </a:avLst>
          </a:prstGeom>
        </p:spPr>
      </p:pic>
      <p:sp>
        <p:nvSpPr>
          <p:cNvPr id="5" name="Rule"/>
          <p:cNvSpPr/>
          <p:nvPr/>
        </p:nvSpPr>
        <p:spPr>
          <a:xfrm>
            <a:off x="2616190" y="3663544"/>
            <a:ext cx="3149559" cy="0"/>
          </a:xfrm>
          <a:prstGeom prst="line">
            <a:avLst/>
          </a:prstGeom>
          <a:noFill/>
          <a:ln w="6350">
            <a:solidFill>
              <a:srgbClr val="E3E6EC"/>
            </a:solidFill>
            <a:prstDash val="solid"/>
          </a:ln>
        </p:spPr>
      </p:sp>
      <p:sp>
        <p:nvSpPr>
          <p:cNvPr id="6" name="Rule"/>
          <p:cNvSpPr/>
          <p:nvPr/>
        </p:nvSpPr>
        <p:spPr>
          <a:xfrm>
            <a:off x="2616190" y="4177894"/>
            <a:ext cx="3149559" cy="0"/>
          </a:xfrm>
          <a:prstGeom prst="line">
            <a:avLst/>
          </a:prstGeom>
          <a:noFill/>
          <a:ln w="6350">
            <a:solidFill>
              <a:srgbClr val="E3E6EC"/>
            </a:solidFill>
            <a:prstDash val="solid"/>
          </a:ln>
        </p:spPr>
      </p:sp>
      <p:sp>
        <p:nvSpPr>
          <p:cNvPr id="7" name="Rule"/>
          <p:cNvSpPr/>
          <p:nvPr/>
        </p:nvSpPr>
        <p:spPr>
          <a:xfrm>
            <a:off x="2616190" y="4508083"/>
            <a:ext cx="3149559" cy="0"/>
          </a:xfrm>
          <a:prstGeom prst="line">
            <a:avLst/>
          </a:prstGeom>
          <a:noFill/>
          <a:ln w="6350">
            <a:solidFill>
              <a:srgbClr val="E3E6EC"/>
            </a:solidFill>
            <a:prstDash val="solid"/>
          </a:ln>
        </p:spPr>
      </p:sp>
      <p:sp>
        <p:nvSpPr>
          <p:cNvPr id="8" name="Rule"/>
          <p:cNvSpPr/>
          <p:nvPr/>
        </p:nvSpPr>
        <p:spPr>
          <a:xfrm>
            <a:off x="2616190" y="4838273"/>
            <a:ext cx="3149559" cy="0"/>
          </a:xfrm>
          <a:prstGeom prst="line">
            <a:avLst/>
          </a:prstGeom>
          <a:noFill/>
          <a:ln w="6350">
            <a:solidFill>
              <a:srgbClr val="E3E6EC"/>
            </a:solidFill>
            <a:prstDash val="solid"/>
          </a:ln>
        </p:spPr>
      </p:sp>
      <p:sp>
        <p:nvSpPr>
          <p:cNvPr id="9" name="Rule"/>
          <p:cNvSpPr/>
          <p:nvPr/>
        </p:nvSpPr>
        <p:spPr>
          <a:xfrm>
            <a:off x="2616190" y="5477713"/>
            <a:ext cx="3149559" cy="0"/>
          </a:xfrm>
          <a:prstGeom prst="line">
            <a:avLst/>
          </a:prstGeom>
          <a:noFill/>
          <a:ln w="6350">
            <a:solidFill>
              <a:srgbClr val="E3E6EC"/>
            </a:solidFill>
            <a:prstDash val="solid"/>
          </a:ln>
        </p:spPr>
      </p:sp>
      <p:pic>
        <p:nvPicPr>
          <p:cNvPr id="10" name="Icon" descr="/tmp/deck-pptx-47cOtg/icon-66.png">    </p:cNvPr>
          <p:cNvPicPr>
            <a:picLocks noChangeAspect="1"/>
          </p:cNvPicPr>
          <p:nvPr/>
        </p:nvPicPr>
        <p:blipFill>
          <a:blip r:embed="rId2"/>
          <a:stretch>
            <a:fillRect/>
          </a:stretch>
        </p:blipFill>
        <p:spPr>
          <a:xfrm>
            <a:off x="2616190" y="5569702"/>
            <a:ext cx="165141" cy="165141"/>
          </a:xfrm>
          <a:prstGeom prst="rect">
            <a:avLst/>
          </a:prstGeom>
        </p:spPr>
      </p:pic>
      <p:pic>
        <p:nvPicPr>
          <p:cNvPr id="11" name="Icon" descr="/tmp/deck-pptx-47cOtg/icon-67.png">    </p:cNvPr>
          <p:cNvPicPr>
            <a:picLocks noChangeAspect="1"/>
          </p:cNvPicPr>
          <p:nvPr/>
        </p:nvPicPr>
        <p:blipFill>
          <a:blip r:embed="rId3"/>
          <a:stretch>
            <a:fillRect/>
          </a:stretch>
        </p:blipFill>
        <p:spPr>
          <a:xfrm>
            <a:off x="4210629" y="5569702"/>
            <a:ext cx="165141" cy="165141"/>
          </a:xfrm>
          <a:prstGeom prst="rect">
            <a:avLst/>
          </a:prstGeom>
        </p:spPr>
      </p:pic>
      <p:pic>
        <p:nvPicPr>
          <p:cNvPr id="12" name="Icon" descr="/tmp/deck-pptx-47cOtg/icon-68.png">    </p:cNvPr>
          <p:cNvPicPr>
            <a:picLocks noChangeAspect="1"/>
          </p:cNvPicPr>
          <p:nvPr/>
        </p:nvPicPr>
        <p:blipFill>
          <a:blip r:embed="rId4"/>
          <a:stretch>
            <a:fillRect/>
          </a:stretch>
        </p:blipFill>
        <p:spPr>
          <a:xfrm>
            <a:off x="2616190" y="5832866"/>
            <a:ext cx="165141" cy="165141"/>
          </a:xfrm>
          <a:prstGeom prst="rect">
            <a:avLst/>
          </a:prstGeom>
        </p:spPr>
      </p:pic>
      <p:pic>
        <p:nvPicPr>
          <p:cNvPr id="13" name="Icon" descr="/tmp/deck-pptx-47cOtg/icon-69.png">    </p:cNvPr>
          <p:cNvPicPr>
            <a:picLocks noChangeAspect="1"/>
          </p:cNvPicPr>
          <p:nvPr/>
        </p:nvPicPr>
        <p:blipFill>
          <a:blip r:embed="rId5"/>
          <a:stretch>
            <a:fillRect/>
          </a:stretch>
        </p:blipFill>
        <p:spPr>
          <a:xfrm>
            <a:off x="4210629" y="5832866"/>
            <a:ext cx="165141" cy="165141"/>
          </a:xfrm>
          <a:prstGeom prst="rect">
            <a:avLst/>
          </a:prstGeom>
        </p:spPr>
      </p:pic>
      <p:sp>
        <p:nvSpPr>
          <p:cNvPr id="14" name="Rule"/>
          <p:cNvSpPr/>
          <p:nvPr/>
        </p:nvSpPr>
        <p:spPr>
          <a:xfrm>
            <a:off x="6099139" y="2073859"/>
            <a:ext cx="0" cy="3945910"/>
          </a:xfrm>
          <a:prstGeom prst="line">
            <a:avLst/>
          </a:prstGeom>
          <a:noFill/>
          <a:ln w="6350">
            <a:solidFill>
              <a:srgbClr val="E3E6EC"/>
            </a:solidFill>
            <a:prstDash val="solid"/>
          </a:ln>
        </p:spPr>
      </p:sp>
      <p:sp>
        <p:nvSpPr>
          <p:cNvPr id="15" name="div"/>
          <p:cNvSpPr/>
          <p:nvPr/>
        </p:nvSpPr>
        <p:spPr>
          <a:xfrm>
            <a:off x="6432530" y="3222894"/>
            <a:ext cx="2656606" cy="2123785"/>
          </a:xfrm>
          <a:prstGeom prst="roundRect">
            <a:avLst>
              <a:gd name="adj" fmla="val 7177"/>
            </a:avLst>
          </a:prstGeom>
          <a:solidFill>
            <a:srgbClr val="F8F9FA"/>
          </a:solidFill>
          <a:ln/>
        </p:spPr>
      </p:sp>
      <p:pic>
        <p:nvPicPr>
          <p:cNvPr id="16" name="Picture" descr="The Digital Ustaz website by ALPHV, with its AI avatar ready to answer questions about Islam">    </p:cNvPr>
          <p:cNvPicPr>
            <a:picLocks noChangeAspect="1"/>
          </p:cNvPicPr>
          <p:nvPr/>
        </p:nvPicPr>
        <p:blipFill>
          <a:blip r:embed="rId6"/>
          <a:stretch>
            <a:fillRect/>
          </a:stretch>
        </p:blipFill>
        <p:spPr>
          <a:xfrm>
            <a:off x="6534120" y="3499683"/>
            <a:ext cx="2453427" cy="1570299"/>
          </a:xfrm>
          <a:prstGeom prst="rect">
            <a:avLst/>
          </a:prstGeom>
        </p:spPr>
      </p:pic>
      <p:sp>
        <p:nvSpPr>
          <p:cNvPr id="17" name="Rule"/>
          <p:cNvSpPr/>
          <p:nvPr/>
        </p:nvSpPr>
        <p:spPr>
          <a:xfrm>
            <a:off x="9266895" y="3825027"/>
            <a:ext cx="2213854" cy="0"/>
          </a:xfrm>
          <a:prstGeom prst="line">
            <a:avLst/>
          </a:prstGeom>
          <a:noFill/>
          <a:ln w="6350">
            <a:solidFill>
              <a:srgbClr val="E3E6EC"/>
            </a:solidFill>
            <a:prstDash val="solid"/>
          </a:ln>
        </p:spPr>
      </p:sp>
      <p:sp>
        <p:nvSpPr>
          <p:cNvPr id="18" name="Rule"/>
          <p:cNvSpPr/>
          <p:nvPr/>
        </p:nvSpPr>
        <p:spPr>
          <a:xfrm>
            <a:off x="9266895" y="4744639"/>
            <a:ext cx="2213854" cy="0"/>
          </a:xfrm>
          <a:prstGeom prst="line">
            <a:avLst/>
          </a:prstGeom>
          <a:noFill/>
          <a:ln w="6350">
            <a:solidFill>
              <a:srgbClr val="E3E6EC"/>
            </a:solidFill>
            <a:prstDash val="solid"/>
          </a:ln>
        </p:spPr>
      </p:sp>
      <p:sp>
        <p:nvSpPr>
          <p:cNvPr id="19" name="row"/>
          <p:cNvSpPr/>
          <p:nvPr/>
        </p:nvSpPr>
        <p:spPr>
          <a:xfrm>
            <a:off x="6432530" y="5435559"/>
            <a:ext cx="5048220" cy="584210"/>
          </a:xfrm>
          <a:prstGeom prst="roundRect">
            <a:avLst>
              <a:gd name="adj" fmla="val 17389"/>
            </a:avLst>
          </a:prstGeom>
          <a:solidFill>
            <a:srgbClr val="044BD9">
              <a:alpha val="8000"/>
            </a:srgbClr>
          </a:solidFill>
          <a:ln/>
        </p:spPr>
      </p:sp>
      <p:sp>
        <p:nvSpPr>
          <p:cNvPr id="20" name="tile"/>
          <p:cNvSpPr/>
          <p:nvPr/>
        </p:nvSpPr>
        <p:spPr>
          <a:xfrm>
            <a:off x="6572250" y="5537241"/>
            <a:ext cx="381030" cy="381030"/>
          </a:xfrm>
          <a:prstGeom prst="roundRect">
            <a:avLst>
              <a:gd name="adj" fmla="val 29998"/>
            </a:avLst>
          </a:prstGeom>
          <a:solidFill>
            <a:srgbClr val="044BD9"/>
          </a:solidFill>
          <a:ln/>
        </p:spPr>
      </p:sp>
      <p:pic>
        <p:nvPicPr>
          <p:cNvPr id="21" name="Icon" descr="/tmp/deck-pptx-47cOtg/icon-71.png">    </p:cNvPr>
          <p:cNvPicPr>
            <a:picLocks noChangeAspect="1"/>
          </p:cNvPicPr>
          <p:nvPr/>
        </p:nvPicPr>
        <p:blipFill>
          <a:blip r:embed="rId7"/>
          <a:stretch>
            <a:fillRect/>
          </a:stretch>
        </p:blipFill>
        <p:spPr>
          <a:xfrm>
            <a:off x="6673840" y="5638830"/>
            <a:ext cx="177759" cy="177759"/>
          </a:xfrm>
          <a:prstGeom prst="rect">
            <a:avLst/>
          </a:prstGeom>
        </p:spPr>
      </p:pic>
      <p:sp>
        <p:nvSpPr>
          <p:cNvPr id="22" name="span::before"/>
          <p:cNvSpPr/>
          <p:nvPr/>
        </p:nvSpPr>
        <p:spPr>
          <a:xfrm>
            <a:off x="6191860" y="311170"/>
            <a:ext cx="44440" cy="44440"/>
          </a:xfrm>
          <a:prstGeom prst="rect">
            <a:avLst/>
          </a:prstGeom>
          <a:solidFill>
            <a:srgbClr val="A0A6AF">
              <a:alpha val="55000"/>
            </a:srgbClr>
          </a:solidFill>
          <a:ln/>
        </p:spPr>
      </p:sp>
      <p:sp>
        <p:nvSpPr>
          <p:cNvPr id="23" name="span::before"/>
          <p:cNvSpPr/>
          <p:nvPr/>
        </p:nvSpPr>
        <p:spPr>
          <a:xfrm>
            <a:off x="7145213" y="311170"/>
            <a:ext cx="44440" cy="44440"/>
          </a:xfrm>
          <a:prstGeom prst="rect">
            <a:avLst/>
          </a:prstGeom>
          <a:solidFill>
            <a:srgbClr val="A0A6AF">
              <a:alpha val="55000"/>
            </a:srgbClr>
          </a:solidFill>
          <a:ln/>
        </p:spPr>
      </p:sp>
      <p:sp>
        <p:nvSpPr>
          <p:cNvPr id="24" name="span::before"/>
          <p:cNvSpPr/>
          <p:nvPr/>
        </p:nvSpPr>
        <p:spPr>
          <a:xfrm>
            <a:off x="8056230" y="311170"/>
            <a:ext cx="44440" cy="44440"/>
          </a:xfrm>
          <a:prstGeom prst="rect">
            <a:avLst/>
          </a:prstGeom>
          <a:solidFill>
            <a:srgbClr val="A0A6AF">
              <a:alpha val="55000"/>
            </a:srgbClr>
          </a:solidFill>
          <a:ln/>
        </p:spPr>
      </p:sp>
      <p:sp>
        <p:nvSpPr>
          <p:cNvPr id="25" name="on::before"/>
          <p:cNvSpPr/>
          <p:nvPr/>
        </p:nvSpPr>
        <p:spPr>
          <a:xfrm>
            <a:off x="8972550" y="311170"/>
            <a:ext cx="44440" cy="44440"/>
          </a:xfrm>
          <a:prstGeom prst="rect">
            <a:avLst/>
          </a:prstGeom>
          <a:solidFill>
            <a:srgbClr val="044BD9"/>
          </a:solidFill>
          <a:ln/>
        </p:spPr>
      </p:sp>
      <p:sp>
        <p:nvSpPr>
          <p:cNvPr id="26" name="span::before"/>
          <p:cNvSpPr/>
          <p:nvPr/>
        </p:nvSpPr>
        <p:spPr>
          <a:xfrm>
            <a:off x="10421142" y="311170"/>
            <a:ext cx="44440" cy="44440"/>
          </a:xfrm>
          <a:prstGeom prst="rect">
            <a:avLst/>
          </a:prstGeom>
          <a:solidFill>
            <a:srgbClr val="A0A6AF">
              <a:alpha val="55000"/>
            </a:srgbClr>
          </a:solidFill>
          <a:ln/>
        </p:spPr>
      </p:sp>
      <p:sp>
        <p:nvSpPr>
          <p:cNvPr id="27" name="span::before"/>
          <p:cNvSpPr/>
          <p:nvPr/>
        </p:nvSpPr>
        <p:spPr>
          <a:xfrm>
            <a:off x="10966216" y="311170"/>
            <a:ext cx="44440" cy="44440"/>
          </a:xfrm>
          <a:prstGeom prst="rect">
            <a:avLst/>
          </a:prstGeom>
          <a:solidFill>
            <a:srgbClr val="A0A6AF">
              <a:alpha val="55000"/>
            </a:srgbClr>
          </a:solidFill>
          <a:ln/>
        </p:spPr>
      </p:sp>
      <p:sp>
        <p:nvSpPr>
          <p:cNvPr id="28" name="Text"/>
          <p:cNvSpPr txBox="1"/>
          <p:nvPr/>
        </p:nvSpPr>
        <p:spPr>
          <a:xfrm>
            <a:off x="844540" y="603230"/>
            <a:ext cx="1138245" cy="120609"/>
          </a:xfrm>
          <a:prstGeom prst="rect">
            <a:avLst/>
          </a:prstGeom>
          <a:noFill/>
          <a:ln/>
        </p:spPr>
        <p:txBody>
          <a:bodyPr wrap="none" lIns="0" tIns="0" rIns="0" bIns="0" rtlCol="0" anchor="t"/>
          <a:lstStyle/>
          <a:p>
            <a:pPr algn="l" indent="0" marL="0">
              <a:lnSpc>
                <a:spcPts val="950"/>
              </a:lnSpc>
              <a:buNone/>
            </a:pPr>
            <a:r>
              <a:rPr lang="en-US" sz="950" spc="10" kern="0" dirty="0">
                <a:solidFill>
                  <a:srgbClr val="155DFC"/>
                </a:solidFill>
                <a:latin typeface="Poppins Medium" pitchFamily="34" charset="0"/>
                <a:ea typeface="Poppins Medium" pitchFamily="34" charset="-122"/>
                <a:cs typeface="Poppins Medium" pitchFamily="34" charset="-120"/>
              </a:rPr>
              <a:t>Flagship products</a:t>
            </a:r>
            <a:endParaRPr lang="en-US" sz="950" dirty="0"/>
          </a:p>
        </p:txBody>
      </p:sp>
      <p:sp>
        <p:nvSpPr>
          <p:cNvPr id="29" name="Title"/>
          <p:cNvSpPr txBox="1"/>
          <p:nvPr/>
        </p:nvSpPr>
        <p:spPr>
          <a:xfrm>
            <a:off x="711220" y="927750"/>
            <a:ext cx="9398020" cy="861090"/>
          </a:xfrm>
          <a:prstGeom prst="rect">
            <a:avLst/>
          </a:prstGeom>
          <a:noFill/>
          <a:ln/>
        </p:spPr>
        <p:txBody>
          <a:bodyPr wrap="square" lIns="0" tIns="0" rIns="0" bIns="0" rtlCol="0" anchor="t"/>
          <a:lstStyle/>
          <a:p>
            <a:pPr algn="l" indent="0" marL="0">
              <a:lnSpc>
                <a:spcPts val="3390"/>
              </a:lnSpc>
              <a:buNone/>
            </a:pPr>
            <a:r>
              <a:rPr lang="en-US" sz="3000" spc="-45" kern="0" dirty="0">
                <a:solidFill>
                  <a:srgbClr val="000000"/>
                </a:solidFill>
                <a:latin typeface="Poppins Medium" pitchFamily="34" charset="0"/>
                <a:ea typeface="Poppins Medium" pitchFamily="34" charset="-122"/>
                <a:cs typeface="Poppins Medium" pitchFamily="34" charset="-120"/>
              </a:rPr>
              <a:t>Two flagships for day-to-day operations:</a:t>
            </a:r>
            <a:endParaRPr lang="en-US" sz="3000" dirty="0"/>
          </a:p>
          <a:p>
            <a:pPr algn="l" indent="0" marL="0">
              <a:lnSpc>
                <a:spcPts val="3390"/>
              </a:lnSpc>
              <a:buNone/>
            </a:pPr>
            <a:r>
              <a:rPr lang="en-US" sz="3000" spc="-45" kern="0" dirty="0">
                <a:solidFill>
                  <a:srgbClr val="000000"/>
                </a:solidFill>
                <a:latin typeface="Poppins Medium" pitchFamily="34" charset="0"/>
                <a:ea typeface="Poppins Medium" pitchFamily="34" charset="-122"/>
                <a:cs typeface="Poppins Medium" pitchFamily="34" charset="-120"/>
              </a:rPr>
              <a:t>branch rostering and role-based avatars</a:t>
            </a:r>
            <a:endParaRPr lang="en-US" sz="3000" dirty="0"/>
          </a:p>
        </p:txBody>
      </p:sp>
      <p:sp>
        <p:nvSpPr>
          <p:cNvPr id="30" name="Text"/>
          <p:cNvSpPr txBox="1"/>
          <p:nvPr/>
        </p:nvSpPr>
        <p:spPr>
          <a:xfrm>
            <a:off x="2616190" y="2072762"/>
            <a:ext cx="3174888" cy="167335"/>
          </a:xfrm>
          <a:prstGeom prst="rect">
            <a:avLst/>
          </a:prstGeom>
          <a:noFill/>
          <a:ln/>
        </p:spPr>
        <p:txBody>
          <a:bodyPr wrap="square" lIns="0" tIns="0" rIns="0" bIns="0" rtlCol="0" anchor="t"/>
          <a:lstStyle/>
          <a:p>
            <a:pPr algn="l" indent="0" marL="0">
              <a:lnSpc>
                <a:spcPts val="1318"/>
              </a:lnSpc>
              <a:buNone/>
            </a:pPr>
            <a:r>
              <a:rPr lang="en-US" sz="850" spc="17" kern="0" dirty="0">
                <a:solidFill>
                  <a:srgbClr val="044BD9"/>
                </a:solidFill>
                <a:latin typeface="Poppins Medium" pitchFamily="34" charset="0"/>
                <a:ea typeface="Poppins Medium" pitchFamily="34" charset="-122"/>
                <a:cs typeface="Poppins Medium" pitchFamily="34" charset="-120"/>
              </a:rPr>
              <a:t>Kiralytics · Workforce optimiser</a:t>
            </a:r>
            <a:endParaRPr lang="en-US" sz="850" dirty="0"/>
          </a:p>
        </p:txBody>
      </p:sp>
      <p:sp>
        <p:nvSpPr>
          <p:cNvPr id="31" name="Text"/>
          <p:cNvSpPr txBox="1"/>
          <p:nvPr/>
        </p:nvSpPr>
        <p:spPr>
          <a:xfrm>
            <a:off x="2616190" y="2303008"/>
            <a:ext cx="3174888" cy="276332"/>
          </a:xfrm>
          <a:prstGeom prst="rect">
            <a:avLst/>
          </a:prstGeom>
          <a:noFill/>
          <a:ln/>
        </p:spPr>
        <p:txBody>
          <a:bodyPr wrap="square" lIns="0" tIns="0" rIns="0" bIns="0" rtlCol="0" anchor="t"/>
          <a:lstStyle/>
          <a:p>
            <a:pPr algn="l" indent="0" marL="0">
              <a:lnSpc>
                <a:spcPts val="2176"/>
              </a:lnSpc>
              <a:buNone/>
            </a:pPr>
            <a:r>
              <a:rPr lang="en-US" sz="1400" dirty="0">
                <a:solidFill>
                  <a:srgbClr val="000000"/>
                </a:solidFill>
                <a:latin typeface="Poppins SemiBold" pitchFamily="34" charset="0"/>
                <a:ea typeface="Poppins SemiBold" pitchFamily="34" charset="-122"/>
                <a:cs typeface="Poppins SemiBold" pitchFamily="34" charset="-120"/>
              </a:rPr>
              <a:t>Kiralytics SHIFT™</a:t>
            </a:r>
            <a:endParaRPr lang="en-US" sz="1400" dirty="0"/>
          </a:p>
        </p:txBody>
      </p:sp>
      <p:sp>
        <p:nvSpPr>
          <p:cNvPr id="32" name="Text"/>
          <p:cNvSpPr txBox="1"/>
          <p:nvPr/>
        </p:nvSpPr>
        <p:spPr>
          <a:xfrm>
            <a:off x="2616190" y="2664927"/>
            <a:ext cx="3174888" cy="620055"/>
          </a:xfrm>
          <a:prstGeom prst="rect">
            <a:avLst/>
          </a:prstGeom>
          <a:noFill/>
          <a:ln/>
        </p:spPr>
        <p:txBody>
          <a:bodyPr wrap="square" lIns="0" tIns="0" rIns="0" bIns="0" rtlCol="0" anchor="t"/>
          <a:lstStyle/>
          <a:p>
            <a:pPr algn="l" indent="0" marL="0">
              <a:lnSpc>
                <a:spcPts val="1627"/>
              </a:lnSpc>
              <a:buNone/>
            </a:pPr>
            <a:r>
              <a:rPr lang="en-US" sz="1050" dirty="0">
                <a:solidFill>
                  <a:srgbClr val="1F2937"/>
                </a:solidFill>
                <a:latin typeface="Poppins Light" pitchFamily="34" charset="0"/>
                <a:ea typeface="Poppins Light" pitchFamily="34" charset="-122"/>
                <a:cs typeface="Poppins Light" pitchFamily="34" charset="-120"/>
              </a:rPr>
              <a:t>Cloud-native rostering, GPS-verified attendance and workforce analytics for multi-location retail.</a:t>
            </a:r>
            <a:endParaRPr lang="en-US" sz="1050" dirty="0"/>
          </a:p>
        </p:txBody>
      </p:sp>
      <p:sp>
        <p:nvSpPr>
          <p:cNvPr id="33" name="Text"/>
          <p:cNvSpPr txBox="1"/>
          <p:nvPr/>
        </p:nvSpPr>
        <p:spPr>
          <a:xfrm>
            <a:off x="2616190" y="3428451"/>
            <a:ext cx="3174888" cy="167335"/>
          </a:xfrm>
          <a:prstGeom prst="rect">
            <a:avLst/>
          </a:prstGeom>
          <a:noFill/>
          <a:ln/>
        </p:spPr>
        <p:txBody>
          <a:bodyPr wrap="square" lIns="0" tIns="0" rIns="0" bIns="0" rtlCol="0" anchor="t"/>
          <a:lstStyle/>
          <a:p>
            <a:pPr algn="l" indent="0" marL="0">
              <a:lnSpc>
                <a:spcPts val="1318"/>
              </a:lnSpc>
              <a:buNone/>
            </a:pPr>
            <a:r>
              <a:rPr lang="en-US" sz="850" spc="34" kern="0" dirty="0">
                <a:solidFill>
                  <a:srgbClr val="6B6B6B"/>
                </a:solidFill>
                <a:latin typeface="Poppins Medium" pitchFamily="34" charset="0"/>
                <a:ea typeface="Poppins Medium" pitchFamily="34" charset="-122"/>
                <a:cs typeface="Poppins Medium" pitchFamily="34" charset="-120"/>
              </a:rPr>
              <a:t>One product, three views</a:t>
            </a:r>
            <a:endParaRPr lang="en-US" sz="850" dirty="0"/>
          </a:p>
        </p:txBody>
      </p:sp>
      <p:sp>
        <p:nvSpPr>
          <p:cNvPr id="34" name="Text"/>
          <p:cNvSpPr txBox="1"/>
          <p:nvPr/>
        </p:nvSpPr>
        <p:spPr>
          <a:xfrm>
            <a:off x="2616190" y="3733404"/>
            <a:ext cx="1092159" cy="184160"/>
          </a:xfrm>
          <a:prstGeom prst="rect">
            <a:avLst/>
          </a:prstGeom>
          <a:noFill/>
          <a:ln/>
        </p:spPr>
        <p:txBody>
          <a:bodyPr wrap="none" lIns="0" tIns="0" rIns="0" bIns="0" rtlCol="0" anchor="t"/>
          <a:lstStyle/>
          <a:p>
            <a:pPr algn="l" indent="0" marL="0">
              <a:lnSpc>
                <a:spcPts val="1450"/>
              </a:lnSpc>
              <a:buNone/>
            </a:pPr>
            <a:r>
              <a:rPr lang="en-US" sz="1000" dirty="0">
                <a:solidFill>
                  <a:srgbClr val="000000"/>
                </a:solidFill>
                <a:latin typeface="Poppins Medium" pitchFamily="34" charset="0"/>
                <a:ea typeface="Poppins Medium" pitchFamily="34" charset="-122"/>
                <a:cs typeface="Poppins Medium" pitchFamily="34" charset="-120"/>
              </a:rPr>
              <a:t>Store managers</a:t>
            </a:r>
            <a:endParaRPr lang="en-US" sz="1000" dirty="0"/>
          </a:p>
        </p:txBody>
      </p:sp>
      <p:sp>
        <p:nvSpPr>
          <p:cNvPr id="35" name="Text"/>
          <p:cNvSpPr txBox="1"/>
          <p:nvPr/>
        </p:nvSpPr>
        <p:spPr>
          <a:xfrm>
            <a:off x="3784610" y="3733404"/>
            <a:ext cx="2001804" cy="368320"/>
          </a:xfrm>
          <a:prstGeom prst="rect">
            <a:avLst/>
          </a:prstGeom>
          <a:noFill/>
          <a:ln/>
        </p:spPr>
        <p:txBody>
          <a:bodyPr wrap="square" lIns="0" tIns="0" rIns="0" bIns="0" rtlCol="0" anchor="t"/>
          <a:lstStyle/>
          <a:p>
            <a:pPr algn="l" indent="0" marL="0">
              <a:lnSpc>
                <a:spcPts val="1450"/>
              </a:lnSpc>
              <a:buNone/>
            </a:pPr>
            <a:r>
              <a:rPr lang="en-US" sz="1000" dirty="0">
                <a:solidFill>
                  <a:srgbClr val="1F2937"/>
                </a:solidFill>
                <a:latin typeface="Poppins Light" pitchFamily="34" charset="0"/>
                <a:ea typeface="Poppins Light" pitchFamily="34" charset="-122"/>
                <a:cs typeface="Poppins Light" pitchFamily="34" charset="-120"/>
              </a:rPr>
              <a:t>Plan the roster and approve changes</a:t>
            </a:r>
            <a:endParaRPr lang="en-US" sz="1000" dirty="0"/>
          </a:p>
        </p:txBody>
      </p:sp>
      <p:sp>
        <p:nvSpPr>
          <p:cNvPr id="36" name="Text"/>
          <p:cNvSpPr txBox="1"/>
          <p:nvPr/>
        </p:nvSpPr>
        <p:spPr>
          <a:xfrm>
            <a:off x="2616190" y="4247754"/>
            <a:ext cx="1083747" cy="184160"/>
          </a:xfrm>
          <a:prstGeom prst="rect">
            <a:avLst/>
          </a:prstGeom>
          <a:noFill/>
          <a:ln/>
        </p:spPr>
        <p:txBody>
          <a:bodyPr wrap="square" lIns="0" tIns="0" rIns="0" bIns="0" rtlCol="0" anchor="t"/>
          <a:lstStyle/>
          <a:p>
            <a:pPr algn="l" indent="0" marL="0">
              <a:lnSpc>
                <a:spcPts val="1450"/>
              </a:lnSpc>
              <a:buNone/>
            </a:pPr>
            <a:r>
              <a:rPr lang="en-US" sz="1000" dirty="0">
                <a:solidFill>
                  <a:srgbClr val="000000"/>
                </a:solidFill>
                <a:latin typeface="Poppins Medium" pitchFamily="34" charset="0"/>
                <a:ea typeface="Poppins Medium" pitchFamily="34" charset="-122"/>
                <a:cs typeface="Poppins Medium" pitchFamily="34" charset="-120"/>
              </a:rPr>
              <a:t>Rostered staff</a:t>
            </a:r>
            <a:endParaRPr lang="en-US" sz="1000" dirty="0"/>
          </a:p>
        </p:txBody>
      </p:sp>
      <p:sp>
        <p:nvSpPr>
          <p:cNvPr id="37" name="Text"/>
          <p:cNvSpPr txBox="1"/>
          <p:nvPr/>
        </p:nvSpPr>
        <p:spPr>
          <a:xfrm>
            <a:off x="3784610" y="4247754"/>
            <a:ext cx="2001804" cy="184160"/>
          </a:xfrm>
          <a:prstGeom prst="rect">
            <a:avLst/>
          </a:prstGeom>
          <a:noFill/>
          <a:ln/>
        </p:spPr>
        <p:txBody>
          <a:bodyPr wrap="square" lIns="0" tIns="0" rIns="0" bIns="0" rtlCol="0" anchor="t"/>
          <a:lstStyle/>
          <a:p>
            <a:pPr algn="l" indent="0" marL="0">
              <a:lnSpc>
                <a:spcPts val="1450"/>
              </a:lnSpc>
              <a:buNone/>
            </a:pPr>
            <a:r>
              <a:rPr lang="en-US" sz="1000" dirty="0">
                <a:solidFill>
                  <a:srgbClr val="1F2937"/>
                </a:solidFill>
                <a:latin typeface="Poppins Light" pitchFamily="34" charset="0"/>
                <a:ea typeface="Poppins Light" pitchFamily="34" charset="-122"/>
                <a:cs typeface="Poppins Light" pitchFamily="34" charset="-120"/>
              </a:rPr>
              <a:t>Clock in at the branch</a:t>
            </a:r>
            <a:endParaRPr lang="en-US" sz="1000" dirty="0"/>
          </a:p>
        </p:txBody>
      </p:sp>
      <p:sp>
        <p:nvSpPr>
          <p:cNvPr id="38" name="Text"/>
          <p:cNvSpPr txBox="1"/>
          <p:nvPr/>
        </p:nvSpPr>
        <p:spPr>
          <a:xfrm>
            <a:off x="2616190" y="4577944"/>
            <a:ext cx="1083747" cy="184160"/>
          </a:xfrm>
          <a:prstGeom prst="rect">
            <a:avLst/>
          </a:prstGeom>
          <a:noFill/>
          <a:ln/>
        </p:spPr>
        <p:txBody>
          <a:bodyPr wrap="square" lIns="0" tIns="0" rIns="0" bIns="0" rtlCol="0" anchor="t"/>
          <a:lstStyle/>
          <a:p>
            <a:pPr algn="l" indent="0" marL="0">
              <a:lnSpc>
                <a:spcPts val="1450"/>
              </a:lnSpc>
              <a:buNone/>
            </a:pPr>
            <a:r>
              <a:rPr lang="en-US" sz="1000" dirty="0">
                <a:solidFill>
                  <a:srgbClr val="000000"/>
                </a:solidFill>
                <a:latin typeface="Poppins Medium" pitchFamily="34" charset="0"/>
                <a:ea typeface="Poppins Medium" pitchFamily="34" charset="-122"/>
                <a:cs typeface="Poppins Medium" pitchFamily="34" charset="-120"/>
              </a:rPr>
              <a:t>HQ admins</a:t>
            </a:r>
            <a:endParaRPr lang="en-US" sz="1000" dirty="0"/>
          </a:p>
        </p:txBody>
      </p:sp>
      <p:sp>
        <p:nvSpPr>
          <p:cNvPr id="39" name="Text"/>
          <p:cNvSpPr txBox="1"/>
          <p:nvPr/>
        </p:nvSpPr>
        <p:spPr>
          <a:xfrm>
            <a:off x="3784610" y="4577944"/>
            <a:ext cx="2001804" cy="184160"/>
          </a:xfrm>
          <a:prstGeom prst="rect">
            <a:avLst/>
          </a:prstGeom>
          <a:noFill/>
          <a:ln/>
        </p:spPr>
        <p:txBody>
          <a:bodyPr wrap="square" lIns="0" tIns="0" rIns="0" bIns="0" rtlCol="0" anchor="t"/>
          <a:lstStyle/>
          <a:p>
            <a:pPr algn="l" indent="0" marL="0">
              <a:lnSpc>
                <a:spcPts val="1450"/>
              </a:lnSpc>
              <a:buNone/>
            </a:pPr>
            <a:r>
              <a:rPr lang="en-US" sz="1000" dirty="0">
                <a:solidFill>
                  <a:srgbClr val="1F2937"/>
                </a:solidFill>
                <a:latin typeface="Poppins Light" pitchFamily="34" charset="0"/>
                <a:ea typeface="Poppins Light" pitchFamily="34" charset="-122"/>
                <a:cs typeface="Poppins Light" pitchFamily="34" charset="-120"/>
              </a:rPr>
              <a:t>Compare every branch</a:t>
            </a:r>
            <a:endParaRPr lang="en-US" sz="1000" dirty="0"/>
          </a:p>
        </p:txBody>
      </p:sp>
      <p:sp>
        <p:nvSpPr>
          <p:cNvPr id="40" name="Text"/>
          <p:cNvSpPr txBox="1"/>
          <p:nvPr/>
        </p:nvSpPr>
        <p:spPr>
          <a:xfrm>
            <a:off x="2616190" y="5229911"/>
            <a:ext cx="3174888" cy="167335"/>
          </a:xfrm>
          <a:prstGeom prst="rect">
            <a:avLst/>
          </a:prstGeom>
          <a:noFill/>
          <a:ln/>
        </p:spPr>
        <p:txBody>
          <a:bodyPr wrap="square" lIns="0" tIns="0" rIns="0" bIns="0" rtlCol="0" anchor="t"/>
          <a:lstStyle/>
          <a:p>
            <a:pPr algn="l" indent="0" marL="0">
              <a:lnSpc>
                <a:spcPts val="1318"/>
              </a:lnSpc>
              <a:buNone/>
            </a:pPr>
            <a:r>
              <a:rPr lang="en-US" sz="850" spc="34" kern="0" dirty="0">
                <a:solidFill>
                  <a:srgbClr val="6B6B6B"/>
                </a:solidFill>
                <a:latin typeface="Poppins Medium" pitchFamily="34" charset="0"/>
                <a:ea typeface="Poppins Medium" pitchFamily="34" charset="-122"/>
                <a:cs typeface="Poppins Medium" pitchFamily="34" charset="-120"/>
              </a:rPr>
              <a:t>Core features</a:t>
            </a:r>
            <a:endParaRPr lang="en-US" sz="850" dirty="0"/>
          </a:p>
        </p:txBody>
      </p:sp>
      <p:sp>
        <p:nvSpPr>
          <p:cNvPr id="41" name="Text"/>
          <p:cNvSpPr txBox="1"/>
          <p:nvPr/>
        </p:nvSpPr>
        <p:spPr>
          <a:xfrm>
            <a:off x="2844790" y="5568330"/>
            <a:ext cx="1108984" cy="186995"/>
          </a:xfrm>
          <a:prstGeom prst="rect">
            <a:avLst/>
          </a:prstGeom>
          <a:noFill/>
          <a:ln/>
        </p:spPr>
        <p:txBody>
          <a:bodyPr wrap="square" lIns="0" tIns="0" rIns="0" bIns="0" rtlCol="0" anchor="t"/>
          <a:lstStyle/>
          <a:p>
            <a:pPr algn="l" indent="0" marL="0">
              <a:lnSpc>
                <a:spcPts val="1472"/>
              </a:lnSpc>
              <a:buNone/>
            </a:pPr>
            <a:r>
              <a:rPr lang="en-US" sz="950" dirty="0">
                <a:solidFill>
                  <a:srgbClr val="000000"/>
                </a:solidFill>
                <a:latin typeface="Poppins Light" pitchFamily="34" charset="0"/>
                <a:ea typeface="Poppins Light" pitchFamily="34" charset="-122"/>
                <a:cs typeface="Poppins Light" pitchFamily="34" charset="-120"/>
              </a:rPr>
              <a:t>Roster timeline</a:t>
            </a:r>
            <a:endParaRPr lang="en-US" sz="950" dirty="0"/>
          </a:p>
        </p:txBody>
      </p:sp>
      <p:sp>
        <p:nvSpPr>
          <p:cNvPr id="42" name="Text"/>
          <p:cNvSpPr txBox="1"/>
          <p:nvPr/>
        </p:nvSpPr>
        <p:spPr>
          <a:xfrm>
            <a:off x="4439229" y="5568330"/>
            <a:ext cx="1344534" cy="186995"/>
          </a:xfrm>
          <a:prstGeom prst="rect">
            <a:avLst/>
          </a:prstGeom>
          <a:noFill/>
          <a:ln/>
        </p:spPr>
        <p:txBody>
          <a:bodyPr wrap="square" lIns="0" tIns="0" rIns="0" bIns="0" rtlCol="0" anchor="t"/>
          <a:lstStyle/>
          <a:p>
            <a:pPr algn="l" indent="0" marL="0">
              <a:lnSpc>
                <a:spcPts val="1472"/>
              </a:lnSpc>
              <a:buNone/>
            </a:pPr>
            <a:r>
              <a:rPr lang="en-US" sz="950" dirty="0">
                <a:solidFill>
                  <a:srgbClr val="000000"/>
                </a:solidFill>
                <a:latin typeface="Poppins Light" pitchFamily="34" charset="0"/>
                <a:ea typeface="Poppins Light" pitchFamily="34" charset="-122"/>
                <a:cs typeface="Poppins Light" pitchFamily="34" charset="-120"/>
              </a:rPr>
              <a:t>GPS-verified clock-in</a:t>
            </a:r>
            <a:endParaRPr lang="en-US" sz="950" dirty="0"/>
          </a:p>
        </p:txBody>
      </p:sp>
      <p:sp>
        <p:nvSpPr>
          <p:cNvPr id="43" name="Text"/>
          <p:cNvSpPr txBox="1"/>
          <p:nvPr/>
        </p:nvSpPr>
        <p:spPr>
          <a:xfrm>
            <a:off x="2844790" y="5831403"/>
            <a:ext cx="1108984" cy="186995"/>
          </a:xfrm>
          <a:prstGeom prst="rect">
            <a:avLst/>
          </a:prstGeom>
          <a:noFill/>
          <a:ln/>
        </p:spPr>
        <p:txBody>
          <a:bodyPr wrap="square" lIns="0" tIns="0" rIns="0" bIns="0" rtlCol="0" anchor="t"/>
          <a:lstStyle/>
          <a:p>
            <a:pPr algn="l" indent="0" marL="0">
              <a:lnSpc>
                <a:spcPts val="1472"/>
              </a:lnSpc>
              <a:buNone/>
            </a:pPr>
            <a:r>
              <a:rPr lang="en-US" sz="950" dirty="0">
                <a:solidFill>
                  <a:srgbClr val="000000"/>
                </a:solidFill>
                <a:latin typeface="Poppins Light" pitchFamily="34" charset="0"/>
                <a:ea typeface="Poppins Light" pitchFamily="34" charset="-122"/>
                <a:cs typeface="Poppins Light" pitchFamily="34" charset="-120"/>
              </a:rPr>
              <a:t>Cross-branch KPIs</a:t>
            </a:r>
            <a:endParaRPr lang="en-US" sz="950" dirty="0"/>
          </a:p>
        </p:txBody>
      </p:sp>
      <p:sp>
        <p:nvSpPr>
          <p:cNvPr id="44" name="Text"/>
          <p:cNvSpPr txBox="1"/>
          <p:nvPr/>
        </p:nvSpPr>
        <p:spPr>
          <a:xfrm>
            <a:off x="4439229" y="5831403"/>
            <a:ext cx="1344534" cy="186995"/>
          </a:xfrm>
          <a:prstGeom prst="rect">
            <a:avLst/>
          </a:prstGeom>
          <a:noFill/>
          <a:ln/>
        </p:spPr>
        <p:txBody>
          <a:bodyPr wrap="square" lIns="0" tIns="0" rIns="0" bIns="0" rtlCol="0" anchor="t"/>
          <a:lstStyle/>
          <a:p>
            <a:pPr algn="l" indent="0" marL="0">
              <a:lnSpc>
                <a:spcPts val="1472"/>
              </a:lnSpc>
              <a:buNone/>
            </a:pPr>
            <a:r>
              <a:rPr lang="en-US" sz="950" dirty="0">
                <a:solidFill>
                  <a:srgbClr val="000000"/>
                </a:solidFill>
                <a:latin typeface="Poppins Light" pitchFamily="34" charset="0"/>
                <a:ea typeface="Poppins Light" pitchFamily="34" charset="-122"/>
                <a:cs typeface="Poppins Light" pitchFamily="34" charset="-120"/>
              </a:rPr>
              <a:t>Real-time attendance</a:t>
            </a:r>
            <a:endParaRPr lang="en-US" sz="950" dirty="0"/>
          </a:p>
        </p:txBody>
      </p:sp>
      <p:sp>
        <p:nvSpPr>
          <p:cNvPr id="45" name="Text"/>
          <p:cNvSpPr txBox="1"/>
          <p:nvPr/>
        </p:nvSpPr>
        <p:spPr>
          <a:xfrm>
            <a:off x="6432530" y="2072762"/>
            <a:ext cx="5081138" cy="167335"/>
          </a:xfrm>
          <a:prstGeom prst="rect">
            <a:avLst/>
          </a:prstGeom>
          <a:noFill/>
          <a:ln/>
        </p:spPr>
        <p:txBody>
          <a:bodyPr wrap="square" lIns="0" tIns="0" rIns="0" bIns="0" rtlCol="0" anchor="t"/>
          <a:lstStyle/>
          <a:p>
            <a:pPr algn="l" indent="0" marL="0">
              <a:lnSpc>
                <a:spcPts val="1318"/>
              </a:lnSpc>
              <a:buNone/>
            </a:pPr>
            <a:r>
              <a:rPr lang="en-US" sz="850" spc="17" kern="0" dirty="0">
                <a:solidFill>
                  <a:srgbClr val="044BD9"/>
                </a:solidFill>
                <a:latin typeface="Poppins Medium" pitchFamily="34" charset="0"/>
                <a:ea typeface="Poppins Medium" pitchFamily="34" charset="-122"/>
                <a:cs typeface="Poppins Medium" pitchFamily="34" charset="-120"/>
              </a:rPr>
              <a:t>ALPHV · Digital avatars</a:t>
            </a:r>
            <a:endParaRPr lang="en-US" sz="850" dirty="0"/>
          </a:p>
        </p:txBody>
      </p:sp>
      <p:sp>
        <p:nvSpPr>
          <p:cNvPr id="46" name="Text"/>
          <p:cNvSpPr txBox="1"/>
          <p:nvPr/>
        </p:nvSpPr>
        <p:spPr>
          <a:xfrm>
            <a:off x="6432530" y="2303008"/>
            <a:ext cx="5081138" cy="276332"/>
          </a:xfrm>
          <a:prstGeom prst="rect">
            <a:avLst/>
          </a:prstGeom>
          <a:noFill/>
          <a:ln/>
        </p:spPr>
        <p:txBody>
          <a:bodyPr wrap="square" lIns="0" tIns="0" rIns="0" bIns="0" rtlCol="0" anchor="t"/>
          <a:lstStyle/>
          <a:p>
            <a:pPr algn="l" indent="0" marL="0">
              <a:lnSpc>
                <a:spcPts val="2176"/>
              </a:lnSpc>
              <a:buNone/>
            </a:pPr>
            <a:r>
              <a:rPr lang="en-US" sz="1400" dirty="0">
                <a:solidFill>
                  <a:srgbClr val="000000"/>
                </a:solidFill>
                <a:latin typeface="Poppins SemiBold" pitchFamily="34" charset="0"/>
                <a:ea typeface="Poppins SemiBold" pitchFamily="34" charset="-122"/>
                <a:cs typeface="Poppins SemiBold" pitchFamily="34" charset="-120"/>
              </a:rPr>
              <a:t>ALPHV Avatar™</a:t>
            </a:r>
            <a:endParaRPr lang="en-US" sz="1400" dirty="0"/>
          </a:p>
        </p:txBody>
      </p:sp>
      <p:sp>
        <p:nvSpPr>
          <p:cNvPr id="47" name="Text"/>
          <p:cNvSpPr txBox="1"/>
          <p:nvPr/>
        </p:nvSpPr>
        <p:spPr>
          <a:xfrm>
            <a:off x="6432530" y="2664927"/>
            <a:ext cx="5081138" cy="413400"/>
          </a:xfrm>
          <a:prstGeom prst="rect">
            <a:avLst/>
          </a:prstGeom>
          <a:noFill/>
          <a:ln/>
        </p:spPr>
        <p:txBody>
          <a:bodyPr wrap="square" lIns="0" tIns="0" rIns="0" bIns="0" rtlCol="0" anchor="t"/>
          <a:lstStyle/>
          <a:p>
            <a:pPr algn="l" indent="0" marL="0">
              <a:lnSpc>
                <a:spcPts val="1627"/>
              </a:lnSpc>
              <a:buNone/>
            </a:pPr>
            <a:r>
              <a:rPr lang="en-US" sz="1050" dirty="0">
                <a:solidFill>
                  <a:srgbClr val="1F2937"/>
                </a:solidFill>
                <a:latin typeface="Poppins Light" pitchFamily="34" charset="0"/>
                <a:ea typeface="Poppins Light" pitchFamily="34" charset="-122"/>
                <a:cs typeface="Poppins Light" pitchFamily="34" charset="-120"/>
              </a:rPr>
              <a:t>Digital avatars, each built for one role, from the restaurant counter to the hiring funnel.</a:t>
            </a:r>
            <a:endParaRPr lang="en-US" sz="1050" dirty="0"/>
          </a:p>
        </p:txBody>
      </p:sp>
      <p:sp>
        <p:nvSpPr>
          <p:cNvPr id="48" name="Text"/>
          <p:cNvSpPr txBox="1"/>
          <p:nvPr/>
        </p:nvSpPr>
        <p:spPr>
          <a:xfrm>
            <a:off x="9266895" y="3340303"/>
            <a:ext cx="2235434" cy="236190"/>
          </a:xfrm>
          <a:prstGeom prst="rect">
            <a:avLst/>
          </a:prstGeom>
          <a:noFill/>
          <a:ln/>
        </p:spPr>
        <p:txBody>
          <a:bodyPr wrap="square" lIns="0" tIns="0" rIns="0" bIns="0" rtlCol="0" anchor="t"/>
          <a:lstStyle/>
          <a:p>
            <a:pPr algn="l" indent="0" marL="0">
              <a:lnSpc>
                <a:spcPts val="1860"/>
              </a:lnSpc>
              <a:buNone/>
            </a:pPr>
            <a:r>
              <a:rPr lang="en-US" sz="1050" dirty="0">
                <a:solidFill>
                  <a:srgbClr val="000000"/>
                </a:solidFill>
                <a:latin typeface="Poppins Medium" pitchFamily="34" charset="0"/>
                <a:ea typeface="Poppins Medium" pitchFamily="34" charset="-122"/>
                <a:cs typeface="Poppins Medium" pitchFamily="34" charset="-120"/>
              </a:rPr>
              <a:t>Digital Mamak</a:t>
            </a:r>
            <a:endParaRPr lang="en-US" sz="1050" dirty="0"/>
          </a:p>
        </p:txBody>
      </p:sp>
      <p:sp>
        <p:nvSpPr>
          <p:cNvPr id="49" name="Text"/>
          <p:cNvSpPr txBox="1"/>
          <p:nvPr/>
        </p:nvSpPr>
        <p:spPr>
          <a:xfrm>
            <a:off x="9266895" y="3568903"/>
            <a:ext cx="2235434" cy="174925"/>
          </a:xfrm>
          <a:prstGeom prst="rect">
            <a:avLst/>
          </a:prstGeom>
          <a:noFill/>
          <a:ln/>
        </p:spPr>
        <p:txBody>
          <a:bodyPr wrap="square" lIns="0" tIns="0" rIns="0" bIns="0" rtlCol="0" anchor="t"/>
          <a:lstStyle/>
          <a:p>
            <a:pPr algn="l" indent="0" marL="0">
              <a:lnSpc>
                <a:spcPts val="1378"/>
              </a:lnSpc>
              <a:buNone/>
            </a:pPr>
            <a:r>
              <a:rPr lang="en-US" sz="950" dirty="0">
                <a:solidFill>
                  <a:srgbClr val="1F2937"/>
                </a:solidFill>
                <a:latin typeface="Poppins Light" pitchFamily="34" charset="0"/>
                <a:ea typeface="Poppins Light" pitchFamily="34" charset="-122"/>
                <a:cs typeface="Poppins Light" pitchFamily="34" charset="-120"/>
              </a:rPr>
              <a:t>Takes restaurant orders</a:t>
            </a:r>
            <a:endParaRPr lang="en-US" sz="950" dirty="0"/>
          </a:p>
        </p:txBody>
      </p:sp>
      <p:sp>
        <p:nvSpPr>
          <p:cNvPr id="50" name="Text"/>
          <p:cNvSpPr txBox="1"/>
          <p:nvPr/>
        </p:nvSpPr>
        <p:spPr>
          <a:xfrm>
            <a:off x="9266895" y="3910066"/>
            <a:ext cx="2235434" cy="236190"/>
          </a:xfrm>
          <a:prstGeom prst="rect">
            <a:avLst/>
          </a:prstGeom>
          <a:noFill/>
          <a:ln/>
        </p:spPr>
        <p:txBody>
          <a:bodyPr wrap="square" lIns="0" tIns="0" rIns="0" bIns="0" rtlCol="0" anchor="t"/>
          <a:lstStyle/>
          <a:p>
            <a:pPr algn="l" indent="0" marL="0">
              <a:lnSpc>
                <a:spcPts val="1860"/>
              </a:lnSpc>
              <a:buNone/>
            </a:pPr>
            <a:r>
              <a:rPr lang="en-US" sz="1050" dirty="0">
                <a:solidFill>
                  <a:srgbClr val="000000"/>
                </a:solidFill>
                <a:latin typeface="Poppins Medium" pitchFamily="34" charset="0"/>
                <a:ea typeface="Poppins Medium" pitchFamily="34" charset="-122"/>
                <a:cs typeface="Poppins Medium" pitchFamily="34" charset="-120"/>
              </a:rPr>
              <a:t>Digital Ustaz</a:t>
            </a:r>
            <a:endParaRPr lang="en-US" sz="1050" dirty="0"/>
          </a:p>
        </p:txBody>
      </p:sp>
      <p:sp>
        <p:nvSpPr>
          <p:cNvPr id="51" name="Text"/>
          <p:cNvSpPr txBox="1"/>
          <p:nvPr/>
        </p:nvSpPr>
        <p:spPr>
          <a:xfrm>
            <a:off x="9266895" y="4138757"/>
            <a:ext cx="2235434" cy="524866"/>
          </a:xfrm>
          <a:prstGeom prst="rect">
            <a:avLst/>
          </a:prstGeom>
          <a:noFill/>
          <a:ln/>
        </p:spPr>
        <p:txBody>
          <a:bodyPr wrap="square" lIns="0" tIns="0" rIns="0" bIns="0" rtlCol="0" anchor="t"/>
          <a:lstStyle/>
          <a:p>
            <a:pPr algn="l" indent="0" marL="0">
              <a:lnSpc>
                <a:spcPts val="1378"/>
              </a:lnSpc>
              <a:buNone/>
            </a:pPr>
            <a:r>
              <a:rPr lang="en-US" sz="950" dirty="0">
                <a:solidFill>
                  <a:srgbClr val="1F2937"/>
                </a:solidFill>
                <a:latin typeface="Poppins Light" pitchFamily="34" charset="0"/>
                <a:ea typeface="Poppins Light" pitchFamily="34" charset="-122"/>
                <a:cs typeface="Poppins Light" pitchFamily="34" charset="-120"/>
              </a:rPr>
              <a:t>Answers questions about Islam 24/7 from the Al-Quran and Hadith; live at digitalustaz.com</a:t>
            </a:r>
            <a:endParaRPr lang="en-US" sz="950" dirty="0"/>
          </a:p>
        </p:txBody>
      </p:sp>
      <p:sp>
        <p:nvSpPr>
          <p:cNvPr id="52" name="Text"/>
          <p:cNvSpPr txBox="1"/>
          <p:nvPr/>
        </p:nvSpPr>
        <p:spPr>
          <a:xfrm>
            <a:off x="9266895" y="4829769"/>
            <a:ext cx="2235434" cy="236190"/>
          </a:xfrm>
          <a:prstGeom prst="rect">
            <a:avLst/>
          </a:prstGeom>
          <a:noFill/>
          <a:ln/>
        </p:spPr>
        <p:txBody>
          <a:bodyPr wrap="square" lIns="0" tIns="0" rIns="0" bIns="0" rtlCol="0" anchor="t"/>
          <a:lstStyle/>
          <a:p>
            <a:pPr algn="l" indent="0" marL="0">
              <a:lnSpc>
                <a:spcPts val="1860"/>
              </a:lnSpc>
              <a:buNone/>
            </a:pPr>
            <a:r>
              <a:rPr lang="en-US" sz="1050" dirty="0">
                <a:solidFill>
                  <a:srgbClr val="000000"/>
                </a:solidFill>
                <a:latin typeface="Poppins Medium" pitchFamily="34" charset="0"/>
                <a:ea typeface="Poppins Medium" pitchFamily="34" charset="-122"/>
                <a:cs typeface="Poppins Medium" pitchFamily="34" charset="-120"/>
              </a:rPr>
              <a:t>Digital Interviewer</a:t>
            </a:r>
            <a:endParaRPr lang="en-US" sz="1050" dirty="0"/>
          </a:p>
        </p:txBody>
      </p:sp>
      <p:sp>
        <p:nvSpPr>
          <p:cNvPr id="53" name="Text"/>
          <p:cNvSpPr txBox="1"/>
          <p:nvPr/>
        </p:nvSpPr>
        <p:spPr>
          <a:xfrm>
            <a:off x="9266895" y="5058369"/>
            <a:ext cx="2235434" cy="174925"/>
          </a:xfrm>
          <a:prstGeom prst="rect">
            <a:avLst/>
          </a:prstGeom>
          <a:noFill/>
          <a:ln/>
        </p:spPr>
        <p:txBody>
          <a:bodyPr wrap="square" lIns="0" tIns="0" rIns="0" bIns="0" rtlCol="0" anchor="t"/>
          <a:lstStyle/>
          <a:p>
            <a:pPr algn="l" indent="0" marL="0">
              <a:lnSpc>
                <a:spcPts val="1378"/>
              </a:lnSpc>
              <a:buNone/>
            </a:pPr>
            <a:r>
              <a:rPr lang="en-US" sz="950" dirty="0">
                <a:solidFill>
                  <a:srgbClr val="1F2937"/>
                </a:solidFill>
                <a:latin typeface="Poppins Light" pitchFamily="34" charset="0"/>
                <a:ea typeface="Poppins Light" pitchFamily="34" charset="-122"/>
                <a:cs typeface="Poppins Light" pitchFamily="34" charset="-120"/>
              </a:rPr>
              <a:t>Screens candidates at scale</a:t>
            </a:r>
            <a:endParaRPr lang="en-US" sz="950" dirty="0"/>
          </a:p>
        </p:txBody>
      </p:sp>
      <p:sp>
        <p:nvSpPr>
          <p:cNvPr id="54" name="Text"/>
          <p:cNvSpPr txBox="1"/>
          <p:nvPr/>
        </p:nvSpPr>
        <p:spPr>
          <a:xfrm>
            <a:off x="7067580" y="5540350"/>
            <a:ext cx="4303349" cy="368320"/>
          </a:xfrm>
          <a:prstGeom prst="rect">
            <a:avLst/>
          </a:prstGeom>
          <a:noFill/>
          <a:ln/>
        </p:spPr>
        <p:txBody>
          <a:bodyPr wrap="square" lIns="0" tIns="0" rIns="0" bIns="0" rtlCol="0" anchor="t"/>
          <a:lstStyle/>
          <a:p>
            <a:pPr algn="l" indent="0" marL="0">
              <a:lnSpc>
                <a:spcPts val="1450"/>
              </a:lnSpc>
              <a:buNone/>
            </a:pPr>
            <a:r>
              <a:rPr lang="en-US" sz="1000" dirty="0">
                <a:solidFill>
                  <a:srgbClr val="000000"/>
                </a:solidFill>
                <a:latin typeface="Poppins Medium" pitchFamily="34" charset="0"/>
                <a:ea typeface="Poppins Medium" pitchFamily="34" charset="-122"/>
                <a:cs typeface="Poppins Medium" pitchFamily="34" charset="-120"/>
              </a:rPr>
              <a:t>ALPHV HelloGen™</a:t>
            </a:r>
            <a:pPr algn="l" indent="0" marL="0">
              <a:lnSpc>
                <a:spcPts val="1450"/>
              </a:lnSpc>
              <a:buNone/>
            </a:pPr>
            <a:r>
              <a:rPr lang="en-US" sz="1000" dirty="0">
                <a:solidFill>
                  <a:srgbClr val="000000"/>
                </a:solidFill>
                <a:latin typeface="Poppins Light" pitchFamily="34" charset="0"/>
                <a:ea typeface="Poppins Light" pitchFamily="34" charset="-122"/>
                <a:cs typeface="Poppins Light" pitchFamily="34" charset="-120"/>
              </a:rPr>
              <a:t> creates a life-like video and voice avatar from a 3-minute clip, with lip-sync and low-latency replies.</a:t>
            </a:r>
            <a:endParaRPr lang="en-US" sz="1000" dirty="0"/>
          </a:p>
        </p:txBody>
      </p:sp>
      <p:sp>
        <p:nvSpPr>
          <p:cNvPr id="55" name="Text"/>
          <p:cNvSpPr txBox="1"/>
          <p:nvPr/>
        </p:nvSpPr>
        <p:spPr>
          <a:xfrm>
            <a:off x="6287140" y="276240"/>
            <a:ext cx="708477"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Point of view</a:t>
            </a:r>
            <a:endParaRPr lang="en-US" sz="850" dirty="0"/>
          </a:p>
        </p:txBody>
      </p:sp>
      <p:sp>
        <p:nvSpPr>
          <p:cNvPr id="56" name="Text"/>
          <p:cNvSpPr txBox="1"/>
          <p:nvPr/>
        </p:nvSpPr>
        <p:spPr>
          <a:xfrm>
            <a:off x="7240494" y="276240"/>
            <a:ext cx="665958"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Who we are</a:t>
            </a:r>
            <a:endParaRPr lang="en-US" sz="850" dirty="0"/>
          </a:p>
        </p:txBody>
      </p:sp>
      <p:sp>
        <p:nvSpPr>
          <p:cNvPr id="57" name="Text"/>
          <p:cNvSpPr txBox="1"/>
          <p:nvPr/>
        </p:nvSpPr>
        <p:spPr>
          <a:xfrm>
            <a:off x="8151510" y="276240"/>
            <a:ext cx="671261"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What we do</a:t>
            </a:r>
            <a:endParaRPr lang="en-US" sz="850" dirty="0"/>
          </a:p>
        </p:txBody>
      </p:sp>
      <p:sp>
        <p:nvSpPr>
          <p:cNvPr id="58" name="Text"/>
          <p:cNvSpPr txBox="1"/>
          <p:nvPr/>
        </p:nvSpPr>
        <p:spPr>
          <a:xfrm>
            <a:off x="9067830" y="276240"/>
            <a:ext cx="1205728"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044BD9"/>
                </a:solidFill>
                <a:latin typeface="Poppins Medium" pitchFamily="34" charset="0"/>
                <a:ea typeface="Poppins Medium" pitchFamily="34" charset="-122"/>
                <a:cs typeface="Poppins Medium" pitchFamily="34" charset="-120"/>
              </a:rPr>
              <a:t>Sectors and products</a:t>
            </a:r>
            <a:endParaRPr lang="en-US" sz="850" dirty="0"/>
          </a:p>
        </p:txBody>
      </p:sp>
      <p:sp>
        <p:nvSpPr>
          <p:cNvPr id="59" name="Text"/>
          <p:cNvSpPr txBox="1"/>
          <p:nvPr/>
        </p:nvSpPr>
        <p:spPr>
          <a:xfrm>
            <a:off x="10516423" y="276240"/>
            <a:ext cx="298552"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Proof</a:t>
            </a:r>
            <a:endParaRPr lang="en-US" sz="850" dirty="0"/>
          </a:p>
        </p:txBody>
      </p:sp>
      <p:sp>
        <p:nvSpPr>
          <p:cNvPr id="60" name="Text"/>
          <p:cNvSpPr txBox="1"/>
          <p:nvPr/>
        </p:nvSpPr>
        <p:spPr>
          <a:xfrm>
            <a:off x="11061497" y="276240"/>
            <a:ext cx="433700"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Engage</a:t>
            </a:r>
            <a:endParaRPr lang="en-US" sz="850" dirty="0"/>
          </a:p>
        </p:txBody>
      </p:sp>
      <p:sp>
        <p:nvSpPr>
          <p:cNvPr id="61" name="Source"/>
          <p:cNvSpPr txBox="1"/>
          <p:nvPr/>
        </p:nvSpPr>
        <p:spPr>
          <a:xfrm>
            <a:off x="711220" y="6409030"/>
            <a:ext cx="8300740" cy="151150"/>
          </a:xfrm>
          <a:prstGeom prst="rect">
            <a:avLst/>
          </a:prstGeom>
          <a:noFill/>
          <a:ln/>
        </p:spPr>
        <p:txBody>
          <a:bodyPr wrap="square" lIns="0" tIns="0" rIns="0" bIns="0" rtlCol="0" anchor="t"/>
          <a:lstStyle/>
          <a:p>
            <a:pPr algn="l" indent="0" marL="0">
              <a:lnSpc>
                <a:spcPts val="1190"/>
              </a:lnSpc>
              <a:buNone/>
            </a:pPr>
            <a:r>
              <a:rPr lang="en-US" sz="850" dirty="0">
                <a:solidFill>
                  <a:srgbClr val="6B6B6B"/>
                </a:solidFill>
                <a:latin typeface="Poppins" pitchFamily="34" charset="0"/>
                <a:ea typeface="Poppins" pitchFamily="34" charset="-122"/>
                <a:cs typeface="Poppins" pitchFamily="34" charset="-120"/>
              </a:rPr>
              <a:t>Source: alphv.com/products and its product pages (October 2026).</a:t>
            </a:r>
            <a:endParaRPr lang="en-US" sz="850" dirty="0"/>
          </a:p>
        </p:txBody>
      </p:sp>
      <p:sp>
        <p:nvSpPr>
          <p:cNvPr id="62" name="Text"/>
          <p:cNvSpPr txBox="1"/>
          <p:nvPr/>
        </p:nvSpPr>
        <p:spPr>
          <a:xfrm>
            <a:off x="9381195" y="6409030"/>
            <a:ext cx="393741" cy="151150"/>
          </a:xfrm>
          <a:prstGeom prst="rect">
            <a:avLst/>
          </a:prstGeom>
          <a:noFill/>
          <a:ln/>
        </p:spPr>
        <p:txBody>
          <a:bodyPr wrap="none" lIns="0" tIns="0" rIns="0" bIns="0" rtlCol="0" anchor="t"/>
          <a:lstStyle/>
          <a:p>
            <a:pPr algn="l" indent="0" marL="0">
              <a:lnSpc>
                <a:spcPts val="1190"/>
              </a:lnSpc>
              <a:buNone/>
            </a:pPr>
            <a:r>
              <a:rPr lang="en-US" sz="850" spc="34" kern="0" dirty="0">
                <a:solidFill>
                  <a:srgbClr val="000000"/>
                </a:solidFill>
                <a:latin typeface="Poppins SemiBold" pitchFamily="34" charset="0"/>
                <a:ea typeface="Poppins SemiBold" pitchFamily="34" charset="-122"/>
                <a:cs typeface="Poppins SemiBold" pitchFamily="34" charset="-120"/>
              </a:rPr>
              <a:t>ALPHV</a:t>
            </a:r>
            <a:endParaRPr lang="en-US" sz="850" dirty="0"/>
          </a:p>
        </p:txBody>
      </p:sp>
      <p:sp>
        <p:nvSpPr>
          <p:cNvPr id="63" name="Text"/>
          <p:cNvSpPr txBox="1"/>
          <p:nvPr/>
        </p:nvSpPr>
        <p:spPr>
          <a:xfrm>
            <a:off x="9889236" y="6409030"/>
            <a:ext cx="1377178" cy="151150"/>
          </a:xfrm>
          <a:prstGeom prst="rect">
            <a:avLst/>
          </a:prstGeom>
          <a:noFill/>
          <a:ln/>
        </p:spPr>
        <p:txBody>
          <a:bodyPr wrap="none" lIns="0" tIns="0" rIns="0" bIns="0" rtlCol="0" anchor="t"/>
          <a:lstStyle/>
          <a:p>
            <a:pPr algn="l" indent="0" marL="0">
              <a:lnSpc>
                <a:spcPts val="1190"/>
              </a:lnSpc>
              <a:buNone/>
            </a:pPr>
            <a:r>
              <a:rPr lang="en-US" sz="850" dirty="0">
                <a:solidFill>
                  <a:srgbClr val="6B6B6B"/>
                </a:solidFill>
                <a:latin typeface="Poppins" pitchFamily="34" charset="0"/>
                <a:ea typeface="Poppins" pitchFamily="34" charset="-122"/>
                <a:cs typeface="Poppins" pitchFamily="34" charset="-120"/>
              </a:rPr>
              <a:t>Corporate overview 2026</a:t>
            </a:r>
            <a:endParaRPr lang="en-US" sz="850" dirty="0"/>
          </a:p>
        </p:txBody>
      </p:sp>
      <p:sp>
        <p:nvSpPr>
          <p:cNvPr id="64" name="Text"/>
          <p:cNvSpPr txBox="1"/>
          <p:nvPr/>
        </p:nvSpPr>
        <p:spPr>
          <a:xfrm>
            <a:off x="11380714" y="6409030"/>
            <a:ext cx="125547" cy="151150"/>
          </a:xfrm>
          <a:prstGeom prst="rect">
            <a:avLst/>
          </a:prstGeom>
          <a:noFill/>
          <a:ln/>
        </p:spPr>
        <p:txBody>
          <a:bodyPr wrap="none" lIns="0" tIns="0" rIns="0" bIns="0" rtlCol="0" anchor="t"/>
          <a:lstStyle/>
          <a:p>
            <a:pPr algn="l" indent="0" marL="0">
              <a:lnSpc>
                <a:spcPts val="1190"/>
              </a:lnSpc>
              <a:buNone/>
            </a:pPr>
            <a:r>
              <a:rPr lang="en-US" sz="850" dirty="0">
                <a:solidFill>
                  <a:srgbClr val="000000"/>
                </a:solidFill>
                <a:latin typeface="Poppins Medium" pitchFamily="34" charset="0"/>
                <a:ea typeface="Poppins Medium" pitchFamily="34" charset="-122"/>
                <a:cs typeface="Poppins Medium" pitchFamily="34" charset="-120"/>
              </a:rPr>
              <a:t>21</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p:cNvSpPr txBox="1"/>
          <p:nvPr/>
        </p:nvSpPr>
        <p:spPr>
          <a:xfrm>
            <a:off x="711220" y="2472720"/>
            <a:ext cx="10825399" cy="1257300"/>
          </a:xfrm>
          <a:prstGeom prst="rect">
            <a:avLst/>
          </a:prstGeom>
          <a:noFill/>
          <a:ln/>
        </p:spPr>
        <p:txBody>
          <a:bodyPr wrap="square" lIns="0" tIns="0" rIns="0" bIns="0" rtlCol="0" anchor="t"/>
          <a:lstStyle/>
          <a:p>
            <a:pPr algn="l" indent="0" marL="0">
              <a:lnSpc>
                <a:spcPts val="9900"/>
              </a:lnSpc>
              <a:buNone/>
            </a:pPr>
            <a:r>
              <a:rPr lang="en-US" sz="11000" spc="-440" kern="0" dirty="0">
                <a:solidFill>
                  <a:srgbClr val="F2F6FD"/>
                </a:solidFill>
                <a:latin typeface="Poppins SemiBold" pitchFamily="34" charset="0"/>
                <a:ea typeface="Poppins SemiBold" pitchFamily="34" charset="-122"/>
                <a:cs typeface="Poppins SemiBold" pitchFamily="34" charset="-120"/>
              </a:rPr>
              <a:t>05</a:t>
            </a:r>
            <a:endParaRPr lang="en-US" sz="11000" dirty="0"/>
          </a:p>
        </p:txBody>
      </p:sp>
      <p:sp>
        <p:nvSpPr>
          <p:cNvPr id="3" name="Text"/>
          <p:cNvSpPr txBox="1"/>
          <p:nvPr/>
        </p:nvSpPr>
        <p:spPr>
          <a:xfrm>
            <a:off x="711220" y="3952951"/>
            <a:ext cx="8889980" cy="1280160"/>
          </a:xfrm>
          <a:prstGeom prst="rect">
            <a:avLst/>
          </a:prstGeom>
          <a:noFill/>
          <a:ln/>
        </p:spPr>
        <p:txBody>
          <a:bodyPr wrap="square" lIns="0" tIns="0" rIns="0" bIns="0" rtlCol="0" anchor="t"/>
          <a:lstStyle/>
          <a:p>
            <a:pPr algn="l" indent="0" marL="0">
              <a:lnSpc>
                <a:spcPts val="5040"/>
              </a:lnSpc>
              <a:buNone/>
            </a:pPr>
            <a:r>
              <a:rPr lang="en-US" sz="4800" spc="-120" kern="0" dirty="0">
                <a:solidFill>
                  <a:srgbClr val="FFFFFF"/>
                </a:solidFill>
                <a:latin typeface="Poppins SemiBold" pitchFamily="34" charset="0"/>
                <a:ea typeface="Poppins SemiBold" pitchFamily="34" charset="-122"/>
                <a:cs typeface="Poppins SemiBold" pitchFamily="34" charset="-120"/>
              </a:rPr>
              <a:t>Work in the field, and</a:t>
            </a:r>
            <a:endParaRPr lang="en-US" sz="4800" dirty="0"/>
          </a:p>
          <a:p>
            <a:pPr algn="l" indent="0" marL="0">
              <a:lnSpc>
                <a:spcPts val="5040"/>
              </a:lnSpc>
              <a:buNone/>
            </a:pPr>
            <a:r>
              <a:rPr lang="en-US" sz="4800" spc="-120" kern="0" dirty="0">
                <a:solidFill>
                  <a:srgbClr val="FFFFFF"/>
                </a:solidFill>
                <a:latin typeface="Poppins SemiBold" pitchFamily="34" charset="0"/>
                <a:ea typeface="Poppins SemiBold" pitchFamily="34" charset="-122"/>
                <a:cs typeface="Poppins SemiBold" pitchFamily="34" charset="-120"/>
              </a:rPr>
              <a:t>the people noticing</a:t>
            </a:r>
            <a:endParaRPr lang="en-US" sz="4800" dirty="0"/>
          </a:p>
        </p:txBody>
      </p:sp>
      <p:sp>
        <p:nvSpPr>
          <p:cNvPr id="4" name="Text"/>
          <p:cNvSpPr txBox="1"/>
          <p:nvPr/>
        </p:nvSpPr>
        <p:spPr>
          <a:xfrm>
            <a:off x="711220" y="5462626"/>
            <a:ext cx="7153168" cy="552480"/>
          </a:xfrm>
          <a:prstGeom prst="rect">
            <a:avLst/>
          </a:prstGeom>
          <a:noFill/>
          <a:ln/>
        </p:spPr>
        <p:txBody>
          <a:bodyPr wrap="square" lIns="0" tIns="0" rIns="0" bIns="0" rtlCol="0" anchor="t"/>
          <a:lstStyle/>
          <a:p>
            <a:pPr algn="l" indent="0" marL="0">
              <a:lnSpc>
                <a:spcPts val="2175"/>
              </a:lnSpc>
              <a:buNone/>
            </a:pPr>
            <a:r>
              <a:rPr lang="en-US" sz="1450" dirty="0">
                <a:solidFill>
                  <a:srgbClr val="E1E9FA"/>
                </a:solidFill>
                <a:latin typeface="Poppins Light" pitchFamily="34" charset="0"/>
                <a:ea typeface="Poppins Light" pitchFamily="34" charset="-122"/>
                <a:cs typeface="Poppins Light" pitchFamily="34" charset="-120"/>
              </a:rPr>
              <a:t>Nine engagements and a case note across Malaysia, Singapore and Vietnam, plus the wins, stages and partnerships around them.</a:t>
            </a:r>
            <a:endParaRPr lang="en-US" sz="14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badge"/>
          <p:cNvSpPr/>
          <p:nvPr/>
        </p:nvSpPr>
        <p:spPr>
          <a:xfrm>
            <a:off x="714421" y="536570"/>
            <a:ext cx="768919" cy="254020"/>
          </a:xfrm>
          <a:prstGeom prst="roundRect">
            <a:avLst>
              <a:gd name="adj" fmla="val 50000"/>
            </a:avLst>
          </a:prstGeom>
          <a:ln w="6350">
            <a:solidFill>
              <a:srgbClr val="155DFC"/>
            </a:solidFill>
            <a:prstDash val="solid"/>
          </a:ln>
        </p:spPr>
      </p:sp>
      <p:sp>
        <p:nvSpPr>
          <p:cNvPr id="3" name="Rule"/>
          <p:cNvSpPr/>
          <p:nvPr/>
        </p:nvSpPr>
        <p:spPr>
          <a:xfrm>
            <a:off x="711220" y="2319193"/>
            <a:ext cx="1841510" cy="0"/>
          </a:xfrm>
          <a:prstGeom prst="line">
            <a:avLst/>
          </a:prstGeom>
          <a:noFill/>
          <a:ln w="6350">
            <a:solidFill>
              <a:srgbClr val="E3E6EC"/>
            </a:solidFill>
            <a:prstDash val="solid"/>
          </a:ln>
        </p:spPr>
      </p:sp>
      <p:sp>
        <p:nvSpPr>
          <p:cNvPr id="4" name="Rule"/>
          <p:cNvSpPr/>
          <p:nvPr/>
        </p:nvSpPr>
        <p:spPr>
          <a:xfrm>
            <a:off x="2552730" y="2319193"/>
            <a:ext cx="1968520" cy="0"/>
          </a:xfrm>
          <a:prstGeom prst="line">
            <a:avLst/>
          </a:prstGeom>
          <a:noFill/>
          <a:ln w="6350">
            <a:solidFill>
              <a:srgbClr val="E3E6EC"/>
            </a:solidFill>
            <a:prstDash val="solid"/>
          </a:ln>
        </p:spPr>
      </p:sp>
      <p:sp>
        <p:nvSpPr>
          <p:cNvPr id="5" name="Rule"/>
          <p:cNvSpPr/>
          <p:nvPr/>
        </p:nvSpPr>
        <p:spPr>
          <a:xfrm>
            <a:off x="4521159" y="2319193"/>
            <a:ext cx="3810030" cy="0"/>
          </a:xfrm>
          <a:prstGeom prst="line">
            <a:avLst/>
          </a:prstGeom>
          <a:noFill/>
          <a:ln w="6350">
            <a:solidFill>
              <a:srgbClr val="E3E6EC"/>
            </a:solidFill>
            <a:prstDash val="solid"/>
          </a:ln>
        </p:spPr>
      </p:sp>
      <p:sp>
        <p:nvSpPr>
          <p:cNvPr id="6" name="Rule"/>
          <p:cNvSpPr/>
          <p:nvPr/>
        </p:nvSpPr>
        <p:spPr>
          <a:xfrm>
            <a:off x="8331190" y="2319193"/>
            <a:ext cx="3149559" cy="0"/>
          </a:xfrm>
          <a:prstGeom prst="line">
            <a:avLst/>
          </a:prstGeom>
          <a:noFill/>
          <a:ln w="6350">
            <a:solidFill>
              <a:srgbClr val="E3E6EC"/>
            </a:solidFill>
            <a:prstDash val="solid"/>
          </a:ln>
        </p:spPr>
      </p:sp>
      <p:sp>
        <p:nvSpPr>
          <p:cNvPr id="7" name="Rule"/>
          <p:cNvSpPr/>
          <p:nvPr/>
        </p:nvSpPr>
        <p:spPr>
          <a:xfrm>
            <a:off x="711220" y="2665567"/>
            <a:ext cx="1841510" cy="0"/>
          </a:xfrm>
          <a:prstGeom prst="line">
            <a:avLst/>
          </a:prstGeom>
          <a:noFill/>
          <a:ln w="6350">
            <a:solidFill>
              <a:srgbClr val="E3E6EC"/>
            </a:solidFill>
            <a:prstDash val="solid"/>
          </a:ln>
        </p:spPr>
      </p:sp>
      <p:sp>
        <p:nvSpPr>
          <p:cNvPr id="8" name="Rule"/>
          <p:cNvSpPr/>
          <p:nvPr/>
        </p:nvSpPr>
        <p:spPr>
          <a:xfrm>
            <a:off x="2552730" y="2665567"/>
            <a:ext cx="1968520" cy="0"/>
          </a:xfrm>
          <a:prstGeom prst="line">
            <a:avLst/>
          </a:prstGeom>
          <a:noFill/>
          <a:ln w="6350">
            <a:solidFill>
              <a:srgbClr val="E3E6EC"/>
            </a:solidFill>
            <a:prstDash val="solid"/>
          </a:ln>
        </p:spPr>
      </p:sp>
      <p:sp>
        <p:nvSpPr>
          <p:cNvPr id="9" name="Rule"/>
          <p:cNvSpPr/>
          <p:nvPr/>
        </p:nvSpPr>
        <p:spPr>
          <a:xfrm>
            <a:off x="4521159" y="2665567"/>
            <a:ext cx="3810030" cy="0"/>
          </a:xfrm>
          <a:prstGeom prst="line">
            <a:avLst/>
          </a:prstGeom>
          <a:noFill/>
          <a:ln w="6350">
            <a:solidFill>
              <a:srgbClr val="E3E6EC"/>
            </a:solidFill>
            <a:prstDash val="solid"/>
          </a:ln>
        </p:spPr>
      </p:sp>
      <p:sp>
        <p:nvSpPr>
          <p:cNvPr id="10" name="Rule"/>
          <p:cNvSpPr/>
          <p:nvPr/>
        </p:nvSpPr>
        <p:spPr>
          <a:xfrm>
            <a:off x="8331190" y="2665567"/>
            <a:ext cx="3149559" cy="0"/>
          </a:xfrm>
          <a:prstGeom prst="line">
            <a:avLst/>
          </a:prstGeom>
          <a:noFill/>
          <a:ln w="6350">
            <a:solidFill>
              <a:srgbClr val="E3E6EC"/>
            </a:solidFill>
            <a:prstDash val="solid"/>
          </a:ln>
        </p:spPr>
      </p:sp>
      <p:sp>
        <p:nvSpPr>
          <p:cNvPr id="11" name="Rule"/>
          <p:cNvSpPr/>
          <p:nvPr/>
        </p:nvSpPr>
        <p:spPr>
          <a:xfrm>
            <a:off x="711220" y="3011942"/>
            <a:ext cx="1841510" cy="0"/>
          </a:xfrm>
          <a:prstGeom prst="line">
            <a:avLst/>
          </a:prstGeom>
          <a:noFill/>
          <a:ln w="6350">
            <a:solidFill>
              <a:srgbClr val="E3E6EC"/>
            </a:solidFill>
            <a:prstDash val="solid"/>
          </a:ln>
        </p:spPr>
      </p:sp>
      <p:sp>
        <p:nvSpPr>
          <p:cNvPr id="12" name="Rule"/>
          <p:cNvSpPr/>
          <p:nvPr/>
        </p:nvSpPr>
        <p:spPr>
          <a:xfrm>
            <a:off x="2552730" y="3011942"/>
            <a:ext cx="1968520" cy="0"/>
          </a:xfrm>
          <a:prstGeom prst="line">
            <a:avLst/>
          </a:prstGeom>
          <a:noFill/>
          <a:ln w="6350">
            <a:solidFill>
              <a:srgbClr val="E3E6EC"/>
            </a:solidFill>
            <a:prstDash val="solid"/>
          </a:ln>
        </p:spPr>
      </p:sp>
      <p:sp>
        <p:nvSpPr>
          <p:cNvPr id="13" name="Rule"/>
          <p:cNvSpPr/>
          <p:nvPr/>
        </p:nvSpPr>
        <p:spPr>
          <a:xfrm>
            <a:off x="4521159" y="3011942"/>
            <a:ext cx="3810030" cy="0"/>
          </a:xfrm>
          <a:prstGeom prst="line">
            <a:avLst/>
          </a:prstGeom>
          <a:noFill/>
          <a:ln w="6350">
            <a:solidFill>
              <a:srgbClr val="E3E6EC"/>
            </a:solidFill>
            <a:prstDash val="solid"/>
          </a:ln>
        </p:spPr>
      </p:sp>
      <p:sp>
        <p:nvSpPr>
          <p:cNvPr id="14" name="Rule"/>
          <p:cNvSpPr/>
          <p:nvPr/>
        </p:nvSpPr>
        <p:spPr>
          <a:xfrm>
            <a:off x="8331190" y="3011942"/>
            <a:ext cx="3149559" cy="0"/>
          </a:xfrm>
          <a:prstGeom prst="line">
            <a:avLst/>
          </a:prstGeom>
          <a:noFill/>
          <a:ln w="6350">
            <a:solidFill>
              <a:srgbClr val="E3E6EC"/>
            </a:solidFill>
            <a:prstDash val="solid"/>
          </a:ln>
        </p:spPr>
      </p:sp>
      <p:sp>
        <p:nvSpPr>
          <p:cNvPr id="15" name="Rule"/>
          <p:cNvSpPr/>
          <p:nvPr/>
        </p:nvSpPr>
        <p:spPr>
          <a:xfrm>
            <a:off x="711220" y="3358317"/>
            <a:ext cx="1841510" cy="0"/>
          </a:xfrm>
          <a:prstGeom prst="line">
            <a:avLst/>
          </a:prstGeom>
          <a:noFill/>
          <a:ln w="6350">
            <a:solidFill>
              <a:srgbClr val="E3E6EC"/>
            </a:solidFill>
            <a:prstDash val="solid"/>
          </a:ln>
        </p:spPr>
      </p:sp>
      <p:sp>
        <p:nvSpPr>
          <p:cNvPr id="16" name="Rule"/>
          <p:cNvSpPr/>
          <p:nvPr/>
        </p:nvSpPr>
        <p:spPr>
          <a:xfrm>
            <a:off x="2552730" y="3358317"/>
            <a:ext cx="1968520" cy="0"/>
          </a:xfrm>
          <a:prstGeom prst="line">
            <a:avLst/>
          </a:prstGeom>
          <a:noFill/>
          <a:ln w="6350">
            <a:solidFill>
              <a:srgbClr val="E3E6EC"/>
            </a:solidFill>
            <a:prstDash val="solid"/>
          </a:ln>
        </p:spPr>
      </p:sp>
      <p:sp>
        <p:nvSpPr>
          <p:cNvPr id="17" name="Rule"/>
          <p:cNvSpPr/>
          <p:nvPr/>
        </p:nvSpPr>
        <p:spPr>
          <a:xfrm>
            <a:off x="4521159" y="3358317"/>
            <a:ext cx="3810030" cy="0"/>
          </a:xfrm>
          <a:prstGeom prst="line">
            <a:avLst/>
          </a:prstGeom>
          <a:noFill/>
          <a:ln w="6350">
            <a:solidFill>
              <a:srgbClr val="E3E6EC"/>
            </a:solidFill>
            <a:prstDash val="solid"/>
          </a:ln>
        </p:spPr>
      </p:sp>
      <p:sp>
        <p:nvSpPr>
          <p:cNvPr id="18" name="Rule"/>
          <p:cNvSpPr/>
          <p:nvPr/>
        </p:nvSpPr>
        <p:spPr>
          <a:xfrm>
            <a:off x="8331190" y="3358317"/>
            <a:ext cx="3149559" cy="0"/>
          </a:xfrm>
          <a:prstGeom prst="line">
            <a:avLst/>
          </a:prstGeom>
          <a:noFill/>
          <a:ln w="6350">
            <a:solidFill>
              <a:srgbClr val="E3E6EC"/>
            </a:solidFill>
            <a:prstDash val="solid"/>
          </a:ln>
        </p:spPr>
      </p:sp>
      <p:sp>
        <p:nvSpPr>
          <p:cNvPr id="19" name="Rule"/>
          <p:cNvSpPr/>
          <p:nvPr/>
        </p:nvSpPr>
        <p:spPr>
          <a:xfrm>
            <a:off x="711220" y="3704692"/>
            <a:ext cx="1841510" cy="0"/>
          </a:xfrm>
          <a:prstGeom prst="line">
            <a:avLst/>
          </a:prstGeom>
          <a:noFill/>
          <a:ln w="6350">
            <a:solidFill>
              <a:srgbClr val="E3E6EC"/>
            </a:solidFill>
            <a:prstDash val="solid"/>
          </a:ln>
        </p:spPr>
      </p:sp>
      <p:sp>
        <p:nvSpPr>
          <p:cNvPr id="20" name="Rule"/>
          <p:cNvSpPr/>
          <p:nvPr/>
        </p:nvSpPr>
        <p:spPr>
          <a:xfrm>
            <a:off x="2552730" y="3704692"/>
            <a:ext cx="1968520" cy="0"/>
          </a:xfrm>
          <a:prstGeom prst="line">
            <a:avLst/>
          </a:prstGeom>
          <a:noFill/>
          <a:ln w="6350">
            <a:solidFill>
              <a:srgbClr val="E3E6EC"/>
            </a:solidFill>
            <a:prstDash val="solid"/>
          </a:ln>
        </p:spPr>
      </p:sp>
      <p:sp>
        <p:nvSpPr>
          <p:cNvPr id="21" name="Rule"/>
          <p:cNvSpPr/>
          <p:nvPr/>
        </p:nvSpPr>
        <p:spPr>
          <a:xfrm>
            <a:off x="4521159" y="3704692"/>
            <a:ext cx="3810030" cy="0"/>
          </a:xfrm>
          <a:prstGeom prst="line">
            <a:avLst/>
          </a:prstGeom>
          <a:noFill/>
          <a:ln w="6350">
            <a:solidFill>
              <a:srgbClr val="E3E6EC"/>
            </a:solidFill>
            <a:prstDash val="solid"/>
          </a:ln>
        </p:spPr>
      </p:sp>
      <p:sp>
        <p:nvSpPr>
          <p:cNvPr id="22" name="Rule"/>
          <p:cNvSpPr/>
          <p:nvPr/>
        </p:nvSpPr>
        <p:spPr>
          <a:xfrm>
            <a:off x="8331190" y="3704692"/>
            <a:ext cx="3149559" cy="0"/>
          </a:xfrm>
          <a:prstGeom prst="line">
            <a:avLst/>
          </a:prstGeom>
          <a:noFill/>
          <a:ln w="6350">
            <a:solidFill>
              <a:srgbClr val="E3E6EC"/>
            </a:solidFill>
            <a:prstDash val="solid"/>
          </a:ln>
        </p:spPr>
      </p:sp>
      <p:sp>
        <p:nvSpPr>
          <p:cNvPr id="23" name="Rule"/>
          <p:cNvSpPr/>
          <p:nvPr/>
        </p:nvSpPr>
        <p:spPr>
          <a:xfrm>
            <a:off x="711220" y="4051066"/>
            <a:ext cx="1841510" cy="0"/>
          </a:xfrm>
          <a:prstGeom prst="line">
            <a:avLst/>
          </a:prstGeom>
          <a:noFill/>
          <a:ln w="6350">
            <a:solidFill>
              <a:srgbClr val="E3E6EC"/>
            </a:solidFill>
            <a:prstDash val="solid"/>
          </a:ln>
        </p:spPr>
      </p:sp>
      <p:sp>
        <p:nvSpPr>
          <p:cNvPr id="24" name="Rule"/>
          <p:cNvSpPr/>
          <p:nvPr/>
        </p:nvSpPr>
        <p:spPr>
          <a:xfrm>
            <a:off x="2552730" y="4051066"/>
            <a:ext cx="1968520" cy="0"/>
          </a:xfrm>
          <a:prstGeom prst="line">
            <a:avLst/>
          </a:prstGeom>
          <a:noFill/>
          <a:ln w="6350">
            <a:solidFill>
              <a:srgbClr val="E3E6EC"/>
            </a:solidFill>
            <a:prstDash val="solid"/>
          </a:ln>
        </p:spPr>
      </p:sp>
      <p:sp>
        <p:nvSpPr>
          <p:cNvPr id="25" name="Rule"/>
          <p:cNvSpPr/>
          <p:nvPr/>
        </p:nvSpPr>
        <p:spPr>
          <a:xfrm>
            <a:off x="4521159" y="4051066"/>
            <a:ext cx="3810030" cy="0"/>
          </a:xfrm>
          <a:prstGeom prst="line">
            <a:avLst/>
          </a:prstGeom>
          <a:noFill/>
          <a:ln w="6350">
            <a:solidFill>
              <a:srgbClr val="E3E6EC"/>
            </a:solidFill>
            <a:prstDash val="solid"/>
          </a:ln>
        </p:spPr>
      </p:sp>
      <p:sp>
        <p:nvSpPr>
          <p:cNvPr id="26" name="Rule"/>
          <p:cNvSpPr/>
          <p:nvPr/>
        </p:nvSpPr>
        <p:spPr>
          <a:xfrm>
            <a:off x="8331190" y="4051066"/>
            <a:ext cx="3149559" cy="0"/>
          </a:xfrm>
          <a:prstGeom prst="line">
            <a:avLst/>
          </a:prstGeom>
          <a:noFill/>
          <a:ln w="6350">
            <a:solidFill>
              <a:srgbClr val="E3E6EC"/>
            </a:solidFill>
            <a:prstDash val="solid"/>
          </a:ln>
        </p:spPr>
      </p:sp>
      <p:sp>
        <p:nvSpPr>
          <p:cNvPr id="27" name="Rule"/>
          <p:cNvSpPr/>
          <p:nvPr/>
        </p:nvSpPr>
        <p:spPr>
          <a:xfrm>
            <a:off x="711220" y="4397441"/>
            <a:ext cx="1841510" cy="0"/>
          </a:xfrm>
          <a:prstGeom prst="line">
            <a:avLst/>
          </a:prstGeom>
          <a:noFill/>
          <a:ln w="6350">
            <a:solidFill>
              <a:srgbClr val="E3E6EC"/>
            </a:solidFill>
            <a:prstDash val="solid"/>
          </a:ln>
        </p:spPr>
      </p:sp>
      <p:sp>
        <p:nvSpPr>
          <p:cNvPr id="28" name="Rule"/>
          <p:cNvSpPr/>
          <p:nvPr/>
        </p:nvSpPr>
        <p:spPr>
          <a:xfrm>
            <a:off x="2552730" y="4397441"/>
            <a:ext cx="1968520" cy="0"/>
          </a:xfrm>
          <a:prstGeom prst="line">
            <a:avLst/>
          </a:prstGeom>
          <a:noFill/>
          <a:ln w="6350">
            <a:solidFill>
              <a:srgbClr val="E3E6EC"/>
            </a:solidFill>
            <a:prstDash val="solid"/>
          </a:ln>
        </p:spPr>
      </p:sp>
      <p:sp>
        <p:nvSpPr>
          <p:cNvPr id="29" name="Rule"/>
          <p:cNvSpPr/>
          <p:nvPr/>
        </p:nvSpPr>
        <p:spPr>
          <a:xfrm>
            <a:off x="4521159" y="4397441"/>
            <a:ext cx="3810030" cy="0"/>
          </a:xfrm>
          <a:prstGeom prst="line">
            <a:avLst/>
          </a:prstGeom>
          <a:noFill/>
          <a:ln w="6350">
            <a:solidFill>
              <a:srgbClr val="E3E6EC"/>
            </a:solidFill>
            <a:prstDash val="solid"/>
          </a:ln>
        </p:spPr>
      </p:sp>
      <p:sp>
        <p:nvSpPr>
          <p:cNvPr id="30" name="Rule"/>
          <p:cNvSpPr/>
          <p:nvPr/>
        </p:nvSpPr>
        <p:spPr>
          <a:xfrm>
            <a:off x="8331190" y="4397441"/>
            <a:ext cx="3149559" cy="0"/>
          </a:xfrm>
          <a:prstGeom prst="line">
            <a:avLst/>
          </a:prstGeom>
          <a:noFill/>
          <a:ln w="6350">
            <a:solidFill>
              <a:srgbClr val="E3E6EC"/>
            </a:solidFill>
            <a:prstDash val="solid"/>
          </a:ln>
        </p:spPr>
      </p:sp>
      <p:sp>
        <p:nvSpPr>
          <p:cNvPr id="31" name="Rule"/>
          <p:cNvSpPr/>
          <p:nvPr/>
        </p:nvSpPr>
        <p:spPr>
          <a:xfrm>
            <a:off x="711220" y="4743816"/>
            <a:ext cx="1841510" cy="0"/>
          </a:xfrm>
          <a:prstGeom prst="line">
            <a:avLst/>
          </a:prstGeom>
          <a:noFill/>
          <a:ln w="6350">
            <a:solidFill>
              <a:srgbClr val="E3E6EC"/>
            </a:solidFill>
            <a:prstDash val="solid"/>
          </a:ln>
        </p:spPr>
      </p:sp>
      <p:sp>
        <p:nvSpPr>
          <p:cNvPr id="32" name="Rule"/>
          <p:cNvSpPr/>
          <p:nvPr/>
        </p:nvSpPr>
        <p:spPr>
          <a:xfrm>
            <a:off x="2552730" y="4743816"/>
            <a:ext cx="1968520" cy="0"/>
          </a:xfrm>
          <a:prstGeom prst="line">
            <a:avLst/>
          </a:prstGeom>
          <a:noFill/>
          <a:ln w="6350">
            <a:solidFill>
              <a:srgbClr val="E3E6EC"/>
            </a:solidFill>
            <a:prstDash val="solid"/>
          </a:ln>
        </p:spPr>
      </p:sp>
      <p:sp>
        <p:nvSpPr>
          <p:cNvPr id="33" name="Rule"/>
          <p:cNvSpPr/>
          <p:nvPr/>
        </p:nvSpPr>
        <p:spPr>
          <a:xfrm>
            <a:off x="4521159" y="4743816"/>
            <a:ext cx="3810030" cy="0"/>
          </a:xfrm>
          <a:prstGeom prst="line">
            <a:avLst/>
          </a:prstGeom>
          <a:noFill/>
          <a:ln w="6350">
            <a:solidFill>
              <a:srgbClr val="E3E6EC"/>
            </a:solidFill>
            <a:prstDash val="solid"/>
          </a:ln>
        </p:spPr>
      </p:sp>
      <p:sp>
        <p:nvSpPr>
          <p:cNvPr id="34" name="Rule"/>
          <p:cNvSpPr/>
          <p:nvPr/>
        </p:nvSpPr>
        <p:spPr>
          <a:xfrm>
            <a:off x="8331190" y="4743816"/>
            <a:ext cx="3149559" cy="0"/>
          </a:xfrm>
          <a:prstGeom prst="line">
            <a:avLst/>
          </a:prstGeom>
          <a:noFill/>
          <a:ln w="6350">
            <a:solidFill>
              <a:srgbClr val="E3E6EC"/>
            </a:solidFill>
            <a:prstDash val="solid"/>
          </a:ln>
        </p:spPr>
      </p:sp>
      <p:sp>
        <p:nvSpPr>
          <p:cNvPr id="35" name="Rule"/>
          <p:cNvSpPr/>
          <p:nvPr/>
        </p:nvSpPr>
        <p:spPr>
          <a:xfrm>
            <a:off x="711220" y="5090190"/>
            <a:ext cx="1841510" cy="0"/>
          </a:xfrm>
          <a:prstGeom prst="line">
            <a:avLst/>
          </a:prstGeom>
          <a:noFill/>
          <a:ln w="6350">
            <a:solidFill>
              <a:srgbClr val="E3E6EC"/>
            </a:solidFill>
            <a:prstDash val="solid"/>
          </a:ln>
        </p:spPr>
      </p:sp>
      <p:sp>
        <p:nvSpPr>
          <p:cNvPr id="36" name="Rule"/>
          <p:cNvSpPr/>
          <p:nvPr/>
        </p:nvSpPr>
        <p:spPr>
          <a:xfrm>
            <a:off x="2552730" y="5090190"/>
            <a:ext cx="1968520" cy="0"/>
          </a:xfrm>
          <a:prstGeom prst="line">
            <a:avLst/>
          </a:prstGeom>
          <a:noFill/>
          <a:ln w="6350">
            <a:solidFill>
              <a:srgbClr val="E3E6EC"/>
            </a:solidFill>
            <a:prstDash val="solid"/>
          </a:ln>
        </p:spPr>
      </p:sp>
      <p:sp>
        <p:nvSpPr>
          <p:cNvPr id="37" name="Rule"/>
          <p:cNvSpPr/>
          <p:nvPr/>
        </p:nvSpPr>
        <p:spPr>
          <a:xfrm>
            <a:off x="4521159" y="5090190"/>
            <a:ext cx="3810030" cy="0"/>
          </a:xfrm>
          <a:prstGeom prst="line">
            <a:avLst/>
          </a:prstGeom>
          <a:noFill/>
          <a:ln w="6350">
            <a:solidFill>
              <a:srgbClr val="E3E6EC"/>
            </a:solidFill>
            <a:prstDash val="solid"/>
          </a:ln>
        </p:spPr>
      </p:sp>
      <p:sp>
        <p:nvSpPr>
          <p:cNvPr id="38" name="Rule"/>
          <p:cNvSpPr/>
          <p:nvPr/>
        </p:nvSpPr>
        <p:spPr>
          <a:xfrm>
            <a:off x="8331190" y="5090190"/>
            <a:ext cx="3149559" cy="0"/>
          </a:xfrm>
          <a:prstGeom prst="line">
            <a:avLst/>
          </a:prstGeom>
          <a:noFill/>
          <a:ln w="6350">
            <a:solidFill>
              <a:srgbClr val="E3E6EC"/>
            </a:solidFill>
            <a:prstDash val="solid"/>
          </a:ln>
        </p:spPr>
      </p:sp>
      <p:sp>
        <p:nvSpPr>
          <p:cNvPr id="39" name="Rule"/>
          <p:cNvSpPr/>
          <p:nvPr/>
        </p:nvSpPr>
        <p:spPr>
          <a:xfrm>
            <a:off x="711220" y="5436565"/>
            <a:ext cx="1841510" cy="0"/>
          </a:xfrm>
          <a:prstGeom prst="line">
            <a:avLst/>
          </a:prstGeom>
          <a:noFill/>
          <a:ln w="6350">
            <a:solidFill>
              <a:srgbClr val="E3E6EC"/>
            </a:solidFill>
            <a:prstDash val="solid"/>
          </a:ln>
        </p:spPr>
      </p:sp>
      <p:sp>
        <p:nvSpPr>
          <p:cNvPr id="40" name="Rule"/>
          <p:cNvSpPr/>
          <p:nvPr/>
        </p:nvSpPr>
        <p:spPr>
          <a:xfrm>
            <a:off x="2552730" y="5436565"/>
            <a:ext cx="1968520" cy="0"/>
          </a:xfrm>
          <a:prstGeom prst="line">
            <a:avLst/>
          </a:prstGeom>
          <a:noFill/>
          <a:ln w="6350">
            <a:solidFill>
              <a:srgbClr val="E3E6EC"/>
            </a:solidFill>
            <a:prstDash val="solid"/>
          </a:ln>
        </p:spPr>
      </p:sp>
      <p:sp>
        <p:nvSpPr>
          <p:cNvPr id="41" name="Rule"/>
          <p:cNvSpPr/>
          <p:nvPr/>
        </p:nvSpPr>
        <p:spPr>
          <a:xfrm>
            <a:off x="4521159" y="5436565"/>
            <a:ext cx="3810030" cy="0"/>
          </a:xfrm>
          <a:prstGeom prst="line">
            <a:avLst/>
          </a:prstGeom>
          <a:noFill/>
          <a:ln w="6350">
            <a:solidFill>
              <a:srgbClr val="E3E6EC"/>
            </a:solidFill>
            <a:prstDash val="solid"/>
          </a:ln>
        </p:spPr>
      </p:sp>
      <p:sp>
        <p:nvSpPr>
          <p:cNvPr id="42" name="Rule"/>
          <p:cNvSpPr/>
          <p:nvPr/>
        </p:nvSpPr>
        <p:spPr>
          <a:xfrm>
            <a:off x="8331190" y="5436565"/>
            <a:ext cx="3149559" cy="0"/>
          </a:xfrm>
          <a:prstGeom prst="line">
            <a:avLst/>
          </a:prstGeom>
          <a:noFill/>
          <a:ln w="6350">
            <a:solidFill>
              <a:srgbClr val="E3E6EC"/>
            </a:solidFill>
            <a:prstDash val="solid"/>
          </a:ln>
        </p:spPr>
      </p:sp>
      <p:sp>
        <p:nvSpPr>
          <p:cNvPr id="43" name="span::before"/>
          <p:cNvSpPr/>
          <p:nvPr/>
        </p:nvSpPr>
        <p:spPr>
          <a:xfrm>
            <a:off x="6191860" y="311170"/>
            <a:ext cx="44440" cy="44440"/>
          </a:xfrm>
          <a:prstGeom prst="rect">
            <a:avLst/>
          </a:prstGeom>
          <a:solidFill>
            <a:srgbClr val="A0A6AF">
              <a:alpha val="55000"/>
            </a:srgbClr>
          </a:solidFill>
          <a:ln/>
        </p:spPr>
      </p:sp>
      <p:sp>
        <p:nvSpPr>
          <p:cNvPr id="44" name="span::before"/>
          <p:cNvSpPr/>
          <p:nvPr/>
        </p:nvSpPr>
        <p:spPr>
          <a:xfrm>
            <a:off x="7145213" y="311170"/>
            <a:ext cx="44440" cy="44440"/>
          </a:xfrm>
          <a:prstGeom prst="rect">
            <a:avLst/>
          </a:prstGeom>
          <a:solidFill>
            <a:srgbClr val="A0A6AF">
              <a:alpha val="55000"/>
            </a:srgbClr>
          </a:solidFill>
          <a:ln/>
        </p:spPr>
      </p:sp>
      <p:sp>
        <p:nvSpPr>
          <p:cNvPr id="45" name="span::before"/>
          <p:cNvSpPr/>
          <p:nvPr/>
        </p:nvSpPr>
        <p:spPr>
          <a:xfrm>
            <a:off x="8056230" y="311170"/>
            <a:ext cx="44440" cy="44440"/>
          </a:xfrm>
          <a:prstGeom prst="rect">
            <a:avLst/>
          </a:prstGeom>
          <a:solidFill>
            <a:srgbClr val="A0A6AF">
              <a:alpha val="55000"/>
            </a:srgbClr>
          </a:solidFill>
          <a:ln/>
        </p:spPr>
      </p:sp>
      <p:sp>
        <p:nvSpPr>
          <p:cNvPr id="46" name="span::before"/>
          <p:cNvSpPr/>
          <p:nvPr/>
        </p:nvSpPr>
        <p:spPr>
          <a:xfrm>
            <a:off x="8972550" y="311170"/>
            <a:ext cx="44440" cy="44440"/>
          </a:xfrm>
          <a:prstGeom prst="rect">
            <a:avLst/>
          </a:prstGeom>
          <a:solidFill>
            <a:srgbClr val="A0A6AF">
              <a:alpha val="55000"/>
            </a:srgbClr>
          </a:solidFill>
          <a:ln/>
        </p:spPr>
      </p:sp>
      <p:sp>
        <p:nvSpPr>
          <p:cNvPr id="47" name="on::before"/>
          <p:cNvSpPr/>
          <p:nvPr/>
        </p:nvSpPr>
        <p:spPr>
          <a:xfrm>
            <a:off x="10421142" y="311170"/>
            <a:ext cx="44440" cy="44440"/>
          </a:xfrm>
          <a:prstGeom prst="rect">
            <a:avLst/>
          </a:prstGeom>
          <a:solidFill>
            <a:srgbClr val="044BD9"/>
          </a:solidFill>
          <a:ln/>
        </p:spPr>
      </p:sp>
      <p:sp>
        <p:nvSpPr>
          <p:cNvPr id="48" name="span::before"/>
          <p:cNvSpPr/>
          <p:nvPr/>
        </p:nvSpPr>
        <p:spPr>
          <a:xfrm>
            <a:off x="10966216" y="311170"/>
            <a:ext cx="44440" cy="44440"/>
          </a:xfrm>
          <a:prstGeom prst="rect">
            <a:avLst/>
          </a:prstGeom>
          <a:solidFill>
            <a:srgbClr val="A0A6AF">
              <a:alpha val="55000"/>
            </a:srgbClr>
          </a:solidFill>
          <a:ln/>
        </p:spPr>
      </p:sp>
      <p:sp>
        <p:nvSpPr>
          <p:cNvPr id="49" name="Text"/>
          <p:cNvSpPr txBox="1"/>
          <p:nvPr/>
        </p:nvSpPr>
        <p:spPr>
          <a:xfrm>
            <a:off x="844540" y="603230"/>
            <a:ext cx="534010" cy="120609"/>
          </a:xfrm>
          <a:prstGeom prst="rect">
            <a:avLst/>
          </a:prstGeom>
          <a:noFill/>
          <a:ln/>
        </p:spPr>
        <p:txBody>
          <a:bodyPr wrap="none" lIns="0" tIns="0" rIns="0" bIns="0" rtlCol="0" anchor="t"/>
          <a:lstStyle/>
          <a:p>
            <a:pPr algn="l" indent="0" marL="0">
              <a:lnSpc>
                <a:spcPts val="950"/>
              </a:lnSpc>
              <a:buNone/>
            </a:pPr>
            <a:r>
              <a:rPr lang="en-US" sz="950" spc="10" kern="0" dirty="0">
                <a:solidFill>
                  <a:srgbClr val="155DFC"/>
                </a:solidFill>
                <a:latin typeface="Poppins Medium" pitchFamily="34" charset="0"/>
                <a:ea typeface="Poppins Medium" pitchFamily="34" charset="-122"/>
                <a:cs typeface="Poppins Medium" pitchFamily="34" charset="-120"/>
              </a:rPr>
              <a:t>Portfolio</a:t>
            </a:r>
            <a:endParaRPr lang="en-US" sz="950" dirty="0"/>
          </a:p>
        </p:txBody>
      </p:sp>
      <p:sp>
        <p:nvSpPr>
          <p:cNvPr id="50" name="Title"/>
          <p:cNvSpPr txBox="1"/>
          <p:nvPr/>
        </p:nvSpPr>
        <p:spPr>
          <a:xfrm>
            <a:off x="711220" y="927750"/>
            <a:ext cx="9398020" cy="861090"/>
          </a:xfrm>
          <a:prstGeom prst="rect">
            <a:avLst/>
          </a:prstGeom>
          <a:noFill/>
          <a:ln/>
        </p:spPr>
        <p:txBody>
          <a:bodyPr wrap="square" lIns="0" tIns="0" rIns="0" bIns="0" rtlCol="0" anchor="t"/>
          <a:lstStyle/>
          <a:p>
            <a:pPr algn="l" indent="0" marL="0">
              <a:lnSpc>
                <a:spcPts val="3390"/>
              </a:lnSpc>
              <a:buNone/>
            </a:pPr>
            <a:r>
              <a:rPr lang="en-US" sz="3000" spc="-45" kern="0" dirty="0">
                <a:solidFill>
                  <a:srgbClr val="000000"/>
                </a:solidFill>
                <a:latin typeface="Poppins Medium" pitchFamily="34" charset="0"/>
                <a:ea typeface="Poppins Medium" pitchFamily="34" charset="-122"/>
                <a:cs typeface="Poppins Medium" pitchFamily="34" charset="-120"/>
              </a:rPr>
              <a:t>Nine engagements and a case note across eight</a:t>
            </a:r>
            <a:endParaRPr lang="en-US" sz="3000" dirty="0"/>
          </a:p>
          <a:p>
            <a:pPr algn="l" indent="0" marL="0">
              <a:lnSpc>
                <a:spcPts val="3390"/>
              </a:lnSpc>
              <a:buNone/>
            </a:pPr>
            <a:r>
              <a:rPr lang="en-US" sz="3000" spc="-45" kern="0" dirty="0">
                <a:solidFill>
                  <a:srgbClr val="000000"/>
                </a:solidFill>
                <a:latin typeface="Poppins Medium" pitchFamily="34" charset="0"/>
                <a:ea typeface="Poppins Medium" pitchFamily="34" charset="-122"/>
                <a:cs typeface="Poppins Medium" pitchFamily="34" charset="-120"/>
              </a:rPr>
              <a:t>sectors, from proof of concept to production</a:t>
            </a:r>
            <a:endParaRPr lang="en-US" sz="3000" dirty="0"/>
          </a:p>
        </p:txBody>
      </p:sp>
      <p:sp>
        <p:nvSpPr>
          <p:cNvPr id="51" name="Text"/>
          <p:cNvSpPr txBox="1"/>
          <p:nvPr/>
        </p:nvSpPr>
        <p:spPr>
          <a:xfrm>
            <a:off x="711220" y="2071848"/>
            <a:ext cx="1739920" cy="156545"/>
          </a:xfrm>
          <a:prstGeom prst="rect">
            <a:avLst/>
          </a:prstGeom>
          <a:noFill/>
          <a:ln/>
        </p:spPr>
        <p:txBody>
          <a:bodyPr wrap="none" lIns="0" tIns="0" rIns="0" bIns="0" rtlCol="0" anchor="t"/>
          <a:lstStyle/>
          <a:p>
            <a:pPr algn="l" indent="0" marL="0">
              <a:lnSpc>
                <a:spcPts val="1232"/>
              </a:lnSpc>
              <a:buNone/>
            </a:pPr>
            <a:r>
              <a:rPr lang="en-US" sz="850" spc="17" kern="0" dirty="0">
                <a:solidFill>
                  <a:srgbClr val="6B6B6B"/>
                </a:solidFill>
                <a:latin typeface="Poppins Medium" pitchFamily="34" charset="0"/>
                <a:ea typeface="Poppins Medium" pitchFamily="34" charset="-122"/>
                <a:cs typeface="Poppins Medium" pitchFamily="34" charset="-120"/>
              </a:rPr>
              <a:t>Client</a:t>
            </a:r>
            <a:endParaRPr lang="en-US" sz="850" dirty="0"/>
          </a:p>
        </p:txBody>
      </p:sp>
      <p:sp>
        <p:nvSpPr>
          <p:cNvPr id="52" name="Text"/>
          <p:cNvSpPr txBox="1"/>
          <p:nvPr/>
        </p:nvSpPr>
        <p:spPr>
          <a:xfrm>
            <a:off x="2552730" y="2071848"/>
            <a:ext cx="1866930" cy="156545"/>
          </a:xfrm>
          <a:prstGeom prst="rect">
            <a:avLst/>
          </a:prstGeom>
          <a:noFill/>
          <a:ln/>
        </p:spPr>
        <p:txBody>
          <a:bodyPr wrap="none" lIns="0" tIns="0" rIns="0" bIns="0" rtlCol="0" anchor="t"/>
          <a:lstStyle/>
          <a:p>
            <a:pPr algn="l" indent="0" marL="0">
              <a:lnSpc>
                <a:spcPts val="1232"/>
              </a:lnSpc>
              <a:buNone/>
            </a:pPr>
            <a:r>
              <a:rPr lang="en-US" sz="850" spc="17" kern="0" dirty="0">
                <a:solidFill>
                  <a:srgbClr val="6B6B6B"/>
                </a:solidFill>
                <a:latin typeface="Poppins Medium" pitchFamily="34" charset="0"/>
                <a:ea typeface="Poppins Medium" pitchFamily="34" charset="-122"/>
                <a:cs typeface="Poppins Medium" pitchFamily="34" charset="-120"/>
              </a:rPr>
              <a:t>Sector · country</a:t>
            </a:r>
            <a:endParaRPr lang="en-US" sz="850" dirty="0"/>
          </a:p>
        </p:txBody>
      </p:sp>
      <p:sp>
        <p:nvSpPr>
          <p:cNvPr id="53" name="Text"/>
          <p:cNvSpPr txBox="1"/>
          <p:nvPr/>
        </p:nvSpPr>
        <p:spPr>
          <a:xfrm>
            <a:off x="4521159" y="2071848"/>
            <a:ext cx="3708441" cy="156545"/>
          </a:xfrm>
          <a:prstGeom prst="rect">
            <a:avLst/>
          </a:prstGeom>
          <a:noFill/>
          <a:ln/>
        </p:spPr>
        <p:txBody>
          <a:bodyPr wrap="none" lIns="0" tIns="0" rIns="0" bIns="0" rtlCol="0" anchor="t"/>
          <a:lstStyle/>
          <a:p>
            <a:pPr algn="l" indent="0" marL="0">
              <a:lnSpc>
                <a:spcPts val="1232"/>
              </a:lnSpc>
              <a:buNone/>
            </a:pPr>
            <a:r>
              <a:rPr lang="en-US" sz="850" spc="17" kern="0" dirty="0">
                <a:solidFill>
                  <a:srgbClr val="6B6B6B"/>
                </a:solidFill>
                <a:latin typeface="Poppins Medium" pitchFamily="34" charset="0"/>
                <a:ea typeface="Poppins Medium" pitchFamily="34" charset="-122"/>
                <a:cs typeface="Poppins Medium" pitchFamily="34" charset="-120"/>
              </a:rPr>
              <a:t>What ALPHV built</a:t>
            </a:r>
            <a:endParaRPr lang="en-US" sz="850" dirty="0"/>
          </a:p>
        </p:txBody>
      </p:sp>
      <p:sp>
        <p:nvSpPr>
          <p:cNvPr id="54" name="Text"/>
          <p:cNvSpPr txBox="1"/>
          <p:nvPr/>
        </p:nvSpPr>
        <p:spPr>
          <a:xfrm>
            <a:off x="8331190" y="2071848"/>
            <a:ext cx="3047970" cy="156545"/>
          </a:xfrm>
          <a:prstGeom prst="rect">
            <a:avLst/>
          </a:prstGeom>
          <a:noFill/>
          <a:ln/>
        </p:spPr>
        <p:txBody>
          <a:bodyPr wrap="none" lIns="0" tIns="0" rIns="0" bIns="0" rtlCol="0" anchor="t"/>
          <a:lstStyle/>
          <a:p>
            <a:pPr algn="l" indent="0" marL="0">
              <a:lnSpc>
                <a:spcPts val="1232"/>
              </a:lnSpc>
              <a:buNone/>
            </a:pPr>
            <a:r>
              <a:rPr lang="en-US" sz="850" spc="17" kern="0" dirty="0">
                <a:solidFill>
                  <a:srgbClr val="6B6B6B"/>
                </a:solidFill>
                <a:latin typeface="Poppins Medium" pitchFamily="34" charset="0"/>
                <a:ea typeface="Poppins Medium" pitchFamily="34" charset="-122"/>
                <a:cs typeface="Poppins Medium" pitchFamily="34" charset="-120"/>
              </a:rPr>
              <a:t>Result or status</a:t>
            </a:r>
            <a:endParaRPr lang="en-US" sz="850" dirty="0"/>
          </a:p>
        </p:txBody>
      </p:sp>
      <p:sp>
        <p:nvSpPr>
          <p:cNvPr id="55" name="Text"/>
          <p:cNvSpPr txBox="1"/>
          <p:nvPr/>
        </p:nvSpPr>
        <p:spPr>
          <a:xfrm>
            <a:off x="711220" y="2406426"/>
            <a:ext cx="1739920" cy="174925"/>
          </a:xfrm>
          <a:prstGeom prst="rect">
            <a:avLst/>
          </a:prstGeom>
          <a:noFill/>
          <a:ln/>
        </p:spPr>
        <p:txBody>
          <a:bodyPr wrap="none" lIns="0" tIns="0" rIns="0" bIns="0" rtlCol="0" anchor="t"/>
          <a:lstStyle/>
          <a:p>
            <a:pPr algn="l" indent="0" marL="0">
              <a:lnSpc>
                <a:spcPts val="1378"/>
              </a:lnSpc>
              <a:buNone/>
            </a:pPr>
            <a:r>
              <a:rPr lang="en-US" sz="950" dirty="0">
                <a:solidFill>
                  <a:srgbClr val="000000"/>
                </a:solidFill>
                <a:latin typeface="Poppins Medium" pitchFamily="34" charset="0"/>
                <a:ea typeface="Poppins Medium" pitchFamily="34" charset="-122"/>
                <a:cs typeface="Poppins Medium" pitchFamily="34" charset="-120"/>
              </a:rPr>
              <a:t>Abraham Ooi &amp; Partners</a:t>
            </a:r>
            <a:endParaRPr lang="en-US" sz="950" dirty="0"/>
          </a:p>
        </p:txBody>
      </p:sp>
      <p:sp>
        <p:nvSpPr>
          <p:cNvPr id="56" name="Text"/>
          <p:cNvSpPr txBox="1"/>
          <p:nvPr/>
        </p:nvSpPr>
        <p:spPr>
          <a:xfrm>
            <a:off x="2552730" y="2406426"/>
            <a:ext cx="1866930" cy="174925"/>
          </a:xfrm>
          <a:prstGeom prst="rect">
            <a:avLst/>
          </a:prstGeom>
          <a:noFill/>
          <a:ln/>
        </p:spPr>
        <p:txBody>
          <a:bodyPr wrap="none" lIns="0" tIns="0" rIns="0" bIns="0" rtlCol="0" anchor="t"/>
          <a:lstStyle/>
          <a:p>
            <a:pPr algn="l" indent="0" marL="0">
              <a:lnSpc>
                <a:spcPts val="1378"/>
              </a:lnSpc>
              <a:buNone/>
            </a:pPr>
            <a:r>
              <a:rPr lang="en-US" sz="950" dirty="0">
                <a:solidFill>
                  <a:srgbClr val="1F2937"/>
                </a:solidFill>
                <a:latin typeface="Poppins Light" pitchFamily="34" charset="0"/>
                <a:ea typeface="Poppins Light" pitchFamily="34" charset="-122"/>
                <a:cs typeface="Poppins Light" pitchFamily="34" charset="-120"/>
              </a:rPr>
              <a:t>Legal</a:t>
            </a:r>
            <a:endParaRPr lang="en-US" sz="950" dirty="0"/>
          </a:p>
        </p:txBody>
      </p:sp>
      <p:sp>
        <p:nvSpPr>
          <p:cNvPr id="57" name="Text"/>
          <p:cNvSpPr txBox="1"/>
          <p:nvPr/>
        </p:nvSpPr>
        <p:spPr>
          <a:xfrm>
            <a:off x="4521159" y="2406426"/>
            <a:ext cx="3708441" cy="174925"/>
          </a:xfrm>
          <a:prstGeom prst="rect">
            <a:avLst/>
          </a:prstGeom>
          <a:noFill/>
          <a:ln/>
        </p:spPr>
        <p:txBody>
          <a:bodyPr wrap="none" lIns="0" tIns="0" rIns="0" bIns="0" rtlCol="0" anchor="t"/>
          <a:lstStyle/>
          <a:p>
            <a:pPr algn="l" indent="0" marL="0">
              <a:lnSpc>
                <a:spcPts val="1378"/>
              </a:lnSpc>
              <a:buNone/>
            </a:pPr>
            <a:r>
              <a:rPr lang="en-US" sz="950" dirty="0">
                <a:solidFill>
                  <a:srgbClr val="1F2937"/>
                </a:solidFill>
                <a:latin typeface="Poppins Light" pitchFamily="34" charset="0"/>
                <a:ea typeface="Poppins Light" pitchFamily="34" charset="-122"/>
                <a:cs typeface="Poppins Light" pitchFamily="34" charset="-120"/>
              </a:rPr>
              <a:t>Sovereign AI case management, replacing a legacy system</a:t>
            </a:r>
            <a:endParaRPr lang="en-US" sz="950" dirty="0"/>
          </a:p>
        </p:txBody>
      </p:sp>
      <p:sp>
        <p:nvSpPr>
          <p:cNvPr id="58" name="Text"/>
          <p:cNvSpPr txBox="1"/>
          <p:nvPr/>
        </p:nvSpPr>
        <p:spPr>
          <a:xfrm>
            <a:off x="8331190" y="2406426"/>
            <a:ext cx="3047970" cy="174925"/>
          </a:xfrm>
          <a:prstGeom prst="rect">
            <a:avLst/>
          </a:prstGeom>
          <a:noFill/>
          <a:ln/>
        </p:spPr>
        <p:txBody>
          <a:bodyPr wrap="none" lIns="0" tIns="0" rIns="0" bIns="0" rtlCol="0" anchor="t"/>
          <a:lstStyle/>
          <a:p>
            <a:pPr algn="l" indent="0" marL="0">
              <a:lnSpc>
                <a:spcPts val="1378"/>
              </a:lnSpc>
              <a:buNone/>
            </a:pPr>
            <a:r>
              <a:rPr lang="en-US" sz="950" dirty="0">
                <a:solidFill>
                  <a:srgbClr val="044BD9"/>
                </a:solidFill>
                <a:latin typeface="Poppins Medium" pitchFamily="34" charset="0"/>
                <a:ea typeface="Poppins Medium" pitchFamily="34" charset="-122"/>
                <a:cs typeface="Poppins Medium" pitchFamily="34" charset="-120"/>
              </a:rPr>
              <a:t>90+</a:t>
            </a:r>
            <a:pPr algn="l" indent="0" marL="0">
              <a:lnSpc>
                <a:spcPts val="1378"/>
              </a:lnSpc>
              <a:buNone/>
            </a:pPr>
            <a:r>
              <a:rPr lang="en-US" sz="950" dirty="0">
                <a:solidFill>
                  <a:srgbClr val="1F2937"/>
                </a:solidFill>
                <a:latin typeface="Poppins Light" pitchFamily="34" charset="0"/>
                <a:ea typeface="Poppins Light" pitchFamily="34" charset="-122"/>
                <a:cs typeface="Poppins Light" pitchFamily="34" charset="-120"/>
              </a:rPr>
              <a:t> portal automations; in use since 2025</a:t>
            </a:r>
            <a:endParaRPr lang="en-US" sz="950" dirty="0"/>
          </a:p>
        </p:txBody>
      </p:sp>
      <p:sp>
        <p:nvSpPr>
          <p:cNvPr id="59" name="Text"/>
          <p:cNvSpPr txBox="1"/>
          <p:nvPr/>
        </p:nvSpPr>
        <p:spPr>
          <a:xfrm>
            <a:off x="711220" y="2752801"/>
            <a:ext cx="1739920" cy="174925"/>
          </a:xfrm>
          <a:prstGeom prst="rect">
            <a:avLst/>
          </a:prstGeom>
          <a:noFill/>
          <a:ln/>
        </p:spPr>
        <p:txBody>
          <a:bodyPr wrap="none" lIns="0" tIns="0" rIns="0" bIns="0" rtlCol="0" anchor="t"/>
          <a:lstStyle/>
          <a:p>
            <a:pPr algn="l" indent="0" marL="0">
              <a:lnSpc>
                <a:spcPts val="1378"/>
              </a:lnSpc>
              <a:buNone/>
            </a:pPr>
            <a:r>
              <a:rPr lang="en-US" sz="950" dirty="0">
                <a:solidFill>
                  <a:srgbClr val="000000"/>
                </a:solidFill>
                <a:latin typeface="Poppins Medium" pitchFamily="34" charset="0"/>
                <a:ea typeface="Poppins Medium" pitchFamily="34" charset="-122"/>
                <a:cs typeface="Poppins Medium" pitchFamily="34" charset="-120"/>
              </a:rPr>
              <a:t>Tasco Insurance</a:t>
            </a:r>
            <a:endParaRPr lang="en-US" sz="950" dirty="0"/>
          </a:p>
        </p:txBody>
      </p:sp>
      <p:sp>
        <p:nvSpPr>
          <p:cNvPr id="60" name="Text"/>
          <p:cNvSpPr txBox="1"/>
          <p:nvPr/>
        </p:nvSpPr>
        <p:spPr>
          <a:xfrm>
            <a:off x="2552730" y="2752801"/>
            <a:ext cx="1866930" cy="174925"/>
          </a:xfrm>
          <a:prstGeom prst="rect">
            <a:avLst/>
          </a:prstGeom>
          <a:noFill/>
          <a:ln/>
        </p:spPr>
        <p:txBody>
          <a:bodyPr wrap="none" lIns="0" tIns="0" rIns="0" bIns="0" rtlCol="0" anchor="t"/>
          <a:lstStyle/>
          <a:p>
            <a:pPr algn="l" indent="0" marL="0">
              <a:lnSpc>
                <a:spcPts val="1378"/>
              </a:lnSpc>
              <a:buNone/>
            </a:pPr>
            <a:r>
              <a:rPr lang="en-US" sz="950" dirty="0">
                <a:solidFill>
                  <a:srgbClr val="1F2937"/>
                </a:solidFill>
                <a:latin typeface="Poppins Light" pitchFamily="34" charset="0"/>
                <a:ea typeface="Poppins Light" pitchFamily="34" charset="-122"/>
                <a:cs typeface="Poppins Light" pitchFamily="34" charset="-120"/>
              </a:rPr>
              <a:t>Insurance · Vietnam</a:t>
            </a:r>
            <a:endParaRPr lang="en-US" sz="950" dirty="0"/>
          </a:p>
        </p:txBody>
      </p:sp>
      <p:sp>
        <p:nvSpPr>
          <p:cNvPr id="61" name="Text"/>
          <p:cNvSpPr txBox="1"/>
          <p:nvPr/>
        </p:nvSpPr>
        <p:spPr>
          <a:xfrm>
            <a:off x="4521159" y="2752801"/>
            <a:ext cx="3708441" cy="174925"/>
          </a:xfrm>
          <a:prstGeom prst="rect">
            <a:avLst/>
          </a:prstGeom>
          <a:noFill/>
          <a:ln/>
        </p:spPr>
        <p:txBody>
          <a:bodyPr wrap="none" lIns="0" tIns="0" rIns="0" bIns="0" rtlCol="0" anchor="t"/>
          <a:lstStyle/>
          <a:p>
            <a:pPr algn="l" indent="0" marL="0">
              <a:lnSpc>
                <a:spcPts val="1378"/>
              </a:lnSpc>
              <a:buNone/>
            </a:pPr>
            <a:r>
              <a:rPr lang="en-US" sz="950" dirty="0">
                <a:solidFill>
                  <a:srgbClr val="1F2937"/>
                </a:solidFill>
                <a:latin typeface="Poppins Light" pitchFamily="34" charset="0"/>
                <a:ea typeface="Poppins Light" pitchFamily="34" charset="-122"/>
                <a:cs typeface="Poppins Light" pitchFamily="34" charset="-120"/>
              </a:rPr>
              <a:t>Multimodal case system for asset damage claims</a:t>
            </a:r>
            <a:endParaRPr lang="en-US" sz="950" dirty="0"/>
          </a:p>
        </p:txBody>
      </p:sp>
      <p:sp>
        <p:nvSpPr>
          <p:cNvPr id="62" name="Text"/>
          <p:cNvSpPr txBox="1"/>
          <p:nvPr/>
        </p:nvSpPr>
        <p:spPr>
          <a:xfrm>
            <a:off x="8331190" y="2752801"/>
            <a:ext cx="3047970" cy="174925"/>
          </a:xfrm>
          <a:prstGeom prst="rect">
            <a:avLst/>
          </a:prstGeom>
          <a:noFill/>
          <a:ln/>
        </p:spPr>
        <p:txBody>
          <a:bodyPr wrap="none" lIns="0" tIns="0" rIns="0" bIns="0" rtlCol="0" anchor="t"/>
          <a:lstStyle/>
          <a:p>
            <a:pPr algn="l" indent="0" marL="0">
              <a:lnSpc>
                <a:spcPts val="1378"/>
              </a:lnSpc>
              <a:buNone/>
            </a:pPr>
            <a:r>
              <a:rPr lang="en-US" sz="950" dirty="0">
                <a:solidFill>
                  <a:srgbClr val="000000"/>
                </a:solidFill>
                <a:latin typeface="Poppins Medium" pitchFamily="34" charset="0"/>
                <a:ea typeface="Poppins Medium" pitchFamily="34" charset="-122"/>
                <a:cs typeface="Poppins Medium" pitchFamily="34" charset="-120"/>
              </a:rPr>
              <a:t>Proof of concept, 2026;</a:t>
            </a:r>
            <a:pPr algn="l" indent="0" marL="0">
              <a:lnSpc>
                <a:spcPts val="1378"/>
              </a:lnSpc>
              <a:buNone/>
            </a:pPr>
            <a:r>
              <a:rPr lang="en-US" sz="950" dirty="0">
                <a:solidFill>
                  <a:srgbClr val="1F2937"/>
                </a:solidFill>
                <a:latin typeface="Poppins Light" pitchFamily="34" charset="0"/>
                <a:ea typeface="Poppins Light" pitchFamily="34" charset="-122"/>
                <a:cs typeface="Poppins Light" pitchFamily="34" charset="-120"/>
              </a:rPr>
              <a:t> no production results yet</a:t>
            </a:r>
            <a:endParaRPr lang="en-US" sz="950" dirty="0"/>
          </a:p>
        </p:txBody>
      </p:sp>
      <p:sp>
        <p:nvSpPr>
          <p:cNvPr id="63" name="Text"/>
          <p:cNvSpPr txBox="1"/>
          <p:nvPr/>
        </p:nvSpPr>
        <p:spPr>
          <a:xfrm>
            <a:off x="711220" y="3099176"/>
            <a:ext cx="1739920" cy="174925"/>
          </a:xfrm>
          <a:prstGeom prst="rect">
            <a:avLst/>
          </a:prstGeom>
          <a:noFill/>
          <a:ln/>
        </p:spPr>
        <p:txBody>
          <a:bodyPr wrap="none" lIns="0" tIns="0" rIns="0" bIns="0" rtlCol="0" anchor="t"/>
          <a:lstStyle/>
          <a:p>
            <a:pPr algn="l" indent="0" marL="0">
              <a:lnSpc>
                <a:spcPts val="1378"/>
              </a:lnSpc>
              <a:buNone/>
            </a:pPr>
            <a:r>
              <a:rPr lang="en-US" sz="950" dirty="0">
                <a:solidFill>
                  <a:srgbClr val="000000"/>
                </a:solidFill>
                <a:latin typeface="Poppins Medium" pitchFamily="34" charset="0"/>
                <a:ea typeface="Poppins Medium" pitchFamily="34" charset="-122"/>
                <a:cs typeface="Poppins Medium" pitchFamily="34" charset="-120"/>
              </a:rPr>
              <a:t>Leading healthcare group</a:t>
            </a:r>
            <a:endParaRPr lang="en-US" sz="950" dirty="0"/>
          </a:p>
        </p:txBody>
      </p:sp>
      <p:sp>
        <p:nvSpPr>
          <p:cNvPr id="64" name="Text"/>
          <p:cNvSpPr txBox="1"/>
          <p:nvPr/>
        </p:nvSpPr>
        <p:spPr>
          <a:xfrm>
            <a:off x="2552730" y="3099176"/>
            <a:ext cx="1866930" cy="174925"/>
          </a:xfrm>
          <a:prstGeom prst="rect">
            <a:avLst/>
          </a:prstGeom>
          <a:noFill/>
          <a:ln/>
        </p:spPr>
        <p:txBody>
          <a:bodyPr wrap="none" lIns="0" tIns="0" rIns="0" bIns="0" rtlCol="0" anchor="t"/>
          <a:lstStyle/>
          <a:p>
            <a:pPr algn="l" indent="0" marL="0">
              <a:lnSpc>
                <a:spcPts val="1378"/>
              </a:lnSpc>
              <a:buNone/>
            </a:pPr>
            <a:r>
              <a:rPr lang="en-US" sz="950" dirty="0">
                <a:solidFill>
                  <a:srgbClr val="1F2937"/>
                </a:solidFill>
                <a:latin typeface="Poppins Light" pitchFamily="34" charset="0"/>
                <a:ea typeface="Poppins Light" pitchFamily="34" charset="-122"/>
                <a:cs typeface="Poppins Light" pitchFamily="34" charset="-120"/>
              </a:rPr>
              <a:t>Healthcare · Malaysia</a:t>
            </a:r>
            <a:endParaRPr lang="en-US" sz="950" dirty="0"/>
          </a:p>
        </p:txBody>
      </p:sp>
      <p:sp>
        <p:nvSpPr>
          <p:cNvPr id="65" name="Text"/>
          <p:cNvSpPr txBox="1"/>
          <p:nvPr/>
        </p:nvSpPr>
        <p:spPr>
          <a:xfrm>
            <a:off x="4521159" y="3099176"/>
            <a:ext cx="3708441" cy="174925"/>
          </a:xfrm>
          <a:prstGeom prst="rect">
            <a:avLst/>
          </a:prstGeom>
          <a:noFill/>
          <a:ln/>
        </p:spPr>
        <p:txBody>
          <a:bodyPr wrap="none" lIns="0" tIns="0" rIns="0" bIns="0" rtlCol="0" anchor="t"/>
          <a:lstStyle/>
          <a:p>
            <a:pPr algn="l" indent="0" marL="0">
              <a:lnSpc>
                <a:spcPts val="1378"/>
              </a:lnSpc>
              <a:buNone/>
            </a:pPr>
            <a:r>
              <a:rPr lang="en-US" sz="950" dirty="0">
                <a:solidFill>
                  <a:srgbClr val="1F2937"/>
                </a:solidFill>
                <a:latin typeface="Poppins Light" pitchFamily="34" charset="0"/>
                <a:ea typeface="Poppins Light" pitchFamily="34" charset="-122"/>
                <a:cs typeface="Poppins Light" pitchFamily="34" charset="-120"/>
              </a:rPr>
              <a:t>Medicolegal claims processing, intake to adjudication</a:t>
            </a:r>
            <a:endParaRPr lang="en-US" sz="950" dirty="0"/>
          </a:p>
        </p:txBody>
      </p:sp>
      <p:sp>
        <p:nvSpPr>
          <p:cNvPr id="66" name="Text"/>
          <p:cNvSpPr txBox="1"/>
          <p:nvPr/>
        </p:nvSpPr>
        <p:spPr>
          <a:xfrm>
            <a:off x="8331190" y="3099176"/>
            <a:ext cx="3047970" cy="174925"/>
          </a:xfrm>
          <a:prstGeom prst="rect">
            <a:avLst/>
          </a:prstGeom>
          <a:noFill/>
          <a:ln/>
        </p:spPr>
        <p:txBody>
          <a:bodyPr wrap="none" lIns="0" tIns="0" rIns="0" bIns="0" rtlCol="0" anchor="t"/>
          <a:lstStyle/>
          <a:p>
            <a:pPr algn="l" indent="0" marL="0">
              <a:lnSpc>
                <a:spcPts val="1378"/>
              </a:lnSpc>
              <a:buNone/>
            </a:pPr>
            <a:r>
              <a:rPr lang="en-US" sz="950" dirty="0">
                <a:solidFill>
                  <a:srgbClr val="044BD9"/>
                </a:solidFill>
                <a:latin typeface="Poppins Medium" pitchFamily="34" charset="0"/>
                <a:ea typeface="Poppins Medium" pitchFamily="34" charset="-122"/>
                <a:cs typeface="Poppins Medium" pitchFamily="34" charset="-120"/>
              </a:rPr>
              <a:t>4</a:t>
            </a:r>
            <a:pPr algn="l" indent="0" marL="0">
              <a:lnSpc>
                <a:spcPts val="1378"/>
              </a:lnSpc>
              <a:buNone/>
            </a:pPr>
            <a:r>
              <a:rPr lang="en-US" sz="950" dirty="0">
                <a:solidFill>
                  <a:srgbClr val="1F2937"/>
                </a:solidFill>
                <a:latin typeface="Poppins Light" pitchFamily="34" charset="0"/>
                <a:ea typeface="Poppins Light" pitchFamily="34" charset="-122"/>
                <a:cs typeface="Poppins Light" pitchFamily="34" charset="-120"/>
              </a:rPr>
              <a:t> claim stages in one flow</a:t>
            </a:r>
            <a:endParaRPr lang="en-US" sz="950" dirty="0"/>
          </a:p>
        </p:txBody>
      </p:sp>
      <p:sp>
        <p:nvSpPr>
          <p:cNvPr id="67" name="Text"/>
          <p:cNvSpPr txBox="1"/>
          <p:nvPr/>
        </p:nvSpPr>
        <p:spPr>
          <a:xfrm>
            <a:off x="711220" y="3445551"/>
            <a:ext cx="1739920" cy="174925"/>
          </a:xfrm>
          <a:prstGeom prst="rect">
            <a:avLst/>
          </a:prstGeom>
          <a:noFill/>
          <a:ln/>
        </p:spPr>
        <p:txBody>
          <a:bodyPr wrap="none" lIns="0" tIns="0" rIns="0" bIns="0" rtlCol="0" anchor="t"/>
          <a:lstStyle/>
          <a:p>
            <a:pPr algn="l" indent="0" marL="0">
              <a:lnSpc>
                <a:spcPts val="1378"/>
              </a:lnSpc>
              <a:buNone/>
            </a:pPr>
            <a:r>
              <a:rPr lang="en-US" sz="950" dirty="0">
                <a:solidFill>
                  <a:srgbClr val="000000"/>
                </a:solidFill>
                <a:latin typeface="Poppins Medium" pitchFamily="34" charset="0"/>
                <a:ea typeface="Poppins Medium" pitchFamily="34" charset="-122"/>
                <a:cs typeface="Poppins Medium" pitchFamily="34" charset="-120"/>
              </a:rPr>
              <a:t>Leading hospitality group</a:t>
            </a:r>
            <a:endParaRPr lang="en-US" sz="950" dirty="0"/>
          </a:p>
        </p:txBody>
      </p:sp>
      <p:sp>
        <p:nvSpPr>
          <p:cNvPr id="68" name="Text"/>
          <p:cNvSpPr txBox="1"/>
          <p:nvPr/>
        </p:nvSpPr>
        <p:spPr>
          <a:xfrm>
            <a:off x="2552730" y="3445551"/>
            <a:ext cx="1866930" cy="174925"/>
          </a:xfrm>
          <a:prstGeom prst="rect">
            <a:avLst/>
          </a:prstGeom>
          <a:noFill/>
          <a:ln/>
        </p:spPr>
        <p:txBody>
          <a:bodyPr wrap="none" lIns="0" tIns="0" rIns="0" bIns="0" rtlCol="0" anchor="t"/>
          <a:lstStyle/>
          <a:p>
            <a:pPr algn="l" indent="0" marL="0">
              <a:lnSpc>
                <a:spcPts val="1378"/>
              </a:lnSpc>
              <a:buNone/>
            </a:pPr>
            <a:r>
              <a:rPr lang="en-US" sz="950" dirty="0">
                <a:solidFill>
                  <a:srgbClr val="1F2937"/>
                </a:solidFill>
                <a:latin typeface="Poppins Light" pitchFamily="34" charset="0"/>
                <a:ea typeface="Poppins Light" pitchFamily="34" charset="-122"/>
                <a:cs typeface="Poppins Light" pitchFamily="34" charset="-120"/>
              </a:rPr>
              <a:t>Hospitality · Singapore</a:t>
            </a:r>
            <a:endParaRPr lang="en-US" sz="950" dirty="0"/>
          </a:p>
        </p:txBody>
      </p:sp>
      <p:sp>
        <p:nvSpPr>
          <p:cNvPr id="69" name="Text"/>
          <p:cNvSpPr txBox="1"/>
          <p:nvPr/>
        </p:nvSpPr>
        <p:spPr>
          <a:xfrm>
            <a:off x="4521159" y="3445551"/>
            <a:ext cx="3708441" cy="174925"/>
          </a:xfrm>
          <a:prstGeom prst="rect">
            <a:avLst/>
          </a:prstGeom>
          <a:noFill/>
          <a:ln/>
        </p:spPr>
        <p:txBody>
          <a:bodyPr wrap="none" lIns="0" tIns="0" rIns="0" bIns="0" rtlCol="0" anchor="t"/>
          <a:lstStyle/>
          <a:p>
            <a:pPr algn="l" indent="0" marL="0">
              <a:lnSpc>
                <a:spcPts val="1378"/>
              </a:lnSpc>
              <a:buNone/>
            </a:pPr>
            <a:r>
              <a:rPr lang="en-US" sz="950" dirty="0">
                <a:solidFill>
                  <a:srgbClr val="1F2937"/>
                </a:solidFill>
                <a:latin typeface="Poppins Light" pitchFamily="34" charset="0"/>
                <a:ea typeface="Poppins Light" pitchFamily="34" charset="-122"/>
                <a:cs typeface="Poppins Light" pitchFamily="34" charset="-120"/>
              </a:rPr>
              <a:t>AI CRM with WhatsApp sales agents</a:t>
            </a:r>
            <a:endParaRPr lang="en-US" sz="950" dirty="0"/>
          </a:p>
        </p:txBody>
      </p:sp>
      <p:sp>
        <p:nvSpPr>
          <p:cNvPr id="70" name="Text"/>
          <p:cNvSpPr txBox="1"/>
          <p:nvPr/>
        </p:nvSpPr>
        <p:spPr>
          <a:xfrm>
            <a:off x="8331190" y="3445551"/>
            <a:ext cx="3047970" cy="174925"/>
          </a:xfrm>
          <a:prstGeom prst="rect">
            <a:avLst/>
          </a:prstGeom>
          <a:noFill/>
          <a:ln/>
        </p:spPr>
        <p:txBody>
          <a:bodyPr wrap="none" lIns="0" tIns="0" rIns="0" bIns="0" rtlCol="0" anchor="t"/>
          <a:lstStyle/>
          <a:p>
            <a:pPr algn="l" indent="0" marL="0">
              <a:lnSpc>
                <a:spcPts val="1378"/>
              </a:lnSpc>
              <a:buNone/>
            </a:pPr>
            <a:r>
              <a:rPr lang="en-US" sz="950" dirty="0">
                <a:solidFill>
                  <a:srgbClr val="044BD9"/>
                </a:solidFill>
                <a:latin typeface="Poppins Medium" pitchFamily="34" charset="0"/>
                <a:ea typeface="Poppins Medium" pitchFamily="34" charset="-122"/>
                <a:cs typeface="Poppins Medium" pitchFamily="34" charset="-120"/>
              </a:rPr>
              <a:t>80%</a:t>
            </a:r>
            <a:pPr algn="l" indent="0" marL="0">
              <a:lnSpc>
                <a:spcPts val="1378"/>
              </a:lnSpc>
              <a:buNone/>
            </a:pPr>
            <a:r>
              <a:rPr lang="en-US" sz="950" dirty="0">
                <a:solidFill>
                  <a:srgbClr val="1F2937"/>
                </a:solidFill>
                <a:latin typeface="Poppins Light" pitchFamily="34" charset="0"/>
                <a:ea typeface="Poppins Light" pitchFamily="34" charset="-122"/>
                <a:cs typeface="Poppins Light" pitchFamily="34" charset="-120"/>
              </a:rPr>
              <a:t> less manual data entry time</a:t>
            </a:r>
            <a:endParaRPr lang="en-US" sz="950" dirty="0"/>
          </a:p>
        </p:txBody>
      </p:sp>
      <p:sp>
        <p:nvSpPr>
          <p:cNvPr id="71" name="Text"/>
          <p:cNvSpPr txBox="1"/>
          <p:nvPr/>
        </p:nvSpPr>
        <p:spPr>
          <a:xfrm>
            <a:off x="711220" y="3791925"/>
            <a:ext cx="1739920" cy="174925"/>
          </a:xfrm>
          <a:prstGeom prst="rect">
            <a:avLst/>
          </a:prstGeom>
          <a:noFill/>
          <a:ln/>
        </p:spPr>
        <p:txBody>
          <a:bodyPr wrap="none" lIns="0" tIns="0" rIns="0" bIns="0" rtlCol="0" anchor="t"/>
          <a:lstStyle/>
          <a:p>
            <a:pPr algn="l" indent="0" marL="0">
              <a:lnSpc>
                <a:spcPts val="1378"/>
              </a:lnSpc>
              <a:buNone/>
            </a:pPr>
            <a:r>
              <a:rPr lang="en-US" sz="950" dirty="0">
                <a:solidFill>
                  <a:srgbClr val="000000"/>
                </a:solidFill>
                <a:latin typeface="Poppins Medium" pitchFamily="34" charset="0"/>
                <a:ea typeface="Poppins Medium" pitchFamily="34" charset="-122"/>
                <a:cs typeface="Poppins Medium" pitchFamily="34" charset="-120"/>
              </a:rPr>
              <a:t>Fundaztic</a:t>
            </a:r>
            <a:endParaRPr lang="en-US" sz="950" dirty="0"/>
          </a:p>
        </p:txBody>
      </p:sp>
      <p:sp>
        <p:nvSpPr>
          <p:cNvPr id="72" name="Text"/>
          <p:cNvSpPr txBox="1"/>
          <p:nvPr/>
        </p:nvSpPr>
        <p:spPr>
          <a:xfrm>
            <a:off x="2552730" y="3791925"/>
            <a:ext cx="1866930" cy="174925"/>
          </a:xfrm>
          <a:prstGeom prst="rect">
            <a:avLst/>
          </a:prstGeom>
          <a:noFill/>
          <a:ln/>
        </p:spPr>
        <p:txBody>
          <a:bodyPr wrap="none" lIns="0" tIns="0" rIns="0" bIns="0" rtlCol="0" anchor="t"/>
          <a:lstStyle/>
          <a:p>
            <a:pPr algn="l" indent="0" marL="0">
              <a:lnSpc>
                <a:spcPts val="1378"/>
              </a:lnSpc>
              <a:buNone/>
            </a:pPr>
            <a:r>
              <a:rPr lang="en-US" sz="950" dirty="0">
                <a:solidFill>
                  <a:srgbClr val="1F2937"/>
                </a:solidFill>
                <a:latin typeface="Poppins Light" pitchFamily="34" charset="0"/>
                <a:ea typeface="Poppins Light" pitchFamily="34" charset="-122"/>
                <a:cs typeface="Poppins Light" pitchFamily="34" charset="-120"/>
              </a:rPr>
              <a:t>Financial services</a:t>
            </a:r>
            <a:endParaRPr lang="en-US" sz="950" dirty="0"/>
          </a:p>
        </p:txBody>
      </p:sp>
      <p:sp>
        <p:nvSpPr>
          <p:cNvPr id="73" name="Text"/>
          <p:cNvSpPr txBox="1"/>
          <p:nvPr/>
        </p:nvSpPr>
        <p:spPr>
          <a:xfrm>
            <a:off x="4521159" y="3791925"/>
            <a:ext cx="3708441" cy="174925"/>
          </a:xfrm>
          <a:prstGeom prst="rect">
            <a:avLst/>
          </a:prstGeom>
          <a:noFill/>
          <a:ln/>
        </p:spPr>
        <p:txBody>
          <a:bodyPr wrap="none" lIns="0" tIns="0" rIns="0" bIns="0" rtlCol="0" anchor="t"/>
          <a:lstStyle/>
          <a:p>
            <a:pPr algn="l" indent="0" marL="0">
              <a:lnSpc>
                <a:spcPts val="1378"/>
              </a:lnSpc>
              <a:buNone/>
            </a:pPr>
            <a:r>
              <a:rPr lang="en-US" sz="950" dirty="0">
                <a:solidFill>
                  <a:srgbClr val="1F2937"/>
                </a:solidFill>
                <a:latin typeface="Poppins Light" pitchFamily="34" charset="0"/>
                <a:ea typeface="Poppins Light" pitchFamily="34" charset="-122"/>
                <a:cs typeface="Poppins Light" pitchFamily="34" charset="-120"/>
              </a:rPr>
              <a:t>Debt recovery management and a UI/UX overhaul design</a:t>
            </a:r>
            <a:endParaRPr lang="en-US" sz="950" dirty="0"/>
          </a:p>
        </p:txBody>
      </p:sp>
      <p:sp>
        <p:nvSpPr>
          <p:cNvPr id="74" name="Text"/>
          <p:cNvSpPr txBox="1"/>
          <p:nvPr/>
        </p:nvSpPr>
        <p:spPr>
          <a:xfrm>
            <a:off x="8331190" y="3791925"/>
            <a:ext cx="3047970" cy="174925"/>
          </a:xfrm>
          <a:prstGeom prst="rect">
            <a:avLst/>
          </a:prstGeom>
          <a:noFill/>
          <a:ln/>
        </p:spPr>
        <p:txBody>
          <a:bodyPr wrap="none" lIns="0" tIns="0" rIns="0" bIns="0" rtlCol="0" anchor="t"/>
          <a:lstStyle/>
          <a:p>
            <a:pPr algn="l" indent="0" marL="0">
              <a:lnSpc>
                <a:spcPts val="1378"/>
              </a:lnSpc>
              <a:buNone/>
            </a:pPr>
            <a:r>
              <a:rPr lang="en-US" sz="950" dirty="0">
                <a:solidFill>
                  <a:srgbClr val="1F2937"/>
                </a:solidFill>
                <a:latin typeface="Poppins Light" pitchFamily="34" charset="0"/>
                <a:ea typeface="Poppins Light" pitchFamily="34" charset="-122"/>
                <a:cs typeface="Poppins Light" pitchFamily="34" charset="-120"/>
              </a:rPr>
              <a:t>Debt recovery system now running</a:t>
            </a:r>
            <a:endParaRPr lang="en-US" sz="950" dirty="0"/>
          </a:p>
        </p:txBody>
      </p:sp>
      <p:sp>
        <p:nvSpPr>
          <p:cNvPr id="75" name="Text"/>
          <p:cNvSpPr txBox="1"/>
          <p:nvPr/>
        </p:nvSpPr>
        <p:spPr>
          <a:xfrm>
            <a:off x="711220" y="4138300"/>
            <a:ext cx="1739920" cy="174925"/>
          </a:xfrm>
          <a:prstGeom prst="rect">
            <a:avLst/>
          </a:prstGeom>
          <a:noFill/>
          <a:ln/>
        </p:spPr>
        <p:txBody>
          <a:bodyPr wrap="none" lIns="0" tIns="0" rIns="0" bIns="0" rtlCol="0" anchor="t"/>
          <a:lstStyle/>
          <a:p>
            <a:pPr algn="l" indent="0" marL="0">
              <a:lnSpc>
                <a:spcPts val="1378"/>
              </a:lnSpc>
              <a:buNone/>
            </a:pPr>
            <a:r>
              <a:rPr lang="en-US" sz="950" dirty="0">
                <a:solidFill>
                  <a:srgbClr val="000000"/>
                </a:solidFill>
                <a:latin typeface="Poppins Medium" pitchFamily="34" charset="0"/>
                <a:ea typeface="Poppins Medium" pitchFamily="34" charset="-122"/>
                <a:cs typeface="Poppins Medium" pitchFamily="34" charset="-120"/>
              </a:rPr>
              <a:t>iPajak Group</a:t>
            </a:r>
            <a:endParaRPr lang="en-US" sz="950" dirty="0"/>
          </a:p>
        </p:txBody>
      </p:sp>
      <p:sp>
        <p:nvSpPr>
          <p:cNvPr id="76" name="Text"/>
          <p:cNvSpPr txBox="1"/>
          <p:nvPr/>
        </p:nvSpPr>
        <p:spPr>
          <a:xfrm>
            <a:off x="2552730" y="4138300"/>
            <a:ext cx="1866930" cy="174925"/>
          </a:xfrm>
          <a:prstGeom prst="rect">
            <a:avLst/>
          </a:prstGeom>
          <a:noFill/>
          <a:ln/>
        </p:spPr>
        <p:txBody>
          <a:bodyPr wrap="none" lIns="0" tIns="0" rIns="0" bIns="0" rtlCol="0" anchor="t"/>
          <a:lstStyle/>
          <a:p>
            <a:pPr algn="l" indent="0" marL="0">
              <a:lnSpc>
                <a:spcPts val="1378"/>
              </a:lnSpc>
              <a:buNone/>
            </a:pPr>
            <a:r>
              <a:rPr lang="en-US" sz="950" dirty="0">
                <a:solidFill>
                  <a:srgbClr val="1F2937"/>
                </a:solidFill>
                <a:latin typeface="Poppins Light" pitchFamily="34" charset="0"/>
                <a:ea typeface="Poppins Light" pitchFamily="34" charset="-122"/>
                <a:cs typeface="Poppins Light" pitchFamily="34" charset="-120"/>
              </a:rPr>
              <a:t>Financial services · Malaysia</a:t>
            </a:r>
            <a:endParaRPr lang="en-US" sz="950" dirty="0"/>
          </a:p>
        </p:txBody>
      </p:sp>
      <p:sp>
        <p:nvSpPr>
          <p:cNvPr id="77" name="Text"/>
          <p:cNvSpPr txBox="1"/>
          <p:nvPr/>
        </p:nvSpPr>
        <p:spPr>
          <a:xfrm>
            <a:off x="4521159" y="4138300"/>
            <a:ext cx="3708441" cy="174925"/>
          </a:xfrm>
          <a:prstGeom prst="rect">
            <a:avLst/>
          </a:prstGeom>
          <a:noFill/>
          <a:ln/>
        </p:spPr>
        <p:txBody>
          <a:bodyPr wrap="none" lIns="0" tIns="0" rIns="0" bIns="0" rtlCol="0" anchor="t"/>
          <a:lstStyle/>
          <a:p>
            <a:pPr algn="l" indent="0" marL="0">
              <a:lnSpc>
                <a:spcPts val="1378"/>
              </a:lnSpc>
              <a:buNone/>
            </a:pPr>
            <a:r>
              <a:rPr lang="en-US" sz="950" dirty="0">
                <a:solidFill>
                  <a:srgbClr val="1F2937"/>
                </a:solidFill>
                <a:latin typeface="Poppins Light" pitchFamily="34" charset="0"/>
                <a:ea typeface="Poppins Light" pitchFamily="34" charset="-122"/>
                <a:cs typeface="Poppins Light" pitchFamily="34" charset="-120"/>
              </a:rPr>
              <a:t>Centralised pawn brokerage system, taken over midway</a:t>
            </a:r>
            <a:endParaRPr lang="en-US" sz="950" dirty="0"/>
          </a:p>
        </p:txBody>
      </p:sp>
      <p:sp>
        <p:nvSpPr>
          <p:cNvPr id="78" name="Text"/>
          <p:cNvSpPr txBox="1"/>
          <p:nvPr/>
        </p:nvSpPr>
        <p:spPr>
          <a:xfrm>
            <a:off x="8331190" y="4138300"/>
            <a:ext cx="3047970" cy="174925"/>
          </a:xfrm>
          <a:prstGeom prst="rect">
            <a:avLst/>
          </a:prstGeom>
          <a:noFill/>
          <a:ln/>
        </p:spPr>
        <p:txBody>
          <a:bodyPr wrap="none" lIns="0" tIns="0" rIns="0" bIns="0" rtlCol="0" anchor="t"/>
          <a:lstStyle/>
          <a:p>
            <a:pPr algn="l" indent="0" marL="0">
              <a:lnSpc>
                <a:spcPts val="1378"/>
              </a:lnSpc>
              <a:buNone/>
            </a:pPr>
            <a:r>
              <a:rPr lang="en-US" sz="950" dirty="0">
                <a:solidFill>
                  <a:srgbClr val="044BD9"/>
                </a:solidFill>
                <a:latin typeface="Poppins Medium" pitchFamily="34" charset="0"/>
                <a:ea typeface="Poppins Medium" pitchFamily="34" charset="-122"/>
                <a:cs typeface="Poppins Medium" pitchFamily="34" charset="-120"/>
              </a:rPr>
              <a:t>6</a:t>
            </a:r>
            <a:pPr algn="l" indent="0" marL="0">
              <a:lnSpc>
                <a:spcPts val="1378"/>
              </a:lnSpc>
              <a:buNone/>
            </a:pPr>
            <a:r>
              <a:rPr lang="en-US" sz="950" dirty="0">
                <a:solidFill>
                  <a:srgbClr val="1F2937"/>
                </a:solidFill>
                <a:latin typeface="Poppins Light" pitchFamily="34" charset="0"/>
                <a:ea typeface="Poppins Light" pitchFamily="34" charset="-122"/>
                <a:cs typeface="Poppins Light" pitchFamily="34" charset="-120"/>
              </a:rPr>
              <a:t> branches on one system; delivered</a:t>
            </a:r>
            <a:endParaRPr lang="en-US" sz="950" dirty="0"/>
          </a:p>
        </p:txBody>
      </p:sp>
      <p:sp>
        <p:nvSpPr>
          <p:cNvPr id="79" name="Text"/>
          <p:cNvSpPr txBox="1"/>
          <p:nvPr/>
        </p:nvSpPr>
        <p:spPr>
          <a:xfrm>
            <a:off x="711220" y="4484583"/>
            <a:ext cx="1739920" cy="174925"/>
          </a:xfrm>
          <a:prstGeom prst="rect">
            <a:avLst/>
          </a:prstGeom>
          <a:noFill/>
          <a:ln/>
        </p:spPr>
        <p:txBody>
          <a:bodyPr wrap="none" lIns="0" tIns="0" rIns="0" bIns="0" rtlCol="0" anchor="t"/>
          <a:lstStyle/>
          <a:p>
            <a:pPr algn="l" indent="0" marL="0">
              <a:lnSpc>
                <a:spcPts val="1378"/>
              </a:lnSpc>
              <a:buNone/>
            </a:pPr>
            <a:r>
              <a:rPr lang="en-US" sz="950" dirty="0">
                <a:solidFill>
                  <a:srgbClr val="000000"/>
                </a:solidFill>
                <a:latin typeface="Poppins Medium" pitchFamily="34" charset="0"/>
                <a:ea typeface="Poppins Medium" pitchFamily="34" charset="-122"/>
                <a:cs typeface="Poppins Medium" pitchFamily="34" charset="-120"/>
              </a:rPr>
              <a:t>Eastern Decorator</a:t>
            </a:r>
            <a:endParaRPr lang="en-US" sz="950" dirty="0"/>
          </a:p>
        </p:txBody>
      </p:sp>
      <p:sp>
        <p:nvSpPr>
          <p:cNvPr id="80" name="Text"/>
          <p:cNvSpPr txBox="1"/>
          <p:nvPr/>
        </p:nvSpPr>
        <p:spPr>
          <a:xfrm>
            <a:off x="2552730" y="4484583"/>
            <a:ext cx="1866930" cy="174925"/>
          </a:xfrm>
          <a:prstGeom prst="rect">
            <a:avLst/>
          </a:prstGeom>
          <a:noFill/>
          <a:ln/>
        </p:spPr>
        <p:txBody>
          <a:bodyPr wrap="none" lIns="0" tIns="0" rIns="0" bIns="0" rtlCol="0" anchor="t"/>
          <a:lstStyle/>
          <a:p>
            <a:pPr algn="l" indent="0" marL="0">
              <a:lnSpc>
                <a:spcPts val="1378"/>
              </a:lnSpc>
              <a:buNone/>
            </a:pPr>
            <a:r>
              <a:rPr lang="en-US" sz="950" dirty="0">
                <a:solidFill>
                  <a:srgbClr val="1F2937"/>
                </a:solidFill>
                <a:latin typeface="Poppins Light" pitchFamily="34" charset="0"/>
                <a:ea typeface="Poppins Light" pitchFamily="34" charset="-122"/>
                <a:cs typeface="Poppins Light" pitchFamily="34" charset="-120"/>
              </a:rPr>
              <a:t>Retail</a:t>
            </a:r>
            <a:endParaRPr lang="en-US" sz="950" dirty="0"/>
          </a:p>
        </p:txBody>
      </p:sp>
      <p:sp>
        <p:nvSpPr>
          <p:cNvPr id="81" name="Text"/>
          <p:cNvSpPr txBox="1"/>
          <p:nvPr/>
        </p:nvSpPr>
        <p:spPr>
          <a:xfrm>
            <a:off x="4521159" y="4484583"/>
            <a:ext cx="3708441" cy="174925"/>
          </a:xfrm>
          <a:prstGeom prst="rect">
            <a:avLst/>
          </a:prstGeom>
          <a:noFill/>
          <a:ln/>
        </p:spPr>
        <p:txBody>
          <a:bodyPr wrap="none" lIns="0" tIns="0" rIns="0" bIns="0" rtlCol="0" anchor="t"/>
          <a:lstStyle/>
          <a:p>
            <a:pPr algn="l" indent="0" marL="0">
              <a:lnSpc>
                <a:spcPts val="1378"/>
              </a:lnSpc>
              <a:buNone/>
            </a:pPr>
            <a:r>
              <a:rPr lang="en-US" sz="950" dirty="0">
                <a:solidFill>
                  <a:srgbClr val="1F2937"/>
                </a:solidFill>
                <a:latin typeface="Poppins Light" pitchFamily="34" charset="0"/>
                <a:ea typeface="Poppins Light" pitchFamily="34" charset="-122"/>
                <a:cs typeface="Poppins Light" pitchFamily="34" charset="-120"/>
              </a:rPr>
              <a:t>AI content factory for e-commerce product content</a:t>
            </a:r>
            <a:endParaRPr lang="en-US" sz="950" dirty="0"/>
          </a:p>
        </p:txBody>
      </p:sp>
      <p:sp>
        <p:nvSpPr>
          <p:cNvPr id="82" name="Text"/>
          <p:cNvSpPr txBox="1"/>
          <p:nvPr/>
        </p:nvSpPr>
        <p:spPr>
          <a:xfrm>
            <a:off x="8331190" y="4484583"/>
            <a:ext cx="3047970" cy="174925"/>
          </a:xfrm>
          <a:prstGeom prst="rect">
            <a:avLst/>
          </a:prstGeom>
          <a:noFill/>
          <a:ln/>
        </p:spPr>
        <p:txBody>
          <a:bodyPr wrap="none" lIns="0" tIns="0" rIns="0" bIns="0" rtlCol="0" anchor="t"/>
          <a:lstStyle/>
          <a:p>
            <a:pPr algn="l" indent="0" marL="0">
              <a:lnSpc>
                <a:spcPts val="1378"/>
              </a:lnSpc>
              <a:buNone/>
            </a:pPr>
            <a:r>
              <a:rPr lang="en-US" sz="950" dirty="0">
                <a:solidFill>
                  <a:srgbClr val="044BD9"/>
                </a:solidFill>
                <a:latin typeface="Poppins Medium" pitchFamily="34" charset="0"/>
                <a:ea typeface="Poppins Medium" pitchFamily="34" charset="-122"/>
                <a:cs typeface="Poppins Medium" pitchFamily="34" charset="-120"/>
              </a:rPr>
              <a:t>3</a:t>
            </a:r>
            <a:pPr algn="l" indent="0" marL="0">
              <a:lnSpc>
                <a:spcPts val="1378"/>
              </a:lnSpc>
              <a:buNone/>
            </a:pPr>
            <a:r>
              <a:rPr lang="en-US" sz="950" dirty="0">
                <a:solidFill>
                  <a:srgbClr val="1F2937"/>
                </a:solidFill>
                <a:latin typeface="Poppins Light" pitchFamily="34" charset="0"/>
                <a:ea typeface="Poppins Light" pitchFamily="34" charset="-122"/>
                <a:cs typeface="Poppins Light" pitchFamily="34" charset="-120"/>
              </a:rPr>
              <a:t> content types per product</a:t>
            </a:r>
            <a:endParaRPr lang="en-US" sz="950" dirty="0"/>
          </a:p>
        </p:txBody>
      </p:sp>
      <p:sp>
        <p:nvSpPr>
          <p:cNvPr id="83" name="Text"/>
          <p:cNvSpPr txBox="1"/>
          <p:nvPr/>
        </p:nvSpPr>
        <p:spPr>
          <a:xfrm>
            <a:off x="711220" y="4830958"/>
            <a:ext cx="1739920" cy="174925"/>
          </a:xfrm>
          <a:prstGeom prst="rect">
            <a:avLst/>
          </a:prstGeom>
          <a:noFill/>
          <a:ln/>
        </p:spPr>
        <p:txBody>
          <a:bodyPr wrap="none" lIns="0" tIns="0" rIns="0" bIns="0" rtlCol="0" anchor="t"/>
          <a:lstStyle/>
          <a:p>
            <a:pPr algn="l" indent="0" marL="0">
              <a:lnSpc>
                <a:spcPts val="1378"/>
              </a:lnSpc>
              <a:buNone/>
            </a:pPr>
            <a:r>
              <a:rPr lang="en-US" sz="950" dirty="0">
                <a:solidFill>
                  <a:srgbClr val="000000"/>
                </a:solidFill>
                <a:latin typeface="Poppins Medium" pitchFamily="34" charset="0"/>
                <a:ea typeface="Poppins Medium" pitchFamily="34" charset="-122"/>
                <a:cs typeface="Poppins Medium" pitchFamily="34" charset="-120"/>
              </a:rPr>
              <a:t>FPT AI Factory case note</a:t>
            </a:r>
            <a:endParaRPr lang="en-US" sz="950" dirty="0"/>
          </a:p>
        </p:txBody>
      </p:sp>
      <p:sp>
        <p:nvSpPr>
          <p:cNvPr id="84" name="Text"/>
          <p:cNvSpPr txBox="1"/>
          <p:nvPr/>
        </p:nvSpPr>
        <p:spPr>
          <a:xfrm>
            <a:off x="2552730" y="4830958"/>
            <a:ext cx="1866930" cy="174925"/>
          </a:xfrm>
          <a:prstGeom prst="rect">
            <a:avLst/>
          </a:prstGeom>
          <a:noFill/>
          <a:ln/>
        </p:spPr>
        <p:txBody>
          <a:bodyPr wrap="none" lIns="0" tIns="0" rIns="0" bIns="0" rtlCol="0" anchor="t"/>
          <a:lstStyle/>
          <a:p>
            <a:pPr algn="l" indent="0" marL="0">
              <a:lnSpc>
                <a:spcPts val="1378"/>
              </a:lnSpc>
              <a:buNone/>
            </a:pPr>
            <a:r>
              <a:rPr lang="en-US" sz="950" dirty="0">
                <a:solidFill>
                  <a:srgbClr val="1F2937"/>
                </a:solidFill>
                <a:latin typeface="Poppins Light" pitchFamily="34" charset="0"/>
                <a:ea typeface="Poppins Light" pitchFamily="34" charset="-122"/>
                <a:cs typeface="Poppins Light" pitchFamily="34" charset="-120"/>
              </a:rPr>
              <a:t>Retail</a:t>
            </a:r>
            <a:endParaRPr lang="en-US" sz="950" dirty="0"/>
          </a:p>
        </p:txBody>
      </p:sp>
      <p:sp>
        <p:nvSpPr>
          <p:cNvPr id="85" name="Text"/>
          <p:cNvSpPr txBox="1"/>
          <p:nvPr/>
        </p:nvSpPr>
        <p:spPr>
          <a:xfrm>
            <a:off x="4521159" y="4830958"/>
            <a:ext cx="3708441" cy="174925"/>
          </a:xfrm>
          <a:prstGeom prst="rect">
            <a:avLst/>
          </a:prstGeom>
          <a:noFill/>
          <a:ln/>
        </p:spPr>
        <p:txBody>
          <a:bodyPr wrap="none" lIns="0" tIns="0" rIns="0" bIns="0" rtlCol="0" anchor="t"/>
          <a:lstStyle/>
          <a:p>
            <a:pPr algn="l" indent="0" marL="0">
              <a:lnSpc>
                <a:spcPts val="1378"/>
              </a:lnSpc>
              <a:buNone/>
            </a:pPr>
            <a:r>
              <a:rPr lang="en-US" sz="950" dirty="0">
                <a:solidFill>
                  <a:srgbClr val="1F2937"/>
                </a:solidFill>
                <a:latin typeface="Poppins Light" pitchFamily="34" charset="0"/>
                <a:ea typeface="Poppins Light" pitchFamily="34" charset="-122"/>
                <a:cs typeface="Poppins Light" pitchFamily="34" charset="-120"/>
              </a:rPr>
              <a:t>Promotions model: Qwen2.5-14B-Instruct on H100 SXM</a:t>
            </a:r>
            <a:endParaRPr lang="en-US" sz="950" dirty="0"/>
          </a:p>
        </p:txBody>
      </p:sp>
      <p:sp>
        <p:nvSpPr>
          <p:cNvPr id="86" name="Text"/>
          <p:cNvSpPr txBox="1"/>
          <p:nvPr/>
        </p:nvSpPr>
        <p:spPr>
          <a:xfrm>
            <a:off x="8331190" y="4830958"/>
            <a:ext cx="3047970" cy="174925"/>
          </a:xfrm>
          <a:prstGeom prst="rect">
            <a:avLst/>
          </a:prstGeom>
          <a:noFill/>
          <a:ln/>
        </p:spPr>
        <p:txBody>
          <a:bodyPr wrap="none" lIns="0" tIns="0" rIns="0" bIns="0" rtlCol="0" anchor="t"/>
          <a:lstStyle/>
          <a:p>
            <a:pPr algn="l" indent="0" marL="0">
              <a:lnSpc>
                <a:spcPts val="1378"/>
              </a:lnSpc>
              <a:buNone/>
            </a:pPr>
            <a:r>
              <a:rPr lang="en-US" sz="950" dirty="0">
                <a:solidFill>
                  <a:srgbClr val="1F2937"/>
                </a:solidFill>
                <a:latin typeface="Poppins Light" pitchFamily="34" charset="0"/>
                <a:ea typeface="Poppins Light" pitchFamily="34" charset="-122"/>
                <a:cs typeface="Poppins Light" pitchFamily="34" charset="-120"/>
              </a:rPr>
              <a:t>Promotions model built</a:t>
            </a:r>
            <a:endParaRPr lang="en-US" sz="950" dirty="0"/>
          </a:p>
        </p:txBody>
      </p:sp>
      <p:sp>
        <p:nvSpPr>
          <p:cNvPr id="87" name="Text"/>
          <p:cNvSpPr txBox="1"/>
          <p:nvPr/>
        </p:nvSpPr>
        <p:spPr>
          <a:xfrm>
            <a:off x="711220" y="5177333"/>
            <a:ext cx="1739920" cy="174925"/>
          </a:xfrm>
          <a:prstGeom prst="rect">
            <a:avLst/>
          </a:prstGeom>
          <a:noFill/>
          <a:ln/>
        </p:spPr>
        <p:txBody>
          <a:bodyPr wrap="none" lIns="0" tIns="0" rIns="0" bIns="0" rtlCol="0" anchor="t"/>
          <a:lstStyle/>
          <a:p>
            <a:pPr algn="l" indent="0" marL="0">
              <a:lnSpc>
                <a:spcPts val="1378"/>
              </a:lnSpc>
              <a:buNone/>
            </a:pPr>
            <a:r>
              <a:rPr lang="en-US" sz="950" dirty="0">
                <a:solidFill>
                  <a:srgbClr val="000000"/>
                </a:solidFill>
                <a:latin typeface="Poppins Medium" pitchFamily="34" charset="0"/>
                <a:ea typeface="Poppins Medium" pitchFamily="34" charset="-122"/>
                <a:cs typeface="Poppins Medium" pitchFamily="34" charset="-120"/>
              </a:rPr>
              <a:t>A telco</a:t>
            </a:r>
            <a:endParaRPr lang="en-US" sz="950" dirty="0"/>
          </a:p>
        </p:txBody>
      </p:sp>
      <p:sp>
        <p:nvSpPr>
          <p:cNvPr id="88" name="Text"/>
          <p:cNvSpPr txBox="1"/>
          <p:nvPr/>
        </p:nvSpPr>
        <p:spPr>
          <a:xfrm>
            <a:off x="2552730" y="5177333"/>
            <a:ext cx="1866930" cy="174925"/>
          </a:xfrm>
          <a:prstGeom prst="rect">
            <a:avLst/>
          </a:prstGeom>
          <a:noFill/>
          <a:ln/>
        </p:spPr>
        <p:txBody>
          <a:bodyPr wrap="none" lIns="0" tIns="0" rIns="0" bIns="0" rtlCol="0" anchor="t"/>
          <a:lstStyle/>
          <a:p>
            <a:pPr algn="l" indent="0" marL="0">
              <a:lnSpc>
                <a:spcPts val="1378"/>
              </a:lnSpc>
              <a:buNone/>
            </a:pPr>
            <a:r>
              <a:rPr lang="en-US" sz="950" dirty="0">
                <a:solidFill>
                  <a:srgbClr val="1F2937"/>
                </a:solidFill>
                <a:latin typeface="Poppins Light" pitchFamily="34" charset="0"/>
                <a:ea typeface="Poppins Light" pitchFamily="34" charset="-122"/>
                <a:cs typeface="Poppins Light" pitchFamily="34" charset="-120"/>
              </a:rPr>
              <a:t>Telecoms</a:t>
            </a:r>
            <a:endParaRPr lang="en-US" sz="950" dirty="0"/>
          </a:p>
        </p:txBody>
      </p:sp>
      <p:sp>
        <p:nvSpPr>
          <p:cNvPr id="89" name="Text"/>
          <p:cNvSpPr txBox="1"/>
          <p:nvPr/>
        </p:nvSpPr>
        <p:spPr>
          <a:xfrm>
            <a:off x="4521159" y="5177333"/>
            <a:ext cx="3708441" cy="174925"/>
          </a:xfrm>
          <a:prstGeom prst="rect">
            <a:avLst/>
          </a:prstGeom>
          <a:noFill/>
          <a:ln/>
        </p:spPr>
        <p:txBody>
          <a:bodyPr wrap="none" lIns="0" tIns="0" rIns="0" bIns="0" rtlCol="0" anchor="t"/>
          <a:lstStyle/>
          <a:p>
            <a:pPr algn="l" indent="0" marL="0">
              <a:lnSpc>
                <a:spcPts val="1378"/>
              </a:lnSpc>
              <a:buNone/>
            </a:pPr>
            <a:r>
              <a:rPr lang="en-US" sz="950" dirty="0">
                <a:solidFill>
                  <a:srgbClr val="1F2937"/>
                </a:solidFill>
                <a:latin typeface="Poppins Light" pitchFamily="34" charset="0"/>
                <a:ea typeface="Poppins Light" pitchFamily="34" charset="-122"/>
                <a:cs typeface="Poppins Light" pitchFamily="34" charset="-120"/>
              </a:rPr>
              <a:t>VR and web experience for a travelling roadshow</a:t>
            </a:r>
            <a:endParaRPr lang="en-US" sz="950" dirty="0"/>
          </a:p>
        </p:txBody>
      </p:sp>
      <p:sp>
        <p:nvSpPr>
          <p:cNvPr id="90" name="Text"/>
          <p:cNvSpPr txBox="1"/>
          <p:nvPr/>
        </p:nvSpPr>
        <p:spPr>
          <a:xfrm>
            <a:off x="8331190" y="5177333"/>
            <a:ext cx="3047970" cy="174925"/>
          </a:xfrm>
          <a:prstGeom prst="rect">
            <a:avLst/>
          </a:prstGeom>
          <a:noFill/>
          <a:ln/>
        </p:spPr>
        <p:txBody>
          <a:bodyPr wrap="none" lIns="0" tIns="0" rIns="0" bIns="0" rtlCol="0" anchor="t"/>
          <a:lstStyle/>
          <a:p>
            <a:pPr algn="l" indent="0" marL="0">
              <a:lnSpc>
                <a:spcPts val="1378"/>
              </a:lnSpc>
              <a:buNone/>
            </a:pPr>
            <a:r>
              <a:rPr lang="en-US" sz="950" dirty="0">
                <a:solidFill>
                  <a:srgbClr val="1F2937"/>
                </a:solidFill>
                <a:latin typeface="Poppins Light" pitchFamily="34" charset="0"/>
                <a:ea typeface="Poppins Light" pitchFamily="34" charset="-122"/>
                <a:cs typeface="Poppins Light" pitchFamily="34" charset="-120"/>
              </a:rPr>
              <a:t>VR headset and browser from one shared scene</a:t>
            </a:r>
            <a:endParaRPr lang="en-US" sz="950" dirty="0"/>
          </a:p>
        </p:txBody>
      </p:sp>
      <p:sp>
        <p:nvSpPr>
          <p:cNvPr id="91" name="Text"/>
          <p:cNvSpPr txBox="1"/>
          <p:nvPr/>
        </p:nvSpPr>
        <p:spPr>
          <a:xfrm>
            <a:off x="711220" y="5523708"/>
            <a:ext cx="1739920" cy="174925"/>
          </a:xfrm>
          <a:prstGeom prst="rect">
            <a:avLst/>
          </a:prstGeom>
          <a:noFill/>
          <a:ln/>
        </p:spPr>
        <p:txBody>
          <a:bodyPr wrap="none" lIns="0" tIns="0" rIns="0" bIns="0" rtlCol="0" anchor="t"/>
          <a:lstStyle/>
          <a:p>
            <a:pPr algn="l" indent="0" marL="0">
              <a:lnSpc>
                <a:spcPts val="1378"/>
              </a:lnSpc>
              <a:buNone/>
            </a:pPr>
            <a:r>
              <a:rPr lang="en-US" sz="950" dirty="0">
                <a:solidFill>
                  <a:srgbClr val="000000"/>
                </a:solidFill>
                <a:latin typeface="Poppins Medium" pitchFamily="34" charset="0"/>
                <a:ea typeface="Poppins Medium" pitchFamily="34" charset="-122"/>
                <a:cs typeface="Poppins Medium" pitchFamily="34" charset="-120"/>
              </a:rPr>
              <a:t>Carlsberg</a:t>
            </a:r>
            <a:endParaRPr lang="en-US" sz="950" dirty="0"/>
          </a:p>
        </p:txBody>
      </p:sp>
      <p:sp>
        <p:nvSpPr>
          <p:cNvPr id="92" name="Text"/>
          <p:cNvSpPr txBox="1"/>
          <p:nvPr/>
        </p:nvSpPr>
        <p:spPr>
          <a:xfrm>
            <a:off x="2552730" y="5523708"/>
            <a:ext cx="1866930" cy="174925"/>
          </a:xfrm>
          <a:prstGeom prst="rect">
            <a:avLst/>
          </a:prstGeom>
          <a:noFill/>
          <a:ln/>
        </p:spPr>
        <p:txBody>
          <a:bodyPr wrap="none" lIns="0" tIns="0" rIns="0" bIns="0" rtlCol="0" anchor="t"/>
          <a:lstStyle/>
          <a:p>
            <a:pPr algn="l" indent="0" marL="0">
              <a:lnSpc>
                <a:spcPts val="1378"/>
              </a:lnSpc>
              <a:buNone/>
            </a:pPr>
            <a:r>
              <a:rPr lang="en-US" sz="950" dirty="0">
                <a:solidFill>
                  <a:srgbClr val="1F2937"/>
                </a:solidFill>
                <a:latin typeface="Poppins Light" pitchFamily="34" charset="0"/>
                <a:ea typeface="Poppins Light" pitchFamily="34" charset="-122"/>
                <a:cs typeface="Poppins Light" pitchFamily="34" charset="-120"/>
              </a:rPr>
              <a:t>Brewing and consumer goods</a:t>
            </a:r>
            <a:endParaRPr lang="en-US" sz="950" dirty="0"/>
          </a:p>
        </p:txBody>
      </p:sp>
      <p:sp>
        <p:nvSpPr>
          <p:cNvPr id="93" name="Text"/>
          <p:cNvSpPr txBox="1"/>
          <p:nvPr/>
        </p:nvSpPr>
        <p:spPr>
          <a:xfrm>
            <a:off x="4521159" y="5523708"/>
            <a:ext cx="3708441" cy="174925"/>
          </a:xfrm>
          <a:prstGeom prst="rect">
            <a:avLst/>
          </a:prstGeom>
          <a:noFill/>
          <a:ln/>
        </p:spPr>
        <p:txBody>
          <a:bodyPr wrap="none" lIns="0" tIns="0" rIns="0" bIns="0" rtlCol="0" anchor="t"/>
          <a:lstStyle/>
          <a:p>
            <a:pPr algn="l" indent="0" marL="0">
              <a:lnSpc>
                <a:spcPts val="1378"/>
              </a:lnSpc>
              <a:buNone/>
            </a:pPr>
            <a:r>
              <a:rPr lang="en-US" sz="950" dirty="0">
                <a:solidFill>
                  <a:srgbClr val="1F2937"/>
                </a:solidFill>
                <a:latin typeface="Poppins Light" pitchFamily="34" charset="0"/>
                <a:ea typeface="Poppins Light" pitchFamily="34" charset="-122"/>
                <a:cs typeface="Poppins Light" pitchFamily="34" charset="-120"/>
              </a:rPr>
              <a:t>Assisted a core operational data migration</a:t>
            </a:r>
            <a:endParaRPr lang="en-US" sz="950" dirty="0"/>
          </a:p>
        </p:txBody>
      </p:sp>
      <p:sp>
        <p:nvSpPr>
          <p:cNvPr id="94" name="Text"/>
          <p:cNvSpPr txBox="1"/>
          <p:nvPr/>
        </p:nvSpPr>
        <p:spPr>
          <a:xfrm>
            <a:off x="8331190" y="5523708"/>
            <a:ext cx="3047970" cy="174925"/>
          </a:xfrm>
          <a:prstGeom prst="rect">
            <a:avLst/>
          </a:prstGeom>
          <a:noFill/>
          <a:ln/>
        </p:spPr>
        <p:txBody>
          <a:bodyPr wrap="none" lIns="0" tIns="0" rIns="0" bIns="0" rtlCol="0" anchor="t"/>
          <a:lstStyle/>
          <a:p>
            <a:pPr algn="l" indent="0" marL="0">
              <a:lnSpc>
                <a:spcPts val="1378"/>
              </a:lnSpc>
              <a:buNone/>
            </a:pPr>
            <a:r>
              <a:rPr lang="en-US" sz="950" dirty="0">
                <a:solidFill>
                  <a:srgbClr val="044BD9"/>
                </a:solidFill>
                <a:latin typeface="Poppins Medium" pitchFamily="34" charset="0"/>
                <a:ea typeface="Poppins Medium" pitchFamily="34" charset="-122"/>
                <a:cs typeface="Poppins Medium" pitchFamily="34" charset="-120"/>
              </a:rPr>
              <a:t>5-month</a:t>
            </a:r>
            <a:pPr algn="l" indent="0" marL="0">
              <a:lnSpc>
                <a:spcPts val="1378"/>
              </a:lnSpc>
              <a:buNone/>
            </a:pPr>
            <a:r>
              <a:rPr lang="en-US" sz="950" dirty="0">
                <a:solidFill>
                  <a:srgbClr val="1F2937"/>
                </a:solidFill>
                <a:latin typeface="Poppins Light" pitchFamily="34" charset="0"/>
                <a:ea typeface="Poppins Light" pitchFamily="34" charset="-122"/>
                <a:cs typeface="Poppins Light" pitchFamily="34" charset="-120"/>
              </a:rPr>
              <a:t> engagement, extraction to cutover</a:t>
            </a:r>
            <a:endParaRPr lang="en-US" sz="950" dirty="0"/>
          </a:p>
        </p:txBody>
      </p:sp>
      <p:sp>
        <p:nvSpPr>
          <p:cNvPr id="95" name="Text"/>
          <p:cNvSpPr txBox="1"/>
          <p:nvPr/>
        </p:nvSpPr>
        <p:spPr>
          <a:xfrm>
            <a:off x="6287140" y="276240"/>
            <a:ext cx="708477"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Point of view</a:t>
            </a:r>
            <a:endParaRPr lang="en-US" sz="850" dirty="0"/>
          </a:p>
        </p:txBody>
      </p:sp>
      <p:sp>
        <p:nvSpPr>
          <p:cNvPr id="96" name="Text"/>
          <p:cNvSpPr txBox="1"/>
          <p:nvPr/>
        </p:nvSpPr>
        <p:spPr>
          <a:xfrm>
            <a:off x="7240494" y="276240"/>
            <a:ext cx="665958"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Who we are</a:t>
            </a:r>
            <a:endParaRPr lang="en-US" sz="850" dirty="0"/>
          </a:p>
        </p:txBody>
      </p:sp>
      <p:sp>
        <p:nvSpPr>
          <p:cNvPr id="97" name="Text"/>
          <p:cNvSpPr txBox="1"/>
          <p:nvPr/>
        </p:nvSpPr>
        <p:spPr>
          <a:xfrm>
            <a:off x="8151510" y="276240"/>
            <a:ext cx="671261"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What we do</a:t>
            </a:r>
            <a:endParaRPr lang="en-US" sz="850" dirty="0"/>
          </a:p>
        </p:txBody>
      </p:sp>
      <p:sp>
        <p:nvSpPr>
          <p:cNvPr id="98" name="Text"/>
          <p:cNvSpPr txBox="1"/>
          <p:nvPr/>
        </p:nvSpPr>
        <p:spPr>
          <a:xfrm>
            <a:off x="9067830" y="276240"/>
            <a:ext cx="1205728"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Sectors and products</a:t>
            </a:r>
            <a:endParaRPr lang="en-US" sz="850" dirty="0"/>
          </a:p>
        </p:txBody>
      </p:sp>
      <p:sp>
        <p:nvSpPr>
          <p:cNvPr id="99" name="Text"/>
          <p:cNvSpPr txBox="1"/>
          <p:nvPr/>
        </p:nvSpPr>
        <p:spPr>
          <a:xfrm>
            <a:off x="10516423" y="276240"/>
            <a:ext cx="298552"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044BD9"/>
                </a:solidFill>
                <a:latin typeface="Poppins Medium" pitchFamily="34" charset="0"/>
                <a:ea typeface="Poppins Medium" pitchFamily="34" charset="-122"/>
                <a:cs typeface="Poppins Medium" pitchFamily="34" charset="-120"/>
              </a:rPr>
              <a:t>Proof</a:t>
            </a:r>
            <a:endParaRPr lang="en-US" sz="850" dirty="0"/>
          </a:p>
        </p:txBody>
      </p:sp>
      <p:sp>
        <p:nvSpPr>
          <p:cNvPr id="100" name="Text"/>
          <p:cNvSpPr txBox="1"/>
          <p:nvPr/>
        </p:nvSpPr>
        <p:spPr>
          <a:xfrm>
            <a:off x="11061497" y="276240"/>
            <a:ext cx="433700"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Engage</a:t>
            </a:r>
            <a:endParaRPr lang="en-US" sz="850" dirty="0"/>
          </a:p>
        </p:txBody>
      </p:sp>
      <p:sp>
        <p:nvSpPr>
          <p:cNvPr id="101" name="Source"/>
          <p:cNvSpPr txBox="1"/>
          <p:nvPr/>
        </p:nvSpPr>
        <p:spPr>
          <a:xfrm>
            <a:off x="711220" y="6409030"/>
            <a:ext cx="8300740" cy="151150"/>
          </a:xfrm>
          <a:prstGeom prst="rect">
            <a:avLst/>
          </a:prstGeom>
          <a:noFill/>
          <a:ln/>
        </p:spPr>
        <p:txBody>
          <a:bodyPr wrap="square" lIns="0" tIns="0" rIns="0" bIns="0" rtlCol="0" anchor="t"/>
          <a:lstStyle/>
          <a:p>
            <a:pPr algn="l" indent="0" marL="0">
              <a:lnSpc>
                <a:spcPts val="1190"/>
              </a:lnSpc>
              <a:buNone/>
            </a:pPr>
            <a:r>
              <a:rPr lang="en-US" sz="850" dirty="0">
                <a:solidFill>
                  <a:srgbClr val="6B6B6B"/>
                </a:solidFill>
                <a:latin typeface="Poppins" pitchFamily="34" charset="0"/>
                <a:ea typeface="Poppins" pitchFamily="34" charset="-122"/>
                <a:cs typeface="Poppins" pitchFamily="34" charset="-120"/>
              </a:rPr>
              <a:t>Source: alphv.com/insights and its case pages (October 2026). Country shown where the case page states it.</a:t>
            </a:r>
            <a:endParaRPr lang="en-US" sz="850" dirty="0"/>
          </a:p>
        </p:txBody>
      </p:sp>
      <p:sp>
        <p:nvSpPr>
          <p:cNvPr id="102" name="Text"/>
          <p:cNvSpPr txBox="1"/>
          <p:nvPr/>
        </p:nvSpPr>
        <p:spPr>
          <a:xfrm>
            <a:off x="9354861" y="6409030"/>
            <a:ext cx="393741" cy="151150"/>
          </a:xfrm>
          <a:prstGeom prst="rect">
            <a:avLst/>
          </a:prstGeom>
          <a:noFill/>
          <a:ln/>
        </p:spPr>
        <p:txBody>
          <a:bodyPr wrap="none" lIns="0" tIns="0" rIns="0" bIns="0" rtlCol="0" anchor="t"/>
          <a:lstStyle/>
          <a:p>
            <a:pPr algn="l" indent="0" marL="0">
              <a:lnSpc>
                <a:spcPts val="1190"/>
              </a:lnSpc>
              <a:buNone/>
            </a:pPr>
            <a:r>
              <a:rPr lang="en-US" sz="850" spc="34" kern="0" dirty="0">
                <a:solidFill>
                  <a:srgbClr val="000000"/>
                </a:solidFill>
                <a:latin typeface="Poppins SemiBold" pitchFamily="34" charset="0"/>
                <a:ea typeface="Poppins SemiBold" pitchFamily="34" charset="-122"/>
                <a:cs typeface="Poppins SemiBold" pitchFamily="34" charset="-120"/>
              </a:rPr>
              <a:t>ALPHV</a:t>
            </a:r>
            <a:endParaRPr lang="en-US" sz="850" dirty="0"/>
          </a:p>
        </p:txBody>
      </p:sp>
      <p:sp>
        <p:nvSpPr>
          <p:cNvPr id="103" name="Text"/>
          <p:cNvSpPr txBox="1"/>
          <p:nvPr/>
        </p:nvSpPr>
        <p:spPr>
          <a:xfrm>
            <a:off x="9862810" y="6409030"/>
            <a:ext cx="1377178" cy="151150"/>
          </a:xfrm>
          <a:prstGeom prst="rect">
            <a:avLst/>
          </a:prstGeom>
          <a:noFill/>
          <a:ln/>
        </p:spPr>
        <p:txBody>
          <a:bodyPr wrap="none" lIns="0" tIns="0" rIns="0" bIns="0" rtlCol="0" anchor="t"/>
          <a:lstStyle/>
          <a:p>
            <a:pPr algn="l" indent="0" marL="0">
              <a:lnSpc>
                <a:spcPts val="1190"/>
              </a:lnSpc>
              <a:buNone/>
            </a:pPr>
            <a:r>
              <a:rPr lang="en-US" sz="850" dirty="0">
                <a:solidFill>
                  <a:srgbClr val="6B6B6B"/>
                </a:solidFill>
                <a:latin typeface="Poppins" pitchFamily="34" charset="0"/>
                <a:ea typeface="Poppins" pitchFamily="34" charset="-122"/>
                <a:cs typeface="Poppins" pitchFamily="34" charset="-120"/>
              </a:rPr>
              <a:t>Corporate overview 2026</a:t>
            </a:r>
            <a:endParaRPr lang="en-US" sz="850" dirty="0"/>
          </a:p>
        </p:txBody>
      </p:sp>
      <p:sp>
        <p:nvSpPr>
          <p:cNvPr id="104" name="Text"/>
          <p:cNvSpPr txBox="1"/>
          <p:nvPr/>
        </p:nvSpPr>
        <p:spPr>
          <a:xfrm>
            <a:off x="11354288" y="6409030"/>
            <a:ext cx="151882" cy="151150"/>
          </a:xfrm>
          <a:prstGeom prst="rect">
            <a:avLst/>
          </a:prstGeom>
          <a:noFill/>
          <a:ln/>
        </p:spPr>
        <p:txBody>
          <a:bodyPr wrap="none" lIns="0" tIns="0" rIns="0" bIns="0" rtlCol="0" anchor="t"/>
          <a:lstStyle/>
          <a:p>
            <a:pPr algn="l" indent="0" marL="0">
              <a:lnSpc>
                <a:spcPts val="1190"/>
              </a:lnSpc>
              <a:buNone/>
            </a:pPr>
            <a:r>
              <a:rPr lang="en-US" sz="850" dirty="0">
                <a:solidFill>
                  <a:srgbClr val="000000"/>
                </a:solidFill>
                <a:latin typeface="Poppins Medium" pitchFamily="34" charset="0"/>
                <a:ea typeface="Poppins Medium" pitchFamily="34" charset="-122"/>
                <a:cs typeface="Poppins Medium" pitchFamily="34" charset="-120"/>
              </a:rPr>
              <a:t>23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8F9FA"/>
        </a:solidFill>
      </p:bgPr>
    </p:bg>
    <p:spTree>
      <p:nvGrpSpPr>
        <p:cNvPr id="1" name=""/>
        <p:cNvGrpSpPr/>
        <p:nvPr/>
      </p:nvGrpSpPr>
      <p:grpSpPr>
        <a:xfrm>
          <a:off x="0" y="0"/>
          <a:ext cx="0" cy="0"/>
          <a:chOff x="0" y="0"/>
          <a:chExt cx="0" cy="0"/>
        </a:xfrm>
      </p:grpSpPr>
      <p:sp>
        <p:nvSpPr>
          <p:cNvPr id="2" name="badge"/>
          <p:cNvSpPr/>
          <p:nvPr/>
        </p:nvSpPr>
        <p:spPr>
          <a:xfrm>
            <a:off x="714421" y="536570"/>
            <a:ext cx="919246" cy="254020"/>
          </a:xfrm>
          <a:prstGeom prst="roundRect">
            <a:avLst>
              <a:gd name="adj" fmla="val 50000"/>
            </a:avLst>
          </a:prstGeom>
          <a:ln w="6350">
            <a:solidFill>
              <a:srgbClr val="155DFC"/>
            </a:solidFill>
            <a:prstDash val="solid"/>
          </a:ln>
        </p:spPr>
      </p:sp>
      <p:sp>
        <p:nvSpPr>
          <p:cNvPr id="3" name="tag"/>
          <p:cNvSpPr/>
          <p:nvPr/>
        </p:nvSpPr>
        <p:spPr>
          <a:xfrm>
            <a:off x="714421" y="1937339"/>
            <a:ext cx="1301466" cy="228600"/>
          </a:xfrm>
          <a:prstGeom prst="roundRect">
            <a:avLst>
              <a:gd name="adj" fmla="val 50000"/>
            </a:avLst>
          </a:prstGeom>
          <a:solidFill>
            <a:srgbClr val="FFFFFF"/>
          </a:solidFill>
          <a:ln w="6350">
            <a:solidFill>
              <a:srgbClr val="E3E6EC"/>
            </a:solidFill>
            <a:prstDash val="solid"/>
          </a:ln>
        </p:spPr>
      </p:sp>
      <p:sp>
        <p:nvSpPr>
          <p:cNvPr id="4" name="tag"/>
          <p:cNvSpPr/>
          <p:nvPr/>
        </p:nvSpPr>
        <p:spPr>
          <a:xfrm>
            <a:off x="2085655" y="1937339"/>
            <a:ext cx="769833" cy="228600"/>
          </a:xfrm>
          <a:prstGeom prst="roundRect">
            <a:avLst>
              <a:gd name="adj" fmla="val 50000"/>
            </a:avLst>
          </a:prstGeom>
          <a:solidFill>
            <a:srgbClr val="FFFFFF"/>
          </a:solidFill>
          <a:ln w="6350">
            <a:solidFill>
              <a:srgbClr val="E3E6EC"/>
            </a:solidFill>
            <a:prstDash val="solid"/>
          </a:ln>
        </p:spPr>
      </p:sp>
      <p:sp>
        <p:nvSpPr>
          <p:cNvPr id="5" name="tag"/>
          <p:cNvSpPr/>
          <p:nvPr/>
        </p:nvSpPr>
        <p:spPr>
          <a:xfrm>
            <a:off x="2925348" y="1937339"/>
            <a:ext cx="472653" cy="228600"/>
          </a:xfrm>
          <a:prstGeom prst="roundRect">
            <a:avLst>
              <a:gd name="adj" fmla="val 50000"/>
            </a:avLst>
          </a:prstGeom>
          <a:solidFill>
            <a:srgbClr val="FFFFFF"/>
          </a:solidFill>
          <a:ln w="6350">
            <a:solidFill>
              <a:srgbClr val="E3E6EC"/>
            </a:solidFill>
            <a:prstDash val="solid"/>
          </a:ln>
        </p:spPr>
      </p:sp>
      <p:sp>
        <p:nvSpPr>
          <p:cNvPr id="6" name="tag"/>
          <p:cNvSpPr/>
          <p:nvPr/>
        </p:nvSpPr>
        <p:spPr>
          <a:xfrm>
            <a:off x="3464753" y="1934139"/>
            <a:ext cx="526694" cy="234909"/>
          </a:xfrm>
          <a:prstGeom prst="roundRect">
            <a:avLst>
              <a:gd name="adj" fmla="val 50020"/>
            </a:avLst>
          </a:prstGeom>
          <a:solidFill>
            <a:srgbClr val="044BD9">
              <a:alpha val="8000"/>
            </a:srgbClr>
          </a:solidFill>
          <a:ln/>
        </p:spPr>
      </p:sp>
      <p:sp>
        <p:nvSpPr>
          <p:cNvPr id="7" name="tag"/>
          <p:cNvSpPr/>
          <p:nvPr/>
        </p:nvSpPr>
        <p:spPr>
          <a:xfrm>
            <a:off x="4054907" y="1934139"/>
            <a:ext cx="786475" cy="234909"/>
          </a:xfrm>
          <a:prstGeom prst="roundRect">
            <a:avLst>
              <a:gd name="adj" fmla="val 50020"/>
            </a:avLst>
          </a:prstGeom>
          <a:solidFill>
            <a:srgbClr val="044BD9">
              <a:alpha val="8000"/>
            </a:srgbClr>
          </a:solidFill>
          <a:ln/>
        </p:spPr>
      </p:sp>
      <p:sp>
        <p:nvSpPr>
          <p:cNvPr id="8" name="Rule"/>
          <p:cNvSpPr/>
          <p:nvPr/>
        </p:nvSpPr>
        <p:spPr>
          <a:xfrm>
            <a:off x="711220" y="2454890"/>
            <a:ext cx="3431012" cy="0"/>
          </a:xfrm>
          <a:prstGeom prst="line">
            <a:avLst/>
          </a:prstGeom>
          <a:noFill/>
          <a:ln w="12700">
            <a:solidFill>
              <a:srgbClr val="000000"/>
            </a:solidFill>
            <a:prstDash val="solid"/>
          </a:ln>
        </p:spPr>
      </p:sp>
      <p:sp>
        <p:nvSpPr>
          <p:cNvPr id="9" name="card"/>
          <p:cNvSpPr/>
          <p:nvPr/>
        </p:nvSpPr>
        <p:spPr>
          <a:xfrm>
            <a:off x="714421" y="4118000"/>
            <a:ext cx="3424611" cy="1898660"/>
          </a:xfrm>
          <a:prstGeom prst="roundRect">
            <a:avLst>
              <a:gd name="adj" fmla="val 7860"/>
            </a:avLst>
          </a:prstGeom>
          <a:solidFill>
            <a:srgbClr val="FFFFFF"/>
          </a:solidFill>
          <a:ln w="6350">
            <a:solidFill>
              <a:srgbClr val="F0F0F0"/>
            </a:solidFill>
            <a:prstDash val="solid"/>
          </a:ln>
        </p:spPr>
      </p:sp>
      <p:pic>
        <p:nvPicPr>
          <p:cNvPr id="10" name="Picture" descr="ALPHV AI CRM dashboard with lead and revenue charts">    </p:cNvPr>
          <p:cNvPicPr>
            <a:picLocks noChangeAspect="1"/>
          </p:cNvPicPr>
          <p:nvPr/>
        </p:nvPicPr>
        <p:blipFill>
          <a:blip r:embed="rId1"/>
          <a:stretch>
            <a:fillRect/>
          </a:stretch>
        </p:blipFill>
        <p:spPr>
          <a:xfrm>
            <a:off x="832744" y="4184660"/>
            <a:ext cx="3187873" cy="1765341"/>
          </a:xfrm>
          <a:prstGeom prst="rect">
            <a:avLst/>
          </a:prstGeom>
        </p:spPr>
      </p:pic>
      <p:sp>
        <p:nvSpPr>
          <p:cNvPr id="11" name="tag"/>
          <p:cNvSpPr/>
          <p:nvPr/>
        </p:nvSpPr>
        <p:spPr>
          <a:xfrm>
            <a:off x="835030" y="5672572"/>
            <a:ext cx="2845338" cy="273040"/>
          </a:xfrm>
          <a:prstGeom prst="roundRect">
            <a:avLst>
              <a:gd name="adj" fmla="val 50000"/>
            </a:avLst>
          </a:prstGeom>
          <a:solidFill>
            <a:srgbClr val="FFFFFF"/>
          </a:solidFill>
          <a:ln w="6350">
            <a:solidFill>
              <a:srgbClr val="E3E6EC"/>
            </a:solidFill>
            <a:prstDash val="solid"/>
          </a:ln>
        </p:spPr>
      </p:sp>
      <p:sp>
        <p:nvSpPr>
          <p:cNvPr id="12" name="Rule"/>
          <p:cNvSpPr/>
          <p:nvPr/>
        </p:nvSpPr>
        <p:spPr>
          <a:xfrm>
            <a:off x="4294571" y="2454890"/>
            <a:ext cx="3431103" cy="0"/>
          </a:xfrm>
          <a:prstGeom prst="line">
            <a:avLst/>
          </a:prstGeom>
          <a:noFill/>
          <a:ln w="12700">
            <a:solidFill>
              <a:srgbClr val="000000"/>
            </a:solidFill>
            <a:prstDash val="solid"/>
          </a:ln>
        </p:spPr>
      </p:sp>
      <p:sp>
        <p:nvSpPr>
          <p:cNvPr id="13" name="li::before"/>
          <p:cNvSpPr/>
          <p:nvPr/>
        </p:nvSpPr>
        <p:spPr>
          <a:xfrm>
            <a:off x="4294571" y="3246211"/>
            <a:ext cx="57150" cy="57150"/>
          </a:xfrm>
          <a:prstGeom prst="rect">
            <a:avLst/>
          </a:prstGeom>
          <a:solidFill>
            <a:srgbClr val="044BD9"/>
          </a:solidFill>
          <a:ln/>
        </p:spPr>
      </p:sp>
      <p:sp>
        <p:nvSpPr>
          <p:cNvPr id="14" name="li::before"/>
          <p:cNvSpPr/>
          <p:nvPr/>
        </p:nvSpPr>
        <p:spPr>
          <a:xfrm>
            <a:off x="4294571" y="3741542"/>
            <a:ext cx="57150" cy="57150"/>
          </a:xfrm>
          <a:prstGeom prst="rect">
            <a:avLst/>
          </a:prstGeom>
          <a:solidFill>
            <a:srgbClr val="044BD9"/>
          </a:solidFill>
          <a:ln/>
        </p:spPr>
      </p:sp>
      <p:sp>
        <p:nvSpPr>
          <p:cNvPr id="15" name="li::before"/>
          <p:cNvSpPr/>
          <p:nvPr/>
        </p:nvSpPr>
        <p:spPr>
          <a:xfrm>
            <a:off x="4294571" y="4236872"/>
            <a:ext cx="57150" cy="57150"/>
          </a:xfrm>
          <a:prstGeom prst="rect">
            <a:avLst/>
          </a:prstGeom>
          <a:solidFill>
            <a:srgbClr val="044BD9"/>
          </a:solidFill>
          <a:ln/>
        </p:spPr>
      </p:sp>
      <p:sp>
        <p:nvSpPr>
          <p:cNvPr id="16" name="li::before"/>
          <p:cNvSpPr/>
          <p:nvPr/>
        </p:nvSpPr>
        <p:spPr>
          <a:xfrm>
            <a:off x="4294571" y="4522622"/>
            <a:ext cx="57150" cy="57150"/>
          </a:xfrm>
          <a:prstGeom prst="rect">
            <a:avLst/>
          </a:prstGeom>
          <a:solidFill>
            <a:srgbClr val="044BD9"/>
          </a:solidFill>
          <a:ln/>
        </p:spPr>
      </p:sp>
      <p:sp>
        <p:nvSpPr>
          <p:cNvPr id="17" name="Rule"/>
          <p:cNvSpPr/>
          <p:nvPr/>
        </p:nvSpPr>
        <p:spPr>
          <a:xfrm>
            <a:off x="4294571" y="5273711"/>
            <a:ext cx="3431103" cy="0"/>
          </a:xfrm>
          <a:prstGeom prst="line">
            <a:avLst/>
          </a:prstGeom>
          <a:noFill/>
          <a:ln w="6350">
            <a:solidFill>
              <a:srgbClr val="E3E6EC"/>
            </a:solidFill>
            <a:prstDash val="solid"/>
          </a:ln>
        </p:spPr>
      </p:sp>
      <p:sp>
        <p:nvSpPr>
          <p:cNvPr id="18" name="Rule"/>
          <p:cNvSpPr/>
          <p:nvPr/>
        </p:nvSpPr>
        <p:spPr>
          <a:xfrm>
            <a:off x="7878105" y="2454890"/>
            <a:ext cx="3602736" cy="0"/>
          </a:xfrm>
          <a:prstGeom prst="line">
            <a:avLst/>
          </a:prstGeom>
          <a:noFill/>
          <a:ln w="12700">
            <a:solidFill>
              <a:srgbClr val="044BD9"/>
            </a:solidFill>
            <a:prstDash val="solid"/>
          </a:ln>
        </p:spPr>
      </p:sp>
      <p:sp>
        <p:nvSpPr>
          <p:cNvPr id="19" name="Rule"/>
          <p:cNvSpPr/>
          <p:nvPr/>
        </p:nvSpPr>
        <p:spPr>
          <a:xfrm>
            <a:off x="7878105" y="3823198"/>
            <a:ext cx="3602736" cy="0"/>
          </a:xfrm>
          <a:prstGeom prst="line">
            <a:avLst/>
          </a:prstGeom>
          <a:noFill/>
          <a:ln w="6350">
            <a:solidFill>
              <a:srgbClr val="E3E6EC"/>
            </a:solidFill>
            <a:prstDash val="solid"/>
          </a:ln>
        </p:spPr>
      </p:sp>
      <p:sp>
        <p:nvSpPr>
          <p:cNvPr id="20" name="Rule"/>
          <p:cNvSpPr/>
          <p:nvPr/>
        </p:nvSpPr>
        <p:spPr>
          <a:xfrm>
            <a:off x="7878105" y="5273711"/>
            <a:ext cx="3602736" cy="0"/>
          </a:xfrm>
          <a:prstGeom prst="line">
            <a:avLst/>
          </a:prstGeom>
          <a:noFill/>
          <a:ln w="6350">
            <a:solidFill>
              <a:srgbClr val="E3E6EC"/>
            </a:solidFill>
            <a:prstDash val="solid"/>
          </a:ln>
        </p:spPr>
      </p:sp>
      <p:sp>
        <p:nvSpPr>
          <p:cNvPr id="21" name="span::before"/>
          <p:cNvSpPr/>
          <p:nvPr/>
        </p:nvSpPr>
        <p:spPr>
          <a:xfrm>
            <a:off x="6191860" y="311170"/>
            <a:ext cx="44440" cy="44440"/>
          </a:xfrm>
          <a:prstGeom prst="rect">
            <a:avLst/>
          </a:prstGeom>
          <a:solidFill>
            <a:srgbClr val="A0A6AF">
              <a:alpha val="55000"/>
            </a:srgbClr>
          </a:solidFill>
          <a:ln/>
        </p:spPr>
      </p:sp>
      <p:sp>
        <p:nvSpPr>
          <p:cNvPr id="22" name="span::before"/>
          <p:cNvSpPr/>
          <p:nvPr/>
        </p:nvSpPr>
        <p:spPr>
          <a:xfrm>
            <a:off x="7145213" y="311170"/>
            <a:ext cx="44440" cy="44440"/>
          </a:xfrm>
          <a:prstGeom prst="rect">
            <a:avLst/>
          </a:prstGeom>
          <a:solidFill>
            <a:srgbClr val="A0A6AF">
              <a:alpha val="55000"/>
            </a:srgbClr>
          </a:solidFill>
          <a:ln/>
        </p:spPr>
      </p:sp>
      <p:sp>
        <p:nvSpPr>
          <p:cNvPr id="23" name="span::before"/>
          <p:cNvSpPr/>
          <p:nvPr/>
        </p:nvSpPr>
        <p:spPr>
          <a:xfrm>
            <a:off x="8056230" y="311170"/>
            <a:ext cx="44440" cy="44440"/>
          </a:xfrm>
          <a:prstGeom prst="rect">
            <a:avLst/>
          </a:prstGeom>
          <a:solidFill>
            <a:srgbClr val="A0A6AF">
              <a:alpha val="55000"/>
            </a:srgbClr>
          </a:solidFill>
          <a:ln/>
        </p:spPr>
      </p:sp>
      <p:sp>
        <p:nvSpPr>
          <p:cNvPr id="24" name="span::before"/>
          <p:cNvSpPr/>
          <p:nvPr/>
        </p:nvSpPr>
        <p:spPr>
          <a:xfrm>
            <a:off x="8972550" y="311170"/>
            <a:ext cx="44440" cy="44440"/>
          </a:xfrm>
          <a:prstGeom prst="rect">
            <a:avLst/>
          </a:prstGeom>
          <a:solidFill>
            <a:srgbClr val="A0A6AF">
              <a:alpha val="55000"/>
            </a:srgbClr>
          </a:solidFill>
          <a:ln/>
        </p:spPr>
      </p:sp>
      <p:sp>
        <p:nvSpPr>
          <p:cNvPr id="25" name="on::before"/>
          <p:cNvSpPr/>
          <p:nvPr/>
        </p:nvSpPr>
        <p:spPr>
          <a:xfrm>
            <a:off x="10421142" y="311170"/>
            <a:ext cx="44440" cy="44440"/>
          </a:xfrm>
          <a:prstGeom prst="rect">
            <a:avLst/>
          </a:prstGeom>
          <a:solidFill>
            <a:srgbClr val="044BD9"/>
          </a:solidFill>
          <a:ln/>
        </p:spPr>
      </p:sp>
      <p:sp>
        <p:nvSpPr>
          <p:cNvPr id="26" name="span::before"/>
          <p:cNvSpPr/>
          <p:nvPr/>
        </p:nvSpPr>
        <p:spPr>
          <a:xfrm>
            <a:off x="10966216" y="311170"/>
            <a:ext cx="44440" cy="44440"/>
          </a:xfrm>
          <a:prstGeom prst="rect">
            <a:avLst/>
          </a:prstGeom>
          <a:solidFill>
            <a:srgbClr val="A0A6AF">
              <a:alpha val="55000"/>
            </a:srgbClr>
          </a:solidFill>
          <a:ln/>
        </p:spPr>
      </p:sp>
      <p:sp>
        <p:nvSpPr>
          <p:cNvPr id="27" name="Text"/>
          <p:cNvSpPr txBox="1"/>
          <p:nvPr/>
        </p:nvSpPr>
        <p:spPr>
          <a:xfrm>
            <a:off x="844540" y="603230"/>
            <a:ext cx="684337" cy="120609"/>
          </a:xfrm>
          <a:prstGeom prst="rect">
            <a:avLst/>
          </a:prstGeom>
          <a:noFill/>
          <a:ln/>
        </p:spPr>
        <p:txBody>
          <a:bodyPr wrap="none" lIns="0" tIns="0" rIns="0" bIns="0" rtlCol="0" anchor="t"/>
          <a:lstStyle/>
          <a:p>
            <a:pPr algn="l" indent="0" marL="0">
              <a:lnSpc>
                <a:spcPts val="950"/>
              </a:lnSpc>
              <a:buNone/>
            </a:pPr>
            <a:r>
              <a:rPr lang="en-US" sz="950" spc="10" kern="0" dirty="0">
                <a:solidFill>
                  <a:srgbClr val="155DFC"/>
                </a:solidFill>
                <a:latin typeface="Poppins Medium" pitchFamily="34" charset="0"/>
                <a:ea typeface="Poppins Medium" pitchFamily="34" charset="-122"/>
                <a:cs typeface="Poppins Medium" pitchFamily="34" charset="-120"/>
              </a:rPr>
              <a:t>Hospitality</a:t>
            </a:r>
            <a:endParaRPr lang="en-US" sz="950" dirty="0"/>
          </a:p>
        </p:txBody>
      </p:sp>
      <p:sp>
        <p:nvSpPr>
          <p:cNvPr id="28" name="Title"/>
          <p:cNvSpPr txBox="1"/>
          <p:nvPr/>
        </p:nvSpPr>
        <p:spPr>
          <a:xfrm>
            <a:off x="711220" y="927750"/>
            <a:ext cx="9398020" cy="861090"/>
          </a:xfrm>
          <a:prstGeom prst="rect">
            <a:avLst/>
          </a:prstGeom>
          <a:noFill/>
          <a:ln/>
        </p:spPr>
        <p:txBody>
          <a:bodyPr wrap="square" lIns="0" tIns="0" rIns="0" bIns="0" rtlCol="0" anchor="t"/>
          <a:lstStyle/>
          <a:p>
            <a:pPr algn="l" indent="0" marL="0">
              <a:lnSpc>
                <a:spcPts val="3390"/>
              </a:lnSpc>
              <a:buNone/>
            </a:pPr>
            <a:r>
              <a:rPr lang="en-US" sz="3000" spc="-45" kern="0" dirty="0">
                <a:solidFill>
                  <a:srgbClr val="000000"/>
                </a:solidFill>
                <a:latin typeface="Poppins Medium" pitchFamily="34" charset="0"/>
                <a:ea typeface="Poppins Medium" pitchFamily="34" charset="-122"/>
                <a:cs typeface="Poppins Medium" pitchFamily="34" charset="-120"/>
              </a:rPr>
              <a:t>WhatsApp AI agents cut manual data entry</a:t>
            </a:r>
            <a:endParaRPr lang="en-US" sz="3000" dirty="0"/>
          </a:p>
          <a:p>
            <a:pPr algn="l" indent="0" marL="0">
              <a:lnSpc>
                <a:spcPts val="3390"/>
              </a:lnSpc>
              <a:buNone/>
            </a:pPr>
            <a:r>
              <a:rPr lang="en-US" sz="3000" spc="-45" kern="0" dirty="0">
                <a:solidFill>
                  <a:srgbClr val="000000"/>
                </a:solidFill>
                <a:latin typeface="Poppins Medium" pitchFamily="34" charset="0"/>
                <a:ea typeface="Poppins Medium" pitchFamily="34" charset="-122"/>
                <a:cs typeface="Poppins Medium" pitchFamily="34" charset="-120"/>
              </a:rPr>
              <a:t>time by</a:t>
            </a:r>
            <a:pPr algn="l" indent="0" marL="0">
              <a:lnSpc>
                <a:spcPts val="3390"/>
              </a:lnSpc>
              <a:buNone/>
            </a:pPr>
            <a:r>
              <a:rPr lang="en-US" sz="3000" spc="-45" kern="0" dirty="0">
                <a:solidFill>
                  <a:srgbClr val="044BD9"/>
                </a:solidFill>
                <a:latin typeface="Poppins Medium" pitchFamily="34" charset="0"/>
                <a:ea typeface="Poppins Medium" pitchFamily="34" charset="-122"/>
                <a:cs typeface="Poppins Medium" pitchFamily="34" charset="-120"/>
              </a:rPr>
              <a:t> 80%</a:t>
            </a:r>
            <a:pPr algn="l" indent="0" marL="0">
              <a:lnSpc>
                <a:spcPts val="3390"/>
              </a:lnSpc>
              <a:buNone/>
            </a:pPr>
            <a:r>
              <a:rPr lang="en-US" sz="3000" spc="-45" kern="0" dirty="0">
                <a:solidFill>
                  <a:srgbClr val="000000"/>
                </a:solidFill>
                <a:latin typeface="Poppins Medium" pitchFamily="34" charset="0"/>
                <a:ea typeface="Poppins Medium" pitchFamily="34" charset="-122"/>
                <a:cs typeface="Poppins Medium" pitchFamily="34" charset="-120"/>
              </a:rPr>
              <a:t> for a Singapore hospitality group</a:t>
            </a:r>
            <a:endParaRPr lang="en-US" sz="3000" dirty="0"/>
          </a:p>
        </p:txBody>
      </p:sp>
      <p:sp>
        <p:nvSpPr>
          <p:cNvPr id="29" name="Text"/>
          <p:cNvSpPr txBox="1"/>
          <p:nvPr/>
        </p:nvSpPr>
        <p:spPr>
          <a:xfrm>
            <a:off x="819120" y="1994489"/>
            <a:ext cx="1117305" cy="107991"/>
          </a:xfrm>
          <a:prstGeom prst="rect">
            <a:avLst/>
          </a:prstGeom>
          <a:noFill/>
          <a:ln/>
        </p:spPr>
        <p:txBody>
          <a:bodyPr wrap="none" lIns="0" tIns="0" rIns="0" bIns="0" rtlCol="0" anchor="t"/>
          <a:lstStyle/>
          <a:p>
            <a:pPr algn="l" indent="0" marL="0">
              <a:lnSpc>
                <a:spcPts val="850"/>
              </a:lnSpc>
              <a:buNone/>
            </a:pPr>
            <a:r>
              <a:rPr lang="en-US" sz="850" dirty="0">
                <a:solidFill>
                  <a:srgbClr val="1F2937"/>
                </a:solidFill>
                <a:latin typeface="Poppins Medium" pitchFamily="34" charset="0"/>
                <a:ea typeface="Poppins Medium" pitchFamily="34" charset="-122"/>
                <a:cs typeface="Poppins Medium" pitchFamily="34" charset="-120"/>
              </a:rPr>
              <a:t>Agentic automation</a:t>
            </a:r>
            <a:endParaRPr lang="en-US" sz="850" dirty="0"/>
          </a:p>
        </p:txBody>
      </p:sp>
      <p:sp>
        <p:nvSpPr>
          <p:cNvPr id="30" name="Text"/>
          <p:cNvSpPr txBox="1"/>
          <p:nvPr/>
        </p:nvSpPr>
        <p:spPr>
          <a:xfrm>
            <a:off x="2190445" y="1994489"/>
            <a:ext cx="585673" cy="107991"/>
          </a:xfrm>
          <a:prstGeom prst="rect">
            <a:avLst/>
          </a:prstGeom>
          <a:noFill/>
          <a:ln/>
        </p:spPr>
        <p:txBody>
          <a:bodyPr wrap="none" lIns="0" tIns="0" rIns="0" bIns="0" rtlCol="0" anchor="t"/>
          <a:lstStyle/>
          <a:p>
            <a:pPr algn="l" indent="0" marL="0">
              <a:lnSpc>
                <a:spcPts val="850"/>
              </a:lnSpc>
              <a:buNone/>
            </a:pPr>
            <a:r>
              <a:rPr lang="en-US" sz="850" dirty="0">
                <a:solidFill>
                  <a:srgbClr val="1F2937"/>
                </a:solidFill>
                <a:latin typeface="Poppins Medium" pitchFamily="34" charset="0"/>
                <a:ea typeface="Poppins Medium" pitchFamily="34" charset="-122"/>
                <a:cs typeface="Poppins Medium" pitchFamily="34" charset="-120"/>
              </a:rPr>
              <a:t>Singapore</a:t>
            </a:r>
            <a:endParaRPr lang="en-US" sz="850" dirty="0"/>
          </a:p>
        </p:txBody>
      </p:sp>
      <p:sp>
        <p:nvSpPr>
          <p:cNvPr id="31" name="Text"/>
          <p:cNvSpPr txBox="1"/>
          <p:nvPr/>
        </p:nvSpPr>
        <p:spPr>
          <a:xfrm>
            <a:off x="3030139" y="1994489"/>
            <a:ext cx="288493" cy="107991"/>
          </a:xfrm>
          <a:prstGeom prst="rect">
            <a:avLst/>
          </a:prstGeom>
          <a:noFill/>
          <a:ln/>
        </p:spPr>
        <p:txBody>
          <a:bodyPr wrap="none" lIns="0" tIns="0" rIns="0" bIns="0" rtlCol="0" anchor="t"/>
          <a:lstStyle/>
          <a:p>
            <a:pPr algn="l" indent="0" marL="0">
              <a:lnSpc>
                <a:spcPts val="850"/>
              </a:lnSpc>
              <a:buNone/>
            </a:pPr>
            <a:r>
              <a:rPr lang="en-US" sz="850" dirty="0">
                <a:solidFill>
                  <a:srgbClr val="1F2937"/>
                </a:solidFill>
                <a:latin typeface="Poppins Medium" pitchFamily="34" charset="0"/>
                <a:ea typeface="Poppins Medium" pitchFamily="34" charset="-122"/>
                <a:cs typeface="Poppins Medium" pitchFamily="34" charset="-120"/>
              </a:rPr>
              <a:t>2026</a:t>
            </a:r>
            <a:endParaRPr lang="en-US" sz="850" dirty="0"/>
          </a:p>
        </p:txBody>
      </p:sp>
      <p:sp>
        <p:nvSpPr>
          <p:cNvPr id="32" name="Text"/>
          <p:cNvSpPr txBox="1"/>
          <p:nvPr/>
        </p:nvSpPr>
        <p:spPr>
          <a:xfrm>
            <a:off x="3572652" y="1994489"/>
            <a:ext cx="336133" cy="107991"/>
          </a:xfrm>
          <a:prstGeom prst="rect">
            <a:avLst/>
          </a:prstGeom>
          <a:noFill/>
          <a:ln/>
        </p:spPr>
        <p:txBody>
          <a:bodyPr wrap="none" lIns="0" tIns="0" rIns="0" bIns="0" rtlCol="0" anchor="t"/>
          <a:lstStyle/>
          <a:p>
            <a:pPr algn="l" indent="0" marL="0">
              <a:lnSpc>
                <a:spcPts val="850"/>
              </a:lnSpc>
              <a:buNone/>
            </a:pPr>
            <a:r>
              <a:rPr lang="en-US" sz="850" dirty="0">
                <a:solidFill>
                  <a:srgbClr val="044BD9"/>
                </a:solidFill>
                <a:latin typeface="Poppins Medium" pitchFamily="34" charset="0"/>
                <a:ea typeface="Poppins Medium" pitchFamily="34" charset="-122"/>
                <a:cs typeface="Poppins Medium" pitchFamily="34" charset="-120"/>
              </a:rPr>
              <a:t>Qwen</a:t>
            </a:r>
            <a:endParaRPr lang="en-US" sz="850" dirty="0"/>
          </a:p>
        </p:txBody>
      </p:sp>
      <p:sp>
        <p:nvSpPr>
          <p:cNvPr id="33" name="Text"/>
          <p:cNvSpPr txBox="1"/>
          <p:nvPr/>
        </p:nvSpPr>
        <p:spPr>
          <a:xfrm>
            <a:off x="4162806" y="1994489"/>
            <a:ext cx="596006" cy="107991"/>
          </a:xfrm>
          <a:prstGeom prst="rect">
            <a:avLst/>
          </a:prstGeom>
          <a:noFill/>
          <a:ln/>
        </p:spPr>
        <p:txBody>
          <a:bodyPr wrap="none" lIns="0" tIns="0" rIns="0" bIns="0" rtlCol="0" anchor="t"/>
          <a:lstStyle/>
          <a:p>
            <a:pPr algn="l" indent="0" marL="0">
              <a:lnSpc>
                <a:spcPts val="850"/>
              </a:lnSpc>
              <a:buNone/>
            </a:pPr>
            <a:r>
              <a:rPr lang="en-US" sz="850" dirty="0">
                <a:solidFill>
                  <a:srgbClr val="044BD9"/>
                </a:solidFill>
                <a:latin typeface="Poppins Medium" pitchFamily="34" charset="0"/>
                <a:ea typeface="Poppins Medium" pitchFamily="34" charset="-122"/>
                <a:cs typeface="Poppins Medium" pitchFamily="34" charset="-120"/>
              </a:rPr>
              <a:t>WhatsApp</a:t>
            </a:r>
            <a:endParaRPr lang="en-US" sz="850" dirty="0"/>
          </a:p>
        </p:txBody>
      </p:sp>
      <p:sp>
        <p:nvSpPr>
          <p:cNvPr id="34" name="Text"/>
          <p:cNvSpPr txBox="1"/>
          <p:nvPr/>
        </p:nvSpPr>
        <p:spPr>
          <a:xfrm>
            <a:off x="711220" y="2585375"/>
            <a:ext cx="3457438" cy="177119"/>
          </a:xfrm>
          <a:prstGeom prst="rect">
            <a:avLst/>
          </a:prstGeom>
          <a:noFill/>
          <a:ln/>
        </p:spPr>
        <p:txBody>
          <a:bodyPr wrap="square" lIns="0" tIns="0" rIns="0" bIns="0" rtlCol="0" anchor="t"/>
          <a:lstStyle/>
          <a:p>
            <a:pPr algn="l" indent="0" marL="0">
              <a:lnSpc>
                <a:spcPts val="1395"/>
              </a:lnSpc>
              <a:buNone/>
            </a:pPr>
            <a:r>
              <a:rPr lang="en-US" sz="900" spc="36" kern="0" dirty="0">
                <a:solidFill>
                  <a:srgbClr val="6B6B6B"/>
                </a:solidFill>
                <a:latin typeface="Poppins Medium" pitchFamily="34" charset="0"/>
                <a:ea typeface="Poppins Medium" pitchFamily="34" charset="-122"/>
                <a:cs typeface="Poppins Medium" pitchFamily="34" charset="-120"/>
              </a:rPr>
              <a:t>Situation</a:t>
            </a:r>
            <a:endParaRPr lang="en-US" sz="900" dirty="0"/>
          </a:p>
        </p:txBody>
      </p:sp>
      <p:sp>
        <p:nvSpPr>
          <p:cNvPr id="35" name="Text"/>
          <p:cNvSpPr txBox="1"/>
          <p:nvPr/>
        </p:nvSpPr>
        <p:spPr>
          <a:xfrm>
            <a:off x="711220" y="2850733"/>
            <a:ext cx="3457438" cy="866120"/>
          </a:xfrm>
          <a:prstGeom prst="rect">
            <a:avLst/>
          </a:prstGeom>
          <a:noFill/>
          <a:ln/>
        </p:spPr>
        <p:txBody>
          <a:bodyPr wrap="square" lIns="0" tIns="0" rIns="0" bIns="0" rtlCol="0" anchor="t"/>
          <a:lstStyle/>
          <a:p>
            <a:pPr algn="l" indent="0" marL="0">
              <a:lnSpc>
                <a:spcPts val="1705"/>
              </a:lnSpc>
              <a:buNone/>
            </a:pPr>
            <a:r>
              <a:rPr lang="en-US" sz="1100" dirty="0">
                <a:solidFill>
                  <a:srgbClr val="1F2937"/>
                </a:solidFill>
                <a:latin typeface="Poppins Light" pitchFamily="34" charset="0"/>
                <a:ea typeface="Poppins Light" pitchFamily="34" charset="-122"/>
                <a:cs typeface="Poppins Light" pitchFamily="34" charset="-120"/>
              </a:rPr>
              <a:t>A leading hospitality group in Singapore talks to its customers on WhatsApp. Leads from those conversations were entered into the CRM by hand.</a:t>
            </a:r>
            <a:endParaRPr lang="en-US" sz="1100" dirty="0"/>
          </a:p>
        </p:txBody>
      </p:sp>
      <p:sp>
        <p:nvSpPr>
          <p:cNvPr id="36" name="Text"/>
          <p:cNvSpPr txBox="1"/>
          <p:nvPr/>
        </p:nvSpPr>
        <p:spPr>
          <a:xfrm>
            <a:off x="939820" y="5690951"/>
            <a:ext cx="2767340" cy="236190"/>
          </a:xfrm>
          <a:prstGeom prst="rect">
            <a:avLst/>
          </a:prstGeom>
          <a:noFill/>
          <a:ln/>
        </p:spPr>
        <p:txBody>
          <a:bodyPr wrap="square" lIns="0" tIns="0" rIns="0" bIns="0" rtlCol="0" anchor="t"/>
          <a:lstStyle/>
          <a:p>
            <a:pPr algn="l" indent="0" marL="0">
              <a:lnSpc>
                <a:spcPts val="1860"/>
              </a:lnSpc>
              <a:buNone/>
            </a:pPr>
            <a:r>
              <a:rPr lang="en-US" sz="850" dirty="0">
                <a:solidFill>
                  <a:srgbClr val="1F2937"/>
                </a:solidFill>
                <a:latin typeface="Poppins Medium" pitchFamily="34" charset="0"/>
                <a:ea typeface="Poppins Medium" pitchFamily="34" charset="-122"/>
                <a:cs typeface="Poppins Medium" pitchFamily="34" charset="-120"/>
              </a:rPr>
              <a:t>AI CRM dashboard, features by user access level</a:t>
            </a:r>
            <a:endParaRPr lang="en-US" sz="850" dirty="0"/>
          </a:p>
        </p:txBody>
      </p:sp>
      <p:sp>
        <p:nvSpPr>
          <p:cNvPr id="37" name="Text"/>
          <p:cNvSpPr txBox="1"/>
          <p:nvPr/>
        </p:nvSpPr>
        <p:spPr>
          <a:xfrm>
            <a:off x="4294571" y="2585375"/>
            <a:ext cx="3457529" cy="177119"/>
          </a:xfrm>
          <a:prstGeom prst="rect">
            <a:avLst/>
          </a:prstGeom>
          <a:noFill/>
          <a:ln/>
        </p:spPr>
        <p:txBody>
          <a:bodyPr wrap="square" lIns="0" tIns="0" rIns="0" bIns="0" rtlCol="0" anchor="t"/>
          <a:lstStyle/>
          <a:p>
            <a:pPr algn="l" indent="0" marL="0">
              <a:lnSpc>
                <a:spcPts val="1395"/>
              </a:lnSpc>
              <a:buNone/>
            </a:pPr>
            <a:r>
              <a:rPr lang="en-US" sz="900" spc="36" kern="0" dirty="0">
                <a:solidFill>
                  <a:srgbClr val="6B6B6B"/>
                </a:solidFill>
                <a:latin typeface="Poppins Medium" pitchFamily="34" charset="0"/>
                <a:ea typeface="Poppins Medium" pitchFamily="34" charset="-122"/>
                <a:cs typeface="Poppins Medium" pitchFamily="34" charset="-120"/>
              </a:rPr>
              <a:t>Approach</a:t>
            </a:r>
            <a:endParaRPr lang="en-US" sz="900" dirty="0"/>
          </a:p>
        </p:txBody>
      </p:sp>
      <p:sp>
        <p:nvSpPr>
          <p:cNvPr id="38" name="Text"/>
          <p:cNvSpPr txBox="1"/>
          <p:nvPr/>
        </p:nvSpPr>
        <p:spPr>
          <a:xfrm>
            <a:off x="4294571" y="2850733"/>
            <a:ext cx="3457529" cy="216530"/>
          </a:xfrm>
          <a:prstGeom prst="rect">
            <a:avLst/>
          </a:prstGeom>
          <a:noFill/>
          <a:ln/>
        </p:spPr>
        <p:txBody>
          <a:bodyPr wrap="square" lIns="0" tIns="0" rIns="0" bIns="0" rtlCol="0" anchor="t"/>
          <a:lstStyle/>
          <a:p>
            <a:pPr algn="l" indent="0" marL="0">
              <a:lnSpc>
                <a:spcPts val="1705"/>
              </a:lnSpc>
              <a:buNone/>
            </a:pPr>
            <a:r>
              <a:rPr lang="en-US" sz="1100" dirty="0">
                <a:solidFill>
                  <a:srgbClr val="000000"/>
                </a:solidFill>
                <a:latin typeface="Poppins Medium" pitchFamily="34" charset="0"/>
                <a:ea typeface="Poppins Medium" pitchFamily="34" charset="-122"/>
                <a:cs typeface="Poppins Medium" pitchFamily="34" charset="-120"/>
              </a:rPr>
              <a:t>An AI CRM with WhatsApp sales agents.</a:t>
            </a:r>
            <a:endParaRPr lang="en-US" sz="1100" dirty="0"/>
          </a:p>
        </p:txBody>
      </p:sp>
      <p:sp>
        <p:nvSpPr>
          <p:cNvPr id="39" name="Text"/>
          <p:cNvSpPr txBox="1"/>
          <p:nvPr/>
        </p:nvSpPr>
        <p:spPr>
          <a:xfrm>
            <a:off x="4459712" y="3159618"/>
            <a:ext cx="3291749" cy="419070"/>
          </a:xfrm>
          <a:prstGeom prst="rect">
            <a:avLst/>
          </a:prstGeom>
          <a:noFill/>
          <a:ln/>
        </p:spPr>
        <p:txBody>
          <a:bodyPr wrap="square" lIns="0" tIns="0" rIns="0" bIns="0" rtlCol="0" anchor="t"/>
          <a:lstStyle/>
          <a:p>
            <a:pPr algn="l" indent="0" marL="0">
              <a:lnSpc>
                <a:spcPts val="1650"/>
              </a:lnSpc>
              <a:buNone/>
            </a:pPr>
            <a:r>
              <a:rPr lang="en-US" sz="1100" dirty="0">
                <a:solidFill>
                  <a:srgbClr val="1F2937"/>
                </a:solidFill>
                <a:latin typeface="Poppins Light" pitchFamily="34" charset="0"/>
                <a:ea typeface="Poppins Light" pitchFamily="34" charset="-122"/>
                <a:cs typeface="Poppins Light" pitchFamily="34" charset="-120"/>
              </a:rPr>
              <a:t>Agents handle customer conversations 24/7, in natural language</a:t>
            </a:r>
            <a:endParaRPr lang="en-US" sz="1100" dirty="0"/>
          </a:p>
        </p:txBody>
      </p:sp>
      <p:sp>
        <p:nvSpPr>
          <p:cNvPr id="40" name="Text"/>
          <p:cNvSpPr txBox="1"/>
          <p:nvPr/>
        </p:nvSpPr>
        <p:spPr>
          <a:xfrm>
            <a:off x="4459712" y="3654948"/>
            <a:ext cx="3291749" cy="419070"/>
          </a:xfrm>
          <a:prstGeom prst="rect">
            <a:avLst/>
          </a:prstGeom>
          <a:noFill/>
          <a:ln/>
        </p:spPr>
        <p:txBody>
          <a:bodyPr wrap="square" lIns="0" tIns="0" rIns="0" bIns="0" rtlCol="0" anchor="t"/>
          <a:lstStyle/>
          <a:p>
            <a:pPr algn="l" indent="0" marL="0">
              <a:lnSpc>
                <a:spcPts val="1650"/>
              </a:lnSpc>
              <a:buNone/>
            </a:pPr>
            <a:r>
              <a:rPr lang="en-US" sz="1100" dirty="0">
                <a:solidFill>
                  <a:srgbClr val="1F2937"/>
                </a:solidFill>
                <a:latin typeface="Poppins Light" pitchFamily="34" charset="0"/>
                <a:ea typeface="Poppins Light" pitchFamily="34" charset="-122"/>
                <a:cs typeface="Poppins Light" pitchFamily="34" charset="-120"/>
              </a:rPr>
              <a:t>Every lead syncs to the CRM, and hot leads reach sales in real time</a:t>
            </a:r>
            <a:endParaRPr lang="en-US" sz="1100" dirty="0"/>
          </a:p>
        </p:txBody>
      </p:sp>
      <p:sp>
        <p:nvSpPr>
          <p:cNvPr id="41" name="Text"/>
          <p:cNvSpPr txBox="1"/>
          <p:nvPr/>
        </p:nvSpPr>
        <p:spPr>
          <a:xfrm>
            <a:off x="4459712" y="4150187"/>
            <a:ext cx="3291749" cy="209580"/>
          </a:xfrm>
          <a:prstGeom prst="rect">
            <a:avLst/>
          </a:prstGeom>
          <a:noFill/>
          <a:ln/>
        </p:spPr>
        <p:txBody>
          <a:bodyPr wrap="square" lIns="0" tIns="0" rIns="0" bIns="0" rtlCol="0" anchor="t"/>
          <a:lstStyle/>
          <a:p>
            <a:pPr algn="l" indent="0" marL="0">
              <a:lnSpc>
                <a:spcPts val="1650"/>
              </a:lnSpc>
              <a:buNone/>
            </a:pPr>
            <a:r>
              <a:rPr lang="en-US" sz="1100" dirty="0">
                <a:solidFill>
                  <a:srgbClr val="1F2937"/>
                </a:solidFill>
                <a:latin typeface="Poppins Light" pitchFamily="34" charset="0"/>
                <a:ea typeface="Poppins Light" pitchFamily="34" charset="-122"/>
                <a:cs typeface="Poppins Light" pitchFamily="34" charset="-120"/>
              </a:rPr>
              <a:t>Intelligent conversation flows with guardrails</a:t>
            </a:r>
            <a:endParaRPr lang="en-US" sz="1100" dirty="0"/>
          </a:p>
        </p:txBody>
      </p:sp>
      <p:sp>
        <p:nvSpPr>
          <p:cNvPr id="42" name="Text"/>
          <p:cNvSpPr txBox="1"/>
          <p:nvPr/>
        </p:nvSpPr>
        <p:spPr>
          <a:xfrm>
            <a:off x="4459712" y="4435937"/>
            <a:ext cx="3291749" cy="419070"/>
          </a:xfrm>
          <a:prstGeom prst="rect">
            <a:avLst/>
          </a:prstGeom>
          <a:noFill/>
          <a:ln/>
        </p:spPr>
        <p:txBody>
          <a:bodyPr wrap="square" lIns="0" tIns="0" rIns="0" bIns="0" rtlCol="0" anchor="t"/>
          <a:lstStyle/>
          <a:p>
            <a:pPr algn="l" indent="0" marL="0">
              <a:lnSpc>
                <a:spcPts val="1650"/>
              </a:lnSpc>
              <a:buNone/>
            </a:pPr>
            <a:r>
              <a:rPr lang="en-US" sz="1100" dirty="0">
                <a:solidFill>
                  <a:srgbClr val="1F2937"/>
                </a:solidFill>
                <a:latin typeface="Poppins Light" pitchFamily="34" charset="0"/>
                <a:ea typeface="Poppins Light" pitchFamily="34" charset="-122"/>
                <a:cs typeface="Poppins Light" pitchFamily="34" charset="-120"/>
              </a:rPr>
              <a:t>A CRM dashboard by user access level, with one-click contracts, invoices and reports</a:t>
            </a:r>
            <a:endParaRPr lang="en-US" sz="1100" dirty="0"/>
          </a:p>
        </p:txBody>
      </p:sp>
      <p:sp>
        <p:nvSpPr>
          <p:cNvPr id="43" name="Text"/>
          <p:cNvSpPr txBox="1"/>
          <p:nvPr/>
        </p:nvSpPr>
        <p:spPr>
          <a:xfrm>
            <a:off x="4294571" y="5374935"/>
            <a:ext cx="3457529" cy="649590"/>
          </a:xfrm>
          <a:prstGeom prst="rect">
            <a:avLst/>
          </a:prstGeom>
          <a:noFill/>
          <a:ln/>
        </p:spPr>
        <p:txBody>
          <a:bodyPr wrap="square" lIns="0" tIns="0" rIns="0" bIns="0" rtlCol="0" anchor="t"/>
          <a:lstStyle/>
          <a:p>
            <a:pPr algn="l" indent="0" marL="0">
              <a:lnSpc>
                <a:spcPts val="1705"/>
              </a:lnSpc>
              <a:buNone/>
            </a:pPr>
            <a:r>
              <a:rPr lang="en-US" sz="1100" dirty="0">
                <a:solidFill>
                  <a:srgbClr val="000000"/>
                </a:solidFill>
                <a:latin typeface="Poppins Medium" pitchFamily="34" charset="0"/>
                <a:ea typeface="Poppins Medium" pitchFamily="34" charset="-122"/>
                <a:cs typeface="Poppins Medium" pitchFamily="34" charset="-120"/>
              </a:rPr>
              <a:t>How it runs.</a:t>
            </a:r>
            <a:pPr algn="l" indent="0" marL="0">
              <a:lnSpc>
                <a:spcPts val="1705"/>
              </a:lnSpc>
              <a:buNone/>
            </a:pPr>
            <a:r>
              <a:rPr lang="en-US" sz="1100" dirty="0">
                <a:solidFill>
                  <a:srgbClr val="1F2937"/>
                </a:solidFill>
                <a:latin typeface="Poppins Light" pitchFamily="34" charset="0"/>
                <a:ea typeface="Poppins Light" pitchFamily="34" charset="-122"/>
                <a:cs typeface="Poppins Light" pitchFamily="34" charset="-120"/>
              </a:rPr>
              <a:t> The agents run on Qwen inside WhatsApp, where the conversations already happen.</a:t>
            </a:r>
            <a:endParaRPr lang="en-US" sz="1100" dirty="0"/>
          </a:p>
        </p:txBody>
      </p:sp>
      <p:sp>
        <p:nvSpPr>
          <p:cNvPr id="44" name="Text"/>
          <p:cNvSpPr txBox="1"/>
          <p:nvPr/>
        </p:nvSpPr>
        <p:spPr>
          <a:xfrm>
            <a:off x="7878105" y="2585375"/>
            <a:ext cx="3629802" cy="177119"/>
          </a:xfrm>
          <a:prstGeom prst="rect">
            <a:avLst/>
          </a:prstGeom>
          <a:noFill/>
          <a:ln/>
        </p:spPr>
        <p:txBody>
          <a:bodyPr wrap="square" lIns="0" tIns="0" rIns="0" bIns="0" rtlCol="0" anchor="t"/>
          <a:lstStyle/>
          <a:p>
            <a:pPr algn="l" indent="0" marL="0">
              <a:lnSpc>
                <a:spcPts val="1395"/>
              </a:lnSpc>
              <a:buNone/>
            </a:pPr>
            <a:r>
              <a:rPr lang="en-US" sz="900" spc="36" kern="0" dirty="0">
                <a:solidFill>
                  <a:srgbClr val="044BD9"/>
                </a:solidFill>
                <a:latin typeface="Poppins Medium" pitchFamily="34" charset="0"/>
                <a:ea typeface="Poppins Medium" pitchFamily="34" charset="-122"/>
                <a:cs typeface="Poppins Medium" pitchFamily="34" charset="-120"/>
              </a:rPr>
              <a:t>Impact</a:t>
            </a:r>
            <a:endParaRPr lang="en-US" sz="900" dirty="0"/>
          </a:p>
        </p:txBody>
      </p:sp>
      <p:sp>
        <p:nvSpPr>
          <p:cNvPr id="45" name="Text"/>
          <p:cNvSpPr txBox="1"/>
          <p:nvPr/>
        </p:nvSpPr>
        <p:spPr>
          <a:xfrm>
            <a:off x="7878105" y="2851008"/>
            <a:ext cx="3629802" cy="609630"/>
          </a:xfrm>
          <a:prstGeom prst="rect">
            <a:avLst/>
          </a:prstGeom>
          <a:noFill/>
          <a:ln/>
        </p:spPr>
        <p:txBody>
          <a:bodyPr wrap="square" lIns="0" tIns="0" rIns="0" bIns="0" rtlCol="0" anchor="t"/>
          <a:lstStyle/>
          <a:p>
            <a:pPr algn="l" indent="0" marL="0">
              <a:lnSpc>
                <a:spcPts val="4800"/>
              </a:lnSpc>
              <a:buNone/>
            </a:pPr>
            <a:r>
              <a:rPr lang="en-US" sz="4800" spc="-96" kern="0" dirty="0">
                <a:solidFill>
                  <a:srgbClr val="044BD9"/>
                </a:solidFill>
                <a:latin typeface="Poppins Medium" pitchFamily="34" charset="0"/>
                <a:ea typeface="Poppins Medium" pitchFamily="34" charset="-122"/>
                <a:cs typeface="Poppins Medium" pitchFamily="34" charset="-120"/>
              </a:rPr>
              <a:t>80</a:t>
            </a:r>
            <a:pPr algn="l" indent="0" marL="0">
              <a:lnSpc>
                <a:spcPts val="4800"/>
              </a:lnSpc>
              <a:buNone/>
            </a:pPr>
            <a:r>
              <a:rPr lang="en-US" sz="2160" spc="-96" kern="0" dirty="0">
                <a:solidFill>
                  <a:srgbClr val="044BD9"/>
                </a:solidFill>
                <a:latin typeface="Poppins Medium" pitchFamily="34" charset="0"/>
                <a:ea typeface="Poppins Medium" pitchFamily="34" charset="-122"/>
                <a:cs typeface="Poppins Medium" pitchFamily="34" charset="-120"/>
              </a:rPr>
              <a:t>%</a:t>
            </a:r>
            <a:endParaRPr lang="en-US" sz="4800" dirty="0"/>
          </a:p>
        </p:txBody>
      </p:sp>
      <p:sp>
        <p:nvSpPr>
          <p:cNvPr id="46" name="Text"/>
          <p:cNvSpPr txBox="1"/>
          <p:nvPr/>
        </p:nvSpPr>
        <p:spPr>
          <a:xfrm>
            <a:off x="7878105" y="3511113"/>
            <a:ext cx="3629802" cy="216530"/>
          </a:xfrm>
          <a:prstGeom prst="rect">
            <a:avLst/>
          </a:prstGeom>
          <a:noFill/>
          <a:ln/>
        </p:spPr>
        <p:txBody>
          <a:bodyPr wrap="square" lIns="0" tIns="0" rIns="0" bIns="0" rtlCol="0" anchor="t"/>
          <a:lstStyle/>
          <a:p>
            <a:pPr algn="l" indent="0" marL="0">
              <a:lnSpc>
                <a:spcPts val="1705"/>
              </a:lnSpc>
              <a:buNone/>
            </a:pPr>
            <a:r>
              <a:rPr lang="en-US" sz="1100" dirty="0">
                <a:solidFill>
                  <a:srgbClr val="6B6B6B"/>
                </a:solidFill>
                <a:latin typeface="Poppins Light" pitchFamily="34" charset="0"/>
                <a:ea typeface="Poppins Light" pitchFamily="34" charset="-122"/>
                <a:cs typeface="Poppins Light" pitchFamily="34" charset="-120"/>
              </a:rPr>
              <a:t>Less manual data entry time</a:t>
            </a:r>
            <a:endParaRPr lang="en-US" sz="1100" dirty="0"/>
          </a:p>
        </p:txBody>
      </p:sp>
      <p:sp>
        <p:nvSpPr>
          <p:cNvPr id="47" name="Text"/>
          <p:cNvSpPr txBox="1"/>
          <p:nvPr/>
        </p:nvSpPr>
        <p:spPr>
          <a:xfrm>
            <a:off x="7878105" y="3937498"/>
            <a:ext cx="3629802" cy="609630"/>
          </a:xfrm>
          <a:prstGeom prst="rect">
            <a:avLst/>
          </a:prstGeom>
          <a:noFill/>
          <a:ln/>
        </p:spPr>
        <p:txBody>
          <a:bodyPr wrap="square" lIns="0" tIns="0" rIns="0" bIns="0" rtlCol="0" anchor="t"/>
          <a:lstStyle/>
          <a:p>
            <a:pPr algn="l" indent="0" marL="0">
              <a:lnSpc>
                <a:spcPts val="4800"/>
              </a:lnSpc>
              <a:buNone/>
            </a:pPr>
            <a:r>
              <a:rPr lang="en-US" sz="4800" spc="-96" kern="0" dirty="0">
                <a:solidFill>
                  <a:srgbClr val="044BD9"/>
                </a:solidFill>
                <a:latin typeface="Poppins Medium" pitchFamily="34" charset="0"/>
                <a:ea typeface="Poppins Medium" pitchFamily="34" charset="-122"/>
                <a:cs typeface="Poppins Medium" pitchFamily="34" charset="-120"/>
              </a:rPr>
              <a:t>24/7</a:t>
            </a:r>
            <a:endParaRPr lang="en-US" sz="4800" dirty="0"/>
          </a:p>
        </p:txBody>
      </p:sp>
      <p:sp>
        <p:nvSpPr>
          <p:cNvPr id="48" name="Text"/>
          <p:cNvSpPr txBox="1"/>
          <p:nvPr/>
        </p:nvSpPr>
        <p:spPr>
          <a:xfrm>
            <a:off x="7878105" y="4597603"/>
            <a:ext cx="3629802" cy="216530"/>
          </a:xfrm>
          <a:prstGeom prst="rect">
            <a:avLst/>
          </a:prstGeom>
          <a:noFill/>
          <a:ln/>
        </p:spPr>
        <p:txBody>
          <a:bodyPr wrap="square" lIns="0" tIns="0" rIns="0" bIns="0" rtlCol="0" anchor="t"/>
          <a:lstStyle/>
          <a:p>
            <a:pPr algn="l" indent="0" marL="0">
              <a:lnSpc>
                <a:spcPts val="1705"/>
              </a:lnSpc>
              <a:buNone/>
            </a:pPr>
            <a:r>
              <a:rPr lang="en-US" sz="1100" dirty="0">
                <a:solidFill>
                  <a:srgbClr val="6B6B6B"/>
                </a:solidFill>
                <a:latin typeface="Poppins Light" pitchFamily="34" charset="0"/>
                <a:ea typeface="Poppins Light" pitchFamily="34" charset="-122"/>
                <a:cs typeface="Poppins Light" pitchFamily="34" charset="-120"/>
              </a:rPr>
              <a:t>Customer conversations handled by AI agents</a:t>
            </a:r>
            <a:endParaRPr lang="en-US" sz="1100" dirty="0"/>
          </a:p>
        </p:txBody>
      </p:sp>
      <p:sp>
        <p:nvSpPr>
          <p:cNvPr id="49" name="Text"/>
          <p:cNvSpPr txBox="1"/>
          <p:nvPr/>
        </p:nvSpPr>
        <p:spPr>
          <a:xfrm>
            <a:off x="7878105" y="5374935"/>
            <a:ext cx="3629802" cy="433060"/>
          </a:xfrm>
          <a:prstGeom prst="rect">
            <a:avLst/>
          </a:prstGeom>
          <a:noFill/>
          <a:ln/>
        </p:spPr>
        <p:txBody>
          <a:bodyPr wrap="square" lIns="0" tIns="0" rIns="0" bIns="0" rtlCol="0" anchor="t"/>
          <a:lstStyle/>
          <a:p>
            <a:pPr algn="l" indent="0" marL="0">
              <a:lnSpc>
                <a:spcPts val="1705"/>
              </a:lnSpc>
              <a:buNone/>
            </a:pPr>
            <a:r>
              <a:rPr lang="en-US" sz="1100" dirty="0">
                <a:solidFill>
                  <a:srgbClr val="000000"/>
                </a:solidFill>
                <a:latin typeface="Poppins Medium" pitchFamily="34" charset="0"/>
                <a:ea typeface="Poppins Medium" pitchFamily="34" charset="-122"/>
                <a:cs typeface="Poppins Medium" pitchFamily="34" charset="-120"/>
              </a:rPr>
              <a:t>In use, 2026.</a:t>
            </a:r>
            <a:pPr algn="l" indent="0" marL="0">
              <a:lnSpc>
                <a:spcPts val="1705"/>
              </a:lnSpc>
              <a:buNone/>
            </a:pPr>
            <a:r>
              <a:rPr lang="en-US" sz="1100" dirty="0">
                <a:solidFill>
                  <a:srgbClr val="1F2937"/>
                </a:solidFill>
                <a:latin typeface="Poppins Light" pitchFamily="34" charset="0"/>
                <a:ea typeface="Poppins Light" pitchFamily="34" charset="-122"/>
                <a:cs typeface="Poppins Light" pitchFamily="34" charset="-120"/>
              </a:rPr>
              <a:t> Every lead reaches the CRM, and the sales team is alerted to hot leads in real time.</a:t>
            </a:r>
            <a:endParaRPr lang="en-US" sz="1100" dirty="0"/>
          </a:p>
        </p:txBody>
      </p:sp>
      <p:sp>
        <p:nvSpPr>
          <p:cNvPr id="50" name="Text"/>
          <p:cNvSpPr txBox="1"/>
          <p:nvPr/>
        </p:nvSpPr>
        <p:spPr>
          <a:xfrm>
            <a:off x="6287140" y="276240"/>
            <a:ext cx="708477"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Point of view</a:t>
            </a:r>
            <a:endParaRPr lang="en-US" sz="850" dirty="0"/>
          </a:p>
        </p:txBody>
      </p:sp>
      <p:sp>
        <p:nvSpPr>
          <p:cNvPr id="51" name="Text"/>
          <p:cNvSpPr txBox="1"/>
          <p:nvPr/>
        </p:nvSpPr>
        <p:spPr>
          <a:xfrm>
            <a:off x="7240494" y="276240"/>
            <a:ext cx="665958"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Who we are</a:t>
            </a:r>
            <a:endParaRPr lang="en-US" sz="850" dirty="0"/>
          </a:p>
        </p:txBody>
      </p:sp>
      <p:sp>
        <p:nvSpPr>
          <p:cNvPr id="52" name="Text"/>
          <p:cNvSpPr txBox="1"/>
          <p:nvPr/>
        </p:nvSpPr>
        <p:spPr>
          <a:xfrm>
            <a:off x="8151510" y="276240"/>
            <a:ext cx="671261"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What we do</a:t>
            </a:r>
            <a:endParaRPr lang="en-US" sz="850" dirty="0"/>
          </a:p>
        </p:txBody>
      </p:sp>
      <p:sp>
        <p:nvSpPr>
          <p:cNvPr id="53" name="Text"/>
          <p:cNvSpPr txBox="1"/>
          <p:nvPr/>
        </p:nvSpPr>
        <p:spPr>
          <a:xfrm>
            <a:off x="9067830" y="276240"/>
            <a:ext cx="1205728"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Sectors and products</a:t>
            </a:r>
            <a:endParaRPr lang="en-US" sz="850" dirty="0"/>
          </a:p>
        </p:txBody>
      </p:sp>
      <p:sp>
        <p:nvSpPr>
          <p:cNvPr id="54" name="Text"/>
          <p:cNvSpPr txBox="1"/>
          <p:nvPr/>
        </p:nvSpPr>
        <p:spPr>
          <a:xfrm>
            <a:off x="10516423" y="276240"/>
            <a:ext cx="298552"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044BD9"/>
                </a:solidFill>
                <a:latin typeface="Poppins Medium" pitchFamily="34" charset="0"/>
                <a:ea typeface="Poppins Medium" pitchFamily="34" charset="-122"/>
                <a:cs typeface="Poppins Medium" pitchFamily="34" charset="-120"/>
              </a:rPr>
              <a:t>Proof</a:t>
            </a:r>
            <a:endParaRPr lang="en-US" sz="850" dirty="0"/>
          </a:p>
        </p:txBody>
      </p:sp>
      <p:sp>
        <p:nvSpPr>
          <p:cNvPr id="55" name="Text"/>
          <p:cNvSpPr txBox="1"/>
          <p:nvPr/>
        </p:nvSpPr>
        <p:spPr>
          <a:xfrm>
            <a:off x="11061497" y="276240"/>
            <a:ext cx="433700"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Engage</a:t>
            </a:r>
            <a:endParaRPr lang="en-US" sz="850" dirty="0"/>
          </a:p>
        </p:txBody>
      </p:sp>
      <p:sp>
        <p:nvSpPr>
          <p:cNvPr id="56" name="Source"/>
          <p:cNvSpPr txBox="1"/>
          <p:nvPr/>
        </p:nvSpPr>
        <p:spPr>
          <a:xfrm>
            <a:off x="711220" y="6257971"/>
            <a:ext cx="8300740" cy="302301"/>
          </a:xfrm>
          <a:prstGeom prst="rect">
            <a:avLst/>
          </a:prstGeom>
          <a:noFill/>
          <a:ln/>
        </p:spPr>
        <p:txBody>
          <a:bodyPr wrap="square" lIns="0" tIns="0" rIns="0" bIns="0" rtlCol="0" anchor="t"/>
          <a:lstStyle/>
          <a:p>
            <a:pPr algn="l" indent="0" marL="0">
              <a:lnSpc>
                <a:spcPts val="1190"/>
              </a:lnSpc>
              <a:buNone/>
            </a:pPr>
            <a:r>
              <a:rPr lang="en-US" sz="850" dirty="0">
                <a:solidFill>
                  <a:srgbClr val="6B6B6B"/>
                </a:solidFill>
                <a:latin typeface="Poppins" pitchFamily="34" charset="0"/>
                <a:ea typeface="Poppins" pitchFamily="34" charset="-122"/>
                <a:cs typeface="Poppins" pitchFamily="34" charset="-120"/>
              </a:rPr>
              <a:t>Source: alphv.com/insights/whatsapp-ai-crm-singapore-hospitality (October 2026). Note: the client is not named on alphv.com; 80% is the reduction in manual data entry time reported on the case page.</a:t>
            </a:r>
            <a:endParaRPr lang="en-US" sz="850" dirty="0"/>
          </a:p>
        </p:txBody>
      </p:sp>
      <p:sp>
        <p:nvSpPr>
          <p:cNvPr id="57" name="Text"/>
          <p:cNvSpPr txBox="1"/>
          <p:nvPr/>
        </p:nvSpPr>
        <p:spPr>
          <a:xfrm>
            <a:off x="9349191" y="6409030"/>
            <a:ext cx="393741" cy="151150"/>
          </a:xfrm>
          <a:prstGeom prst="rect">
            <a:avLst/>
          </a:prstGeom>
          <a:noFill/>
          <a:ln/>
        </p:spPr>
        <p:txBody>
          <a:bodyPr wrap="none" lIns="0" tIns="0" rIns="0" bIns="0" rtlCol="0" anchor="t"/>
          <a:lstStyle/>
          <a:p>
            <a:pPr algn="l" indent="0" marL="0">
              <a:lnSpc>
                <a:spcPts val="1190"/>
              </a:lnSpc>
              <a:buNone/>
            </a:pPr>
            <a:r>
              <a:rPr lang="en-US" sz="850" spc="34" kern="0" dirty="0">
                <a:solidFill>
                  <a:srgbClr val="000000"/>
                </a:solidFill>
                <a:latin typeface="Poppins SemiBold" pitchFamily="34" charset="0"/>
                <a:ea typeface="Poppins SemiBold" pitchFamily="34" charset="-122"/>
                <a:cs typeface="Poppins SemiBold" pitchFamily="34" charset="-120"/>
              </a:rPr>
              <a:t>ALPHV</a:t>
            </a:r>
            <a:endParaRPr lang="en-US" sz="850" dirty="0"/>
          </a:p>
        </p:txBody>
      </p:sp>
      <p:sp>
        <p:nvSpPr>
          <p:cNvPr id="58" name="Text"/>
          <p:cNvSpPr txBox="1"/>
          <p:nvPr/>
        </p:nvSpPr>
        <p:spPr>
          <a:xfrm>
            <a:off x="9857141" y="6409030"/>
            <a:ext cx="1377178" cy="151150"/>
          </a:xfrm>
          <a:prstGeom prst="rect">
            <a:avLst/>
          </a:prstGeom>
          <a:noFill/>
          <a:ln/>
        </p:spPr>
        <p:txBody>
          <a:bodyPr wrap="none" lIns="0" tIns="0" rIns="0" bIns="0" rtlCol="0" anchor="t"/>
          <a:lstStyle/>
          <a:p>
            <a:pPr algn="l" indent="0" marL="0">
              <a:lnSpc>
                <a:spcPts val="1190"/>
              </a:lnSpc>
              <a:buNone/>
            </a:pPr>
            <a:r>
              <a:rPr lang="en-US" sz="850" dirty="0">
                <a:solidFill>
                  <a:srgbClr val="6B6B6B"/>
                </a:solidFill>
                <a:latin typeface="Poppins" pitchFamily="34" charset="0"/>
                <a:ea typeface="Poppins" pitchFamily="34" charset="-122"/>
                <a:cs typeface="Poppins" pitchFamily="34" charset="-120"/>
              </a:rPr>
              <a:t>Corporate overview 2026</a:t>
            </a:r>
            <a:endParaRPr lang="en-US" sz="850" dirty="0"/>
          </a:p>
        </p:txBody>
      </p:sp>
      <p:sp>
        <p:nvSpPr>
          <p:cNvPr id="59" name="Text"/>
          <p:cNvSpPr txBox="1"/>
          <p:nvPr/>
        </p:nvSpPr>
        <p:spPr>
          <a:xfrm>
            <a:off x="11348618" y="6409030"/>
            <a:ext cx="157551" cy="151150"/>
          </a:xfrm>
          <a:prstGeom prst="rect">
            <a:avLst/>
          </a:prstGeom>
          <a:noFill/>
          <a:ln/>
        </p:spPr>
        <p:txBody>
          <a:bodyPr wrap="none" lIns="0" tIns="0" rIns="0" bIns="0" rtlCol="0" anchor="t"/>
          <a:lstStyle/>
          <a:p>
            <a:pPr algn="l" indent="0" marL="0">
              <a:lnSpc>
                <a:spcPts val="1190"/>
              </a:lnSpc>
              <a:buNone/>
            </a:pPr>
            <a:r>
              <a:rPr lang="en-US" sz="850" dirty="0">
                <a:solidFill>
                  <a:srgbClr val="000000"/>
                </a:solidFill>
                <a:latin typeface="Poppins Medium" pitchFamily="34" charset="0"/>
                <a:ea typeface="Poppins Medium" pitchFamily="34" charset="-122"/>
                <a:cs typeface="Poppins Medium" pitchFamily="34" charset="-120"/>
              </a:rPr>
              <a:t>24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badge"/>
          <p:cNvSpPr/>
          <p:nvPr/>
        </p:nvSpPr>
        <p:spPr>
          <a:xfrm>
            <a:off x="714421" y="536570"/>
            <a:ext cx="589879" cy="254020"/>
          </a:xfrm>
          <a:prstGeom prst="roundRect">
            <a:avLst>
              <a:gd name="adj" fmla="val 50000"/>
            </a:avLst>
          </a:prstGeom>
          <a:ln w="6350">
            <a:solidFill>
              <a:srgbClr val="155DFC"/>
            </a:solidFill>
            <a:prstDash val="solid"/>
          </a:ln>
        </p:spPr>
      </p:sp>
      <p:sp>
        <p:nvSpPr>
          <p:cNvPr id="3" name="tag"/>
          <p:cNvSpPr/>
          <p:nvPr/>
        </p:nvSpPr>
        <p:spPr>
          <a:xfrm>
            <a:off x="714421" y="1937339"/>
            <a:ext cx="996239" cy="228600"/>
          </a:xfrm>
          <a:prstGeom prst="roundRect">
            <a:avLst>
              <a:gd name="adj" fmla="val 50000"/>
            </a:avLst>
          </a:prstGeom>
          <a:solidFill>
            <a:srgbClr val="FFFFFF"/>
          </a:solidFill>
          <a:ln w="6350">
            <a:solidFill>
              <a:srgbClr val="E3E6EC"/>
            </a:solidFill>
            <a:prstDash val="solid"/>
          </a:ln>
        </p:spPr>
      </p:sp>
      <p:sp>
        <p:nvSpPr>
          <p:cNvPr id="4" name="tag"/>
          <p:cNvSpPr/>
          <p:nvPr/>
        </p:nvSpPr>
        <p:spPr>
          <a:xfrm>
            <a:off x="1780520" y="1937339"/>
            <a:ext cx="1243035" cy="228600"/>
          </a:xfrm>
          <a:prstGeom prst="roundRect">
            <a:avLst>
              <a:gd name="adj" fmla="val 50000"/>
            </a:avLst>
          </a:prstGeom>
          <a:solidFill>
            <a:srgbClr val="FFFFFF"/>
          </a:solidFill>
          <a:ln w="6350">
            <a:solidFill>
              <a:srgbClr val="E3E6EC"/>
            </a:solidFill>
            <a:prstDash val="solid"/>
          </a:ln>
        </p:spPr>
      </p:sp>
      <p:sp>
        <p:nvSpPr>
          <p:cNvPr id="5" name="tag"/>
          <p:cNvSpPr/>
          <p:nvPr/>
        </p:nvSpPr>
        <p:spPr>
          <a:xfrm>
            <a:off x="3093324" y="1937339"/>
            <a:ext cx="472379" cy="228600"/>
          </a:xfrm>
          <a:prstGeom prst="roundRect">
            <a:avLst>
              <a:gd name="adj" fmla="val 50000"/>
            </a:avLst>
          </a:prstGeom>
          <a:solidFill>
            <a:srgbClr val="FFFFFF"/>
          </a:solidFill>
          <a:ln w="6350">
            <a:solidFill>
              <a:srgbClr val="E3E6EC"/>
            </a:solidFill>
            <a:prstDash val="solid"/>
          </a:ln>
        </p:spPr>
      </p:sp>
      <p:sp>
        <p:nvSpPr>
          <p:cNvPr id="6" name="tag"/>
          <p:cNvSpPr/>
          <p:nvPr/>
        </p:nvSpPr>
        <p:spPr>
          <a:xfrm>
            <a:off x="3632363" y="1934139"/>
            <a:ext cx="526694" cy="234909"/>
          </a:xfrm>
          <a:prstGeom prst="roundRect">
            <a:avLst>
              <a:gd name="adj" fmla="val 50020"/>
            </a:avLst>
          </a:prstGeom>
          <a:solidFill>
            <a:srgbClr val="044BD9">
              <a:alpha val="8000"/>
            </a:srgbClr>
          </a:solidFill>
          <a:ln/>
        </p:spPr>
      </p:sp>
      <p:sp>
        <p:nvSpPr>
          <p:cNvPr id="7" name="tag"/>
          <p:cNvSpPr/>
          <p:nvPr/>
        </p:nvSpPr>
        <p:spPr>
          <a:xfrm>
            <a:off x="4222516" y="1934139"/>
            <a:ext cx="829909" cy="234909"/>
          </a:xfrm>
          <a:prstGeom prst="roundRect">
            <a:avLst>
              <a:gd name="adj" fmla="val 50020"/>
            </a:avLst>
          </a:prstGeom>
          <a:solidFill>
            <a:srgbClr val="044BD9">
              <a:alpha val="8000"/>
            </a:srgbClr>
          </a:solidFill>
          <a:ln/>
        </p:spPr>
      </p:sp>
      <p:sp>
        <p:nvSpPr>
          <p:cNvPr id="8" name="tag"/>
          <p:cNvSpPr/>
          <p:nvPr/>
        </p:nvSpPr>
        <p:spPr>
          <a:xfrm>
            <a:off x="5115885" y="1934139"/>
            <a:ext cx="870234" cy="234909"/>
          </a:xfrm>
          <a:prstGeom prst="roundRect">
            <a:avLst>
              <a:gd name="adj" fmla="val 50020"/>
            </a:avLst>
          </a:prstGeom>
          <a:solidFill>
            <a:srgbClr val="044BD9">
              <a:alpha val="8000"/>
            </a:srgbClr>
          </a:solidFill>
          <a:ln/>
        </p:spPr>
      </p:sp>
      <p:sp>
        <p:nvSpPr>
          <p:cNvPr id="9" name="tag"/>
          <p:cNvSpPr/>
          <p:nvPr/>
        </p:nvSpPr>
        <p:spPr>
          <a:xfrm>
            <a:off x="6049670" y="1934139"/>
            <a:ext cx="827715" cy="234909"/>
          </a:xfrm>
          <a:prstGeom prst="roundRect">
            <a:avLst>
              <a:gd name="adj" fmla="val 50020"/>
            </a:avLst>
          </a:prstGeom>
          <a:solidFill>
            <a:srgbClr val="044BD9">
              <a:alpha val="8000"/>
            </a:srgbClr>
          </a:solidFill>
          <a:ln/>
        </p:spPr>
      </p:sp>
      <p:sp>
        <p:nvSpPr>
          <p:cNvPr id="10" name="Rule"/>
          <p:cNvSpPr/>
          <p:nvPr/>
        </p:nvSpPr>
        <p:spPr>
          <a:xfrm>
            <a:off x="711220" y="2454890"/>
            <a:ext cx="3431012" cy="0"/>
          </a:xfrm>
          <a:prstGeom prst="line">
            <a:avLst/>
          </a:prstGeom>
          <a:noFill/>
          <a:ln w="12700">
            <a:solidFill>
              <a:srgbClr val="000000"/>
            </a:solidFill>
            <a:prstDash val="solid"/>
          </a:ln>
        </p:spPr>
      </p:sp>
      <p:sp>
        <p:nvSpPr>
          <p:cNvPr id="11" name="card"/>
          <p:cNvSpPr/>
          <p:nvPr/>
        </p:nvSpPr>
        <p:spPr>
          <a:xfrm>
            <a:off x="714421" y="4118000"/>
            <a:ext cx="3424611" cy="1898660"/>
          </a:xfrm>
          <a:prstGeom prst="roundRect">
            <a:avLst>
              <a:gd name="adj" fmla="val 7860"/>
            </a:avLst>
          </a:prstGeom>
          <a:solidFill>
            <a:srgbClr val="FFFFFF"/>
          </a:solidFill>
          <a:ln w="6350">
            <a:solidFill>
              <a:srgbClr val="F0F0F0"/>
            </a:solidFill>
            <a:prstDash val="solid"/>
          </a:ln>
        </p:spPr>
      </p:sp>
      <p:pic>
        <p:nvPicPr>
          <p:cNvPr id="12" name="Picture" descr="Abraham Ooi &amp; Partners">    </p:cNvPr>
          <p:cNvPicPr>
            <a:picLocks noChangeAspect="1"/>
          </p:cNvPicPr>
          <p:nvPr/>
        </p:nvPicPr>
        <p:blipFill>
          <a:blip r:embed="rId1"/>
          <a:stretch>
            <a:fillRect/>
          </a:stretch>
        </p:blipFill>
        <p:spPr>
          <a:xfrm>
            <a:off x="895380" y="4298960"/>
            <a:ext cx="609630" cy="609630"/>
          </a:xfrm>
          <a:prstGeom prst="roundRect">
            <a:avLst>
              <a:gd name="adj" fmla="val 16667"/>
            </a:avLst>
          </a:prstGeom>
        </p:spPr>
      </p:pic>
      <p:sp>
        <p:nvSpPr>
          <p:cNvPr id="13" name="p"/>
          <p:cNvSpPr/>
          <p:nvPr/>
        </p:nvSpPr>
        <p:spPr>
          <a:xfrm>
            <a:off x="895380" y="5052609"/>
            <a:ext cx="3062691" cy="783001"/>
          </a:xfrm>
          <a:prstGeom prst="roundRect">
            <a:avLst>
              <a:gd name="adj" fmla="val 12974"/>
            </a:avLst>
          </a:prstGeom>
          <a:solidFill>
            <a:srgbClr val="044BD9">
              <a:alpha val="8000"/>
            </a:srgbClr>
          </a:solidFill>
          <a:ln/>
        </p:spPr>
      </p:sp>
      <p:sp>
        <p:nvSpPr>
          <p:cNvPr id="14" name="Rule"/>
          <p:cNvSpPr/>
          <p:nvPr/>
        </p:nvSpPr>
        <p:spPr>
          <a:xfrm>
            <a:off x="4294571" y="2454890"/>
            <a:ext cx="3431103" cy="0"/>
          </a:xfrm>
          <a:prstGeom prst="line">
            <a:avLst/>
          </a:prstGeom>
          <a:noFill/>
          <a:ln w="12700">
            <a:solidFill>
              <a:srgbClr val="000000"/>
            </a:solidFill>
            <a:prstDash val="solid"/>
          </a:ln>
        </p:spPr>
      </p:sp>
      <p:sp>
        <p:nvSpPr>
          <p:cNvPr id="15" name="li::before"/>
          <p:cNvSpPr/>
          <p:nvPr/>
        </p:nvSpPr>
        <p:spPr>
          <a:xfrm>
            <a:off x="4294571" y="3246211"/>
            <a:ext cx="57150" cy="57150"/>
          </a:xfrm>
          <a:prstGeom prst="rect">
            <a:avLst/>
          </a:prstGeom>
          <a:solidFill>
            <a:srgbClr val="044BD9"/>
          </a:solidFill>
          <a:ln/>
        </p:spPr>
      </p:sp>
      <p:sp>
        <p:nvSpPr>
          <p:cNvPr id="16" name="li::before"/>
          <p:cNvSpPr/>
          <p:nvPr/>
        </p:nvSpPr>
        <p:spPr>
          <a:xfrm>
            <a:off x="4294571" y="3741542"/>
            <a:ext cx="57150" cy="57150"/>
          </a:xfrm>
          <a:prstGeom prst="rect">
            <a:avLst/>
          </a:prstGeom>
          <a:solidFill>
            <a:srgbClr val="044BD9"/>
          </a:solidFill>
          <a:ln/>
        </p:spPr>
      </p:sp>
      <p:sp>
        <p:nvSpPr>
          <p:cNvPr id="17" name="li::before"/>
          <p:cNvSpPr/>
          <p:nvPr/>
        </p:nvSpPr>
        <p:spPr>
          <a:xfrm>
            <a:off x="4294571" y="4236872"/>
            <a:ext cx="57150" cy="57150"/>
          </a:xfrm>
          <a:prstGeom prst="rect">
            <a:avLst/>
          </a:prstGeom>
          <a:solidFill>
            <a:srgbClr val="044BD9"/>
          </a:solidFill>
          <a:ln/>
        </p:spPr>
      </p:sp>
      <p:sp>
        <p:nvSpPr>
          <p:cNvPr id="18" name="li::before"/>
          <p:cNvSpPr/>
          <p:nvPr/>
        </p:nvSpPr>
        <p:spPr>
          <a:xfrm>
            <a:off x="4294571" y="4732111"/>
            <a:ext cx="57150" cy="57150"/>
          </a:xfrm>
          <a:prstGeom prst="rect">
            <a:avLst/>
          </a:prstGeom>
          <a:solidFill>
            <a:srgbClr val="044BD9"/>
          </a:solidFill>
          <a:ln/>
        </p:spPr>
      </p:sp>
      <p:sp>
        <p:nvSpPr>
          <p:cNvPr id="19" name="Rule"/>
          <p:cNvSpPr/>
          <p:nvPr/>
        </p:nvSpPr>
        <p:spPr>
          <a:xfrm>
            <a:off x="4294571" y="5273711"/>
            <a:ext cx="3431103" cy="0"/>
          </a:xfrm>
          <a:prstGeom prst="line">
            <a:avLst/>
          </a:prstGeom>
          <a:noFill/>
          <a:ln w="6350">
            <a:solidFill>
              <a:srgbClr val="E3E6EC"/>
            </a:solidFill>
            <a:prstDash val="solid"/>
          </a:ln>
        </p:spPr>
      </p:sp>
      <p:sp>
        <p:nvSpPr>
          <p:cNvPr id="20" name="Rule"/>
          <p:cNvSpPr/>
          <p:nvPr/>
        </p:nvSpPr>
        <p:spPr>
          <a:xfrm>
            <a:off x="7878105" y="2454890"/>
            <a:ext cx="3602736" cy="0"/>
          </a:xfrm>
          <a:prstGeom prst="line">
            <a:avLst/>
          </a:prstGeom>
          <a:noFill/>
          <a:ln w="12700">
            <a:solidFill>
              <a:srgbClr val="044BD9"/>
            </a:solidFill>
            <a:prstDash val="solid"/>
          </a:ln>
        </p:spPr>
      </p:sp>
      <p:sp>
        <p:nvSpPr>
          <p:cNvPr id="21" name="Rule"/>
          <p:cNvSpPr/>
          <p:nvPr/>
        </p:nvSpPr>
        <p:spPr>
          <a:xfrm>
            <a:off x="7878105" y="4039728"/>
            <a:ext cx="3602736" cy="0"/>
          </a:xfrm>
          <a:prstGeom prst="line">
            <a:avLst/>
          </a:prstGeom>
          <a:noFill/>
          <a:ln w="6350">
            <a:solidFill>
              <a:srgbClr val="E3E6EC"/>
            </a:solidFill>
            <a:prstDash val="solid"/>
          </a:ln>
        </p:spPr>
      </p:sp>
      <p:sp>
        <p:nvSpPr>
          <p:cNvPr id="22" name="Rule"/>
          <p:cNvSpPr/>
          <p:nvPr/>
        </p:nvSpPr>
        <p:spPr>
          <a:xfrm>
            <a:off x="7878105" y="5273711"/>
            <a:ext cx="3602736" cy="0"/>
          </a:xfrm>
          <a:prstGeom prst="line">
            <a:avLst/>
          </a:prstGeom>
          <a:noFill/>
          <a:ln w="6350">
            <a:solidFill>
              <a:srgbClr val="E3E6EC"/>
            </a:solidFill>
            <a:prstDash val="solid"/>
          </a:ln>
        </p:spPr>
      </p:sp>
      <p:sp>
        <p:nvSpPr>
          <p:cNvPr id="23" name="span::before"/>
          <p:cNvSpPr/>
          <p:nvPr/>
        </p:nvSpPr>
        <p:spPr>
          <a:xfrm>
            <a:off x="6191860" y="311170"/>
            <a:ext cx="44440" cy="44440"/>
          </a:xfrm>
          <a:prstGeom prst="rect">
            <a:avLst/>
          </a:prstGeom>
          <a:solidFill>
            <a:srgbClr val="A0A6AF">
              <a:alpha val="55000"/>
            </a:srgbClr>
          </a:solidFill>
          <a:ln/>
        </p:spPr>
      </p:sp>
      <p:sp>
        <p:nvSpPr>
          <p:cNvPr id="24" name="span::before"/>
          <p:cNvSpPr/>
          <p:nvPr/>
        </p:nvSpPr>
        <p:spPr>
          <a:xfrm>
            <a:off x="7145213" y="311170"/>
            <a:ext cx="44440" cy="44440"/>
          </a:xfrm>
          <a:prstGeom prst="rect">
            <a:avLst/>
          </a:prstGeom>
          <a:solidFill>
            <a:srgbClr val="A0A6AF">
              <a:alpha val="55000"/>
            </a:srgbClr>
          </a:solidFill>
          <a:ln/>
        </p:spPr>
      </p:sp>
      <p:sp>
        <p:nvSpPr>
          <p:cNvPr id="25" name="span::before"/>
          <p:cNvSpPr/>
          <p:nvPr/>
        </p:nvSpPr>
        <p:spPr>
          <a:xfrm>
            <a:off x="8056230" y="311170"/>
            <a:ext cx="44440" cy="44440"/>
          </a:xfrm>
          <a:prstGeom prst="rect">
            <a:avLst/>
          </a:prstGeom>
          <a:solidFill>
            <a:srgbClr val="A0A6AF">
              <a:alpha val="55000"/>
            </a:srgbClr>
          </a:solidFill>
          <a:ln/>
        </p:spPr>
      </p:sp>
      <p:sp>
        <p:nvSpPr>
          <p:cNvPr id="26" name="span::before"/>
          <p:cNvSpPr/>
          <p:nvPr/>
        </p:nvSpPr>
        <p:spPr>
          <a:xfrm>
            <a:off x="8972550" y="311170"/>
            <a:ext cx="44440" cy="44440"/>
          </a:xfrm>
          <a:prstGeom prst="rect">
            <a:avLst/>
          </a:prstGeom>
          <a:solidFill>
            <a:srgbClr val="A0A6AF">
              <a:alpha val="55000"/>
            </a:srgbClr>
          </a:solidFill>
          <a:ln/>
        </p:spPr>
      </p:sp>
      <p:sp>
        <p:nvSpPr>
          <p:cNvPr id="27" name="on::before"/>
          <p:cNvSpPr/>
          <p:nvPr/>
        </p:nvSpPr>
        <p:spPr>
          <a:xfrm>
            <a:off x="10421142" y="311170"/>
            <a:ext cx="44440" cy="44440"/>
          </a:xfrm>
          <a:prstGeom prst="rect">
            <a:avLst/>
          </a:prstGeom>
          <a:solidFill>
            <a:srgbClr val="044BD9"/>
          </a:solidFill>
          <a:ln/>
        </p:spPr>
      </p:sp>
      <p:sp>
        <p:nvSpPr>
          <p:cNvPr id="28" name="span::before"/>
          <p:cNvSpPr/>
          <p:nvPr/>
        </p:nvSpPr>
        <p:spPr>
          <a:xfrm>
            <a:off x="10966216" y="311170"/>
            <a:ext cx="44440" cy="44440"/>
          </a:xfrm>
          <a:prstGeom prst="rect">
            <a:avLst/>
          </a:prstGeom>
          <a:solidFill>
            <a:srgbClr val="A0A6AF">
              <a:alpha val="55000"/>
            </a:srgbClr>
          </a:solidFill>
          <a:ln/>
        </p:spPr>
      </p:sp>
      <p:sp>
        <p:nvSpPr>
          <p:cNvPr id="29" name="Text"/>
          <p:cNvSpPr txBox="1"/>
          <p:nvPr/>
        </p:nvSpPr>
        <p:spPr>
          <a:xfrm>
            <a:off x="844540" y="603230"/>
            <a:ext cx="354879" cy="120609"/>
          </a:xfrm>
          <a:prstGeom prst="rect">
            <a:avLst/>
          </a:prstGeom>
          <a:noFill/>
          <a:ln/>
        </p:spPr>
        <p:txBody>
          <a:bodyPr wrap="none" lIns="0" tIns="0" rIns="0" bIns="0" rtlCol="0" anchor="t"/>
          <a:lstStyle/>
          <a:p>
            <a:pPr algn="l" indent="0" marL="0">
              <a:lnSpc>
                <a:spcPts val="950"/>
              </a:lnSpc>
              <a:buNone/>
            </a:pPr>
            <a:r>
              <a:rPr lang="en-US" sz="950" spc="10" kern="0" dirty="0">
                <a:solidFill>
                  <a:srgbClr val="155DFC"/>
                </a:solidFill>
                <a:latin typeface="Poppins Medium" pitchFamily="34" charset="0"/>
                <a:ea typeface="Poppins Medium" pitchFamily="34" charset="-122"/>
                <a:cs typeface="Poppins Medium" pitchFamily="34" charset="-120"/>
              </a:rPr>
              <a:t>Legal</a:t>
            </a:r>
            <a:endParaRPr lang="en-US" sz="950" dirty="0"/>
          </a:p>
        </p:txBody>
      </p:sp>
      <p:sp>
        <p:nvSpPr>
          <p:cNvPr id="30" name="Title"/>
          <p:cNvSpPr txBox="1"/>
          <p:nvPr/>
        </p:nvSpPr>
        <p:spPr>
          <a:xfrm>
            <a:off x="711220" y="927750"/>
            <a:ext cx="9398020" cy="861090"/>
          </a:xfrm>
          <a:prstGeom prst="rect">
            <a:avLst/>
          </a:prstGeom>
          <a:noFill/>
          <a:ln/>
        </p:spPr>
        <p:txBody>
          <a:bodyPr wrap="square" lIns="0" tIns="0" rIns="0" bIns="0" rtlCol="0" anchor="t"/>
          <a:lstStyle/>
          <a:p>
            <a:pPr algn="l" indent="0" marL="0">
              <a:lnSpc>
                <a:spcPts val="3390"/>
              </a:lnSpc>
              <a:buNone/>
            </a:pPr>
            <a:r>
              <a:rPr lang="en-US" sz="3000" spc="-45" kern="0" dirty="0">
                <a:solidFill>
                  <a:srgbClr val="000000"/>
                </a:solidFill>
                <a:latin typeface="Poppins Medium" pitchFamily="34" charset="0"/>
                <a:ea typeface="Poppins Medium" pitchFamily="34" charset="-122"/>
                <a:cs typeface="Poppins Medium" pitchFamily="34" charset="-120"/>
              </a:rPr>
              <a:t>A 36-year-old law firm now runs on</a:t>
            </a:r>
            <a:endParaRPr lang="en-US" sz="3000" dirty="0"/>
          </a:p>
          <a:p>
            <a:pPr algn="l" indent="0" marL="0">
              <a:lnSpc>
                <a:spcPts val="3390"/>
              </a:lnSpc>
              <a:buNone/>
            </a:pPr>
            <a:r>
              <a:rPr lang="en-US" sz="3000" spc="-45" kern="0" dirty="0">
                <a:solidFill>
                  <a:srgbClr val="044BD9"/>
                </a:solidFill>
                <a:latin typeface="Poppins Medium" pitchFamily="34" charset="0"/>
                <a:ea typeface="Poppins Medium" pitchFamily="34" charset="-122"/>
                <a:cs typeface="Poppins Medium" pitchFamily="34" charset="-120"/>
              </a:rPr>
              <a:t>sovereign AI</a:t>
            </a:r>
            <a:pPr algn="l" indent="0" marL="0">
              <a:lnSpc>
                <a:spcPts val="3390"/>
              </a:lnSpc>
              <a:buNone/>
            </a:pPr>
            <a:r>
              <a:rPr lang="en-US" sz="3000" spc="-45" kern="0" dirty="0">
                <a:solidFill>
                  <a:srgbClr val="000000"/>
                </a:solidFill>
                <a:latin typeface="Poppins Medium" pitchFamily="34" charset="0"/>
                <a:ea typeface="Poppins Medium" pitchFamily="34" charset="-122"/>
                <a:cs typeface="Poppins Medium" pitchFamily="34" charset="-120"/>
              </a:rPr>
              <a:t>, with 90+ portal automations</a:t>
            </a:r>
            <a:endParaRPr lang="en-US" sz="3000" dirty="0"/>
          </a:p>
        </p:txBody>
      </p:sp>
      <p:sp>
        <p:nvSpPr>
          <p:cNvPr id="31" name="Text"/>
          <p:cNvSpPr txBox="1"/>
          <p:nvPr/>
        </p:nvSpPr>
        <p:spPr>
          <a:xfrm>
            <a:off x="819120" y="1994489"/>
            <a:ext cx="812079" cy="107991"/>
          </a:xfrm>
          <a:prstGeom prst="rect">
            <a:avLst/>
          </a:prstGeom>
          <a:noFill/>
          <a:ln/>
        </p:spPr>
        <p:txBody>
          <a:bodyPr wrap="none" lIns="0" tIns="0" rIns="0" bIns="0" rtlCol="0" anchor="t"/>
          <a:lstStyle/>
          <a:p>
            <a:pPr algn="l" indent="0" marL="0">
              <a:lnSpc>
                <a:spcPts val="850"/>
              </a:lnSpc>
              <a:buNone/>
            </a:pPr>
            <a:r>
              <a:rPr lang="en-US" sz="850" dirty="0">
                <a:solidFill>
                  <a:srgbClr val="1F2937"/>
                </a:solidFill>
                <a:latin typeface="Poppins Medium" pitchFamily="34" charset="0"/>
                <a:ea typeface="Poppins Medium" pitchFamily="34" charset="-122"/>
                <a:cs typeface="Poppins Medium" pitchFamily="34" charset="-120"/>
              </a:rPr>
              <a:t>AI engineering</a:t>
            </a:r>
            <a:endParaRPr lang="en-US" sz="850" dirty="0"/>
          </a:p>
        </p:txBody>
      </p:sp>
      <p:sp>
        <p:nvSpPr>
          <p:cNvPr id="32" name="Text"/>
          <p:cNvSpPr txBox="1"/>
          <p:nvPr/>
        </p:nvSpPr>
        <p:spPr>
          <a:xfrm>
            <a:off x="1885218" y="1994489"/>
            <a:ext cx="1058875" cy="107991"/>
          </a:xfrm>
          <a:prstGeom prst="rect">
            <a:avLst/>
          </a:prstGeom>
          <a:noFill/>
          <a:ln/>
        </p:spPr>
        <p:txBody>
          <a:bodyPr wrap="none" lIns="0" tIns="0" rIns="0" bIns="0" rtlCol="0" anchor="t"/>
          <a:lstStyle/>
          <a:p>
            <a:pPr algn="l" indent="0" marL="0">
              <a:lnSpc>
                <a:spcPts val="850"/>
              </a:lnSpc>
              <a:buNone/>
            </a:pPr>
            <a:r>
              <a:rPr lang="en-US" sz="850" dirty="0">
                <a:solidFill>
                  <a:srgbClr val="1F2937"/>
                </a:solidFill>
                <a:latin typeface="Poppins Medium" pitchFamily="34" charset="0"/>
                <a:ea typeface="Poppins Medium" pitchFamily="34" charset="-122"/>
                <a:cs typeface="Poppins Medium" pitchFamily="34" charset="-120"/>
              </a:rPr>
              <a:t>System integration</a:t>
            </a:r>
            <a:endParaRPr lang="en-US" sz="850" dirty="0"/>
          </a:p>
        </p:txBody>
      </p:sp>
      <p:sp>
        <p:nvSpPr>
          <p:cNvPr id="33" name="Text"/>
          <p:cNvSpPr txBox="1"/>
          <p:nvPr/>
        </p:nvSpPr>
        <p:spPr>
          <a:xfrm>
            <a:off x="3198114" y="1994489"/>
            <a:ext cx="288219" cy="107991"/>
          </a:xfrm>
          <a:prstGeom prst="rect">
            <a:avLst/>
          </a:prstGeom>
          <a:noFill/>
          <a:ln/>
        </p:spPr>
        <p:txBody>
          <a:bodyPr wrap="none" lIns="0" tIns="0" rIns="0" bIns="0" rtlCol="0" anchor="t"/>
          <a:lstStyle/>
          <a:p>
            <a:pPr algn="l" indent="0" marL="0">
              <a:lnSpc>
                <a:spcPts val="850"/>
              </a:lnSpc>
              <a:buNone/>
            </a:pPr>
            <a:r>
              <a:rPr lang="en-US" sz="850" dirty="0">
                <a:solidFill>
                  <a:srgbClr val="1F2937"/>
                </a:solidFill>
                <a:latin typeface="Poppins Medium" pitchFamily="34" charset="0"/>
                <a:ea typeface="Poppins Medium" pitchFamily="34" charset="-122"/>
                <a:cs typeface="Poppins Medium" pitchFamily="34" charset="-120"/>
              </a:rPr>
              <a:t>2025</a:t>
            </a:r>
            <a:endParaRPr lang="en-US" sz="850" dirty="0"/>
          </a:p>
        </p:txBody>
      </p:sp>
      <p:sp>
        <p:nvSpPr>
          <p:cNvPr id="34" name="Text"/>
          <p:cNvSpPr txBox="1"/>
          <p:nvPr/>
        </p:nvSpPr>
        <p:spPr>
          <a:xfrm>
            <a:off x="3740353" y="1994489"/>
            <a:ext cx="336133" cy="107991"/>
          </a:xfrm>
          <a:prstGeom prst="rect">
            <a:avLst/>
          </a:prstGeom>
          <a:noFill/>
          <a:ln/>
        </p:spPr>
        <p:txBody>
          <a:bodyPr wrap="none" lIns="0" tIns="0" rIns="0" bIns="0" rtlCol="0" anchor="t"/>
          <a:lstStyle/>
          <a:p>
            <a:pPr algn="l" indent="0" marL="0">
              <a:lnSpc>
                <a:spcPts val="850"/>
              </a:lnSpc>
              <a:buNone/>
            </a:pPr>
            <a:r>
              <a:rPr lang="en-US" sz="850" dirty="0">
                <a:solidFill>
                  <a:srgbClr val="044BD9"/>
                </a:solidFill>
                <a:latin typeface="Poppins Medium" pitchFamily="34" charset="0"/>
                <a:ea typeface="Poppins Medium" pitchFamily="34" charset="-122"/>
                <a:cs typeface="Poppins Medium" pitchFamily="34" charset="-120"/>
              </a:rPr>
              <a:t>Qwen</a:t>
            </a:r>
            <a:endParaRPr lang="en-US" sz="850" dirty="0"/>
          </a:p>
        </p:txBody>
      </p:sp>
      <p:sp>
        <p:nvSpPr>
          <p:cNvPr id="35" name="Text"/>
          <p:cNvSpPr txBox="1"/>
          <p:nvPr/>
        </p:nvSpPr>
        <p:spPr>
          <a:xfrm>
            <a:off x="4330507" y="1994489"/>
            <a:ext cx="639348" cy="107991"/>
          </a:xfrm>
          <a:prstGeom prst="rect">
            <a:avLst/>
          </a:prstGeom>
          <a:noFill/>
          <a:ln/>
        </p:spPr>
        <p:txBody>
          <a:bodyPr wrap="none" lIns="0" tIns="0" rIns="0" bIns="0" rtlCol="0" anchor="t"/>
          <a:lstStyle/>
          <a:p>
            <a:pPr algn="l" indent="0" marL="0">
              <a:lnSpc>
                <a:spcPts val="850"/>
              </a:lnSpc>
              <a:buNone/>
            </a:pPr>
            <a:r>
              <a:rPr lang="en-US" sz="850" dirty="0">
                <a:solidFill>
                  <a:srgbClr val="044BD9"/>
                </a:solidFill>
                <a:latin typeface="Poppins Medium" pitchFamily="34" charset="0"/>
                <a:ea typeface="Poppins Medium" pitchFamily="34" charset="-122"/>
                <a:cs typeface="Poppins Medium" pitchFamily="34" charset="-120"/>
              </a:rPr>
              <a:t>GenAI-RAG</a:t>
            </a:r>
            <a:endParaRPr lang="en-US" sz="850" dirty="0"/>
          </a:p>
        </p:txBody>
      </p:sp>
      <p:sp>
        <p:nvSpPr>
          <p:cNvPr id="36" name="Text"/>
          <p:cNvSpPr txBox="1"/>
          <p:nvPr/>
        </p:nvSpPr>
        <p:spPr>
          <a:xfrm>
            <a:off x="5223876" y="1994489"/>
            <a:ext cx="679765" cy="107991"/>
          </a:xfrm>
          <a:prstGeom prst="rect">
            <a:avLst/>
          </a:prstGeom>
          <a:noFill/>
          <a:ln/>
        </p:spPr>
        <p:txBody>
          <a:bodyPr wrap="none" lIns="0" tIns="0" rIns="0" bIns="0" rtlCol="0" anchor="t"/>
          <a:lstStyle/>
          <a:p>
            <a:pPr algn="l" indent="0" marL="0">
              <a:lnSpc>
                <a:spcPts val="850"/>
              </a:lnSpc>
              <a:buNone/>
            </a:pPr>
            <a:r>
              <a:rPr lang="en-US" sz="850" dirty="0">
                <a:solidFill>
                  <a:srgbClr val="044BD9"/>
                </a:solidFill>
                <a:latin typeface="Poppins Medium" pitchFamily="34" charset="0"/>
                <a:ea typeface="Poppins Medium" pitchFamily="34" charset="-122"/>
                <a:cs typeface="Poppins Medium" pitchFamily="34" charset="-120"/>
              </a:rPr>
              <a:t>Agentic RPA</a:t>
            </a:r>
            <a:endParaRPr lang="en-US" sz="850" dirty="0"/>
          </a:p>
        </p:txBody>
      </p:sp>
      <p:sp>
        <p:nvSpPr>
          <p:cNvPr id="37" name="Text"/>
          <p:cNvSpPr txBox="1"/>
          <p:nvPr/>
        </p:nvSpPr>
        <p:spPr>
          <a:xfrm>
            <a:off x="6157570" y="1994489"/>
            <a:ext cx="637154" cy="107991"/>
          </a:xfrm>
          <a:prstGeom prst="rect">
            <a:avLst/>
          </a:prstGeom>
          <a:noFill/>
          <a:ln/>
        </p:spPr>
        <p:txBody>
          <a:bodyPr wrap="none" lIns="0" tIns="0" rIns="0" bIns="0" rtlCol="0" anchor="t"/>
          <a:lstStyle/>
          <a:p>
            <a:pPr algn="l" indent="0" marL="0">
              <a:lnSpc>
                <a:spcPts val="850"/>
              </a:lnSpc>
              <a:buNone/>
            </a:pPr>
            <a:r>
              <a:rPr lang="en-US" sz="850" dirty="0">
                <a:solidFill>
                  <a:srgbClr val="044BD9"/>
                </a:solidFill>
                <a:latin typeface="Poppins Medium" pitchFamily="34" charset="0"/>
                <a:ea typeface="Poppins Medium" pitchFamily="34" charset="-122"/>
                <a:cs typeface="Poppins Medium" pitchFamily="34" charset="-120"/>
              </a:rPr>
              <a:t>NVIDIA GPU</a:t>
            </a:r>
            <a:endParaRPr lang="en-US" sz="850" dirty="0"/>
          </a:p>
        </p:txBody>
      </p:sp>
      <p:sp>
        <p:nvSpPr>
          <p:cNvPr id="38" name="Text"/>
          <p:cNvSpPr txBox="1"/>
          <p:nvPr/>
        </p:nvSpPr>
        <p:spPr>
          <a:xfrm>
            <a:off x="711220" y="2585375"/>
            <a:ext cx="3457438" cy="177119"/>
          </a:xfrm>
          <a:prstGeom prst="rect">
            <a:avLst/>
          </a:prstGeom>
          <a:noFill/>
          <a:ln/>
        </p:spPr>
        <p:txBody>
          <a:bodyPr wrap="square" lIns="0" tIns="0" rIns="0" bIns="0" rtlCol="0" anchor="t"/>
          <a:lstStyle/>
          <a:p>
            <a:pPr algn="l" indent="0" marL="0">
              <a:lnSpc>
                <a:spcPts val="1395"/>
              </a:lnSpc>
              <a:buNone/>
            </a:pPr>
            <a:r>
              <a:rPr lang="en-US" sz="900" spc="36" kern="0" dirty="0">
                <a:solidFill>
                  <a:srgbClr val="6B6B6B"/>
                </a:solidFill>
                <a:latin typeface="Poppins Medium" pitchFamily="34" charset="0"/>
                <a:ea typeface="Poppins Medium" pitchFamily="34" charset="-122"/>
                <a:cs typeface="Poppins Medium" pitchFamily="34" charset="-120"/>
              </a:rPr>
              <a:t>Situation</a:t>
            </a:r>
            <a:endParaRPr lang="en-US" sz="900" dirty="0"/>
          </a:p>
        </p:txBody>
      </p:sp>
      <p:sp>
        <p:nvSpPr>
          <p:cNvPr id="39" name="Text"/>
          <p:cNvSpPr txBox="1"/>
          <p:nvPr/>
        </p:nvSpPr>
        <p:spPr>
          <a:xfrm>
            <a:off x="711220" y="2850733"/>
            <a:ext cx="3457438" cy="1082650"/>
          </a:xfrm>
          <a:prstGeom prst="rect">
            <a:avLst/>
          </a:prstGeom>
          <a:noFill/>
          <a:ln/>
        </p:spPr>
        <p:txBody>
          <a:bodyPr wrap="square" lIns="0" tIns="0" rIns="0" bIns="0" rtlCol="0" anchor="t"/>
          <a:lstStyle/>
          <a:p>
            <a:pPr algn="l" indent="0" marL="0">
              <a:lnSpc>
                <a:spcPts val="1705"/>
              </a:lnSpc>
              <a:buNone/>
            </a:pPr>
            <a:r>
              <a:rPr lang="en-US" sz="1100" dirty="0">
                <a:solidFill>
                  <a:srgbClr val="1F2937"/>
                </a:solidFill>
                <a:latin typeface="Poppins Light" pitchFamily="34" charset="0"/>
                <a:ea typeface="Poppins Light" pitchFamily="34" charset="-122"/>
                <a:cs typeface="Poppins Light" pitchFamily="34" charset="-120"/>
              </a:rPr>
              <a:t>Case management, back office and accounting ran on a legacy system, and staff worked across bank, government, SSM and CTOS portals. The firm needed AI for document work, without client data leaving the firm.</a:t>
            </a:r>
            <a:endParaRPr lang="en-US" sz="1100" dirty="0"/>
          </a:p>
        </p:txBody>
      </p:sp>
      <p:sp>
        <p:nvSpPr>
          <p:cNvPr id="40" name="Text"/>
          <p:cNvSpPr txBox="1"/>
          <p:nvPr/>
        </p:nvSpPr>
        <p:spPr>
          <a:xfrm>
            <a:off x="1644640" y="4317431"/>
            <a:ext cx="2335378" cy="203180"/>
          </a:xfrm>
          <a:prstGeom prst="rect">
            <a:avLst/>
          </a:prstGeom>
          <a:noFill/>
          <a:ln/>
        </p:spPr>
        <p:txBody>
          <a:bodyPr wrap="square" lIns="0" tIns="0" rIns="0" bIns="0" rtlCol="0" anchor="t"/>
          <a:lstStyle/>
          <a:p>
            <a:pPr algn="l" indent="0" marL="0">
              <a:lnSpc>
                <a:spcPts val="1600"/>
              </a:lnSpc>
              <a:buNone/>
            </a:pPr>
            <a:r>
              <a:rPr lang="en-US" sz="1250" dirty="0">
                <a:solidFill>
                  <a:srgbClr val="000000"/>
                </a:solidFill>
                <a:latin typeface="Poppins Medium" pitchFamily="34" charset="0"/>
                <a:ea typeface="Poppins Medium" pitchFamily="34" charset="-122"/>
                <a:cs typeface="Poppins Medium" pitchFamily="34" charset="-120"/>
              </a:rPr>
              <a:t>Abraham Ooi &amp; Partners</a:t>
            </a:r>
            <a:endParaRPr lang="en-US" sz="1250" dirty="0"/>
          </a:p>
        </p:txBody>
      </p:sp>
      <p:sp>
        <p:nvSpPr>
          <p:cNvPr id="41" name="Text"/>
          <p:cNvSpPr txBox="1"/>
          <p:nvPr/>
        </p:nvSpPr>
        <p:spPr>
          <a:xfrm>
            <a:off x="1644640" y="4544111"/>
            <a:ext cx="2335378" cy="337779"/>
          </a:xfrm>
          <a:prstGeom prst="rect">
            <a:avLst/>
          </a:prstGeom>
          <a:noFill/>
          <a:ln/>
        </p:spPr>
        <p:txBody>
          <a:bodyPr wrap="square" lIns="0" tIns="0" rIns="0" bIns="0" rtlCol="0" anchor="t"/>
          <a:lstStyle/>
          <a:p>
            <a:pPr algn="l" indent="0" marL="0">
              <a:lnSpc>
                <a:spcPts val="1330"/>
              </a:lnSpc>
              <a:buNone/>
            </a:pPr>
            <a:r>
              <a:rPr lang="en-US" sz="950" dirty="0">
                <a:solidFill>
                  <a:srgbClr val="6B6B6B"/>
                </a:solidFill>
                <a:latin typeface="Poppins Light" pitchFamily="34" charset="0"/>
                <a:ea typeface="Poppins Light" pitchFamily="34" charset="-122"/>
                <a:cs typeface="Poppins Light" pitchFamily="34" charset="-120"/>
              </a:rPr>
              <a:t>ALPHV Lawtech Solutions, delivered 2025</a:t>
            </a:r>
            <a:endParaRPr lang="en-US" sz="950" dirty="0"/>
          </a:p>
        </p:txBody>
      </p:sp>
      <p:sp>
        <p:nvSpPr>
          <p:cNvPr id="42" name="Text"/>
          <p:cNvSpPr txBox="1"/>
          <p:nvPr/>
        </p:nvSpPr>
        <p:spPr>
          <a:xfrm>
            <a:off x="1022391" y="5149626"/>
            <a:ext cx="2832628" cy="580095"/>
          </a:xfrm>
          <a:prstGeom prst="rect">
            <a:avLst/>
          </a:prstGeom>
          <a:noFill/>
          <a:ln/>
        </p:spPr>
        <p:txBody>
          <a:bodyPr wrap="square" lIns="0" tIns="0" rIns="0" bIns="0" rtlCol="0" anchor="t"/>
          <a:lstStyle/>
          <a:p>
            <a:pPr algn="l" indent="0" marL="0">
              <a:lnSpc>
                <a:spcPts val="1522"/>
              </a:lnSpc>
              <a:buNone/>
            </a:pPr>
            <a:r>
              <a:rPr lang="en-US" sz="1050" dirty="0">
                <a:solidFill>
                  <a:srgbClr val="000000"/>
                </a:solidFill>
                <a:latin typeface="Poppins Light" pitchFamily="34" charset="0"/>
                <a:ea typeface="Poppins Light" pitchFamily="34" charset="-122"/>
                <a:cs typeface="Poppins Light" pitchFamily="34" charset="-120"/>
              </a:rPr>
              <a:t>The models run on a locally hosted NVIDIA GPU workstation, so client data stays inside the firm.</a:t>
            </a:r>
            <a:endParaRPr lang="en-US" sz="1050" dirty="0"/>
          </a:p>
        </p:txBody>
      </p:sp>
      <p:sp>
        <p:nvSpPr>
          <p:cNvPr id="43" name="Text"/>
          <p:cNvSpPr txBox="1"/>
          <p:nvPr/>
        </p:nvSpPr>
        <p:spPr>
          <a:xfrm>
            <a:off x="4294571" y="2585375"/>
            <a:ext cx="3457529" cy="177119"/>
          </a:xfrm>
          <a:prstGeom prst="rect">
            <a:avLst/>
          </a:prstGeom>
          <a:noFill/>
          <a:ln/>
        </p:spPr>
        <p:txBody>
          <a:bodyPr wrap="square" lIns="0" tIns="0" rIns="0" bIns="0" rtlCol="0" anchor="t"/>
          <a:lstStyle/>
          <a:p>
            <a:pPr algn="l" indent="0" marL="0">
              <a:lnSpc>
                <a:spcPts val="1395"/>
              </a:lnSpc>
              <a:buNone/>
            </a:pPr>
            <a:r>
              <a:rPr lang="en-US" sz="900" spc="36" kern="0" dirty="0">
                <a:solidFill>
                  <a:srgbClr val="6B6B6B"/>
                </a:solidFill>
                <a:latin typeface="Poppins Medium" pitchFamily="34" charset="0"/>
                <a:ea typeface="Poppins Medium" pitchFamily="34" charset="-122"/>
                <a:cs typeface="Poppins Medium" pitchFamily="34" charset="-120"/>
              </a:rPr>
              <a:t>Approach</a:t>
            </a:r>
            <a:endParaRPr lang="en-US" sz="900" dirty="0"/>
          </a:p>
        </p:txBody>
      </p:sp>
      <p:sp>
        <p:nvSpPr>
          <p:cNvPr id="44" name="Text"/>
          <p:cNvSpPr txBox="1"/>
          <p:nvPr/>
        </p:nvSpPr>
        <p:spPr>
          <a:xfrm>
            <a:off x="4294571" y="2850733"/>
            <a:ext cx="3457529" cy="216530"/>
          </a:xfrm>
          <a:prstGeom prst="rect">
            <a:avLst/>
          </a:prstGeom>
          <a:noFill/>
          <a:ln/>
        </p:spPr>
        <p:txBody>
          <a:bodyPr wrap="square" lIns="0" tIns="0" rIns="0" bIns="0" rtlCol="0" anchor="t"/>
          <a:lstStyle/>
          <a:p>
            <a:pPr algn="l" indent="0" marL="0">
              <a:lnSpc>
                <a:spcPts val="1705"/>
              </a:lnSpc>
              <a:buNone/>
            </a:pPr>
            <a:r>
              <a:rPr lang="en-US" sz="1100" dirty="0">
                <a:solidFill>
                  <a:srgbClr val="000000"/>
                </a:solidFill>
                <a:latin typeface="Poppins Medium" pitchFamily="34" charset="0"/>
                <a:ea typeface="Poppins Medium" pitchFamily="34" charset="-122"/>
                <a:cs typeface="Poppins Medium" pitchFamily="34" charset="-120"/>
              </a:rPr>
              <a:t>One platform replaced the legacy system.</a:t>
            </a:r>
            <a:endParaRPr lang="en-US" sz="1100" dirty="0"/>
          </a:p>
        </p:txBody>
      </p:sp>
      <p:sp>
        <p:nvSpPr>
          <p:cNvPr id="45" name="Text"/>
          <p:cNvSpPr txBox="1"/>
          <p:nvPr/>
        </p:nvSpPr>
        <p:spPr>
          <a:xfrm>
            <a:off x="4459712" y="3159618"/>
            <a:ext cx="3291749" cy="419070"/>
          </a:xfrm>
          <a:prstGeom prst="rect">
            <a:avLst/>
          </a:prstGeom>
          <a:noFill/>
          <a:ln/>
        </p:spPr>
        <p:txBody>
          <a:bodyPr wrap="square" lIns="0" tIns="0" rIns="0" bIns="0" rtlCol="0" anchor="t"/>
          <a:lstStyle/>
          <a:p>
            <a:pPr algn="l" indent="0" marL="0">
              <a:lnSpc>
                <a:spcPts val="1650"/>
              </a:lnSpc>
              <a:buNone/>
            </a:pPr>
            <a:r>
              <a:rPr lang="en-US" sz="1100" dirty="0">
                <a:solidFill>
                  <a:srgbClr val="1F2937"/>
                </a:solidFill>
                <a:latin typeface="Poppins Light" pitchFamily="34" charset="0"/>
                <a:ea typeface="Poppins Light" pitchFamily="34" charset="-122"/>
                <a:cs typeface="Poppins Light" pitchFamily="34" charset="-120"/>
              </a:rPr>
              <a:t>Matters, tasks, teams and a client portal for lawyers, clerks and secretaries</a:t>
            </a:r>
            <a:endParaRPr lang="en-US" sz="1100" dirty="0"/>
          </a:p>
        </p:txBody>
      </p:sp>
      <p:sp>
        <p:nvSpPr>
          <p:cNvPr id="46" name="Text"/>
          <p:cNvSpPr txBox="1"/>
          <p:nvPr/>
        </p:nvSpPr>
        <p:spPr>
          <a:xfrm>
            <a:off x="4459712" y="3654948"/>
            <a:ext cx="3291749" cy="419070"/>
          </a:xfrm>
          <a:prstGeom prst="rect">
            <a:avLst/>
          </a:prstGeom>
          <a:noFill/>
          <a:ln/>
        </p:spPr>
        <p:txBody>
          <a:bodyPr wrap="square" lIns="0" tIns="0" rIns="0" bIns="0" rtlCol="0" anchor="t"/>
          <a:lstStyle/>
          <a:p>
            <a:pPr algn="l" indent="0" marL="0">
              <a:lnSpc>
                <a:spcPts val="1650"/>
              </a:lnSpc>
              <a:buNone/>
            </a:pPr>
            <a:r>
              <a:rPr lang="en-US" sz="1100" dirty="0">
                <a:solidFill>
                  <a:srgbClr val="1F2937"/>
                </a:solidFill>
                <a:latin typeface="Poppins Light" pitchFamily="34" charset="0"/>
                <a:ea typeface="Poppins Light" pitchFamily="34" charset="-122"/>
                <a:cs typeface="Poppins Light" pitchFamily="34" charset="-120"/>
              </a:rPr>
              <a:t>Bank loan document AI extraction and template-based document generation</a:t>
            </a:r>
            <a:endParaRPr lang="en-US" sz="1100" dirty="0"/>
          </a:p>
        </p:txBody>
      </p:sp>
      <p:sp>
        <p:nvSpPr>
          <p:cNvPr id="47" name="Text"/>
          <p:cNvSpPr txBox="1"/>
          <p:nvPr/>
        </p:nvSpPr>
        <p:spPr>
          <a:xfrm>
            <a:off x="4459712" y="4150187"/>
            <a:ext cx="3291749" cy="419070"/>
          </a:xfrm>
          <a:prstGeom prst="rect">
            <a:avLst/>
          </a:prstGeom>
          <a:noFill/>
          <a:ln/>
        </p:spPr>
        <p:txBody>
          <a:bodyPr wrap="square" lIns="0" tIns="0" rIns="0" bIns="0" rtlCol="0" anchor="t"/>
          <a:lstStyle/>
          <a:p>
            <a:pPr algn="l" indent="0" marL="0">
              <a:lnSpc>
                <a:spcPts val="1650"/>
              </a:lnSpc>
              <a:buNone/>
            </a:pPr>
            <a:r>
              <a:rPr lang="en-US" sz="1100" dirty="0">
                <a:solidFill>
                  <a:srgbClr val="1F2937"/>
                </a:solidFill>
                <a:latin typeface="Poppins Light" pitchFamily="34" charset="0"/>
                <a:ea typeface="Poppins Light" pitchFamily="34" charset="-122"/>
                <a:cs typeface="Poppins Light" pitchFamily="34" charset="-120"/>
              </a:rPr>
              <a:t>90+ third-party portal automations, including banks, government, SSM and CTOS</a:t>
            </a:r>
            <a:endParaRPr lang="en-US" sz="1100" dirty="0"/>
          </a:p>
        </p:txBody>
      </p:sp>
      <p:sp>
        <p:nvSpPr>
          <p:cNvPr id="48" name="Text"/>
          <p:cNvSpPr txBox="1"/>
          <p:nvPr/>
        </p:nvSpPr>
        <p:spPr>
          <a:xfrm>
            <a:off x="4459712" y="4645518"/>
            <a:ext cx="3291749" cy="419070"/>
          </a:xfrm>
          <a:prstGeom prst="rect">
            <a:avLst/>
          </a:prstGeom>
          <a:noFill/>
          <a:ln/>
        </p:spPr>
        <p:txBody>
          <a:bodyPr wrap="square" lIns="0" tIns="0" rIns="0" bIns="0" rtlCol="0" anchor="t"/>
          <a:lstStyle/>
          <a:p>
            <a:pPr algn="l" indent="0" marL="0">
              <a:lnSpc>
                <a:spcPts val="1650"/>
              </a:lnSpc>
              <a:buNone/>
            </a:pPr>
            <a:r>
              <a:rPr lang="en-US" sz="1100" dirty="0">
                <a:solidFill>
                  <a:srgbClr val="1F2937"/>
                </a:solidFill>
                <a:latin typeface="Poppins Light" pitchFamily="34" charset="0"/>
                <a:ea typeface="Poppins Light" pitchFamily="34" charset="-122"/>
                <a:cs typeface="Poppins Light" pitchFamily="34" charset="-120"/>
              </a:rPr>
              <a:t>Workflow, email and WhatsApp automation, with accounting and e-invoicing</a:t>
            </a:r>
            <a:endParaRPr lang="en-US" sz="1100" dirty="0"/>
          </a:p>
        </p:txBody>
      </p:sp>
      <p:sp>
        <p:nvSpPr>
          <p:cNvPr id="49" name="Text"/>
          <p:cNvSpPr txBox="1"/>
          <p:nvPr/>
        </p:nvSpPr>
        <p:spPr>
          <a:xfrm>
            <a:off x="4294571" y="5374935"/>
            <a:ext cx="3457529" cy="649590"/>
          </a:xfrm>
          <a:prstGeom prst="rect">
            <a:avLst/>
          </a:prstGeom>
          <a:noFill/>
          <a:ln/>
        </p:spPr>
        <p:txBody>
          <a:bodyPr wrap="square" lIns="0" tIns="0" rIns="0" bIns="0" rtlCol="0" anchor="t"/>
          <a:lstStyle/>
          <a:p>
            <a:pPr algn="l" indent="0" marL="0">
              <a:lnSpc>
                <a:spcPts val="1705"/>
              </a:lnSpc>
              <a:buNone/>
            </a:pPr>
            <a:r>
              <a:rPr lang="en-US" sz="1100" dirty="0">
                <a:solidFill>
                  <a:srgbClr val="000000"/>
                </a:solidFill>
                <a:latin typeface="Poppins Medium" pitchFamily="34" charset="0"/>
                <a:ea typeface="Poppins Medium" pitchFamily="34" charset="-122"/>
                <a:cs typeface="Poppins Medium" pitchFamily="34" charset="-120"/>
              </a:rPr>
              <a:t>How it runs.</a:t>
            </a:r>
            <a:pPr algn="l" indent="0" marL="0">
              <a:lnSpc>
                <a:spcPts val="1705"/>
              </a:lnSpc>
              <a:buNone/>
            </a:pPr>
            <a:r>
              <a:rPr lang="en-US" sz="1100" dirty="0">
                <a:solidFill>
                  <a:srgbClr val="1F2937"/>
                </a:solidFill>
                <a:latin typeface="Poppins Light" pitchFamily="34" charset="0"/>
                <a:ea typeface="Poppins Light" pitchFamily="34" charset="-122"/>
                <a:cs typeface="Poppins Light" pitchFamily="34" charset="-120"/>
              </a:rPr>
              <a:t> Retrieval grounds answers in the firm’s own documents, and agentic RPA carries the work into third-party portals.</a:t>
            </a:r>
            <a:endParaRPr lang="en-US" sz="1100" dirty="0"/>
          </a:p>
        </p:txBody>
      </p:sp>
      <p:sp>
        <p:nvSpPr>
          <p:cNvPr id="50" name="Text"/>
          <p:cNvSpPr txBox="1"/>
          <p:nvPr/>
        </p:nvSpPr>
        <p:spPr>
          <a:xfrm>
            <a:off x="7878105" y="2585375"/>
            <a:ext cx="3629802" cy="177119"/>
          </a:xfrm>
          <a:prstGeom prst="rect">
            <a:avLst/>
          </a:prstGeom>
          <a:noFill/>
          <a:ln/>
        </p:spPr>
        <p:txBody>
          <a:bodyPr wrap="square" lIns="0" tIns="0" rIns="0" bIns="0" rtlCol="0" anchor="t"/>
          <a:lstStyle/>
          <a:p>
            <a:pPr algn="l" indent="0" marL="0">
              <a:lnSpc>
                <a:spcPts val="1395"/>
              </a:lnSpc>
              <a:buNone/>
            </a:pPr>
            <a:r>
              <a:rPr lang="en-US" sz="900" spc="36" kern="0" dirty="0">
                <a:solidFill>
                  <a:srgbClr val="044BD9"/>
                </a:solidFill>
                <a:latin typeface="Poppins Medium" pitchFamily="34" charset="0"/>
                <a:ea typeface="Poppins Medium" pitchFamily="34" charset="-122"/>
                <a:cs typeface="Poppins Medium" pitchFamily="34" charset="-120"/>
              </a:rPr>
              <a:t>Impact</a:t>
            </a:r>
            <a:endParaRPr lang="en-US" sz="900" dirty="0"/>
          </a:p>
        </p:txBody>
      </p:sp>
      <p:sp>
        <p:nvSpPr>
          <p:cNvPr id="51" name="Text"/>
          <p:cNvSpPr txBox="1"/>
          <p:nvPr/>
        </p:nvSpPr>
        <p:spPr>
          <a:xfrm>
            <a:off x="7878105" y="2851008"/>
            <a:ext cx="3629802" cy="609630"/>
          </a:xfrm>
          <a:prstGeom prst="rect">
            <a:avLst/>
          </a:prstGeom>
          <a:noFill/>
          <a:ln/>
        </p:spPr>
        <p:txBody>
          <a:bodyPr wrap="square" lIns="0" tIns="0" rIns="0" bIns="0" rtlCol="0" anchor="t"/>
          <a:lstStyle/>
          <a:p>
            <a:pPr algn="l" indent="0" marL="0">
              <a:lnSpc>
                <a:spcPts val="4800"/>
              </a:lnSpc>
              <a:buNone/>
            </a:pPr>
            <a:r>
              <a:rPr lang="en-US" sz="4800" spc="-96" kern="0" dirty="0">
                <a:solidFill>
                  <a:srgbClr val="044BD9"/>
                </a:solidFill>
                <a:latin typeface="Poppins Medium" pitchFamily="34" charset="0"/>
                <a:ea typeface="Poppins Medium" pitchFamily="34" charset="-122"/>
                <a:cs typeface="Poppins Medium" pitchFamily="34" charset="-120"/>
              </a:rPr>
              <a:t>90</a:t>
            </a:r>
            <a:pPr algn="l" indent="0" marL="0">
              <a:lnSpc>
                <a:spcPts val="4800"/>
              </a:lnSpc>
              <a:buNone/>
            </a:pPr>
            <a:r>
              <a:rPr lang="en-US" sz="2160" spc="-96" kern="0" dirty="0">
                <a:solidFill>
                  <a:srgbClr val="044BD9"/>
                </a:solidFill>
                <a:latin typeface="Poppins Medium" pitchFamily="34" charset="0"/>
                <a:ea typeface="Poppins Medium" pitchFamily="34" charset="-122"/>
                <a:cs typeface="Poppins Medium" pitchFamily="34" charset="-120"/>
              </a:rPr>
              <a:t>+</a:t>
            </a:r>
            <a:endParaRPr lang="en-US" sz="4800" dirty="0"/>
          </a:p>
        </p:txBody>
      </p:sp>
      <p:sp>
        <p:nvSpPr>
          <p:cNvPr id="52" name="Text"/>
          <p:cNvSpPr txBox="1"/>
          <p:nvPr/>
        </p:nvSpPr>
        <p:spPr>
          <a:xfrm>
            <a:off x="7878105" y="3511113"/>
            <a:ext cx="3629802" cy="433060"/>
          </a:xfrm>
          <a:prstGeom prst="rect">
            <a:avLst/>
          </a:prstGeom>
          <a:noFill/>
          <a:ln/>
        </p:spPr>
        <p:txBody>
          <a:bodyPr wrap="square" lIns="0" tIns="0" rIns="0" bIns="0" rtlCol="0" anchor="t"/>
          <a:lstStyle/>
          <a:p>
            <a:pPr algn="l" indent="0" marL="0">
              <a:lnSpc>
                <a:spcPts val="1705"/>
              </a:lnSpc>
              <a:buNone/>
            </a:pPr>
            <a:r>
              <a:rPr lang="en-US" sz="1100" dirty="0">
                <a:solidFill>
                  <a:srgbClr val="6B6B6B"/>
                </a:solidFill>
                <a:latin typeface="Poppins Light" pitchFamily="34" charset="0"/>
                <a:ea typeface="Poppins Light" pitchFamily="34" charset="-122"/>
                <a:cs typeface="Poppins Light" pitchFamily="34" charset="-120"/>
              </a:rPr>
              <a:t>Third-party portal automations, including banks, government, SSM and CTOS</a:t>
            </a:r>
            <a:endParaRPr lang="en-US" sz="1100" dirty="0"/>
          </a:p>
        </p:txBody>
      </p:sp>
      <p:sp>
        <p:nvSpPr>
          <p:cNvPr id="53" name="Text"/>
          <p:cNvSpPr txBox="1"/>
          <p:nvPr/>
        </p:nvSpPr>
        <p:spPr>
          <a:xfrm>
            <a:off x="7878105" y="4154028"/>
            <a:ext cx="3629802" cy="609630"/>
          </a:xfrm>
          <a:prstGeom prst="rect">
            <a:avLst/>
          </a:prstGeom>
          <a:noFill/>
          <a:ln/>
        </p:spPr>
        <p:txBody>
          <a:bodyPr wrap="square" lIns="0" tIns="0" rIns="0" bIns="0" rtlCol="0" anchor="t"/>
          <a:lstStyle/>
          <a:p>
            <a:pPr algn="l" indent="0" marL="0">
              <a:lnSpc>
                <a:spcPts val="4800"/>
              </a:lnSpc>
              <a:buNone/>
            </a:pPr>
            <a:r>
              <a:rPr lang="en-US" sz="4800" spc="-96" kern="0" dirty="0">
                <a:solidFill>
                  <a:srgbClr val="044BD9"/>
                </a:solidFill>
                <a:latin typeface="Poppins Medium" pitchFamily="34" charset="0"/>
                <a:ea typeface="Poppins Medium" pitchFamily="34" charset="-122"/>
                <a:cs typeface="Poppins Medium" pitchFamily="34" charset="-120"/>
              </a:rPr>
              <a:t>2025</a:t>
            </a:r>
            <a:endParaRPr lang="en-US" sz="4800" dirty="0"/>
          </a:p>
        </p:txBody>
      </p:sp>
      <p:sp>
        <p:nvSpPr>
          <p:cNvPr id="54" name="Text"/>
          <p:cNvSpPr txBox="1"/>
          <p:nvPr/>
        </p:nvSpPr>
        <p:spPr>
          <a:xfrm>
            <a:off x="7878105" y="4814042"/>
            <a:ext cx="3629802" cy="216530"/>
          </a:xfrm>
          <a:prstGeom prst="rect">
            <a:avLst/>
          </a:prstGeom>
          <a:noFill/>
          <a:ln/>
        </p:spPr>
        <p:txBody>
          <a:bodyPr wrap="square" lIns="0" tIns="0" rIns="0" bIns="0" rtlCol="0" anchor="t"/>
          <a:lstStyle/>
          <a:p>
            <a:pPr algn="l" indent="0" marL="0">
              <a:lnSpc>
                <a:spcPts val="1705"/>
              </a:lnSpc>
              <a:buNone/>
            </a:pPr>
            <a:r>
              <a:rPr lang="en-US" sz="1100" dirty="0">
                <a:solidFill>
                  <a:srgbClr val="6B6B6B"/>
                </a:solidFill>
                <a:latin typeface="Poppins Light" pitchFamily="34" charset="0"/>
                <a:ea typeface="Poppins Light" pitchFamily="34" charset="-122"/>
                <a:cs typeface="Poppins Light" pitchFamily="34" charset="-120"/>
              </a:rPr>
              <a:t>In use since delivery</a:t>
            </a:r>
            <a:endParaRPr lang="en-US" sz="1100" dirty="0"/>
          </a:p>
        </p:txBody>
      </p:sp>
      <p:sp>
        <p:nvSpPr>
          <p:cNvPr id="55" name="Text"/>
          <p:cNvSpPr txBox="1"/>
          <p:nvPr/>
        </p:nvSpPr>
        <p:spPr>
          <a:xfrm>
            <a:off x="7878105" y="5374935"/>
            <a:ext cx="3629802" cy="649590"/>
          </a:xfrm>
          <a:prstGeom prst="rect">
            <a:avLst/>
          </a:prstGeom>
          <a:noFill/>
          <a:ln/>
        </p:spPr>
        <p:txBody>
          <a:bodyPr wrap="square" lIns="0" tIns="0" rIns="0" bIns="0" rtlCol="0" anchor="t"/>
          <a:lstStyle/>
          <a:p>
            <a:pPr algn="l" indent="0" marL="0">
              <a:lnSpc>
                <a:spcPts val="1705"/>
              </a:lnSpc>
              <a:buNone/>
            </a:pPr>
            <a:r>
              <a:rPr lang="en-US" sz="1100" dirty="0">
                <a:solidFill>
                  <a:srgbClr val="000000"/>
                </a:solidFill>
                <a:latin typeface="Poppins Medium" pitchFamily="34" charset="0"/>
                <a:ea typeface="Poppins Medium" pitchFamily="34" charset="-122"/>
                <a:cs typeface="Poppins Medium" pitchFamily="34" charset="-120"/>
              </a:rPr>
              <a:t>In use.</a:t>
            </a:r>
            <a:pPr algn="l" indent="0" marL="0">
              <a:lnSpc>
                <a:spcPts val="1705"/>
              </a:lnSpc>
              <a:buNone/>
            </a:pPr>
            <a:r>
              <a:rPr lang="en-US" sz="1100" dirty="0">
                <a:solidFill>
                  <a:srgbClr val="1F2937"/>
                </a:solidFill>
                <a:latin typeface="Poppins Light" pitchFamily="34" charset="0"/>
                <a:ea typeface="Poppins Light" pitchFamily="34" charset="-122"/>
                <a:cs typeface="Poppins Light" pitchFamily="34" charset="-120"/>
              </a:rPr>
              <a:t> The firm runs case management, back office and accounting on one ALPHV platform, with its data kept in-house.</a:t>
            </a:r>
            <a:endParaRPr lang="en-US" sz="1100" dirty="0"/>
          </a:p>
        </p:txBody>
      </p:sp>
      <p:sp>
        <p:nvSpPr>
          <p:cNvPr id="56" name="Text"/>
          <p:cNvSpPr txBox="1"/>
          <p:nvPr/>
        </p:nvSpPr>
        <p:spPr>
          <a:xfrm>
            <a:off x="6287140" y="276240"/>
            <a:ext cx="708477"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Point of view</a:t>
            </a:r>
            <a:endParaRPr lang="en-US" sz="850" dirty="0"/>
          </a:p>
        </p:txBody>
      </p:sp>
      <p:sp>
        <p:nvSpPr>
          <p:cNvPr id="57" name="Text"/>
          <p:cNvSpPr txBox="1"/>
          <p:nvPr/>
        </p:nvSpPr>
        <p:spPr>
          <a:xfrm>
            <a:off x="7240494" y="276240"/>
            <a:ext cx="665958"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Who we are</a:t>
            </a:r>
            <a:endParaRPr lang="en-US" sz="850" dirty="0"/>
          </a:p>
        </p:txBody>
      </p:sp>
      <p:sp>
        <p:nvSpPr>
          <p:cNvPr id="58" name="Text"/>
          <p:cNvSpPr txBox="1"/>
          <p:nvPr/>
        </p:nvSpPr>
        <p:spPr>
          <a:xfrm>
            <a:off x="8151510" y="276240"/>
            <a:ext cx="671261"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What we do</a:t>
            </a:r>
            <a:endParaRPr lang="en-US" sz="850" dirty="0"/>
          </a:p>
        </p:txBody>
      </p:sp>
      <p:sp>
        <p:nvSpPr>
          <p:cNvPr id="59" name="Text"/>
          <p:cNvSpPr txBox="1"/>
          <p:nvPr/>
        </p:nvSpPr>
        <p:spPr>
          <a:xfrm>
            <a:off x="9067830" y="276240"/>
            <a:ext cx="1205728"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Sectors and products</a:t>
            </a:r>
            <a:endParaRPr lang="en-US" sz="850" dirty="0"/>
          </a:p>
        </p:txBody>
      </p:sp>
      <p:sp>
        <p:nvSpPr>
          <p:cNvPr id="60" name="Text"/>
          <p:cNvSpPr txBox="1"/>
          <p:nvPr/>
        </p:nvSpPr>
        <p:spPr>
          <a:xfrm>
            <a:off x="10516423" y="276240"/>
            <a:ext cx="298552"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044BD9"/>
                </a:solidFill>
                <a:latin typeface="Poppins Medium" pitchFamily="34" charset="0"/>
                <a:ea typeface="Poppins Medium" pitchFamily="34" charset="-122"/>
                <a:cs typeface="Poppins Medium" pitchFamily="34" charset="-120"/>
              </a:rPr>
              <a:t>Proof</a:t>
            </a:r>
            <a:endParaRPr lang="en-US" sz="850" dirty="0"/>
          </a:p>
        </p:txBody>
      </p:sp>
      <p:sp>
        <p:nvSpPr>
          <p:cNvPr id="61" name="Text"/>
          <p:cNvSpPr txBox="1"/>
          <p:nvPr/>
        </p:nvSpPr>
        <p:spPr>
          <a:xfrm>
            <a:off x="11061497" y="276240"/>
            <a:ext cx="433700"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Engage</a:t>
            </a:r>
            <a:endParaRPr lang="en-US" sz="850" dirty="0"/>
          </a:p>
        </p:txBody>
      </p:sp>
      <p:sp>
        <p:nvSpPr>
          <p:cNvPr id="62" name="Source"/>
          <p:cNvSpPr txBox="1"/>
          <p:nvPr/>
        </p:nvSpPr>
        <p:spPr>
          <a:xfrm>
            <a:off x="711220" y="6257971"/>
            <a:ext cx="8300740" cy="302301"/>
          </a:xfrm>
          <a:prstGeom prst="rect">
            <a:avLst/>
          </a:prstGeom>
          <a:noFill/>
          <a:ln/>
        </p:spPr>
        <p:txBody>
          <a:bodyPr wrap="square" lIns="0" tIns="0" rIns="0" bIns="0" rtlCol="0" anchor="t"/>
          <a:lstStyle/>
          <a:p>
            <a:pPr algn="l" indent="0" marL="0">
              <a:lnSpc>
                <a:spcPts val="1190"/>
              </a:lnSpc>
              <a:buNone/>
            </a:pPr>
            <a:r>
              <a:rPr lang="en-US" sz="850" dirty="0">
                <a:solidFill>
                  <a:srgbClr val="6B6B6B"/>
                </a:solidFill>
                <a:latin typeface="Poppins" pitchFamily="34" charset="0"/>
                <a:ea typeface="Poppins" pitchFamily="34" charset="-122"/>
                <a:cs typeface="Poppins" pitchFamily="34" charset="-120"/>
              </a:rPr>
              <a:t>Source: alphv.com/insights/sovereign-ai-case-management-law-firm; alphv.com, home page; alphv.com/services/system-integration-and-consulting (October 2026).</a:t>
            </a:r>
            <a:endParaRPr lang="en-US" sz="850" dirty="0"/>
          </a:p>
        </p:txBody>
      </p:sp>
      <p:sp>
        <p:nvSpPr>
          <p:cNvPr id="63" name="Text"/>
          <p:cNvSpPr txBox="1"/>
          <p:nvPr/>
        </p:nvSpPr>
        <p:spPr>
          <a:xfrm>
            <a:off x="9350014" y="6409030"/>
            <a:ext cx="393741" cy="151150"/>
          </a:xfrm>
          <a:prstGeom prst="rect">
            <a:avLst/>
          </a:prstGeom>
          <a:noFill/>
          <a:ln/>
        </p:spPr>
        <p:txBody>
          <a:bodyPr wrap="none" lIns="0" tIns="0" rIns="0" bIns="0" rtlCol="0" anchor="t"/>
          <a:lstStyle/>
          <a:p>
            <a:pPr algn="l" indent="0" marL="0">
              <a:lnSpc>
                <a:spcPts val="1190"/>
              </a:lnSpc>
              <a:buNone/>
            </a:pPr>
            <a:r>
              <a:rPr lang="en-US" sz="850" spc="34" kern="0" dirty="0">
                <a:solidFill>
                  <a:srgbClr val="000000"/>
                </a:solidFill>
                <a:latin typeface="Poppins SemiBold" pitchFamily="34" charset="0"/>
                <a:ea typeface="Poppins SemiBold" pitchFamily="34" charset="-122"/>
                <a:cs typeface="Poppins SemiBold" pitchFamily="34" charset="-120"/>
              </a:rPr>
              <a:t>ALPHV</a:t>
            </a:r>
            <a:endParaRPr lang="en-US" sz="850" dirty="0"/>
          </a:p>
        </p:txBody>
      </p:sp>
      <p:sp>
        <p:nvSpPr>
          <p:cNvPr id="64" name="Text"/>
          <p:cNvSpPr txBox="1"/>
          <p:nvPr/>
        </p:nvSpPr>
        <p:spPr>
          <a:xfrm>
            <a:off x="9857964" y="6409030"/>
            <a:ext cx="1377178" cy="151150"/>
          </a:xfrm>
          <a:prstGeom prst="rect">
            <a:avLst/>
          </a:prstGeom>
          <a:noFill/>
          <a:ln/>
        </p:spPr>
        <p:txBody>
          <a:bodyPr wrap="none" lIns="0" tIns="0" rIns="0" bIns="0" rtlCol="0" anchor="t"/>
          <a:lstStyle/>
          <a:p>
            <a:pPr algn="l" indent="0" marL="0">
              <a:lnSpc>
                <a:spcPts val="1190"/>
              </a:lnSpc>
              <a:buNone/>
            </a:pPr>
            <a:r>
              <a:rPr lang="en-US" sz="850" dirty="0">
                <a:solidFill>
                  <a:srgbClr val="6B6B6B"/>
                </a:solidFill>
                <a:latin typeface="Poppins" pitchFamily="34" charset="0"/>
                <a:ea typeface="Poppins" pitchFamily="34" charset="-122"/>
                <a:cs typeface="Poppins" pitchFamily="34" charset="-120"/>
              </a:rPr>
              <a:t>Corporate overview 2026</a:t>
            </a:r>
            <a:endParaRPr lang="en-US" sz="850" dirty="0"/>
          </a:p>
        </p:txBody>
      </p:sp>
      <p:sp>
        <p:nvSpPr>
          <p:cNvPr id="65" name="Text"/>
          <p:cNvSpPr txBox="1"/>
          <p:nvPr/>
        </p:nvSpPr>
        <p:spPr>
          <a:xfrm>
            <a:off x="11349441" y="6409030"/>
            <a:ext cx="156728" cy="151150"/>
          </a:xfrm>
          <a:prstGeom prst="rect">
            <a:avLst/>
          </a:prstGeom>
          <a:noFill/>
          <a:ln/>
        </p:spPr>
        <p:txBody>
          <a:bodyPr wrap="none" lIns="0" tIns="0" rIns="0" bIns="0" rtlCol="0" anchor="t"/>
          <a:lstStyle/>
          <a:p>
            <a:pPr algn="l" indent="0" marL="0">
              <a:lnSpc>
                <a:spcPts val="1190"/>
              </a:lnSpc>
              <a:buNone/>
            </a:pPr>
            <a:r>
              <a:rPr lang="en-US" sz="850" dirty="0">
                <a:solidFill>
                  <a:srgbClr val="000000"/>
                </a:solidFill>
                <a:latin typeface="Poppins Medium" pitchFamily="34" charset="0"/>
                <a:ea typeface="Poppins Medium" pitchFamily="34" charset="-122"/>
                <a:cs typeface="Poppins Medium" pitchFamily="34" charset="-120"/>
              </a:rPr>
              <a:t>25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8F9FA"/>
        </a:solidFill>
      </p:bgPr>
    </p:bg>
    <p:spTree>
      <p:nvGrpSpPr>
        <p:cNvPr id="1" name=""/>
        <p:cNvGrpSpPr/>
        <p:nvPr/>
      </p:nvGrpSpPr>
      <p:grpSpPr>
        <a:xfrm>
          <a:off x="0" y="0"/>
          <a:ext cx="0" cy="0"/>
          <a:chOff x="0" y="0"/>
          <a:chExt cx="0" cy="0"/>
        </a:xfrm>
      </p:grpSpPr>
      <p:sp>
        <p:nvSpPr>
          <p:cNvPr id="2" name="badge"/>
          <p:cNvSpPr/>
          <p:nvPr/>
        </p:nvSpPr>
        <p:spPr>
          <a:xfrm>
            <a:off x="714421" y="536570"/>
            <a:ext cx="1361542" cy="254020"/>
          </a:xfrm>
          <a:prstGeom prst="roundRect">
            <a:avLst>
              <a:gd name="adj" fmla="val 50000"/>
            </a:avLst>
          </a:prstGeom>
          <a:ln w="6350">
            <a:solidFill>
              <a:srgbClr val="155DFC"/>
            </a:solidFill>
            <a:prstDash val="solid"/>
          </a:ln>
        </p:spPr>
      </p:sp>
      <p:sp>
        <p:nvSpPr>
          <p:cNvPr id="3" name="tag"/>
          <p:cNvSpPr/>
          <p:nvPr/>
        </p:nvSpPr>
        <p:spPr>
          <a:xfrm>
            <a:off x="714421" y="1937339"/>
            <a:ext cx="949239" cy="228600"/>
          </a:xfrm>
          <a:prstGeom prst="roundRect">
            <a:avLst>
              <a:gd name="adj" fmla="val 50000"/>
            </a:avLst>
          </a:prstGeom>
          <a:solidFill>
            <a:srgbClr val="FFFFFF"/>
          </a:solidFill>
          <a:ln w="6350">
            <a:solidFill>
              <a:srgbClr val="E3E6EC"/>
            </a:solidFill>
            <a:prstDash val="solid"/>
          </a:ln>
        </p:spPr>
      </p:sp>
      <p:sp>
        <p:nvSpPr>
          <p:cNvPr id="4" name="tag"/>
          <p:cNvSpPr/>
          <p:nvPr/>
        </p:nvSpPr>
        <p:spPr>
          <a:xfrm>
            <a:off x="1733428" y="1937339"/>
            <a:ext cx="2087392" cy="228600"/>
          </a:xfrm>
          <a:prstGeom prst="roundRect">
            <a:avLst>
              <a:gd name="adj" fmla="val 50000"/>
            </a:avLst>
          </a:prstGeom>
          <a:solidFill>
            <a:srgbClr val="FFFFFF"/>
          </a:solidFill>
          <a:ln w="6350">
            <a:solidFill>
              <a:srgbClr val="E3E6EC"/>
            </a:solidFill>
            <a:prstDash val="solid"/>
          </a:ln>
        </p:spPr>
      </p:sp>
      <p:sp>
        <p:nvSpPr>
          <p:cNvPr id="5" name="tag"/>
          <p:cNvSpPr/>
          <p:nvPr/>
        </p:nvSpPr>
        <p:spPr>
          <a:xfrm>
            <a:off x="3890681" y="1937339"/>
            <a:ext cx="701893" cy="228600"/>
          </a:xfrm>
          <a:prstGeom prst="roundRect">
            <a:avLst>
              <a:gd name="adj" fmla="val 50000"/>
            </a:avLst>
          </a:prstGeom>
          <a:solidFill>
            <a:srgbClr val="FFFFFF"/>
          </a:solidFill>
          <a:ln w="6350">
            <a:solidFill>
              <a:srgbClr val="E3E6EC"/>
            </a:solidFill>
            <a:prstDash val="solid"/>
          </a:ln>
        </p:spPr>
      </p:sp>
      <p:sp>
        <p:nvSpPr>
          <p:cNvPr id="6" name="tag"/>
          <p:cNvSpPr/>
          <p:nvPr/>
        </p:nvSpPr>
        <p:spPr>
          <a:xfrm>
            <a:off x="4662343" y="1937339"/>
            <a:ext cx="1274308" cy="228600"/>
          </a:xfrm>
          <a:prstGeom prst="roundRect">
            <a:avLst>
              <a:gd name="adj" fmla="val 50000"/>
            </a:avLst>
          </a:prstGeom>
          <a:solidFill>
            <a:srgbClr val="FFFFFF"/>
          </a:solidFill>
          <a:ln w="6350">
            <a:solidFill>
              <a:srgbClr val="E3E6EC"/>
            </a:solidFill>
            <a:prstDash val="solid"/>
          </a:ln>
        </p:spPr>
      </p:sp>
      <p:sp>
        <p:nvSpPr>
          <p:cNvPr id="7" name="Rule"/>
          <p:cNvSpPr/>
          <p:nvPr/>
        </p:nvSpPr>
        <p:spPr>
          <a:xfrm>
            <a:off x="711220" y="2454890"/>
            <a:ext cx="3431012" cy="0"/>
          </a:xfrm>
          <a:prstGeom prst="line">
            <a:avLst/>
          </a:prstGeom>
          <a:noFill/>
          <a:ln w="12700">
            <a:solidFill>
              <a:srgbClr val="000000"/>
            </a:solidFill>
            <a:prstDash val="solid"/>
          </a:ln>
        </p:spPr>
      </p:sp>
      <p:sp>
        <p:nvSpPr>
          <p:cNvPr id="8" name="card"/>
          <p:cNvSpPr/>
          <p:nvPr/>
        </p:nvSpPr>
        <p:spPr>
          <a:xfrm>
            <a:off x="714421" y="4118000"/>
            <a:ext cx="3424611" cy="1898660"/>
          </a:xfrm>
          <a:prstGeom prst="roundRect">
            <a:avLst>
              <a:gd name="adj" fmla="val 7860"/>
            </a:avLst>
          </a:prstGeom>
          <a:solidFill>
            <a:srgbClr val="FFFFFF"/>
          </a:solidFill>
          <a:ln w="6350">
            <a:solidFill>
              <a:srgbClr val="F0F0F0"/>
            </a:solidFill>
            <a:prstDash val="solid"/>
          </a:ln>
        </p:spPr>
      </p:sp>
      <p:pic>
        <p:nvPicPr>
          <p:cNvPr id="9" name="Picture" descr="iPajak Group">    </p:cNvPr>
          <p:cNvPicPr>
            <a:picLocks noChangeAspect="1"/>
          </p:cNvPicPr>
          <p:nvPr/>
        </p:nvPicPr>
        <p:blipFill>
          <a:blip r:embed="rId1"/>
          <a:stretch>
            <a:fillRect/>
          </a:stretch>
        </p:blipFill>
        <p:spPr>
          <a:xfrm>
            <a:off x="895380" y="4298960"/>
            <a:ext cx="1667866" cy="406359"/>
          </a:xfrm>
          <a:prstGeom prst="rect">
            <a:avLst/>
          </a:prstGeom>
        </p:spPr>
      </p:pic>
      <p:sp>
        <p:nvSpPr>
          <p:cNvPr id="10" name="p"/>
          <p:cNvSpPr/>
          <p:nvPr/>
        </p:nvSpPr>
        <p:spPr>
          <a:xfrm>
            <a:off x="895380" y="5439217"/>
            <a:ext cx="3062691" cy="396484"/>
          </a:xfrm>
          <a:prstGeom prst="roundRect">
            <a:avLst>
              <a:gd name="adj" fmla="val 25623"/>
            </a:avLst>
          </a:prstGeom>
          <a:solidFill>
            <a:srgbClr val="044BD9">
              <a:alpha val="8000"/>
            </a:srgbClr>
          </a:solidFill>
          <a:ln/>
        </p:spPr>
      </p:sp>
      <p:sp>
        <p:nvSpPr>
          <p:cNvPr id="11" name="Rule"/>
          <p:cNvSpPr/>
          <p:nvPr/>
        </p:nvSpPr>
        <p:spPr>
          <a:xfrm>
            <a:off x="4294571" y="2454890"/>
            <a:ext cx="3431103" cy="0"/>
          </a:xfrm>
          <a:prstGeom prst="line">
            <a:avLst/>
          </a:prstGeom>
          <a:noFill/>
          <a:ln w="12700">
            <a:solidFill>
              <a:srgbClr val="000000"/>
            </a:solidFill>
            <a:prstDash val="solid"/>
          </a:ln>
        </p:spPr>
      </p:sp>
      <p:sp>
        <p:nvSpPr>
          <p:cNvPr id="12" name="li::before"/>
          <p:cNvSpPr/>
          <p:nvPr/>
        </p:nvSpPr>
        <p:spPr>
          <a:xfrm>
            <a:off x="4294571" y="3462741"/>
            <a:ext cx="57150" cy="57150"/>
          </a:xfrm>
          <a:prstGeom prst="rect">
            <a:avLst/>
          </a:prstGeom>
          <a:solidFill>
            <a:srgbClr val="044BD9"/>
          </a:solidFill>
          <a:ln/>
        </p:spPr>
      </p:sp>
      <p:sp>
        <p:nvSpPr>
          <p:cNvPr id="13" name="li::before"/>
          <p:cNvSpPr/>
          <p:nvPr/>
        </p:nvSpPr>
        <p:spPr>
          <a:xfrm>
            <a:off x="4294571" y="3748491"/>
            <a:ext cx="57150" cy="57150"/>
          </a:xfrm>
          <a:prstGeom prst="rect">
            <a:avLst/>
          </a:prstGeom>
          <a:solidFill>
            <a:srgbClr val="044BD9"/>
          </a:solidFill>
          <a:ln/>
        </p:spPr>
      </p:sp>
      <p:sp>
        <p:nvSpPr>
          <p:cNvPr id="14" name="li::before"/>
          <p:cNvSpPr/>
          <p:nvPr/>
        </p:nvSpPr>
        <p:spPr>
          <a:xfrm>
            <a:off x="4294571" y="4034241"/>
            <a:ext cx="57150" cy="57150"/>
          </a:xfrm>
          <a:prstGeom prst="rect">
            <a:avLst/>
          </a:prstGeom>
          <a:solidFill>
            <a:srgbClr val="044BD9"/>
          </a:solidFill>
          <a:ln/>
        </p:spPr>
      </p:sp>
      <p:sp>
        <p:nvSpPr>
          <p:cNvPr id="15" name="li::before"/>
          <p:cNvSpPr/>
          <p:nvPr/>
        </p:nvSpPr>
        <p:spPr>
          <a:xfrm>
            <a:off x="4294571" y="4319991"/>
            <a:ext cx="57150" cy="57150"/>
          </a:xfrm>
          <a:prstGeom prst="rect">
            <a:avLst/>
          </a:prstGeom>
          <a:solidFill>
            <a:srgbClr val="044BD9"/>
          </a:solidFill>
          <a:ln/>
        </p:spPr>
      </p:sp>
      <p:sp>
        <p:nvSpPr>
          <p:cNvPr id="16" name="Rule"/>
          <p:cNvSpPr/>
          <p:nvPr/>
        </p:nvSpPr>
        <p:spPr>
          <a:xfrm>
            <a:off x="4294571" y="5273711"/>
            <a:ext cx="3431103" cy="0"/>
          </a:xfrm>
          <a:prstGeom prst="line">
            <a:avLst/>
          </a:prstGeom>
          <a:noFill/>
          <a:ln w="6350">
            <a:solidFill>
              <a:srgbClr val="E3E6EC"/>
            </a:solidFill>
            <a:prstDash val="solid"/>
          </a:ln>
        </p:spPr>
      </p:sp>
      <p:sp>
        <p:nvSpPr>
          <p:cNvPr id="17" name="Rule"/>
          <p:cNvSpPr/>
          <p:nvPr/>
        </p:nvSpPr>
        <p:spPr>
          <a:xfrm>
            <a:off x="7878105" y="2454890"/>
            <a:ext cx="3602736" cy="0"/>
          </a:xfrm>
          <a:prstGeom prst="line">
            <a:avLst/>
          </a:prstGeom>
          <a:noFill/>
          <a:ln w="12700">
            <a:solidFill>
              <a:srgbClr val="044BD9"/>
            </a:solidFill>
            <a:prstDash val="solid"/>
          </a:ln>
        </p:spPr>
      </p:sp>
      <p:sp>
        <p:nvSpPr>
          <p:cNvPr id="18" name="Rule"/>
          <p:cNvSpPr/>
          <p:nvPr/>
        </p:nvSpPr>
        <p:spPr>
          <a:xfrm>
            <a:off x="7878105" y="4139032"/>
            <a:ext cx="3602736" cy="0"/>
          </a:xfrm>
          <a:prstGeom prst="line">
            <a:avLst/>
          </a:prstGeom>
          <a:noFill/>
          <a:ln w="6350">
            <a:solidFill>
              <a:srgbClr val="E3E6EC"/>
            </a:solidFill>
            <a:prstDash val="solid"/>
          </a:ln>
        </p:spPr>
      </p:sp>
      <p:sp>
        <p:nvSpPr>
          <p:cNvPr id="19" name="span::before"/>
          <p:cNvSpPr/>
          <p:nvPr/>
        </p:nvSpPr>
        <p:spPr>
          <a:xfrm>
            <a:off x="6191860" y="311170"/>
            <a:ext cx="44440" cy="44440"/>
          </a:xfrm>
          <a:prstGeom prst="rect">
            <a:avLst/>
          </a:prstGeom>
          <a:solidFill>
            <a:srgbClr val="A0A6AF">
              <a:alpha val="55000"/>
            </a:srgbClr>
          </a:solidFill>
          <a:ln/>
        </p:spPr>
      </p:sp>
      <p:sp>
        <p:nvSpPr>
          <p:cNvPr id="20" name="span::before"/>
          <p:cNvSpPr/>
          <p:nvPr/>
        </p:nvSpPr>
        <p:spPr>
          <a:xfrm>
            <a:off x="7145213" y="311170"/>
            <a:ext cx="44440" cy="44440"/>
          </a:xfrm>
          <a:prstGeom prst="rect">
            <a:avLst/>
          </a:prstGeom>
          <a:solidFill>
            <a:srgbClr val="A0A6AF">
              <a:alpha val="55000"/>
            </a:srgbClr>
          </a:solidFill>
          <a:ln/>
        </p:spPr>
      </p:sp>
      <p:sp>
        <p:nvSpPr>
          <p:cNvPr id="21" name="span::before"/>
          <p:cNvSpPr/>
          <p:nvPr/>
        </p:nvSpPr>
        <p:spPr>
          <a:xfrm>
            <a:off x="8056230" y="311170"/>
            <a:ext cx="44440" cy="44440"/>
          </a:xfrm>
          <a:prstGeom prst="rect">
            <a:avLst/>
          </a:prstGeom>
          <a:solidFill>
            <a:srgbClr val="A0A6AF">
              <a:alpha val="55000"/>
            </a:srgbClr>
          </a:solidFill>
          <a:ln/>
        </p:spPr>
      </p:sp>
      <p:sp>
        <p:nvSpPr>
          <p:cNvPr id="22" name="span::before"/>
          <p:cNvSpPr/>
          <p:nvPr/>
        </p:nvSpPr>
        <p:spPr>
          <a:xfrm>
            <a:off x="8972550" y="311170"/>
            <a:ext cx="44440" cy="44440"/>
          </a:xfrm>
          <a:prstGeom prst="rect">
            <a:avLst/>
          </a:prstGeom>
          <a:solidFill>
            <a:srgbClr val="A0A6AF">
              <a:alpha val="55000"/>
            </a:srgbClr>
          </a:solidFill>
          <a:ln/>
        </p:spPr>
      </p:sp>
      <p:sp>
        <p:nvSpPr>
          <p:cNvPr id="23" name="on::before"/>
          <p:cNvSpPr/>
          <p:nvPr/>
        </p:nvSpPr>
        <p:spPr>
          <a:xfrm>
            <a:off x="10421142" y="311170"/>
            <a:ext cx="44440" cy="44440"/>
          </a:xfrm>
          <a:prstGeom prst="rect">
            <a:avLst/>
          </a:prstGeom>
          <a:solidFill>
            <a:srgbClr val="044BD9"/>
          </a:solidFill>
          <a:ln/>
        </p:spPr>
      </p:sp>
      <p:sp>
        <p:nvSpPr>
          <p:cNvPr id="24" name="span::before"/>
          <p:cNvSpPr/>
          <p:nvPr/>
        </p:nvSpPr>
        <p:spPr>
          <a:xfrm>
            <a:off x="10966216" y="311170"/>
            <a:ext cx="44440" cy="44440"/>
          </a:xfrm>
          <a:prstGeom prst="rect">
            <a:avLst/>
          </a:prstGeom>
          <a:solidFill>
            <a:srgbClr val="A0A6AF">
              <a:alpha val="55000"/>
            </a:srgbClr>
          </a:solidFill>
          <a:ln/>
        </p:spPr>
      </p:sp>
      <p:sp>
        <p:nvSpPr>
          <p:cNvPr id="25" name="Text"/>
          <p:cNvSpPr txBox="1"/>
          <p:nvPr/>
        </p:nvSpPr>
        <p:spPr>
          <a:xfrm>
            <a:off x="844540" y="603230"/>
            <a:ext cx="1126632" cy="120609"/>
          </a:xfrm>
          <a:prstGeom prst="rect">
            <a:avLst/>
          </a:prstGeom>
          <a:noFill/>
          <a:ln/>
        </p:spPr>
        <p:txBody>
          <a:bodyPr wrap="none" lIns="0" tIns="0" rIns="0" bIns="0" rtlCol="0" anchor="t"/>
          <a:lstStyle/>
          <a:p>
            <a:pPr algn="l" indent="0" marL="0">
              <a:lnSpc>
                <a:spcPts val="950"/>
              </a:lnSpc>
              <a:buNone/>
            </a:pPr>
            <a:r>
              <a:rPr lang="en-US" sz="950" spc="10" kern="0" dirty="0">
                <a:solidFill>
                  <a:srgbClr val="155DFC"/>
                </a:solidFill>
                <a:latin typeface="Poppins Medium" pitchFamily="34" charset="0"/>
                <a:ea typeface="Poppins Medium" pitchFamily="34" charset="-122"/>
                <a:cs typeface="Poppins Medium" pitchFamily="34" charset="-120"/>
              </a:rPr>
              <a:t>Financial services</a:t>
            </a:r>
            <a:endParaRPr lang="en-US" sz="950" dirty="0"/>
          </a:p>
        </p:txBody>
      </p:sp>
      <p:sp>
        <p:nvSpPr>
          <p:cNvPr id="26" name="Title"/>
          <p:cNvSpPr txBox="1"/>
          <p:nvPr/>
        </p:nvSpPr>
        <p:spPr>
          <a:xfrm>
            <a:off x="711220" y="927750"/>
            <a:ext cx="9398020" cy="861090"/>
          </a:xfrm>
          <a:prstGeom prst="rect">
            <a:avLst/>
          </a:prstGeom>
          <a:noFill/>
          <a:ln/>
        </p:spPr>
        <p:txBody>
          <a:bodyPr wrap="square" lIns="0" tIns="0" rIns="0" bIns="0" rtlCol="0" anchor="t"/>
          <a:lstStyle/>
          <a:p>
            <a:pPr algn="l" indent="0" marL="0">
              <a:lnSpc>
                <a:spcPts val="3390"/>
              </a:lnSpc>
              <a:buNone/>
            </a:pPr>
            <a:r>
              <a:rPr lang="en-US" sz="3000" spc="-45" kern="0" dirty="0">
                <a:solidFill>
                  <a:srgbClr val="000000"/>
                </a:solidFill>
                <a:latin typeface="Poppins Medium" pitchFamily="34" charset="0"/>
                <a:ea typeface="Poppins Medium" pitchFamily="34" charset="-122"/>
                <a:cs typeface="Poppins Medium" pitchFamily="34" charset="-120"/>
              </a:rPr>
              <a:t>ALPHV took over iPajak Group’s project</a:t>
            </a:r>
            <a:endParaRPr lang="en-US" sz="3000" dirty="0"/>
          </a:p>
          <a:p>
            <a:pPr algn="l" indent="0" marL="0">
              <a:lnSpc>
                <a:spcPts val="3390"/>
              </a:lnSpc>
              <a:buNone/>
            </a:pPr>
            <a:r>
              <a:rPr lang="en-US" sz="3000" spc="-45" kern="0" dirty="0">
                <a:solidFill>
                  <a:srgbClr val="000000"/>
                </a:solidFill>
                <a:latin typeface="Poppins Medium" pitchFamily="34" charset="0"/>
                <a:ea typeface="Poppins Medium" pitchFamily="34" charset="-122"/>
                <a:cs typeface="Poppins Medium" pitchFamily="34" charset="-120"/>
              </a:rPr>
              <a:t>midway and put</a:t>
            </a:r>
            <a:pPr algn="l" indent="0" marL="0">
              <a:lnSpc>
                <a:spcPts val="3390"/>
              </a:lnSpc>
              <a:buNone/>
            </a:pPr>
            <a:r>
              <a:rPr lang="en-US" sz="3000" spc="-45" kern="0" dirty="0">
                <a:solidFill>
                  <a:srgbClr val="044BD9"/>
                </a:solidFill>
                <a:latin typeface="Poppins Medium" pitchFamily="34" charset="0"/>
                <a:ea typeface="Poppins Medium" pitchFamily="34" charset="-122"/>
                <a:cs typeface="Poppins Medium" pitchFamily="34" charset="-120"/>
              </a:rPr>
              <a:t> six branches on one system</a:t>
            </a:r>
            <a:endParaRPr lang="en-US" sz="3000" dirty="0"/>
          </a:p>
        </p:txBody>
      </p:sp>
      <p:sp>
        <p:nvSpPr>
          <p:cNvPr id="27" name="Text"/>
          <p:cNvSpPr txBox="1"/>
          <p:nvPr/>
        </p:nvSpPr>
        <p:spPr>
          <a:xfrm>
            <a:off x="819120" y="1994489"/>
            <a:ext cx="765078" cy="107991"/>
          </a:xfrm>
          <a:prstGeom prst="rect">
            <a:avLst/>
          </a:prstGeom>
          <a:noFill/>
          <a:ln/>
        </p:spPr>
        <p:txBody>
          <a:bodyPr wrap="none" lIns="0" tIns="0" rIns="0" bIns="0" rtlCol="0" anchor="t"/>
          <a:lstStyle/>
          <a:p>
            <a:pPr algn="l" indent="0" marL="0">
              <a:lnSpc>
                <a:spcPts val="850"/>
              </a:lnSpc>
              <a:buNone/>
            </a:pPr>
            <a:r>
              <a:rPr lang="en-US" sz="850" dirty="0">
                <a:solidFill>
                  <a:srgbClr val="1F2937"/>
                </a:solidFill>
                <a:latin typeface="Poppins Medium" pitchFamily="34" charset="0"/>
                <a:ea typeface="Poppins Medium" pitchFamily="34" charset="-122"/>
                <a:cs typeface="Poppins Medium" pitchFamily="34" charset="-120"/>
              </a:rPr>
              <a:t>Pawn broking</a:t>
            </a:r>
            <a:endParaRPr lang="en-US" sz="850" dirty="0"/>
          </a:p>
        </p:txBody>
      </p:sp>
      <p:sp>
        <p:nvSpPr>
          <p:cNvPr id="28" name="Text"/>
          <p:cNvSpPr txBox="1"/>
          <p:nvPr/>
        </p:nvSpPr>
        <p:spPr>
          <a:xfrm>
            <a:off x="1838218" y="1994489"/>
            <a:ext cx="1903232" cy="107991"/>
          </a:xfrm>
          <a:prstGeom prst="rect">
            <a:avLst/>
          </a:prstGeom>
          <a:noFill/>
          <a:ln/>
        </p:spPr>
        <p:txBody>
          <a:bodyPr wrap="none" lIns="0" tIns="0" rIns="0" bIns="0" rtlCol="0" anchor="t"/>
          <a:lstStyle/>
          <a:p>
            <a:pPr algn="l" indent="0" marL="0">
              <a:lnSpc>
                <a:spcPts val="850"/>
              </a:lnSpc>
              <a:buNone/>
            </a:pPr>
            <a:r>
              <a:rPr lang="en-US" sz="850" dirty="0">
                <a:solidFill>
                  <a:srgbClr val="1F2937"/>
                </a:solidFill>
                <a:latin typeface="Poppins Medium" pitchFamily="34" charset="0"/>
                <a:ea typeface="Poppins Medium" pitchFamily="34" charset="-122"/>
                <a:cs typeface="Poppins Medium" pitchFamily="34" charset="-120"/>
              </a:rPr>
              <a:t>System integration and consulting</a:t>
            </a:r>
            <a:endParaRPr lang="en-US" sz="850" dirty="0"/>
          </a:p>
        </p:txBody>
      </p:sp>
      <p:sp>
        <p:nvSpPr>
          <p:cNvPr id="29" name="Text"/>
          <p:cNvSpPr txBox="1"/>
          <p:nvPr/>
        </p:nvSpPr>
        <p:spPr>
          <a:xfrm>
            <a:off x="3995471" y="1994489"/>
            <a:ext cx="517733" cy="107991"/>
          </a:xfrm>
          <a:prstGeom prst="rect">
            <a:avLst/>
          </a:prstGeom>
          <a:noFill/>
          <a:ln/>
        </p:spPr>
        <p:txBody>
          <a:bodyPr wrap="none" lIns="0" tIns="0" rIns="0" bIns="0" rtlCol="0" anchor="t"/>
          <a:lstStyle/>
          <a:p>
            <a:pPr algn="l" indent="0" marL="0">
              <a:lnSpc>
                <a:spcPts val="850"/>
              </a:lnSpc>
              <a:buNone/>
            </a:pPr>
            <a:r>
              <a:rPr lang="en-US" sz="850" dirty="0">
                <a:solidFill>
                  <a:srgbClr val="1F2937"/>
                </a:solidFill>
                <a:latin typeface="Poppins Medium" pitchFamily="34" charset="0"/>
                <a:ea typeface="Poppins Medium" pitchFamily="34" charset="-122"/>
                <a:cs typeface="Poppins Medium" pitchFamily="34" charset="-120"/>
              </a:rPr>
              <a:t>Malaysia</a:t>
            </a:r>
            <a:endParaRPr lang="en-US" sz="850" dirty="0"/>
          </a:p>
        </p:txBody>
      </p:sp>
      <p:sp>
        <p:nvSpPr>
          <p:cNvPr id="30" name="Text"/>
          <p:cNvSpPr txBox="1"/>
          <p:nvPr/>
        </p:nvSpPr>
        <p:spPr>
          <a:xfrm>
            <a:off x="4767133" y="1994489"/>
            <a:ext cx="1090148" cy="107991"/>
          </a:xfrm>
          <a:prstGeom prst="rect">
            <a:avLst/>
          </a:prstGeom>
          <a:noFill/>
          <a:ln/>
        </p:spPr>
        <p:txBody>
          <a:bodyPr wrap="none" lIns="0" tIns="0" rIns="0" bIns="0" rtlCol="0" anchor="t"/>
          <a:lstStyle/>
          <a:p>
            <a:pPr algn="l" indent="0" marL="0">
              <a:lnSpc>
                <a:spcPts val="850"/>
              </a:lnSpc>
              <a:buNone/>
            </a:pPr>
            <a:r>
              <a:rPr lang="en-US" sz="850" dirty="0">
                <a:solidFill>
                  <a:srgbClr val="1F2937"/>
                </a:solidFill>
                <a:latin typeface="Poppins Medium" pitchFamily="34" charset="0"/>
                <a:ea typeface="Poppins Medium" pitchFamily="34" charset="-122"/>
                <a:cs typeface="Poppins Medium" pitchFamily="34" charset="-120"/>
              </a:rPr>
              <a:t>Taken over midway</a:t>
            </a:r>
            <a:endParaRPr lang="en-US" sz="850" dirty="0"/>
          </a:p>
        </p:txBody>
      </p:sp>
      <p:sp>
        <p:nvSpPr>
          <p:cNvPr id="31" name="Text"/>
          <p:cNvSpPr txBox="1"/>
          <p:nvPr/>
        </p:nvSpPr>
        <p:spPr>
          <a:xfrm>
            <a:off x="711220" y="2585375"/>
            <a:ext cx="3457438" cy="177119"/>
          </a:xfrm>
          <a:prstGeom prst="rect">
            <a:avLst/>
          </a:prstGeom>
          <a:noFill/>
          <a:ln/>
        </p:spPr>
        <p:txBody>
          <a:bodyPr wrap="square" lIns="0" tIns="0" rIns="0" bIns="0" rtlCol="0" anchor="t"/>
          <a:lstStyle/>
          <a:p>
            <a:pPr algn="l" indent="0" marL="0">
              <a:lnSpc>
                <a:spcPts val="1395"/>
              </a:lnSpc>
              <a:buNone/>
            </a:pPr>
            <a:r>
              <a:rPr lang="en-US" sz="900" spc="36" kern="0" dirty="0">
                <a:solidFill>
                  <a:srgbClr val="6B6B6B"/>
                </a:solidFill>
                <a:latin typeface="Poppins Medium" pitchFamily="34" charset="0"/>
                <a:ea typeface="Poppins Medium" pitchFamily="34" charset="-122"/>
                <a:cs typeface="Poppins Medium" pitchFamily="34" charset="-120"/>
              </a:rPr>
              <a:t>Situation</a:t>
            </a:r>
            <a:endParaRPr lang="en-US" sz="900" dirty="0"/>
          </a:p>
        </p:txBody>
      </p:sp>
      <p:sp>
        <p:nvSpPr>
          <p:cNvPr id="32" name="Text"/>
          <p:cNvSpPr txBox="1"/>
          <p:nvPr/>
        </p:nvSpPr>
        <p:spPr>
          <a:xfrm>
            <a:off x="711220" y="2850733"/>
            <a:ext cx="3457438" cy="1082650"/>
          </a:xfrm>
          <a:prstGeom prst="rect">
            <a:avLst/>
          </a:prstGeom>
          <a:noFill/>
          <a:ln/>
        </p:spPr>
        <p:txBody>
          <a:bodyPr wrap="square" lIns="0" tIns="0" rIns="0" bIns="0" rtlCol="0" anchor="t"/>
          <a:lstStyle/>
          <a:p>
            <a:pPr algn="l" indent="0" marL="0">
              <a:lnSpc>
                <a:spcPts val="1705"/>
              </a:lnSpc>
              <a:buNone/>
            </a:pPr>
            <a:r>
              <a:rPr lang="en-US" sz="1100" dirty="0">
                <a:solidFill>
                  <a:srgbClr val="1F2937"/>
                </a:solidFill>
                <a:latin typeface="Poppins Light" pitchFamily="34" charset="0"/>
                <a:ea typeface="Poppins Light" pitchFamily="34" charset="-122"/>
                <a:cs typeface="Poppins Light" pitchFamily="34" charset="-120"/>
              </a:rPr>
              <a:t>iPajak Group is a multi-branch pawn broker in Malaysia that has disbursed MYR 500 million. Its project to run six branches on one centralised pawn brokerage system was already under way when ALPHV took it over.</a:t>
            </a:r>
            <a:endParaRPr lang="en-US" sz="1100" dirty="0"/>
          </a:p>
        </p:txBody>
      </p:sp>
      <p:sp>
        <p:nvSpPr>
          <p:cNvPr id="33" name="Text"/>
          <p:cNvSpPr txBox="1"/>
          <p:nvPr/>
        </p:nvSpPr>
        <p:spPr>
          <a:xfrm>
            <a:off x="895380" y="4816511"/>
            <a:ext cx="3087654" cy="203180"/>
          </a:xfrm>
          <a:prstGeom prst="rect">
            <a:avLst/>
          </a:prstGeom>
          <a:noFill/>
          <a:ln/>
        </p:spPr>
        <p:txBody>
          <a:bodyPr wrap="square" lIns="0" tIns="0" rIns="0" bIns="0" rtlCol="0" anchor="t"/>
          <a:lstStyle/>
          <a:p>
            <a:pPr algn="l" indent="0" marL="0">
              <a:lnSpc>
                <a:spcPts val="1600"/>
              </a:lnSpc>
              <a:buNone/>
            </a:pPr>
            <a:r>
              <a:rPr lang="en-US" sz="1250" dirty="0">
                <a:solidFill>
                  <a:srgbClr val="000000"/>
                </a:solidFill>
                <a:latin typeface="Poppins Medium" pitchFamily="34" charset="0"/>
                <a:ea typeface="Poppins Medium" pitchFamily="34" charset="-122"/>
                <a:cs typeface="Poppins Medium" pitchFamily="34" charset="-120"/>
              </a:rPr>
              <a:t>iPajak Group</a:t>
            </a:r>
            <a:endParaRPr lang="en-US" sz="1250" dirty="0"/>
          </a:p>
        </p:txBody>
      </p:sp>
      <p:sp>
        <p:nvSpPr>
          <p:cNvPr id="34" name="Text"/>
          <p:cNvSpPr txBox="1"/>
          <p:nvPr/>
        </p:nvSpPr>
        <p:spPr>
          <a:xfrm>
            <a:off x="895380" y="5043190"/>
            <a:ext cx="3087654" cy="168890"/>
          </a:xfrm>
          <a:prstGeom prst="rect">
            <a:avLst/>
          </a:prstGeom>
          <a:noFill/>
          <a:ln/>
        </p:spPr>
        <p:txBody>
          <a:bodyPr wrap="square" lIns="0" tIns="0" rIns="0" bIns="0" rtlCol="0" anchor="t"/>
          <a:lstStyle/>
          <a:p>
            <a:pPr algn="l" indent="0" marL="0">
              <a:lnSpc>
                <a:spcPts val="1330"/>
              </a:lnSpc>
              <a:buNone/>
            </a:pPr>
            <a:r>
              <a:rPr lang="en-US" sz="950" dirty="0">
                <a:solidFill>
                  <a:srgbClr val="6B6B6B"/>
                </a:solidFill>
                <a:latin typeface="Poppins Light" pitchFamily="34" charset="0"/>
                <a:ea typeface="Poppins Light" pitchFamily="34" charset="-122"/>
                <a:cs typeface="Poppins Light" pitchFamily="34" charset="-120"/>
              </a:rPr>
              <a:t>Multi-branch pawn broker, Malaysia</a:t>
            </a:r>
            <a:endParaRPr lang="en-US" sz="950" dirty="0"/>
          </a:p>
        </p:txBody>
      </p:sp>
      <p:sp>
        <p:nvSpPr>
          <p:cNvPr id="35" name="Text"/>
          <p:cNvSpPr txBox="1"/>
          <p:nvPr/>
        </p:nvSpPr>
        <p:spPr>
          <a:xfrm>
            <a:off x="1022391" y="5536143"/>
            <a:ext cx="2832628" cy="193396"/>
          </a:xfrm>
          <a:prstGeom prst="rect">
            <a:avLst/>
          </a:prstGeom>
          <a:noFill/>
          <a:ln/>
        </p:spPr>
        <p:txBody>
          <a:bodyPr wrap="square" lIns="0" tIns="0" rIns="0" bIns="0" rtlCol="0" anchor="t"/>
          <a:lstStyle/>
          <a:p>
            <a:pPr algn="l" indent="0" marL="0">
              <a:lnSpc>
                <a:spcPts val="1522"/>
              </a:lnSpc>
              <a:buNone/>
            </a:pPr>
            <a:r>
              <a:rPr lang="en-US" sz="1050" dirty="0">
                <a:solidFill>
                  <a:srgbClr val="000000"/>
                </a:solidFill>
                <a:latin typeface="Poppins Light" pitchFamily="34" charset="0"/>
                <a:ea typeface="Poppins Light" pitchFamily="34" charset="-122"/>
                <a:cs typeface="Poppins Light" pitchFamily="34" charset="-120"/>
              </a:rPr>
              <a:t>Delivered after a mid-project handover.</a:t>
            </a:r>
            <a:endParaRPr lang="en-US" sz="1050" dirty="0"/>
          </a:p>
        </p:txBody>
      </p:sp>
      <p:sp>
        <p:nvSpPr>
          <p:cNvPr id="36" name="Text"/>
          <p:cNvSpPr txBox="1"/>
          <p:nvPr/>
        </p:nvSpPr>
        <p:spPr>
          <a:xfrm>
            <a:off x="4294571" y="2585375"/>
            <a:ext cx="3457529" cy="177119"/>
          </a:xfrm>
          <a:prstGeom prst="rect">
            <a:avLst/>
          </a:prstGeom>
          <a:noFill/>
          <a:ln/>
        </p:spPr>
        <p:txBody>
          <a:bodyPr wrap="square" lIns="0" tIns="0" rIns="0" bIns="0" rtlCol="0" anchor="t"/>
          <a:lstStyle/>
          <a:p>
            <a:pPr algn="l" indent="0" marL="0">
              <a:lnSpc>
                <a:spcPts val="1395"/>
              </a:lnSpc>
              <a:buNone/>
            </a:pPr>
            <a:r>
              <a:rPr lang="en-US" sz="900" spc="36" kern="0" dirty="0">
                <a:solidFill>
                  <a:srgbClr val="6B6B6B"/>
                </a:solidFill>
                <a:latin typeface="Poppins Medium" pitchFamily="34" charset="0"/>
                <a:ea typeface="Poppins Medium" pitchFamily="34" charset="-122"/>
                <a:cs typeface="Poppins Medium" pitchFamily="34" charset="-120"/>
              </a:rPr>
              <a:t>Approach</a:t>
            </a:r>
            <a:endParaRPr lang="en-US" sz="900" dirty="0"/>
          </a:p>
        </p:txBody>
      </p:sp>
      <p:sp>
        <p:nvSpPr>
          <p:cNvPr id="37" name="Text"/>
          <p:cNvSpPr txBox="1"/>
          <p:nvPr/>
        </p:nvSpPr>
        <p:spPr>
          <a:xfrm>
            <a:off x="4294571" y="2850733"/>
            <a:ext cx="3457529" cy="433060"/>
          </a:xfrm>
          <a:prstGeom prst="rect">
            <a:avLst/>
          </a:prstGeom>
          <a:noFill/>
          <a:ln/>
        </p:spPr>
        <p:txBody>
          <a:bodyPr wrap="square" lIns="0" tIns="0" rIns="0" bIns="0" rtlCol="0" anchor="t"/>
          <a:lstStyle/>
          <a:p>
            <a:pPr algn="l" indent="0" marL="0">
              <a:lnSpc>
                <a:spcPts val="1705"/>
              </a:lnSpc>
              <a:buNone/>
            </a:pPr>
            <a:r>
              <a:rPr lang="en-US" sz="1100" dirty="0">
                <a:solidFill>
                  <a:srgbClr val="000000"/>
                </a:solidFill>
                <a:latin typeface="Poppins Medium" pitchFamily="34" charset="0"/>
                <a:ea typeface="Poppins Medium" pitchFamily="34" charset="-122"/>
                <a:cs typeface="Poppins Medium" pitchFamily="34" charset="-120"/>
              </a:rPr>
              <a:t>A centralised pawn brokerage system for iPajak Group’s branches across Malaysia.</a:t>
            </a:r>
            <a:endParaRPr lang="en-US" sz="1100" dirty="0"/>
          </a:p>
        </p:txBody>
      </p:sp>
      <p:sp>
        <p:nvSpPr>
          <p:cNvPr id="38" name="Text"/>
          <p:cNvSpPr txBox="1"/>
          <p:nvPr/>
        </p:nvSpPr>
        <p:spPr>
          <a:xfrm>
            <a:off x="4459712" y="3376148"/>
            <a:ext cx="3291749" cy="209580"/>
          </a:xfrm>
          <a:prstGeom prst="rect">
            <a:avLst/>
          </a:prstGeom>
          <a:noFill/>
          <a:ln/>
        </p:spPr>
        <p:txBody>
          <a:bodyPr wrap="square" lIns="0" tIns="0" rIns="0" bIns="0" rtlCol="0" anchor="t"/>
          <a:lstStyle/>
          <a:p>
            <a:pPr algn="l" indent="0" marL="0">
              <a:lnSpc>
                <a:spcPts val="1650"/>
              </a:lnSpc>
              <a:buNone/>
            </a:pPr>
            <a:r>
              <a:rPr lang="en-US" sz="1100" dirty="0">
                <a:solidFill>
                  <a:srgbClr val="1F2937"/>
                </a:solidFill>
                <a:latin typeface="Poppins Light" pitchFamily="34" charset="0"/>
                <a:ea typeface="Poppins Light" pitchFamily="34" charset="-122"/>
                <a:cs typeface="Poppins Light" pitchFamily="34" charset="-120"/>
              </a:rPr>
              <a:t>Took over a project already in progress</a:t>
            </a:r>
            <a:endParaRPr lang="en-US" sz="1100" dirty="0"/>
          </a:p>
        </p:txBody>
      </p:sp>
      <p:sp>
        <p:nvSpPr>
          <p:cNvPr id="39" name="Text"/>
          <p:cNvSpPr txBox="1"/>
          <p:nvPr/>
        </p:nvSpPr>
        <p:spPr>
          <a:xfrm>
            <a:off x="4459712" y="3661898"/>
            <a:ext cx="3291749" cy="209580"/>
          </a:xfrm>
          <a:prstGeom prst="rect">
            <a:avLst/>
          </a:prstGeom>
          <a:noFill/>
          <a:ln/>
        </p:spPr>
        <p:txBody>
          <a:bodyPr wrap="square" lIns="0" tIns="0" rIns="0" bIns="0" rtlCol="0" anchor="t"/>
          <a:lstStyle/>
          <a:p>
            <a:pPr algn="l" indent="0" marL="0">
              <a:lnSpc>
                <a:spcPts val="1650"/>
              </a:lnSpc>
              <a:buNone/>
            </a:pPr>
            <a:r>
              <a:rPr lang="en-US" sz="1100" dirty="0">
                <a:solidFill>
                  <a:srgbClr val="1F2937"/>
                </a:solidFill>
                <a:latin typeface="Poppins Light" pitchFamily="34" charset="0"/>
                <a:ea typeface="Poppins Light" pitchFamily="34" charset="-122"/>
                <a:cs typeface="Poppins Light" pitchFamily="34" charset="-120"/>
              </a:rPr>
              <a:t>Scoped the remaining work with the client</a:t>
            </a:r>
            <a:endParaRPr lang="en-US" sz="1100" dirty="0"/>
          </a:p>
        </p:txBody>
      </p:sp>
      <p:sp>
        <p:nvSpPr>
          <p:cNvPr id="40" name="Text"/>
          <p:cNvSpPr txBox="1"/>
          <p:nvPr/>
        </p:nvSpPr>
        <p:spPr>
          <a:xfrm>
            <a:off x="4459712" y="3947648"/>
            <a:ext cx="3291749" cy="209580"/>
          </a:xfrm>
          <a:prstGeom prst="rect">
            <a:avLst/>
          </a:prstGeom>
          <a:noFill/>
          <a:ln/>
        </p:spPr>
        <p:txBody>
          <a:bodyPr wrap="square" lIns="0" tIns="0" rIns="0" bIns="0" rtlCol="0" anchor="t"/>
          <a:lstStyle/>
          <a:p>
            <a:pPr algn="l" indent="0" marL="0">
              <a:lnSpc>
                <a:spcPts val="1650"/>
              </a:lnSpc>
              <a:buNone/>
            </a:pPr>
            <a:r>
              <a:rPr lang="en-US" sz="1100" dirty="0">
                <a:solidFill>
                  <a:srgbClr val="1F2937"/>
                </a:solidFill>
                <a:latin typeface="Poppins Light" pitchFamily="34" charset="0"/>
                <a:ea typeface="Poppins Light" pitchFamily="34" charset="-122"/>
                <a:cs typeface="Poppins Light" pitchFamily="34" charset="-120"/>
              </a:rPr>
              <a:t>Built and integrated the centralised system</a:t>
            </a:r>
            <a:endParaRPr lang="en-US" sz="1100" dirty="0"/>
          </a:p>
        </p:txBody>
      </p:sp>
      <p:sp>
        <p:nvSpPr>
          <p:cNvPr id="41" name="Text"/>
          <p:cNvSpPr txBox="1"/>
          <p:nvPr/>
        </p:nvSpPr>
        <p:spPr>
          <a:xfrm>
            <a:off x="4459712" y="4233398"/>
            <a:ext cx="3291749" cy="209580"/>
          </a:xfrm>
          <a:prstGeom prst="rect">
            <a:avLst/>
          </a:prstGeom>
          <a:noFill/>
          <a:ln/>
        </p:spPr>
        <p:txBody>
          <a:bodyPr wrap="square" lIns="0" tIns="0" rIns="0" bIns="0" rtlCol="0" anchor="t"/>
          <a:lstStyle/>
          <a:p>
            <a:pPr algn="l" indent="0" marL="0">
              <a:lnSpc>
                <a:spcPts val="1650"/>
              </a:lnSpc>
              <a:buNone/>
            </a:pPr>
            <a:r>
              <a:rPr lang="en-US" sz="1100" dirty="0">
                <a:solidFill>
                  <a:srgbClr val="1F2937"/>
                </a:solidFill>
                <a:latin typeface="Poppins Light" pitchFamily="34" charset="0"/>
                <a:ea typeface="Poppins Light" pitchFamily="34" charset="-122"/>
                <a:cs typeface="Poppins Light" pitchFamily="34" charset="-120"/>
              </a:rPr>
              <a:t>Delivered one system for all six branches</a:t>
            </a:r>
            <a:endParaRPr lang="en-US" sz="1100" dirty="0"/>
          </a:p>
        </p:txBody>
      </p:sp>
      <p:sp>
        <p:nvSpPr>
          <p:cNvPr id="42" name="Text"/>
          <p:cNvSpPr txBox="1"/>
          <p:nvPr/>
        </p:nvSpPr>
        <p:spPr>
          <a:xfrm>
            <a:off x="4294571" y="5374935"/>
            <a:ext cx="3457529" cy="649590"/>
          </a:xfrm>
          <a:prstGeom prst="rect">
            <a:avLst/>
          </a:prstGeom>
          <a:noFill/>
          <a:ln/>
        </p:spPr>
        <p:txBody>
          <a:bodyPr wrap="square" lIns="0" tIns="0" rIns="0" bIns="0" rtlCol="0" anchor="t"/>
          <a:lstStyle/>
          <a:p>
            <a:pPr algn="l" indent="0" marL="0">
              <a:lnSpc>
                <a:spcPts val="1705"/>
              </a:lnSpc>
              <a:buNone/>
            </a:pPr>
            <a:r>
              <a:rPr lang="en-US" sz="1100" dirty="0">
                <a:solidFill>
                  <a:srgbClr val="000000"/>
                </a:solidFill>
                <a:latin typeface="Poppins Medium" pitchFamily="34" charset="0"/>
                <a:ea typeface="Poppins Medium" pitchFamily="34" charset="-122"/>
                <a:cs typeface="Poppins Medium" pitchFamily="34" charset="-120"/>
              </a:rPr>
              <a:t>How it runs.</a:t>
            </a:r>
            <a:pPr algn="l" indent="0" marL="0">
              <a:lnSpc>
                <a:spcPts val="1705"/>
              </a:lnSpc>
              <a:buNone/>
            </a:pPr>
            <a:r>
              <a:rPr lang="en-US" sz="1100" dirty="0">
                <a:solidFill>
                  <a:srgbClr val="1F2937"/>
                </a:solidFill>
                <a:latin typeface="Poppins Light" pitchFamily="34" charset="0"/>
                <a:ea typeface="Poppins Light" pitchFamily="34" charset="-122"/>
                <a:cs typeface="Poppins Light" pitchFamily="34" charset="-120"/>
              </a:rPr>
              <a:t> One centralised pawn brokerage system now serves all six of iPajak Group’s branches.</a:t>
            </a:r>
            <a:endParaRPr lang="en-US" sz="1100" dirty="0"/>
          </a:p>
        </p:txBody>
      </p:sp>
      <p:sp>
        <p:nvSpPr>
          <p:cNvPr id="43" name="Text"/>
          <p:cNvSpPr txBox="1"/>
          <p:nvPr/>
        </p:nvSpPr>
        <p:spPr>
          <a:xfrm>
            <a:off x="7878105" y="2585375"/>
            <a:ext cx="3629802" cy="177119"/>
          </a:xfrm>
          <a:prstGeom prst="rect">
            <a:avLst/>
          </a:prstGeom>
          <a:noFill/>
          <a:ln/>
        </p:spPr>
        <p:txBody>
          <a:bodyPr wrap="square" lIns="0" tIns="0" rIns="0" bIns="0" rtlCol="0" anchor="t"/>
          <a:lstStyle/>
          <a:p>
            <a:pPr algn="l" indent="0" marL="0">
              <a:lnSpc>
                <a:spcPts val="1395"/>
              </a:lnSpc>
              <a:buNone/>
            </a:pPr>
            <a:r>
              <a:rPr lang="en-US" sz="900" spc="36" kern="0" dirty="0">
                <a:solidFill>
                  <a:srgbClr val="044BD9"/>
                </a:solidFill>
                <a:latin typeface="Poppins Medium" pitchFamily="34" charset="0"/>
                <a:ea typeface="Poppins Medium" pitchFamily="34" charset="-122"/>
                <a:cs typeface="Poppins Medium" pitchFamily="34" charset="-120"/>
              </a:rPr>
              <a:t>Impact</a:t>
            </a:r>
            <a:endParaRPr lang="en-US" sz="900" dirty="0"/>
          </a:p>
        </p:txBody>
      </p:sp>
      <p:sp>
        <p:nvSpPr>
          <p:cNvPr id="44" name="Text"/>
          <p:cNvSpPr txBox="1"/>
          <p:nvPr/>
        </p:nvSpPr>
        <p:spPr>
          <a:xfrm>
            <a:off x="7878105" y="2851008"/>
            <a:ext cx="3629802" cy="609630"/>
          </a:xfrm>
          <a:prstGeom prst="rect">
            <a:avLst/>
          </a:prstGeom>
          <a:noFill/>
          <a:ln/>
        </p:spPr>
        <p:txBody>
          <a:bodyPr wrap="square" lIns="0" tIns="0" rIns="0" bIns="0" rtlCol="0" anchor="t"/>
          <a:lstStyle/>
          <a:p>
            <a:pPr algn="l" indent="0" marL="0">
              <a:lnSpc>
                <a:spcPts val="4800"/>
              </a:lnSpc>
              <a:buNone/>
            </a:pPr>
            <a:r>
              <a:rPr lang="en-US" sz="4800" spc="-96" kern="0" dirty="0">
                <a:solidFill>
                  <a:srgbClr val="044BD9"/>
                </a:solidFill>
                <a:latin typeface="Poppins Medium" pitchFamily="34" charset="0"/>
                <a:ea typeface="Poppins Medium" pitchFamily="34" charset="-122"/>
                <a:cs typeface="Poppins Medium" pitchFamily="34" charset="-120"/>
              </a:rPr>
              <a:t>6</a:t>
            </a:r>
            <a:endParaRPr lang="en-US" sz="4800" dirty="0"/>
          </a:p>
        </p:txBody>
      </p:sp>
      <p:sp>
        <p:nvSpPr>
          <p:cNvPr id="45" name="Text"/>
          <p:cNvSpPr txBox="1"/>
          <p:nvPr/>
        </p:nvSpPr>
        <p:spPr>
          <a:xfrm>
            <a:off x="7878105" y="3511113"/>
            <a:ext cx="3629802" cy="433060"/>
          </a:xfrm>
          <a:prstGeom prst="rect">
            <a:avLst/>
          </a:prstGeom>
          <a:noFill/>
          <a:ln/>
        </p:spPr>
        <p:txBody>
          <a:bodyPr wrap="square" lIns="0" tIns="0" rIns="0" bIns="0" rtlCol="0" anchor="t"/>
          <a:lstStyle/>
          <a:p>
            <a:pPr algn="l" indent="0" marL="0">
              <a:lnSpc>
                <a:spcPts val="1705"/>
              </a:lnSpc>
              <a:buNone/>
            </a:pPr>
            <a:r>
              <a:rPr lang="en-US" sz="1100" dirty="0">
                <a:solidFill>
                  <a:srgbClr val="6B6B6B"/>
                </a:solidFill>
                <a:latin typeface="Poppins Light" pitchFamily="34" charset="0"/>
                <a:ea typeface="Poppins Light" pitchFamily="34" charset="-122"/>
                <a:cs typeface="Poppins Light" pitchFamily="34" charset="-120"/>
              </a:rPr>
              <a:t>Branches across Malaysia on one pawn brokerage system: delivered and running</a:t>
            </a:r>
            <a:endParaRPr lang="en-US" sz="1100" dirty="0"/>
          </a:p>
        </p:txBody>
      </p:sp>
      <p:sp>
        <p:nvSpPr>
          <p:cNvPr id="46" name="Text"/>
          <p:cNvSpPr txBox="1"/>
          <p:nvPr/>
        </p:nvSpPr>
        <p:spPr>
          <a:xfrm>
            <a:off x="7878105" y="4267596"/>
            <a:ext cx="3629802" cy="1190640"/>
          </a:xfrm>
          <a:prstGeom prst="rect">
            <a:avLst/>
          </a:prstGeom>
          <a:noFill/>
          <a:ln/>
        </p:spPr>
        <p:txBody>
          <a:bodyPr wrap="square" lIns="0" tIns="0" rIns="0" bIns="0" rtlCol="0" anchor="t"/>
          <a:lstStyle/>
          <a:p>
            <a:pPr algn="l" indent="0" marL="0">
              <a:lnSpc>
                <a:spcPts val="1875"/>
              </a:lnSpc>
              <a:buNone/>
            </a:pPr>
            <a:r>
              <a:rPr lang="en-US" sz="1250" spc="-6" kern="0" dirty="0">
                <a:solidFill>
                  <a:srgbClr val="000000"/>
                </a:solidFill>
                <a:latin typeface="Poppins Light" pitchFamily="34" charset="0"/>
                <a:ea typeface="Poppins Light" pitchFamily="34" charset="-122"/>
                <a:cs typeface="Poppins Light" pitchFamily="34" charset="-120"/>
              </a:rPr>
              <a:t>“Daren and the ALPHV team have been exceptional to work with and have done a commendable job taking over the project midway, especially in providing their technical expertise to meet our specific needs.”</a:t>
            </a:r>
            <a:endParaRPr lang="en-US" sz="1250" dirty="0"/>
          </a:p>
        </p:txBody>
      </p:sp>
      <p:sp>
        <p:nvSpPr>
          <p:cNvPr id="47" name="Text"/>
          <p:cNvSpPr txBox="1"/>
          <p:nvPr/>
        </p:nvSpPr>
        <p:spPr>
          <a:xfrm>
            <a:off x="7878105" y="5556169"/>
            <a:ext cx="3629802" cy="226405"/>
          </a:xfrm>
          <a:prstGeom prst="rect">
            <a:avLst/>
          </a:prstGeom>
          <a:noFill/>
          <a:ln/>
        </p:spPr>
        <p:txBody>
          <a:bodyPr wrap="square" lIns="0" tIns="0" rIns="0" bIns="0" rtlCol="0" anchor="t"/>
          <a:lstStyle/>
          <a:p>
            <a:pPr algn="l" indent="0" marL="0">
              <a:lnSpc>
                <a:spcPts val="1782"/>
              </a:lnSpc>
              <a:buNone/>
            </a:pPr>
            <a:r>
              <a:rPr lang="en-US" sz="1150" dirty="0">
                <a:solidFill>
                  <a:srgbClr val="000000"/>
                </a:solidFill>
                <a:latin typeface="Poppins Medium" pitchFamily="34" charset="0"/>
                <a:ea typeface="Poppins Medium" pitchFamily="34" charset="-122"/>
                <a:cs typeface="Poppins Medium" pitchFamily="34" charset="-120"/>
              </a:rPr>
              <a:t>Chong Voon Ying</a:t>
            </a:r>
            <a:endParaRPr lang="en-US" sz="1150" dirty="0"/>
          </a:p>
        </p:txBody>
      </p:sp>
      <p:sp>
        <p:nvSpPr>
          <p:cNvPr id="48" name="Text"/>
          <p:cNvSpPr txBox="1"/>
          <p:nvPr/>
        </p:nvSpPr>
        <p:spPr>
          <a:xfrm>
            <a:off x="7878105" y="5808177"/>
            <a:ext cx="3629802" cy="206654"/>
          </a:xfrm>
          <a:prstGeom prst="rect">
            <a:avLst/>
          </a:prstGeom>
          <a:noFill/>
          <a:ln/>
        </p:spPr>
        <p:txBody>
          <a:bodyPr wrap="square" lIns="0" tIns="0" rIns="0" bIns="0" rtlCol="0" anchor="t"/>
          <a:lstStyle/>
          <a:p>
            <a:pPr algn="l" indent="0" marL="0">
              <a:lnSpc>
                <a:spcPts val="1627"/>
              </a:lnSpc>
              <a:buNone/>
            </a:pPr>
            <a:r>
              <a:rPr lang="en-US" sz="1050" dirty="0">
                <a:solidFill>
                  <a:srgbClr val="6B6B6B"/>
                </a:solidFill>
                <a:latin typeface="Poppins Light" pitchFamily="34" charset="0"/>
                <a:ea typeface="Poppins Light" pitchFamily="34" charset="-122"/>
                <a:cs typeface="Poppins Light" pitchFamily="34" charset="-120"/>
              </a:rPr>
              <a:t>CEO, iPajak Group</a:t>
            </a:r>
            <a:endParaRPr lang="en-US" sz="1050" dirty="0"/>
          </a:p>
        </p:txBody>
      </p:sp>
      <p:sp>
        <p:nvSpPr>
          <p:cNvPr id="49" name="Text"/>
          <p:cNvSpPr txBox="1"/>
          <p:nvPr/>
        </p:nvSpPr>
        <p:spPr>
          <a:xfrm>
            <a:off x="6287140" y="276240"/>
            <a:ext cx="708477"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Point of view</a:t>
            </a:r>
            <a:endParaRPr lang="en-US" sz="850" dirty="0"/>
          </a:p>
        </p:txBody>
      </p:sp>
      <p:sp>
        <p:nvSpPr>
          <p:cNvPr id="50" name="Text"/>
          <p:cNvSpPr txBox="1"/>
          <p:nvPr/>
        </p:nvSpPr>
        <p:spPr>
          <a:xfrm>
            <a:off x="7240494" y="276240"/>
            <a:ext cx="665958"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Who we are</a:t>
            </a:r>
            <a:endParaRPr lang="en-US" sz="850" dirty="0"/>
          </a:p>
        </p:txBody>
      </p:sp>
      <p:sp>
        <p:nvSpPr>
          <p:cNvPr id="51" name="Text"/>
          <p:cNvSpPr txBox="1"/>
          <p:nvPr/>
        </p:nvSpPr>
        <p:spPr>
          <a:xfrm>
            <a:off x="8151510" y="276240"/>
            <a:ext cx="671261"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What we do</a:t>
            </a:r>
            <a:endParaRPr lang="en-US" sz="850" dirty="0"/>
          </a:p>
        </p:txBody>
      </p:sp>
      <p:sp>
        <p:nvSpPr>
          <p:cNvPr id="52" name="Text"/>
          <p:cNvSpPr txBox="1"/>
          <p:nvPr/>
        </p:nvSpPr>
        <p:spPr>
          <a:xfrm>
            <a:off x="9067830" y="276240"/>
            <a:ext cx="1205728"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Sectors and products</a:t>
            </a:r>
            <a:endParaRPr lang="en-US" sz="850" dirty="0"/>
          </a:p>
        </p:txBody>
      </p:sp>
      <p:sp>
        <p:nvSpPr>
          <p:cNvPr id="53" name="Text"/>
          <p:cNvSpPr txBox="1"/>
          <p:nvPr/>
        </p:nvSpPr>
        <p:spPr>
          <a:xfrm>
            <a:off x="10516423" y="276240"/>
            <a:ext cx="298552"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044BD9"/>
                </a:solidFill>
                <a:latin typeface="Poppins Medium" pitchFamily="34" charset="0"/>
                <a:ea typeface="Poppins Medium" pitchFamily="34" charset="-122"/>
                <a:cs typeface="Poppins Medium" pitchFamily="34" charset="-120"/>
              </a:rPr>
              <a:t>Proof</a:t>
            </a:r>
            <a:endParaRPr lang="en-US" sz="850" dirty="0"/>
          </a:p>
        </p:txBody>
      </p:sp>
      <p:sp>
        <p:nvSpPr>
          <p:cNvPr id="54" name="Text"/>
          <p:cNvSpPr txBox="1"/>
          <p:nvPr/>
        </p:nvSpPr>
        <p:spPr>
          <a:xfrm>
            <a:off x="11061497" y="276240"/>
            <a:ext cx="433700"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Engage</a:t>
            </a:r>
            <a:endParaRPr lang="en-US" sz="850" dirty="0"/>
          </a:p>
        </p:txBody>
      </p:sp>
      <p:sp>
        <p:nvSpPr>
          <p:cNvPr id="55" name="Source"/>
          <p:cNvSpPr txBox="1"/>
          <p:nvPr/>
        </p:nvSpPr>
        <p:spPr>
          <a:xfrm>
            <a:off x="711220" y="6257971"/>
            <a:ext cx="8300740" cy="302301"/>
          </a:xfrm>
          <a:prstGeom prst="rect">
            <a:avLst/>
          </a:prstGeom>
          <a:noFill/>
          <a:ln/>
        </p:spPr>
        <p:txBody>
          <a:bodyPr wrap="square" lIns="0" tIns="0" rIns="0" bIns="0" rtlCol="0" anchor="t"/>
          <a:lstStyle/>
          <a:p>
            <a:pPr algn="l" indent="0" marL="0">
              <a:lnSpc>
                <a:spcPts val="1190"/>
              </a:lnSpc>
              <a:buNone/>
            </a:pPr>
            <a:r>
              <a:rPr lang="en-US" sz="850" dirty="0">
                <a:solidFill>
                  <a:srgbClr val="6B6B6B"/>
                </a:solidFill>
                <a:latin typeface="Poppins" pitchFamily="34" charset="0"/>
                <a:ea typeface="Poppins" pitchFamily="34" charset="-122"/>
                <a:cs typeface="Poppins" pitchFamily="34" charset="-120"/>
              </a:rPr>
              <a:t>Source: alphv.com/insights/pawn-brokerage-system-ipajak; alphv.com/services/system-integration-and-consulting; alphv.com/how-we-work (October 2026). Note: MYR 500 million is the client’s own scale, not an ALPHV result.</a:t>
            </a:r>
            <a:endParaRPr lang="en-US" sz="850" dirty="0"/>
          </a:p>
        </p:txBody>
      </p:sp>
      <p:sp>
        <p:nvSpPr>
          <p:cNvPr id="56" name="Text"/>
          <p:cNvSpPr txBox="1"/>
          <p:nvPr/>
        </p:nvSpPr>
        <p:spPr>
          <a:xfrm>
            <a:off x="9349649" y="6409030"/>
            <a:ext cx="393741" cy="151150"/>
          </a:xfrm>
          <a:prstGeom prst="rect">
            <a:avLst/>
          </a:prstGeom>
          <a:noFill/>
          <a:ln/>
        </p:spPr>
        <p:txBody>
          <a:bodyPr wrap="none" lIns="0" tIns="0" rIns="0" bIns="0" rtlCol="0" anchor="t"/>
          <a:lstStyle/>
          <a:p>
            <a:pPr algn="l" indent="0" marL="0">
              <a:lnSpc>
                <a:spcPts val="1190"/>
              </a:lnSpc>
              <a:buNone/>
            </a:pPr>
            <a:r>
              <a:rPr lang="en-US" sz="850" spc="34" kern="0" dirty="0">
                <a:solidFill>
                  <a:srgbClr val="000000"/>
                </a:solidFill>
                <a:latin typeface="Poppins SemiBold" pitchFamily="34" charset="0"/>
                <a:ea typeface="Poppins SemiBold" pitchFamily="34" charset="-122"/>
                <a:cs typeface="Poppins SemiBold" pitchFamily="34" charset="-120"/>
              </a:rPr>
              <a:t>ALPHV</a:t>
            </a:r>
            <a:endParaRPr lang="en-US" sz="850" dirty="0"/>
          </a:p>
        </p:txBody>
      </p:sp>
      <p:sp>
        <p:nvSpPr>
          <p:cNvPr id="57" name="Text"/>
          <p:cNvSpPr txBox="1"/>
          <p:nvPr/>
        </p:nvSpPr>
        <p:spPr>
          <a:xfrm>
            <a:off x="9857689" y="6409030"/>
            <a:ext cx="1377178" cy="151150"/>
          </a:xfrm>
          <a:prstGeom prst="rect">
            <a:avLst/>
          </a:prstGeom>
          <a:noFill/>
          <a:ln/>
        </p:spPr>
        <p:txBody>
          <a:bodyPr wrap="none" lIns="0" tIns="0" rIns="0" bIns="0" rtlCol="0" anchor="t"/>
          <a:lstStyle/>
          <a:p>
            <a:pPr algn="l" indent="0" marL="0">
              <a:lnSpc>
                <a:spcPts val="1190"/>
              </a:lnSpc>
              <a:buNone/>
            </a:pPr>
            <a:r>
              <a:rPr lang="en-US" sz="850" dirty="0">
                <a:solidFill>
                  <a:srgbClr val="6B6B6B"/>
                </a:solidFill>
                <a:latin typeface="Poppins" pitchFamily="34" charset="0"/>
                <a:ea typeface="Poppins" pitchFamily="34" charset="-122"/>
                <a:cs typeface="Poppins" pitchFamily="34" charset="-120"/>
              </a:rPr>
              <a:t>Corporate overview 2026</a:t>
            </a:r>
            <a:endParaRPr lang="en-US" sz="850" dirty="0"/>
          </a:p>
        </p:txBody>
      </p:sp>
      <p:sp>
        <p:nvSpPr>
          <p:cNvPr id="58" name="Text"/>
          <p:cNvSpPr txBox="1"/>
          <p:nvPr/>
        </p:nvSpPr>
        <p:spPr>
          <a:xfrm>
            <a:off x="11349167" y="6409030"/>
            <a:ext cx="157094" cy="151150"/>
          </a:xfrm>
          <a:prstGeom prst="rect">
            <a:avLst/>
          </a:prstGeom>
          <a:noFill/>
          <a:ln/>
        </p:spPr>
        <p:txBody>
          <a:bodyPr wrap="none" lIns="0" tIns="0" rIns="0" bIns="0" rtlCol="0" anchor="t"/>
          <a:lstStyle/>
          <a:p>
            <a:pPr algn="l" indent="0" marL="0">
              <a:lnSpc>
                <a:spcPts val="1190"/>
              </a:lnSpc>
              <a:buNone/>
            </a:pPr>
            <a:r>
              <a:rPr lang="en-US" sz="850" dirty="0">
                <a:solidFill>
                  <a:srgbClr val="000000"/>
                </a:solidFill>
                <a:latin typeface="Poppins Medium" pitchFamily="34" charset="0"/>
                <a:ea typeface="Poppins Medium" pitchFamily="34" charset="-122"/>
                <a:cs typeface="Poppins Medium" pitchFamily="34" charset="-120"/>
              </a:rPr>
              <a:t>26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badge"/>
          <p:cNvSpPr/>
          <p:nvPr/>
        </p:nvSpPr>
        <p:spPr>
          <a:xfrm>
            <a:off x="714421" y="536570"/>
            <a:ext cx="877367" cy="254020"/>
          </a:xfrm>
          <a:prstGeom prst="roundRect">
            <a:avLst>
              <a:gd name="adj" fmla="val 50000"/>
            </a:avLst>
          </a:prstGeom>
          <a:ln w="6350">
            <a:solidFill>
              <a:srgbClr val="155DFC"/>
            </a:solidFill>
            <a:prstDash val="solid"/>
          </a:ln>
        </p:spPr>
      </p:sp>
      <p:sp>
        <p:nvSpPr>
          <p:cNvPr id="3" name="tag"/>
          <p:cNvSpPr/>
          <p:nvPr/>
        </p:nvSpPr>
        <p:spPr>
          <a:xfrm>
            <a:off x="714421" y="1937339"/>
            <a:ext cx="1301466" cy="228600"/>
          </a:xfrm>
          <a:prstGeom prst="roundRect">
            <a:avLst>
              <a:gd name="adj" fmla="val 50000"/>
            </a:avLst>
          </a:prstGeom>
          <a:solidFill>
            <a:srgbClr val="FFFFFF"/>
          </a:solidFill>
          <a:ln w="6350">
            <a:solidFill>
              <a:srgbClr val="E3E6EC"/>
            </a:solidFill>
            <a:prstDash val="solid"/>
          </a:ln>
        </p:spPr>
      </p:sp>
      <p:sp>
        <p:nvSpPr>
          <p:cNvPr id="4" name="tag"/>
          <p:cNvSpPr/>
          <p:nvPr/>
        </p:nvSpPr>
        <p:spPr>
          <a:xfrm>
            <a:off x="2085655" y="1937339"/>
            <a:ext cx="675193" cy="228600"/>
          </a:xfrm>
          <a:prstGeom prst="roundRect">
            <a:avLst>
              <a:gd name="adj" fmla="val 50000"/>
            </a:avLst>
          </a:prstGeom>
          <a:solidFill>
            <a:srgbClr val="FFFFFF"/>
          </a:solidFill>
          <a:ln w="6350">
            <a:solidFill>
              <a:srgbClr val="E3E6EC"/>
            </a:solidFill>
            <a:prstDash val="solid"/>
          </a:ln>
        </p:spPr>
      </p:sp>
      <p:sp>
        <p:nvSpPr>
          <p:cNvPr id="5" name="tag"/>
          <p:cNvSpPr/>
          <p:nvPr/>
        </p:nvSpPr>
        <p:spPr>
          <a:xfrm>
            <a:off x="2830708" y="1937339"/>
            <a:ext cx="1413571" cy="228600"/>
          </a:xfrm>
          <a:prstGeom prst="roundRect">
            <a:avLst>
              <a:gd name="adj" fmla="val 50000"/>
            </a:avLst>
          </a:prstGeom>
          <a:solidFill>
            <a:srgbClr val="FFFFFF"/>
          </a:solidFill>
          <a:ln w="6350">
            <a:solidFill>
              <a:srgbClr val="E3E6EC"/>
            </a:solidFill>
            <a:prstDash val="solid"/>
          </a:ln>
        </p:spPr>
      </p:sp>
      <p:sp>
        <p:nvSpPr>
          <p:cNvPr id="6" name="tag"/>
          <p:cNvSpPr/>
          <p:nvPr/>
        </p:nvSpPr>
        <p:spPr>
          <a:xfrm>
            <a:off x="4310939" y="1934139"/>
            <a:ext cx="526694" cy="234909"/>
          </a:xfrm>
          <a:prstGeom prst="roundRect">
            <a:avLst>
              <a:gd name="adj" fmla="val 50020"/>
            </a:avLst>
          </a:prstGeom>
          <a:solidFill>
            <a:srgbClr val="044BD9">
              <a:alpha val="8000"/>
            </a:srgbClr>
          </a:solidFill>
          <a:ln/>
        </p:spPr>
      </p:sp>
      <p:sp>
        <p:nvSpPr>
          <p:cNvPr id="7" name="tag"/>
          <p:cNvSpPr/>
          <p:nvPr/>
        </p:nvSpPr>
        <p:spPr>
          <a:xfrm>
            <a:off x="4901093" y="1934139"/>
            <a:ext cx="966064" cy="234909"/>
          </a:xfrm>
          <a:prstGeom prst="roundRect">
            <a:avLst>
              <a:gd name="adj" fmla="val 50020"/>
            </a:avLst>
          </a:prstGeom>
          <a:solidFill>
            <a:srgbClr val="044BD9">
              <a:alpha val="8000"/>
            </a:srgbClr>
          </a:solidFill>
          <a:ln/>
        </p:spPr>
      </p:sp>
      <p:sp>
        <p:nvSpPr>
          <p:cNvPr id="8" name="Rule"/>
          <p:cNvSpPr/>
          <p:nvPr/>
        </p:nvSpPr>
        <p:spPr>
          <a:xfrm>
            <a:off x="711220" y="2454890"/>
            <a:ext cx="3431012" cy="0"/>
          </a:xfrm>
          <a:prstGeom prst="line">
            <a:avLst/>
          </a:prstGeom>
          <a:noFill/>
          <a:ln w="12700">
            <a:solidFill>
              <a:srgbClr val="000000"/>
            </a:solidFill>
            <a:prstDash val="solid"/>
          </a:ln>
        </p:spPr>
      </p:sp>
      <p:sp>
        <p:nvSpPr>
          <p:cNvPr id="9" name="card"/>
          <p:cNvSpPr/>
          <p:nvPr/>
        </p:nvSpPr>
        <p:spPr>
          <a:xfrm>
            <a:off x="714421" y="4118000"/>
            <a:ext cx="3424611" cy="1898660"/>
          </a:xfrm>
          <a:prstGeom prst="roundRect">
            <a:avLst>
              <a:gd name="adj" fmla="val 7860"/>
            </a:avLst>
          </a:prstGeom>
          <a:solidFill>
            <a:srgbClr val="FFFFFF"/>
          </a:solidFill>
          <a:ln w="6350">
            <a:solidFill>
              <a:srgbClr val="F0F0F0"/>
            </a:solidFill>
            <a:prstDash val="solid"/>
          </a:ln>
        </p:spPr>
      </p:sp>
      <p:pic>
        <p:nvPicPr>
          <p:cNvPr id="10" name="Picture" descr="Tasco Insurance web interface designed by ALPHV">    </p:cNvPr>
          <p:cNvPicPr>
            <a:picLocks noChangeAspect="1"/>
          </p:cNvPicPr>
          <p:nvPr/>
        </p:nvPicPr>
        <p:blipFill>
          <a:blip r:embed="rId1"/>
          <a:stretch>
            <a:fillRect/>
          </a:stretch>
        </p:blipFill>
        <p:spPr>
          <a:xfrm>
            <a:off x="846003" y="4184660"/>
            <a:ext cx="3161447" cy="1765341"/>
          </a:xfrm>
          <a:prstGeom prst="rect">
            <a:avLst/>
          </a:prstGeom>
        </p:spPr>
      </p:pic>
      <p:sp>
        <p:nvSpPr>
          <p:cNvPr id="11" name="tag"/>
          <p:cNvSpPr/>
          <p:nvPr/>
        </p:nvSpPr>
        <p:spPr>
          <a:xfrm>
            <a:off x="835030" y="5672572"/>
            <a:ext cx="2979481" cy="273040"/>
          </a:xfrm>
          <a:prstGeom prst="roundRect">
            <a:avLst>
              <a:gd name="adj" fmla="val 50000"/>
            </a:avLst>
          </a:prstGeom>
          <a:solidFill>
            <a:srgbClr val="FFFFFF"/>
          </a:solidFill>
          <a:ln w="6350">
            <a:solidFill>
              <a:srgbClr val="E3E6EC"/>
            </a:solidFill>
            <a:prstDash val="solid"/>
          </a:ln>
        </p:spPr>
      </p:sp>
      <p:sp>
        <p:nvSpPr>
          <p:cNvPr id="12" name="Rule"/>
          <p:cNvSpPr/>
          <p:nvPr/>
        </p:nvSpPr>
        <p:spPr>
          <a:xfrm>
            <a:off x="4294571" y="2454890"/>
            <a:ext cx="3431103" cy="0"/>
          </a:xfrm>
          <a:prstGeom prst="line">
            <a:avLst/>
          </a:prstGeom>
          <a:noFill/>
          <a:ln w="12700">
            <a:solidFill>
              <a:srgbClr val="000000"/>
            </a:solidFill>
            <a:prstDash val="solid"/>
          </a:ln>
        </p:spPr>
      </p:sp>
      <p:sp>
        <p:nvSpPr>
          <p:cNvPr id="13" name="li::before"/>
          <p:cNvSpPr/>
          <p:nvPr/>
        </p:nvSpPr>
        <p:spPr>
          <a:xfrm>
            <a:off x="4294571" y="3462741"/>
            <a:ext cx="57150" cy="57150"/>
          </a:xfrm>
          <a:prstGeom prst="rect">
            <a:avLst/>
          </a:prstGeom>
          <a:solidFill>
            <a:srgbClr val="044BD9"/>
          </a:solidFill>
          <a:ln/>
        </p:spPr>
      </p:sp>
      <p:sp>
        <p:nvSpPr>
          <p:cNvPr id="14" name="li::before"/>
          <p:cNvSpPr/>
          <p:nvPr/>
        </p:nvSpPr>
        <p:spPr>
          <a:xfrm>
            <a:off x="4294571" y="3748491"/>
            <a:ext cx="57150" cy="57150"/>
          </a:xfrm>
          <a:prstGeom prst="rect">
            <a:avLst/>
          </a:prstGeom>
          <a:solidFill>
            <a:srgbClr val="044BD9"/>
          </a:solidFill>
          <a:ln/>
        </p:spPr>
      </p:sp>
      <p:sp>
        <p:nvSpPr>
          <p:cNvPr id="15" name="li::before"/>
          <p:cNvSpPr/>
          <p:nvPr/>
        </p:nvSpPr>
        <p:spPr>
          <a:xfrm>
            <a:off x="4294571" y="4243822"/>
            <a:ext cx="57150" cy="57150"/>
          </a:xfrm>
          <a:prstGeom prst="rect">
            <a:avLst/>
          </a:prstGeom>
          <a:solidFill>
            <a:srgbClr val="044BD9"/>
          </a:solidFill>
          <a:ln/>
        </p:spPr>
      </p:sp>
      <p:sp>
        <p:nvSpPr>
          <p:cNvPr id="16" name="li::before"/>
          <p:cNvSpPr/>
          <p:nvPr/>
        </p:nvSpPr>
        <p:spPr>
          <a:xfrm>
            <a:off x="4294571" y="4739061"/>
            <a:ext cx="57150" cy="57150"/>
          </a:xfrm>
          <a:prstGeom prst="rect">
            <a:avLst/>
          </a:prstGeom>
          <a:solidFill>
            <a:srgbClr val="044BD9"/>
          </a:solidFill>
          <a:ln/>
        </p:spPr>
      </p:sp>
      <p:sp>
        <p:nvSpPr>
          <p:cNvPr id="17" name="Rule"/>
          <p:cNvSpPr/>
          <p:nvPr/>
        </p:nvSpPr>
        <p:spPr>
          <a:xfrm>
            <a:off x="4294571" y="5273711"/>
            <a:ext cx="3431103" cy="0"/>
          </a:xfrm>
          <a:prstGeom prst="line">
            <a:avLst/>
          </a:prstGeom>
          <a:noFill/>
          <a:ln w="6350">
            <a:solidFill>
              <a:srgbClr val="E3E6EC"/>
            </a:solidFill>
            <a:prstDash val="solid"/>
          </a:ln>
        </p:spPr>
      </p:sp>
      <p:sp>
        <p:nvSpPr>
          <p:cNvPr id="18" name="Rule"/>
          <p:cNvSpPr/>
          <p:nvPr/>
        </p:nvSpPr>
        <p:spPr>
          <a:xfrm>
            <a:off x="7878105" y="2454890"/>
            <a:ext cx="3602736" cy="0"/>
          </a:xfrm>
          <a:prstGeom prst="line">
            <a:avLst/>
          </a:prstGeom>
          <a:noFill/>
          <a:ln w="12700">
            <a:solidFill>
              <a:srgbClr val="044BD9"/>
            </a:solidFill>
            <a:prstDash val="solid"/>
          </a:ln>
        </p:spPr>
      </p:sp>
      <p:sp>
        <p:nvSpPr>
          <p:cNvPr id="19" name="Rule"/>
          <p:cNvSpPr/>
          <p:nvPr/>
        </p:nvSpPr>
        <p:spPr>
          <a:xfrm>
            <a:off x="7878105" y="3823198"/>
            <a:ext cx="3602736" cy="0"/>
          </a:xfrm>
          <a:prstGeom prst="line">
            <a:avLst/>
          </a:prstGeom>
          <a:noFill/>
          <a:ln w="6350">
            <a:solidFill>
              <a:srgbClr val="E3E6EC"/>
            </a:solidFill>
            <a:prstDash val="solid"/>
          </a:ln>
        </p:spPr>
      </p:sp>
      <p:sp>
        <p:nvSpPr>
          <p:cNvPr id="20" name="Rule"/>
          <p:cNvSpPr/>
          <p:nvPr/>
        </p:nvSpPr>
        <p:spPr>
          <a:xfrm>
            <a:off x="7878105" y="5273711"/>
            <a:ext cx="3602736" cy="0"/>
          </a:xfrm>
          <a:prstGeom prst="line">
            <a:avLst/>
          </a:prstGeom>
          <a:noFill/>
          <a:ln w="6350">
            <a:solidFill>
              <a:srgbClr val="E3E6EC"/>
            </a:solidFill>
            <a:prstDash val="solid"/>
          </a:ln>
        </p:spPr>
      </p:sp>
      <p:sp>
        <p:nvSpPr>
          <p:cNvPr id="21" name="span::before"/>
          <p:cNvSpPr/>
          <p:nvPr/>
        </p:nvSpPr>
        <p:spPr>
          <a:xfrm>
            <a:off x="6191860" y="311170"/>
            <a:ext cx="44440" cy="44440"/>
          </a:xfrm>
          <a:prstGeom prst="rect">
            <a:avLst/>
          </a:prstGeom>
          <a:solidFill>
            <a:srgbClr val="A0A6AF">
              <a:alpha val="55000"/>
            </a:srgbClr>
          </a:solidFill>
          <a:ln/>
        </p:spPr>
      </p:sp>
      <p:sp>
        <p:nvSpPr>
          <p:cNvPr id="22" name="span::before"/>
          <p:cNvSpPr/>
          <p:nvPr/>
        </p:nvSpPr>
        <p:spPr>
          <a:xfrm>
            <a:off x="7145213" y="311170"/>
            <a:ext cx="44440" cy="44440"/>
          </a:xfrm>
          <a:prstGeom prst="rect">
            <a:avLst/>
          </a:prstGeom>
          <a:solidFill>
            <a:srgbClr val="A0A6AF">
              <a:alpha val="55000"/>
            </a:srgbClr>
          </a:solidFill>
          <a:ln/>
        </p:spPr>
      </p:sp>
      <p:sp>
        <p:nvSpPr>
          <p:cNvPr id="23" name="span::before"/>
          <p:cNvSpPr/>
          <p:nvPr/>
        </p:nvSpPr>
        <p:spPr>
          <a:xfrm>
            <a:off x="8056230" y="311170"/>
            <a:ext cx="44440" cy="44440"/>
          </a:xfrm>
          <a:prstGeom prst="rect">
            <a:avLst/>
          </a:prstGeom>
          <a:solidFill>
            <a:srgbClr val="A0A6AF">
              <a:alpha val="55000"/>
            </a:srgbClr>
          </a:solidFill>
          <a:ln/>
        </p:spPr>
      </p:sp>
      <p:sp>
        <p:nvSpPr>
          <p:cNvPr id="24" name="span::before"/>
          <p:cNvSpPr/>
          <p:nvPr/>
        </p:nvSpPr>
        <p:spPr>
          <a:xfrm>
            <a:off x="8972550" y="311170"/>
            <a:ext cx="44440" cy="44440"/>
          </a:xfrm>
          <a:prstGeom prst="rect">
            <a:avLst/>
          </a:prstGeom>
          <a:solidFill>
            <a:srgbClr val="A0A6AF">
              <a:alpha val="55000"/>
            </a:srgbClr>
          </a:solidFill>
          <a:ln/>
        </p:spPr>
      </p:sp>
      <p:sp>
        <p:nvSpPr>
          <p:cNvPr id="25" name="on::before"/>
          <p:cNvSpPr/>
          <p:nvPr/>
        </p:nvSpPr>
        <p:spPr>
          <a:xfrm>
            <a:off x="10421142" y="311170"/>
            <a:ext cx="44440" cy="44440"/>
          </a:xfrm>
          <a:prstGeom prst="rect">
            <a:avLst/>
          </a:prstGeom>
          <a:solidFill>
            <a:srgbClr val="044BD9"/>
          </a:solidFill>
          <a:ln/>
        </p:spPr>
      </p:sp>
      <p:sp>
        <p:nvSpPr>
          <p:cNvPr id="26" name="span::before"/>
          <p:cNvSpPr/>
          <p:nvPr/>
        </p:nvSpPr>
        <p:spPr>
          <a:xfrm>
            <a:off x="10966216" y="311170"/>
            <a:ext cx="44440" cy="44440"/>
          </a:xfrm>
          <a:prstGeom prst="rect">
            <a:avLst/>
          </a:prstGeom>
          <a:solidFill>
            <a:srgbClr val="A0A6AF">
              <a:alpha val="55000"/>
            </a:srgbClr>
          </a:solidFill>
          <a:ln/>
        </p:spPr>
      </p:sp>
      <p:sp>
        <p:nvSpPr>
          <p:cNvPr id="27" name="Text"/>
          <p:cNvSpPr txBox="1"/>
          <p:nvPr/>
        </p:nvSpPr>
        <p:spPr>
          <a:xfrm>
            <a:off x="844540" y="603230"/>
            <a:ext cx="642457" cy="120609"/>
          </a:xfrm>
          <a:prstGeom prst="rect">
            <a:avLst/>
          </a:prstGeom>
          <a:noFill/>
          <a:ln/>
        </p:spPr>
        <p:txBody>
          <a:bodyPr wrap="none" lIns="0" tIns="0" rIns="0" bIns="0" rtlCol="0" anchor="t"/>
          <a:lstStyle/>
          <a:p>
            <a:pPr algn="l" indent="0" marL="0">
              <a:lnSpc>
                <a:spcPts val="950"/>
              </a:lnSpc>
              <a:buNone/>
            </a:pPr>
            <a:r>
              <a:rPr lang="en-US" sz="950" spc="10" kern="0" dirty="0">
                <a:solidFill>
                  <a:srgbClr val="155DFC"/>
                </a:solidFill>
                <a:latin typeface="Poppins Medium" pitchFamily="34" charset="0"/>
                <a:ea typeface="Poppins Medium" pitchFamily="34" charset="-122"/>
                <a:cs typeface="Poppins Medium" pitchFamily="34" charset="-120"/>
              </a:rPr>
              <a:t>Insurance</a:t>
            </a:r>
            <a:endParaRPr lang="en-US" sz="950" dirty="0"/>
          </a:p>
        </p:txBody>
      </p:sp>
      <p:sp>
        <p:nvSpPr>
          <p:cNvPr id="28" name="Title"/>
          <p:cNvSpPr txBox="1"/>
          <p:nvPr/>
        </p:nvSpPr>
        <p:spPr>
          <a:xfrm>
            <a:off x="711220" y="927750"/>
            <a:ext cx="9398020" cy="861090"/>
          </a:xfrm>
          <a:prstGeom prst="rect">
            <a:avLst/>
          </a:prstGeom>
          <a:noFill/>
          <a:ln/>
        </p:spPr>
        <p:txBody>
          <a:bodyPr wrap="square" lIns="0" tIns="0" rIns="0" bIns="0" rtlCol="0" anchor="t"/>
          <a:lstStyle/>
          <a:p>
            <a:pPr algn="l" indent="0" marL="0">
              <a:lnSpc>
                <a:spcPts val="3390"/>
              </a:lnSpc>
              <a:buNone/>
            </a:pPr>
            <a:r>
              <a:rPr lang="en-US" sz="3000" spc="-45" kern="0" dirty="0">
                <a:solidFill>
                  <a:srgbClr val="000000"/>
                </a:solidFill>
                <a:latin typeface="Poppins Medium" pitchFamily="34" charset="0"/>
                <a:ea typeface="Poppins Medium" pitchFamily="34" charset="-122"/>
                <a:cs typeface="Poppins Medium" pitchFamily="34" charset="-120"/>
              </a:rPr>
              <a:t>A</a:t>
            </a:r>
            <a:pPr algn="l" indent="0" marL="0">
              <a:lnSpc>
                <a:spcPts val="3390"/>
              </a:lnSpc>
              <a:buNone/>
            </a:pPr>
            <a:r>
              <a:rPr lang="en-US" sz="3000" spc="-45" kern="0" dirty="0">
                <a:solidFill>
                  <a:srgbClr val="044BD9"/>
                </a:solidFill>
                <a:latin typeface="Poppins Medium" pitchFamily="34" charset="0"/>
                <a:ea typeface="Poppins Medium" pitchFamily="34" charset="-122"/>
                <a:cs typeface="Poppins Medium" pitchFamily="34" charset="-120"/>
              </a:rPr>
              <a:t> proof of concept</a:t>
            </a:r>
            <a:pPr algn="l" indent="0" marL="0">
              <a:lnSpc>
                <a:spcPts val="3390"/>
              </a:lnSpc>
              <a:buNone/>
            </a:pPr>
            <a:r>
              <a:rPr lang="en-US" sz="3000" spc="-45" kern="0" dirty="0">
                <a:solidFill>
                  <a:srgbClr val="000000"/>
                </a:solidFill>
                <a:latin typeface="Poppins Medium" pitchFamily="34" charset="0"/>
                <a:ea typeface="Poppins Medium" pitchFamily="34" charset="-122"/>
                <a:cs typeface="Poppins Medium" pitchFamily="34" charset="-120"/>
              </a:rPr>
              <a:t> assesses insurance</a:t>
            </a:r>
            <a:endParaRPr lang="en-US" sz="3000" dirty="0"/>
          </a:p>
          <a:p>
            <a:pPr algn="l" indent="0" marL="0">
              <a:lnSpc>
                <a:spcPts val="3390"/>
              </a:lnSpc>
              <a:buNone/>
            </a:pPr>
            <a:r>
              <a:rPr lang="en-US" sz="3000" spc="-45" kern="0" dirty="0">
                <a:solidFill>
                  <a:srgbClr val="000000"/>
                </a:solidFill>
                <a:latin typeface="Poppins Medium" pitchFamily="34" charset="0"/>
                <a:ea typeface="Poppins Medium" pitchFamily="34" charset="-122"/>
                <a:cs typeface="Poppins Medium" pitchFamily="34" charset="-120"/>
              </a:rPr>
              <a:t>damage claims from images and video, 24/7</a:t>
            </a:r>
            <a:endParaRPr lang="en-US" sz="3000" dirty="0"/>
          </a:p>
        </p:txBody>
      </p:sp>
      <p:sp>
        <p:nvSpPr>
          <p:cNvPr id="29" name="Text"/>
          <p:cNvSpPr txBox="1"/>
          <p:nvPr/>
        </p:nvSpPr>
        <p:spPr>
          <a:xfrm>
            <a:off x="819120" y="1994489"/>
            <a:ext cx="1117305" cy="107991"/>
          </a:xfrm>
          <a:prstGeom prst="rect">
            <a:avLst/>
          </a:prstGeom>
          <a:noFill/>
          <a:ln/>
        </p:spPr>
        <p:txBody>
          <a:bodyPr wrap="none" lIns="0" tIns="0" rIns="0" bIns="0" rtlCol="0" anchor="t"/>
          <a:lstStyle/>
          <a:p>
            <a:pPr algn="l" indent="0" marL="0">
              <a:lnSpc>
                <a:spcPts val="850"/>
              </a:lnSpc>
              <a:buNone/>
            </a:pPr>
            <a:r>
              <a:rPr lang="en-US" sz="850" dirty="0">
                <a:solidFill>
                  <a:srgbClr val="1F2937"/>
                </a:solidFill>
                <a:latin typeface="Poppins Medium" pitchFamily="34" charset="0"/>
                <a:ea typeface="Poppins Medium" pitchFamily="34" charset="-122"/>
                <a:cs typeface="Poppins Medium" pitchFamily="34" charset="-120"/>
              </a:rPr>
              <a:t>Agentic automation</a:t>
            </a:r>
            <a:endParaRPr lang="en-US" sz="850" dirty="0"/>
          </a:p>
        </p:txBody>
      </p:sp>
      <p:sp>
        <p:nvSpPr>
          <p:cNvPr id="30" name="Text"/>
          <p:cNvSpPr txBox="1"/>
          <p:nvPr/>
        </p:nvSpPr>
        <p:spPr>
          <a:xfrm>
            <a:off x="2190445" y="1994489"/>
            <a:ext cx="491033" cy="107991"/>
          </a:xfrm>
          <a:prstGeom prst="rect">
            <a:avLst/>
          </a:prstGeom>
          <a:noFill/>
          <a:ln/>
        </p:spPr>
        <p:txBody>
          <a:bodyPr wrap="none" lIns="0" tIns="0" rIns="0" bIns="0" rtlCol="0" anchor="t"/>
          <a:lstStyle/>
          <a:p>
            <a:pPr algn="l" indent="0" marL="0">
              <a:lnSpc>
                <a:spcPts val="850"/>
              </a:lnSpc>
              <a:buNone/>
            </a:pPr>
            <a:r>
              <a:rPr lang="en-US" sz="850" dirty="0">
                <a:solidFill>
                  <a:srgbClr val="1F2937"/>
                </a:solidFill>
                <a:latin typeface="Poppins Medium" pitchFamily="34" charset="0"/>
                <a:ea typeface="Poppins Medium" pitchFamily="34" charset="-122"/>
                <a:cs typeface="Poppins Medium" pitchFamily="34" charset="-120"/>
              </a:rPr>
              <a:t>Vietnam</a:t>
            </a:r>
            <a:endParaRPr lang="en-US" sz="850" dirty="0"/>
          </a:p>
        </p:txBody>
      </p:sp>
      <p:sp>
        <p:nvSpPr>
          <p:cNvPr id="31" name="Text"/>
          <p:cNvSpPr txBox="1"/>
          <p:nvPr/>
        </p:nvSpPr>
        <p:spPr>
          <a:xfrm>
            <a:off x="2935498" y="1994489"/>
            <a:ext cx="1229411" cy="107991"/>
          </a:xfrm>
          <a:prstGeom prst="rect">
            <a:avLst/>
          </a:prstGeom>
          <a:noFill/>
          <a:ln/>
        </p:spPr>
        <p:txBody>
          <a:bodyPr wrap="none" lIns="0" tIns="0" rIns="0" bIns="0" rtlCol="0" anchor="t"/>
          <a:lstStyle/>
          <a:p>
            <a:pPr algn="l" indent="0" marL="0">
              <a:lnSpc>
                <a:spcPts val="850"/>
              </a:lnSpc>
              <a:buNone/>
            </a:pPr>
            <a:r>
              <a:rPr lang="en-US" sz="850" dirty="0">
                <a:solidFill>
                  <a:srgbClr val="1F2937"/>
                </a:solidFill>
                <a:latin typeface="Poppins Medium" pitchFamily="34" charset="0"/>
                <a:ea typeface="Poppins Medium" pitchFamily="34" charset="-122"/>
                <a:cs typeface="Poppins Medium" pitchFamily="34" charset="-120"/>
              </a:rPr>
              <a:t>Proof of concept, 2026</a:t>
            </a:r>
            <a:endParaRPr lang="en-US" sz="850" dirty="0"/>
          </a:p>
        </p:txBody>
      </p:sp>
      <p:sp>
        <p:nvSpPr>
          <p:cNvPr id="32" name="Text"/>
          <p:cNvSpPr txBox="1"/>
          <p:nvPr/>
        </p:nvSpPr>
        <p:spPr>
          <a:xfrm>
            <a:off x="4418929" y="1994489"/>
            <a:ext cx="336133" cy="107991"/>
          </a:xfrm>
          <a:prstGeom prst="rect">
            <a:avLst/>
          </a:prstGeom>
          <a:noFill/>
          <a:ln/>
        </p:spPr>
        <p:txBody>
          <a:bodyPr wrap="none" lIns="0" tIns="0" rIns="0" bIns="0" rtlCol="0" anchor="t"/>
          <a:lstStyle/>
          <a:p>
            <a:pPr algn="l" indent="0" marL="0">
              <a:lnSpc>
                <a:spcPts val="850"/>
              </a:lnSpc>
              <a:buNone/>
            </a:pPr>
            <a:r>
              <a:rPr lang="en-US" sz="850" dirty="0">
                <a:solidFill>
                  <a:srgbClr val="044BD9"/>
                </a:solidFill>
                <a:latin typeface="Poppins Medium" pitchFamily="34" charset="0"/>
                <a:ea typeface="Poppins Medium" pitchFamily="34" charset="-122"/>
                <a:cs typeface="Poppins Medium" pitchFamily="34" charset="-120"/>
              </a:rPr>
              <a:t>Qwen</a:t>
            </a:r>
            <a:endParaRPr lang="en-US" sz="850" dirty="0"/>
          </a:p>
        </p:txBody>
      </p:sp>
      <p:sp>
        <p:nvSpPr>
          <p:cNvPr id="33" name="Text"/>
          <p:cNvSpPr txBox="1"/>
          <p:nvPr/>
        </p:nvSpPr>
        <p:spPr>
          <a:xfrm>
            <a:off x="5009083" y="1994489"/>
            <a:ext cx="775594" cy="107991"/>
          </a:xfrm>
          <a:prstGeom prst="rect">
            <a:avLst/>
          </a:prstGeom>
          <a:noFill/>
          <a:ln/>
        </p:spPr>
        <p:txBody>
          <a:bodyPr wrap="none" lIns="0" tIns="0" rIns="0" bIns="0" rtlCol="0" anchor="t"/>
          <a:lstStyle/>
          <a:p>
            <a:pPr algn="l" indent="0" marL="0">
              <a:lnSpc>
                <a:spcPts val="850"/>
              </a:lnSpc>
              <a:buNone/>
            </a:pPr>
            <a:r>
              <a:rPr lang="en-US" sz="850" dirty="0">
                <a:solidFill>
                  <a:srgbClr val="044BD9"/>
                </a:solidFill>
                <a:latin typeface="Poppins Medium" pitchFamily="34" charset="0"/>
                <a:ea typeface="Poppins Medium" pitchFamily="34" charset="-122"/>
                <a:cs typeface="Poppins Medium" pitchFamily="34" charset="-120"/>
              </a:rPr>
              <a:t>Multimodal AI</a:t>
            </a:r>
            <a:endParaRPr lang="en-US" sz="850" dirty="0"/>
          </a:p>
        </p:txBody>
      </p:sp>
      <p:sp>
        <p:nvSpPr>
          <p:cNvPr id="34" name="Text"/>
          <p:cNvSpPr txBox="1"/>
          <p:nvPr/>
        </p:nvSpPr>
        <p:spPr>
          <a:xfrm>
            <a:off x="711220" y="2585375"/>
            <a:ext cx="3457438" cy="177119"/>
          </a:xfrm>
          <a:prstGeom prst="rect">
            <a:avLst/>
          </a:prstGeom>
          <a:noFill/>
          <a:ln/>
        </p:spPr>
        <p:txBody>
          <a:bodyPr wrap="square" lIns="0" tIns="0" rIns="0" bIns="0" rtlCol="0" anchor="t"/>
          <a:lstStyle/>
          <a:p>
            <a:pPr algn="l" indent="0" marL="0">
              <a:lnSpc>
                <a:spcPts val="1395"/>
              </a:lnSpc>
              <a:buNone/>
            </a:pPr>
            <a:r>
              <a:rPr lang="en-US" sz="900" spc="36" kern="0" dirty="0">
                <a:solidFill>
                  <a:srgbClr val="6B6B6B"/>
                </a:solidFill>
                <a:latin typeface="Poppins Medium" pitchFamily="34" charset="0"/>
                <a:ea typeface="Poppins Medium" pitchFamily="34" charset="-122"/>
                <a:cs typeface="Poppins Medium" pitchFamily="34" charset="-120"/>
              </a:rPr>
              <a:t>Situation</a:t>
            </a:r>
            <a:endParaRPr lang="en-US" sz="900" dirty="0"/>
          </a:p>
        </p:txBody>
      </p:sp>
      <p:sp>
        <p:nvSpPr>
          <p:cNvPr id="35" name="Text"/>
          <p:cNvSpPr txBox="1"/>
          <p:nvPr/>
        </p:nvSpPr>
        <p:spPr>
          <a:xfrm>
            <a:off x="711220" y="2850733"/>
            <a:ext cx="3457438" cy="1082650"/>
          </a:xfrm>
          <a:prstGeom prst="rect">
            <a:avLst/>
          </a:prstGeom>
          <a:noFill/>
          <a:ln/>
        </p:spPr>
        <p:txBody>
          <a:bodyPr wrap="square" lIns="0" tIns="0" rIns="0" bIns="0" rtlCol="0" anchor="t"/>
          <a:lstStyle/>
          <a:p>
            <a:pPr algn="l" indent="0" marL="0">
              <a:lnSpc>
                <a:spcPts val="1705"/>
              </a:lnSpc>
              <a:buNone/>
            </a:pPr>
            <a:r>
              <a:rPr lang="en-US" sz="1100" dirty="0">
                <a:solidFill>
                  <a:srgbClr val="1F2937"/>
                </a:solidFill>
                <a:latin typeface="Poppins Light" pitchFamily="34" charset="0"/>
                <a:ea typeface="Poppins Light" pitchFamily="34" charset="-122"/>
                <a:cs typeface="Poppins Light" pitchFamily="34" charset="-120"/>
              </a:rPr>
              <a:t>Damage claims arrive as images, video and PDFs, at any hour. With Tasco Insurance in Vietnam, ALPHV built a proof of concept that assesses them around the clock, from the first photo to the claim report.</a:t>
            </a:r>
            <a:endParaRPr lang="en-US" sz="1100" dirty="0"/>
          </a:p>
        </p:txBody>
      </p:sp>
      <p:sp>
        <p:nvSpPr>
          <p:cNvPr id="36" name="Text"/>
          <p:cNvSpPr txBox="1"/>
          <p:nvPr/>
        </p:nvSpPr>
        <p:spPr>
          <a:xfrm>
            <a:off x="939820" y="5690951"/>
            <a:ext cx="2902031" cy="236190"/>
          </a:xfrm>
          <a:prstGeom prst="rect">
            <a:avLst/>
          </a:prstGeom>
          <a:noFill/>
          <a:ln/>
        </p:spPr>
        <p:txBody>
          <a:bodyPr wrap="square" lIns="0" tIns="0" rIns="0" bIns="0" rtlCol="0" anchor="t"/>
          <a:lstStyle/>
          <a:p>
            <a:pPr algn="l" indent="0" marL="0">
              <a:lnSpc>
                <a:spcPts val="1860"/>
              </a:lnSpc>
              <a:buNone/>
            </a:pPr>
            <a:r>
              <a:rPr lang="en-US" sz="850" dirty="0">
                <a:solidFill>
                  <a:srgbClr val="1F2937"/>
                </a:solidFill>
                <a:latin typeface="Poppins Medium" pitchFamily="34" charset="0"/>
                <a:ea typeface="Poppins Medium" pitchFamily="34" charset="-122"/>
                <a:cs typeface="Poppins Medium" pitchFamily="34" charset="-120"/>
              </a:rPr>
              <a:t>Tasco Insurance interface, proof-of-concept stage</a:t>
            </a:r>
            <a:endParaRPr lang="en-US" sz="850" dirty="0"/>
          </a:p>
        </p:txBody>
      </p:sp>
      <p:sp>
        <p:nvSpPr>
          <p:cNvPr id="37" name="Text"/>
          <p:cNvSpPr txBox="1"/>
          <p:nvPr/>
        </p:nvSpPr>
        <p:spPr>
          <a:xfrm>
            <a:off x="4294571" y="2585375"/>
            <a:ext cx="3457529" cy="177119"/>
          </a:xfrm>
          <a:prstGeom prst="rect">
            <a:avLst/>
          </a:prstGeom>
          <a:noFill/>
          <a:ln/>
        </p:spPr>
        <p:txBody>
          <a:bodyPr wrap="square" lIns="0" tIns="0" rIns="0" bIns="0" rtlCol="0" anchor="t"/>
          <a:lstStyle/>
          <a:p>
            <a:pPr algn="l" indent="0" marL="0">
              <a:lnSpc>
                <a:spcPts val="1395"/>
              </a:lnSpc>
              <a:buNone/>
            </a:pPr>
            <a:r>
              <a:rPr lang="en-US" sz="900" spc="36" kern="0" dirty="0">
                <a:solidFill>
                  <a:srgbClr val="6B6B6B"/>
                </a:solidFill>
                <a:latin typeface="Poppins Medium" pitchFamily="34" charset="0"/>
                <a:ea typeface="Poppins Medium" pitchFamily="34" charset="-122"/>
                <a:cs typeface="Poppins Medium" pitchFamily="34" charset="-120"/>
              </a:rPr>
              <a:t>Approach</a:t>
            </a:r>
            <a:endParaRPr lang="en-US" sz="900" dirty="0"/>
          </a:p>
        </p:txBody>
      </p:sp>
      <p:sp>
        <p:nvSpPr>
          <p:cNvPr id="38" name="Text"/>
          <p:cNvSpPr txBox="1"/>
          <p:nvPr/>
        </p:nvSpPr>
        <p:spPr>
          <a:xfrm>
            <a:off x="4294571" y="2850733"/>
            <a:ext cx="3457529" cy="433060"/>
          </a:xfrm>
          <a:prstGeom prst="rect">
            <a:avLst/>
          </a:prstGeom>
          <a:noFill/>
          <a:ln/>
        </p:spPr>
        <p:txBody>
          <a:bodyPr wrap="square" lIns="0" tIns="0" rIns="0" bIns="0" rtlCol="0" anchor="t"/>
          <a:lstStyle/>
          <a:p>
            <a:pPr algn="l" indent="0" marL="0">
              <a:lnSpc>
                <a:spcPts val="1705"/>
              </a:lnSpc>
              <a:buNone/>
            </a:pPr>
            <a:r>
              <a:rPr lang="en-US" sz="1100" dirty="0">
                <a:solidFill>
                  <a:srgbClr val="000000"/>
                </a:solidFill>
                <a:latin typeface="Poppins Medium" pitchFamily="34" charset="0"/>
                <a:ea typeface="Poppins Medium" pitchFamily="34" charset="-122"/>
                <a:cs typeface="Poppins Medium" pitchFamily="34" charset="-120"/>
              </a:rPr>
              <a:t>A multimodal case system that prepares the liability assessment and claim report.</a:t>
            </a:r>
            <a:endParaRPr lang="en-US" sz="1100" dirty="0"/>
          </a:p>
        </p:txBody>
      </p:sp>
      <p:sp>
        <p:nvSpPr>
          <p:cNvPr id="39" name="Text"/>
          <p:cNvSpPr txBox="1"/>
          <p:nvPr/>
        </p:nvSpPr>
        <p:spPr>
          <a:xfrm>
            <a:off x="4459712" y="3376148"/>
            <a:ext cx="3291749" cy="209580"/>
          </a:xfrm>
          <a:prstGeom prst="rect">
            <a:avLst/>
          </a:prstGeom>
          <a:noFill/>
          <a:ln/>
        </p:spPr>
        <p:txBody>
          <a:bodyPr wrap="square" lIns="0" tIns="0" rIns="0" bIns="0" rtlCol="0" anchor="t"/>
          <a:lstStyle/>
          <a:p>
            <a:pPr algn="l" indent="0" marL="0">
              <a:lnSpc>
                <a:spcPts val="1650"/>
              </a:lnSpc>
              <a:buNone/>
            </a:pPr>
            <a:r>
              <a:rPr lang="en-US" sz="1100" dirty="0">
                <a:solidFill>
                  <a:srgbClr val="1F2937"/>
                </a:solidFill>
                <a:latin typeface="Poppins Light" pitchFamily="34" charset="0"/>
                <a:ea typeface="Poppins Light" pitchFamily="34" charset="-122"/>
                <a:cs typeface="Poppins Light" pitchFamily="34" charset="-120"/>
              </a:rPr>
              <a:t>Images, video and PDFs in one case file</a:t>
            </a:r>
            <a:endParaRPr lang="en-US" sz="1100" dirty="0"/>
          </a:p>
        </p:txBody>
      </p:sp>
      <p:sp>
        <p:nvSpPr>
          <p:cNvPr id="40" name="Text"/>
          <p:cNvSpPr txBox="1"/>
          <p:nvPr/>
        </p:nvSpPr>
        <p:spPr>
          <a:xfrm>
            <a:off x="4459712" y="3661898"/>
            <a:ext cx="3291749" cy="419070"/>
          </a:xfrm>
          <a:prstGeom prst="rect">
            <a:avLst/>
          </a:prstGeom>
          <a:noFill/>
          <a:ln/>
        </p:spPr>
        <p:txBody>
          <a:bodyPr wrap="square" lIns="0" tIns="0" rIns="0" bIns="0" rtlCol="0" anchor="t"/>
          <a:lstStyle/>
          <a:p>
            <a:pPr algn="l" indent="0" marL="0">
              <a:lnSpc>
                <a:spcPts val="1650"/>
              </a:lnSpc>
              <a:buNone/>
            </a:pPr>
            <a:r>
              <a:rPr lang="en-US" sz="1100" dirty="0">
                <a:solidFill>
                  <a:srgbClr val="1F2937"/>
                </a:solidFill>
                <a:latin typeface="Poppins Light" pitchFamily="34" charset="0"/>
                <a:ea typeface="Poppins Light" pitchFamily="34" charset="-122"/>
                <a:cs typeface="Poppins Light" pitchFamily="34" charset="-120"/>
              </a:rPr>
              <a:t>Duplicate claims from the same person identified automatically</a:t>
            </a:r>
            <a:endParaRPr lang="en-US" sz="1100" dirty="0"/>
          </a:p>
        </p:txBody>
      </p:sp>
      <p:sp>
        <p:nvSpPr>
          <p:cNvPr id="41" name="Text"/>
          <p:cNvSpPr txBox="1"/>
          <p:nvPr/>
        </p:nvSpPr>
        <p:spPr>
          <a:xfrm>
            <a:off x="4459712" y="4157137"/>
            <a:ext cx="3291749" cy="419070"/>
          </a:xfrm>
          <a:prstGeom prst="rect">
            <a:avLst/>
          </a:prstGeom>
          <a:noFill/>
          <a:ln/>
        </p:spPr>
        <p:txBody>
          <a:bodyPr wrap="square" lIns="0" tIns="0" rIns="0" bIns="0" rtlCol="0" anchor="t"/>
          <a:lstStyle/>
          <a:p>
            <a:pPr algn="l" indent="0" marL="0">
              <a:lnSpc>
                <a:spcPts val="1650"/>
              </a:lnSpc>
              <a:buNone/>
            </a:pPr>
            <a:r>
              <a:rPr lang="en-US" sz="1100" dirty="0">
                <a:solidFill>
                  <a:srgbClr val="1F2937"/>
                </a:solidFill>
                <a:latin typeface="Poppins Light" pitchFamily="34" charset="0"/>
                <a:ea typeface="Poppins Light" pitchFamily="34" charset="-122"/>
                <a:cs typeface="Poppins Light" pitchFamily="34" charset="-120"/>
              </a:rPr>
              <a:t>Liability assessment based on Vietnam’s Road Act and compendium</a:t>
            </a:r>
            <a:endParaRPr lang="en-US" sz="1100" dirty="0"/>
          </a:p>
        </p:txBody>
      </p:sp>
      <p:sp>
        <p:nvSpPr>
          <p:cNvPr id="42" name="Text"/>
          <p:cNvSpPr txBox="1"/>
          <p:nvPr/>
        </p:nvSpPr>
        <p:spPr>
          <a:xfrm>
            <a:off x="4459712" y="4652467"/>
            <a:ext cx="3291749" cy="419070"/>
          </a:xfrm>
          <a:prstGeom prst="rect">
            <a:avLst/>
          </a:prstGeom>
          <a:noFill/>
          <a:ln/>
        </p:spPr>
        <p:txBody>
          <a:bodyPr wrap="square" lIns="0" tIns="0" rIns="0" bIns="0" rtlCol="0" anchor="t"/>
          <a:lstStyle/>
          <a:p>
            <a:pPr algn="l" indent="0" marL="0">
              <a:lnSpc>
                <a:spcPts val="1650"/>
              </a:lnSpc>
              <a:buNone/>
            </a:pPr>
            <a:r>
              <a:rPr lang="en-US" sz="1100" dirty="0">
                <a:solidFill>
                  <a:srgbClr val="1F2937"/>
                </a:solidFill>
                <a:latin typeface="Poppins Light" pitchFamily="34" charset="0"/>
                <a:ea typeface="Poppins Light" pitchFamily="34" charset="-122"/>
                <a:cs typeface="Poppins Light" pitchFamily="34" charset="-120"/>
              </a:rPr>
              <a:t>Third-party garage, workflow, email and WhatsApp automation</a:t>
            </a:r>
            <a:endParaRPr lang="en-US" sz="1100" dirty="0"/>
          </a:p>
        </p:txBody>
      </p:sp>
      <p:sp>
        <p:nvSpPr>
          <p:cNvPr id="43" name="Text"/>
          <p:cNvSpPr txBox="1"/>
          <p:nvPr/>
        </p:nvSpPr>
        <p:spPr>
          <a:xfrm>
            <a:off x="4294571" y="5374935"/>
            <a:ext cx="3457529" cy="649590"/>
          </a:xfrm>
          <a:prstGeom prst="rect">
            <a:avLst/>
          </a:prstGeom>
          <a:noFill/>
          <a:ln/>
        </p:spPr>
        <p:txBody>
          <a:bodyPr wrap="square" lIns="0" tIns="0" rIns="0" bIns="0" rtlCol="0" anchor="t"/>
          <a:lstStyle/>
          <a:p>
            <a:pPr algn="l" indent="0" marL="0">
              <a:lnSpc>
                <a:spcPts val="1705"/>
              </a:lnSpc>
              <a:buNone/>
            </a:pPr>
            <a:r>
              <a:rPr lang="en-US" sz="1100" dirty="0">
                <a:solidFill>
                  <a:srgbClr val="000000"/>
                </a:solidFill>
                <a:latin typeface="Poppins Medium" pitchFamily="34" charset="0"/>
                <a:ea typeface="Poppins Medium" pitchFamily="34" charset="-122"/>
                <a:cs typeface="Poppins Medium" pitchFamily="34" charset="-120"/>
              </a:rPr>
              <a:t>How it runs.</a:t>
            </a:r>
            <a:pPr algn="l" indent="0" marL="0">
              <a:lnSpc>
                <a:spcPts val="1705"/>
              </a:lnSpc>
              <a:buNone/>
            </a:pPr>
            <a:r>
              <a:rPr lang="en-US" sz="1100" dirty="0">
                <a:solidFill>
                  <a:srgbClr val="1F2937"/>
                </a:solidFill>
                <a:latin typeface="Poppins Light" pitchFamily="34" charset="0"/>
                <a:ea typeface="Poppins Light" pitchFamily="34" charset="-122"/>
                <a:cs typeface="Poppins Light" pitchFamily="34" charset="-120"/>
              </a:rPr>
              <a:t> Qwen models read images, video and documents together, and AI agents move each case to the claim report.</a:t>
            </a:r>
            <a:endParaRPr lang="en-US" sz="1100" dirty="0"/>
          </a:p>
        </p:txBody>
      </p:sp>
      <p:sp>
        <p:nvSpPr>
          <p:cNvPr id="44" name="Text"/>
          <p:cNvSpPr txBox="1"/>
          <p:nvPr/>
        </p:nvSpPr>
        <p:spPr>
          <a:xfrm>
            <a:off x="7878105" y="2585375"/>
            <a:ext cx="3629802" cy="177119"/>
          </a:xfrm>
          <a:prstGeom prst="rect">
            <a:avLst/>
          </a:prstGeom>
          <a:noFill/>
          <a:ln/>
        </p:spPr>
        <p:txBody>
          <a:bodyPr wrap="square" lIns="0" tIns="0" rIns="0" bIns="0" rtlCol="0" anchor="t"/>
          <a:lstStyle/>
          <a:p>
            <a:pPr algn="l" indent="0" marL="0">
              <a:lnSpc>
                <a:spcPts val="1395"/>
              </a:lnSpc>
              <a:buNone/>
            </a:pPr>
            <a:r>
              <a:rPr lang="en-US" sz="900" spc="36" kern="0" dirty="0">
                <a:solidFill>
                  <a:srgbClr val="044BD9"/>
                </a:solidFill>
                <a:latin typeface="Poppins Medium" pitchFamily="34" charset="0"/>
                <a:ea typeface="Poppins Medium" pitchFamily="34" charset="-122"/>
                <a:cs typeface="Poppins Medium" pitchFamily="34" charset="-120"/>
              </a:rPr>
              <a:t>Impact</a:t>
            </a:r>
            <a:endParaRPr lang="en-US" sz="900" dirty="0"/>
          </a:p>
        </p:txBody>
      </p:sp>
      <p:sp>
        <p:nvSpPr>
          <p:cNvPr id="45" name="Text"/>
          <p:cNvSpPr txBox="1"/>
          <p:nvPr/>
        </p:nvSpPr>
        <p:spPr>
          <a:xfrm>
            <a:off x="7878105" y="2851008"/>
            <a:ext cx="3629802" cy="609630"/>
          </a:xfrm>
          <a:prstGeom prst="rect">
            <a:avLst/>
          </a:prstGeom>
          <a:noFill/>
          <a:ln/>
        </p:spPr>
        <p:txBody>
          <a:bodyPr wrap="square" lIns="0" tIns="0" rIns="0" bIns="0" rtlCol="0" anchor="t"/>
          <a:lstStyle/>
          <a:p>
            <a:pPr algn="l" indent="0" marL="0">
              <a:lnSpc>
                <a:spcPts val="4800"/>
              </a:lnSpc>
              <a:buNone/>
            </a:pPr>
            <a:r>
              <a:rPr lang="en-US" sz="4800" spc="-96" kern="0" dirty="0">
                <a:solidFill>
                  <a:srgbClr val="044BD9"/>
                </a:solidFill>
                <a:latin typeface="Poppins Medium" pitchFamily="34" charset="0"/>
                <a:ea typeface="Poppins Medium" pitchFamily="34" charset="-122"/>
                <a:cs typeface="Poppins Medium" pitchFamily="34" charset="-120"/>
              </a:rPr>
              <a:t>24/7</a:t>
            </a:r>
            <a:endParaRPr lang="en-US" sz="4800" dirty="0"/>
          </a:p>
        </p:txBody>
      </p:sp>
      <p:sp>
        <p:nvSpPr>
          <p:cNvPr id="46" name="Text"/>
          <p:cNvSpPr txBox="1"/>
          <p:nvPr/>
        </p:nvSpPr>
        <p:spPr>
          <a:xfrm>
            <a:off x="7878105" y="3511113"/>
            <a:ext cx="3629802" cy="216530"/>
          </a:xfrm>
          <a:prstGeom prst="rect">
            <a:avLst/>
          </a:prstGeom>
          <a:noFill/>
          <a:ln/>
        </p:spPr>
        <p:txBody>
          <a:bodyPr wrap="square" lIns="0" tIns="0" rIns="0" bIns="0" rtlCol="0" anchor="t"/>
          <a:lstStyle/>
          <a:p>
            <a:pPr algn="l" indent="0" marL="0">
              <a:lnSpc>
                <a:spcPts val="1705"/>
              </a:lnSpc>
              <a:buNone/>
            </a:pPr>
            <a:r>
              <a:rPr lang="en-US" sz="1100" dirty="0">
                <a:solidFill>
                  <a:srgbClr val="6B6B6B"/>
                </a:solidFill>
                <a:latin typeface="Poppins Light" pitchFamily="34" charset="0"/>
                <a:ea typeface="Poppins Light" pitchFamily="34" charset="-122"/>
                <a:cs typeface="Poppins Light" pitchFamily="34" charset="-120"/>
              </a:rPr>
              <a:t>Damage assessment from images and video</a:t>
            </a:r>
            <a:endParaRPr lang="en-US" sz="1100" dirty="0"/>
          </a:p>
        </p:txBody>
      </p:sp>
      <p:sp>
        <p:nvSpPr>
          <p:cNvPr id="47" name="Text"/>
          <p:cNvSpPr txBox="1"/>
          <p:nvPr/>
        </p:nvSpPr>
        <p:spPr>
          <a:xfrm>
            <a:off x="7878105" y="3940698"/>
            <a:ext cx="3629802" cy="247620"/>
          </a:xfrm>
          <a:prstGeom prst="rect">
            <a:avLst/>
          </a:prstGeom>
          <a:noFill/>
          <a:ln/>
        </p:spPr>
        <p:txBody>
          <a:bodyPr wrap="square" lIns="0" tIns="0" rIns="0" bIns="0" rtlCol="0" anchor="t"/>
          <a:lstStyle/>
          <a:p>
            <a:pPr algn="l" indent="0" marL="0">
              <a:lnSpc>
                <a:spcPts val="1950"/>
              </a:lnSpc>
              <a:buNone/>
            </a:pPr>
            <a:r>
              <a:rPr lang="en-US" sz="1500" dirty="0">
                <a:solidFill>
                  <a:srgbClr val="000000"/>
                </a:solidFill>
                <a:latin typeface="Poppins Medium" pitchFamily="34" charset="0"/>
                <a:ea typeface="Poppins Medium" pitchFamily="34" charset="-122"/>
                <a:cs typeface="Poppins Medium" pitchFamily="34" charset="-120"/>
              </a:rPr>
              <a:t>No production results to report yet</a:t>
            </a:r>
            <a:endParaRPr lang="en-US" sz="1500" dirty="0"/>
          </a:p>
        </p:txBody>
      </p:sp>
      <p:sp>
        <p:nvSpPr>
          <p:cNvPr id="48" name="Text"/>
          <p:cNvSpPr txBox="1"/>
          <p:nvPr/>
        </p:nvSpPr>
        <p:spPr>
          <a:xfrm>
            <a:off x="7878105" y="4235592"/>
            <a:ext cx="3629802" cy="649590"/>
          </a:xfrm>
          <a:prstGeom prst="rect">
            <a:avLst/>
          </a:prstGeom>
          <a:noFill/>
          <a:ln/>
        </p:spPr>
        <p:txBody>
          <a:bodyPr wrap="square" lIns="0" tIns="0" rIns="0" bIns="0" rtlCol="0" anchor="t"/>
          <a:lstStyle/>
          <a:p>
            <a:pPr algn="l" indent="0" marL="0">
              <a:lnSpc>
                <a:spcPts val="1705"/>
              </a:lnSpc>
              <a:buNone/>
            </a:pPr>
            <a:r>
              <a:rPr lang="en-US" sz="1100" dirty="0">
                <a:solidFill>
                  <a:srgbClr val="6B6B6B"/>
                </a:solidFill>
                <a:latin typeface="Poppins Light" pitchFamily="34" charset="0"/>
                <a:ea typeface="Poppins Light" pitchFamily="34" charset="-122"/>
                <a:cs typeface="Poppins Light" pitchFamily="34" charset="-120"/>
              </a:rPr>
              <a:t>The proof of concept already flags duplicate claims and prepares the liability assessment and claim report.</a:t>
            </a:r>
            <a:endParaRPr lang="en-US" sz="1100" dirty="0"/>
          </a:p>
        </p:txBody>
      </p:sp>
      <p:sp>
        <p:nvSpPr>
          <p:cNvPr id="49" name="Text"/>
          <p:cNvSpPr txBox="1"/>
          <p:nvPr/>
        </p:nvSpPr>
        <p:spPr>
          <a:xfrm>
            <a:off x="7878105" y="5374935"/>
            <a:ext cx="3629802" cy="433060"/>
          </a:xfrm>
          <a:prstGeom prst="rect">
            <a:avLst/>
          </a:prstGeom>
          <a:noFill/>
          <a:ln/>
        </p:spPr>
        <p:txBody>
          <a:bodyPr wrap="square" lIns="0" tIns="0" rIns="0" bIns="0" rtlCol="0" anchor="t"/>
          <a:lstStyle/>
          <a:p>
            <a:pPr algn="l" indent="0" marL="0">
              <a:lnSpc>
                <a:spcPts val="1705"/>
              </a:lnSpc>
              <a:buNone/>
            </a:pPr>
            <a:r>
              <a:rPr lang="en-US" sz="1100" dirty="0">
                <a:solidFill>
                  <a:srgbClr val="000000"/>
                </a:solidFill>
                <a:latin typeface="Poppins Medium" pitchFamily="34" charset="0"/>
                <a:ea typeface="Poppins Medium" pitchFamily="34" charset="-122"/>
                <a:cs typeface="Poppins Medium" pitchFamily="34" charset="-120"/>
              </a:rPr>
              <a:t>Related.</a:t>
            </a:r>
            <a:pPr algn="l" indent="0" marL="0">
              <a:lnSpc>
                <a:spcPts val="1705"/>
              </a:lnSpc>
              <a:buNone/>
            </a:pPr>
            <a:r>
              <a:rPr lang="en-US" sz="1100" dirty="0">
                <a:solidFill>
                  <a:srgbClr val="1F2937"/>
                </a:solidFill>
                <a:latin typeface="Poppins Light" pitchFamily="34" charset="0"/>
                <a:ea typeface="Poppins Light" pitchFamily="34" charset="-122"/>
                <a:cs typeface="Poppins Light" pitchFamily="34" charset="-120"/>
              </a:rPr>
              <a:t> ALPHV won the AI for Insurance Challenge × Tasco, first of nine companies, on 22 Oct 2026.</a:t>
            </a:r>
            <a:endParaRPr lang="en-US" sz="1100" dirty="0"/>
          </a:p>
        </p:txBody>
      </p:sp>
      <p:sp>
        <p:nvSpPr>
          <p:cNvPr id="50" name="Text"/>
          <p:cNvSpPr txBox="1"/>
          <p:nvPr/>
        </p:nvSpPr>
        <p:spPr>
          <a:xfrm>
            <a:off x="6287140" y="276240"/>
            <a:ext cx="708477"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Point of view</a:t>
            </a:r>
            <a:endParaRPr lang="en-US" sz="850" dirty="0"/>
          </a:p>
        </p:txBody>
      </p:sp>
      <p:sp>
        <p:nvSpPr>
          <p:cNvPr id="51" name="Text"/>
          <p:cNvSpPr txBox="1"/>
          <p:nvPr/>
        </p:nvSpPr>
        <p:spPr>
          <a:xfrm>
            <a:off x="7240494" y="276240"/>
            <a:ext cx="665958"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Who we are</a:t>
            </a:r>
            <a:endParaRPr lang="en-US" sz="850" dirty="0"/>
          </a:p>
        </p:txBody>
      </p:sp>
      <p:sp>
        <p:nvSpPr>
          <p:cNvPr id="52" name="Text"/>
          <p:cNvSpPr txBox="1"/>
          <p:nvPr/>
        </p:nvSpPr>
        <p:spPr>
          <a:xfrm>
            <a:off x="8151510" y="276240"/>
            <a:ext cx="671261"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What we do</a:t>
            </a:r>
            <a:endParaRPr lang="en-US" sz="850" dirty="0"/>
          </a:p>
        </p:txBody>
      </p:sp>
      <p:sp>
        <p:nvSpPr>
          <p:cNvPr id="53" name="Text"/>
          <p:cNvSpPr txBox="1"/>
          <p:nvPr/>
        </p:nvSpPr>
        <p:spPr>
          <a:xfrm>
            <a:off x="9067830" y="276240"/>
            <a:ext cx="1205728"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Sectors and products</a:t>
            </a:r>
            <a:endParaRPr lang="en-US" sz="850" dirty="0"/>
          </a:p>
        </p:txBody>
      </p:sp>
      <p:sp>
        <p:nvSpPr>
          <p:cNvPr id="54" name="Text"/>
          <p:cNvSpPr txBox="1"/>
          <p:nvPr/>
        </p:nvSpPr>
        <p:spPr>
          <a:xfrm>
            <a:off x="10516423" y="276240"/>
            <a:ext cx="298552"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044BD9"/>
                </a:solidFill>
                <a:latin typeface="Poppins Medium" pitchFamily="34" charset="0"/>
                <a:ea typeface="Poppins Medium" pitchFamily="34" charset="-122"/>
                <a:cs typeface="Poppins Medium" pitchFamily="34" charset="-120"/>
              </a:rPr>
              <a:t>Proof</a:t>
            </a:r>
            <a:endParaRPr lang="en-US" sz="850" dirty="0"/>
          </a:p>
        </p:txBody>
      </p:sp>
      <p:sp>
        <p:nvSpPr>
          <p:cNvPr id="55" name="Text"/>
          <p:cNvSpPr txBox="1"/>
          <p:nvPr/>
        </p:nvSpPr>
        <p:spPr>
          <a:xfrm>
            <a:off x="11061497" y="276240"/>
            <a:ext cx="433700"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Engage</a:t>
            </a:r>
            <a:endParaRPr lang="en-US" sz="850" dirty="0"/>
          </a:p>
        </p:txBody>
      </p:sp>
      <p:sp>
        <p:nvSpPr>
          <p:cNvPr id="56" name="Source"/>
          <p:cNvSpPr txBox="1"/>
          <p:nvPr/>
        </p:nvSpPr>
        <p:spPr>
          <a:xfrm>
            <a:off x="711220" y="6409030"/>
            <a:ext cx="8280441" cy="151150"/>
          </a:xfrm>
          <a:prstGeom prst="rect">
            <a:avLst/>
          </a:prstGeom>
          <a:noFill/>
          <a:ln/>
        </p:spPr>
        <p:txBody>
          <a:bodyPr wrap="none" lIns="0" tIns="0" rIns="0" bIns="0" rtlCol="0" anchor="t"/>
          <a:lstStyle/>
          <a:p>
            <a:pPr algn="l" indent="0" marL="0">
              <a:lnSpc>
                <a:spcPts val="1190"/>
              </a:lnSpc>
              <a:buNone/>
            </a:pPr>
            <a:r>
              <a:rPr lang="en-US" sz="850" dirty="0">
                <a:solidFill>
                  <a:srgbClr val="6B6B6B"/>
                </a:solidFill>
                <a:latin typeface="Poppins" pitchFamily="34" charset="0"/>
                <a:ea typeface="Poppins" pitchFamily="34" charset="-122"/>
                <a:cs typeface="Poppins" pitchFamily="34" charset="-120"/>
              </a:rPr>
              <a:t>Source: alphv.com/insights/agentic-ai-insurance-claims-tasco; alphv.com/insights (October 2026). Note: proof of concept; no production results yet.</a:t>
            </a:r>
            <a:endParaRPr lang="en-US" sz="850" dirty="0"/>
          </a:p>
        </p:txBody>
      </p:sp>
      <p:sp>
        <p:nvSpPr>
          <p:cNvPr id="57" name="Text"/>
          <p:cNvSpPr txBox="1"/>
          <p:nvPr/>
        </p:nvSpPr>
        <p:spPr>
          <a:xfrm>
            <a:off x="9358518" y="6409030"/>
            <a:ext cx="393741" cy="151150"/>
          </a:xfrm>
          <a:prstGeom prst="rect">
            <a:avLst/>
          </a:prstGeom>
          <a:noFill/>
          <a:ln/>
        </p:spPr>
        <p:txBody>
          <a:bodyPr wrap="none" lIns="0" tIns="0" rIns="0" bIns="0" rtlCol="0" anchor="t"/>
          <a:lstStyle/>
          <a:p>
            <a:pPr algn="l" indent="0" marL="0">
              <a:lnSpc>
                <a:spcPts val="1190"/>
              </a:lnSpc>
              <a:buNone/>
            </a:pPr>
            <a:r>
              <a:rPr lang="en-US" sz="850" spc="34" kern="0" dirty="0">
                <a:solidFill>
                  <a:srgbClr val="000000"/>
                </a:solidFill>
                <a:latin typeface="Poppins SemiBold" pitchFamily="34" charset="0"/>
                <a:ea typeface="Poppins SemiBold" pitchFamily="34" charset="-122"/>
                <a:cs typeface="Poppins SemiBold" pitchFamily="34" charset="-120"/>
              </a:rPr>
              <a:t>ALPHV</a:t>
            </a:r>
            <a:endParaRPr lang="en-US" sz="850" dirty="0"/>
          </a:p>
        </p:txBody>
      </p:sp>
      <p:sp>
        <p:nvSpPr>
          <p:cNvPr id="58" name="Text"/>
          <p:cNvSpPr txBox="1"/>
          <p:nvPr/>
        </p:nvSpPr>
        <p:spPr>
          <a:xfrm>
            <a:off x="9866467" y="6409030"/>
            <a:ext cx="1377178" cy="151150"/>
          </a:xfrm>
          <a:prstGeom prst="rect">
            <a:avLst/>
          </a:prstGeom>
          <a:noFill/>
          <a:ln/>
        </p:spPr>
        <p:txBody>
          <a:bodyPr wrap="none" lIns="0" tIns="0" rIns="0" bIns="0" rtlCol="0" anchor="t"/>
          <a:lstStyle/>
          <a:p>
            <a:pPr algn="l" indent="0" marL="0">
              <a:lnSpc>
                <a:spcPts val="1190"/>
              </a:lnSpc>
              <a:buNone/>
            </a:pPr>
            <a:r>
              <a:rPr lang="en-US" sz="850" dirty="0">
                <a:solidFill>
                  <a:srgbClr val="6B6B6B"/>
                </a:solidFill>
                <a:latin typeface="Poppins" pitchFamily="34" charset="0"/>
                <a:ea typeface="Poppins" pitchFamily="34" charset="-122"/>
                <a:cs typeface="Poppins" pitchFamily="34" charset="-120"/>
              </a:rPr>
              <a:t>Corporate overview 2026</a:t>
            </a:r>
            <a:endParaRPr lang="en-US" sz="850" dirty="0"/>
          </a:p>
        </p:txBody>
      </p:sp>
      <p:sp>
        <p:nvSpPr>
          <p:cNvPr id="59" name="Text"/>
          <p:cNvSpPr txBox="1"/>
          <p:nvPr/>
        </p:nvSpPr>
        <p:spPr>
          <a:xfrm>
            <a:off x="11357945" y="6409030"/>
            <a:ext cx="148224" cy="151150"/>
          </a:xfrm>
          <a:prstGeom prst="rect">
            <a:avLst/>
          </a:prstGeom>
          <a:noFill/>
          <a:ln/>
        </p:spPr>
        <p:txBody>
          <a:bodyPr wrap="none" lIns="0" tIns="0" rIns="0" bIns="0" rtlCol="0" anchor="t"/>
          <a:lstStyle/>
          <a:p>
            <a:pPr algn="l" indent="0" marL="0">
              <a:lnSpc>
                <a:spcPts val="1190"/>
              </a:lnSpc>
              <a:buNone/>
            </a:pPr>
            <a:r>
              <a:rPr lang="en-US" sz="850" dirty="0">
                <a:solidFill>
                  <a:srgbClr val="000000"/>
                </a:solidFill>
                <a:latin typeface="Poppins Medium" pitchFamily="34" charset="0"/>
                <a:ea typeface="Poppins Medium" pitchFamily="34" charset="-122"/>
                <a:cs typeface="Poppins Medium" pitchFamily="34" charset="-120"/>
              </a:rPr>
              <a:t>27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8F9FA"/>
        </a:solidFill>
      </p:bgPr>
    </p:bg>
    <p:spTree>
      <p:nvGrpSpPr>
        <p:cNvPr id="1" name=""/>
        <p:cNvGrpSpPr/>
        <p:nvPr/>
      </p:nvGrpSpPr>
      <p:grpSpPr>
        <a:xfrm>
          <a:off x="0" y="0"/>
          <a:ext cx="0" cy="0"/>
          <a:chOff x="0" y="0"/>
          <a:chExt cx="0" cy="0"/>
        </a:xfrm>
      </p:grpSpPr>
      <p:sp>
        <p:nvSpPr>
          <p:cNvPr id="2" name="badge"/>
          <p:cNvSpPr/>
          <p:nvPr/>
        </p:nvSpPr>
        <p:spPr>
          <a:xfrm>
            <a:off x="714421" y="536570"/>
            <a:ext cx="896478" cy="254020"/>
          </a:xfrm>
          <a:prstGeom prst="roundRect">
            <a:avLst>
              <a:gd name="adj" fmla="val 50000"/>
            </a:avLst>
          </a:prstGeom>
          <a:ln w="6350">
            <a:solidFill>
              <a:srgbClr val="155DFC"/>
            </a:solidFill>
            <a:prstDash val="solid"/>
          </a:ln>
        </p:spPr>
      </p:sp>
      <p:sp>
        <p:nvSpPr>
          <p:cNvPr id="3" name="card"/>
          <p:cNvSpPr/>
          <p:nvPr/>
        </p:nvSpPr>
        <p:spPr>
          <a:xfrm>
            <a:off x="714421" y="2077060"/>
            <a:ext cx="3481852" cy="1890431"/>
          </a:xfrm>
          <a:prstGeom prst="roundRect">
            <a:avLst>
              <a:gd name="adj" fmla="val 7894"/>
            </a:avLst>
          </a:prstGeom>
          <a:solidFill>
            <a:srgbClr val="FFFFFF"/>
          </a:solidFill>
          <a:ln w="6350">
            <a:solidFill>
              <a:srgbClr val="F0F0F0"/>
            </a:solidFill>
            <a:prstDash val="solid"/>
          </a:ln>
        </p:spPr>
      </p:sp>
      <p:sp>
        <p:nvSpPr>
          <p:cNvPr id="4" name="Rule"/>
          <p:cNvSpPr/>
          <p:nvPr/>
        </p:nvSpPr>
        <p:spPr>
          <a:xfrm>
            <a:off x="895380" y="3393156"/>
            <a:ext cx="3119933" cy="0"/>
          </a:xfrm>
          <a:prstGeom prst="line">
            <a:avLst/>
          </a:prstGeom>
          <a:noFill/>
          <a:ln w="6350">
            <a:solidFill>
              <a:srgbClr val="F0F0F0"/>
            </a:solidFill>
            <a:prstDash val="solid"/>
          </a:ln>
        </p:spPr>
      </p:sp>
      <p:sp>
        <p:nvSpPr>
          <p:cNvPr id="5" name="card"/>
          <p:cNvSpPr/>
          <p:nvPr/>
        </p:nvSpPr>
        <p:spPr>
          <a:xfrm>
            <a:off x="4355013" y="2077060"/>
            <a:ext cx="3481852" cy="1890431"/>
          </a:xfrm>
          <a:prstGeom prst="roundRect">
            <a:avLst>
              <a:gd name="adj" fmla="val 7894"/>
            </a:avLst>
          </a:prstGeom>
          <a:solidFill>
            <a:srgbClr val="FFFFFF"/>
          </a:solidFill>
          <a:ln w="6350">
            <a:solidFill>
              <a:srgbClr val="F0F0F0"/>
            </a:solidFill>
            <a:prstDash val="solid"/>
          </a:ln>
        </p:spPr>
      </p:sp>
      <p:sp>
        <p:nvSpPr>
          <p:cNvPr id="6" name="Rule"/>
          <p:cNvSpPr/>
          <p:nvPr/>
        </p:nvSpPr>
        <p:spPr>
          <a:xfrm>
            <a:off x="4535973" y="3393156"/>
            <a:ext cx="3119933" cy="0"/>
          </a:xfrm>
          <a:prstGeom prst="line">
            <a:avLst/>
          </a:prstGeom>
          <a:noFill/>
          <a:ln w="6350">
            <a:solidFill>
              <a:srgbClr val="F0F0F0"/>
            </a:solidFill>
            <a:prstDash val="solid"/>
          </a:ln>
        </p:spPr>
      </p:sp>
      <p:sp>
        <p:nvSpPr>
          <p:cNvPr id="7" name="card"/>
          <p:cNvSpPr/>
          <p:nvPr/>
        </p:nvSpPr>
        <p:spPr>
          <a:xfrm>
            <a:off x="7995605" y="2077060"/>
            <a:ext cx="3481852" cy="1890431"/>
          </a:xfrm>
          <a:prstGeom prst="roundRect">
            <a:avLst>
              <a:gd name="adj" fmla="val 7894"/>
            </a:avLst>
          </a:prstGeom>
          <a:solidFill>
            <a:srgbClr val="FFFFFF"/>
          </a:solidFill>
          <a:ln w="6350">
            <a:solidFill>
              <a:srgbClr val="F0F0F0"/>
            </a:solidFill>
            <a:prstDash val="solid"/>
          </a:ln>
        </p:spPr>
      </p:sp>
      <p:sp>
        <p:nvSpPr>
          <p:cNvPr id="8" name="Rule"/>
          <p:cNvSpPr/>
          <p:nvPr/>
        </p:nvSpPr>
        <p:spPr>
          <a:xfrm>
            <a:off x="8176656" y="3393156"/>
            <a:ext cx="3119933" cy="0"/>
          </a:xfrm>
          <a:prstGeom prst="line">
            <a:avLst/>
          </a:prstGeom>
          <a:noFill/>
          <a:ln w="6350">
            <a:solidFill>
              <a:srgbClr val="F0F0F0"/>
            </a:solidFill>
            <a:prstDash val="solid"/>
          </a:ln>
        </p:spPr>
      </p:sp>
      <p:sp>
        <p:nvSpPr>
          <p:cNvPr id="9" name="card"/>
          <p:cNvSpPr/>
          <p:nvPr/>
        </p:nvSpPr>
        <p:spPr>
          <a:xfrm>
            <a:off x="714421" y="4126230"/>
            <a:ext cx="3481852" cy="1890431"/>
          </a:xfrm>
          <a:prstGeom prst="roundRect">
            <a:avLst>
              <a:gd name="adj" fmla="val 7894"/>
            </a:avLst>
          </a:prstGeom>
          <a:solidFill>
            <a:srgbClr val="FFFFFF"/>
          </a:solidFill>
          <a:ln w="6350">
            <a:solidFill>
              <a:srgbClr val="F0F0F0"/>
            </a:solidFill>
            <a:prstDash val="solid"/>
          </a:ln>
        </p:spPr>
      </p:sp>
      <p:sp>
        <p:nvSpPr>
          <p:cNvPr id="10" name="Rule"/>
          <p:cNvSpPr/>
          <p:nvPr/>
        </p:nvSpPr>
        <p:spPr>
          <a:xfrm>
            <a:off x="895380" y="5442326"/>
            <a:ext cx="3119933" cy="0"/>
          </a:xfrm>
          <a:prstGeom prst="line">
            <a:avLst/>
          </a:prstGeom>
          <a:noFill/>
          <a:ln w="6350">
            <a:solidFill>
              <a:srgbClr val="F0F0F0"/>
            </a:solidFill>
            <a:prstDash val="solid"/>
          </a:ln>
        </p:spPr>
      </p:sp>
      <p:sp>
        <p:nvSpPr>
          <p:cNvPr id="11" name="card"/>
          <p:cNvSpPr/>
          <p:nvPr/>
        </p:nvSpPr>
        <p:spPr>
          <a:xfrm>
            <a:off x="4355013" y="4126230"/>
            <a:ext cx="3481852" cy="1890431"/>
          </a:xfrm>
          <a:prstGeom prst="roundRect">
            <a:avLst>
              <a:gd name="adj" fmla="val 7894"/>
            </a:avLst>
          </a:prstGeom>
          <a:solidFill>
            <a:srgbClr val="FFFFFF"/>
          </a:solidFill>
          <a:ln w="6350">
            <a:solidFill>
              <a:srgbClr val="F0F0F0"/>
            </a:solidFill>
            <a:prstDash val="solid"/>
          </a:ln>
        </p:spPr>
      </p:sp>
      <p:sp>
        <p:nvSpPr>
          <p:cNvPr id="12" name="Rule"/>
          <p:cNvSpPr/>
          <p:nvPr/>
        </p:nvSpPr>
        <p:spPr>
          <a:xfrm>
            <a:off x="4535973" y="5442326"/>
            <a:ext cx="3119933" cy="0"/>
          </a:xfrm>
          <a:prstGeom prst="line">
            <a:avLst/>
          </a:prstGeom>
          <a:noFill/>
          <a:ln w="6350">
            <a:solidFill>
              <a:srgbClr val="F0F0F0"/>
            </a:solidFill>
            <a:prstDash val="solid"/>
          </a:ln>
        </p:spPr>
      </p:sp>
      <p:sp>
        <p:nvSpPr>
          <p:cNvPr id="13" name="card"/>
          <p:cNvSpPr/>
          <p:nvPr/>
        </p:nvSpPr>
        <p:spPr>
          <a:xfrm>
            <a:off x="7995605" y="4126230"/>
            <a:ext cx="3481852" cy="1890431"/>
          </a:xfrm>
          <a:prstGeom prst="roundRect">
            <a:avLst>
              <a:gd name="adj" fmla="val 7894"/>
            </a:avLst>
          </a:prstGeom>
          <a:solidFill>
            <a:srgbClr val="FFFFFF"/>
          </a:solidFill>
          <a:ln w="6350">
            <a:solidFill>
              <a:srgbClr val="F0F0F0"/>
            </a:solidFill>
            <a:prstDash val="solid"/>
          </a:ln>
        </p:spPr>
      </p:sp>
      <p:sp>
        <p:nvSpPr>
          <p:cNvPr id="14" name="Rule"/>
          <p:cNvSpPr/>
          <p:nvPr/>
        </p:nvSpPr>
        <p:spPr>
          <a:xfrm>
            <a:off x="8176656" y="5442326"/>
            <a:ext cx="3119933" cy="0"/>
          </a:xfrm>
          <a:prstGeom prst="line">
            <a:avLst/>
          </a:prstGeom>
          <a:noFill/>
          <a:ln w="6350">
            <a:solidFill>
              <a:srgbClr val="F0F0F0"/>
            </a:solidFill>
            <a:prstDash val="solid"/>
          </a:ln>
        </p:spPr>
      </p:sp>
      <p:sp>
        <p:nvSpPr>
          <p:cNvPr id="15" name="span::before"/>
          <p:cNvSpPr/>
          <p:nvPr/>
        </p:nvSpPr>
        <p:spPr>
          <a:xfrm>
            <a:off x="6191860" y="311170"/>
            <a:ext cx="44440" cy="44440"/>
          </a:xfrm>
          <a:prstGeom prst="rect">
            <a:avLst/>
          </a:prstGeom>
          <a:solidFill>
            <a:srgbClr val="A0A6AF">
              <a:alpha val="55000"/>
            </a:srgbClr>
          </a:solidFill>
          <a:ln/>
        </p:spPr>
      </p:sp>
      <p:sp>
        <p:nvSpPr>
          <p:cNvPr id="16" name="span::before"/>
          <p:cNvSpPr/>
          <p:nvPr/>
        </p:nvSpPr>
        <p:spPr>
          <a:xfrm>
            <a:off x="7145213" y="311170"/>
            <a:ext cx="44440" cy="44440"/>
          </a:xfrm>
          <a:prstGeom prst="rect">
            <a:avLst/>
          </a:prstGeom>
          <a:solidFill>
            <a:srgbClr val="A0A6AF">
              <a:alpha val="55000"/>
            </a:srgbClr>
          </a:solidFill>
          <a:ln/>
        </p:spPr>
      </p:sp>
      <p:sp>
        <p:nvSpPr>
          <p:cNvPr id="17" name="span::before"/>
          <p:cNvSpPr/>
          <p:nvPr/>
        </p:nvSpPr>
        <p:spPr>
          <a:xfrm>
            <a:off x="8056230" y="311170"/>
            <a:ext cx="44440" cy="44440"/>
          </a:xfrm>
          <a:prstGeom prst="rect">
            <a:avLst/>
          </a:prstGeom>
          <a:solidFill>
            <a:srgbClr val="A0A6AF">
              <a:alpha val="55000"/>
            </a:srgbClr>
          </a:solidFill>
          <a:ln/>
        </p:spPr>
      </p:sp>
      <p:sp>
        <p:nvSpPr>
          <p:cNvPr id="18" name="span::before"/>
          <p:cNvSpPr/>
          <p:nvPr/>
        </p:nvSpPr>
        <p:spPr>
          <a:xfrm>
            <a:off x="8972550" y="311170"/>
            <a:ext cx="44440" cy="44440"/>
          </a:xfrm>
          <a:prstGeom prst="rect">
            <a:avLst/>
          </a:prstGeom>
          <a:solidFill>
            <a:srgbClr val="A0A6AF">
              <a:alpha val="55000"/>
            </a:srgbClr>
          </a:solidFill>
          <a:ln/>
        </p:spPr>
      </p:sp>
      <p:sp>
        <p:nvSpPr>
          <p:cNvPr id="19" name="on::before"/>
          <p:cNvSpPr/>
          <p:nvPr/>
        </p:nvSpPr>
        <p:spPr>
          <a:xfrm>
            <a:off x="10421142" y="311170"/>
            <a:ext cx="44440" cy="44440"/>
          </a:xfrm>
          <a:prstGeom prst="rect">
            <a:avLst/>
          </a:prstGeom>
          <a:solidFill>
            <a:srgbClr val="044BD9"/>
          </a:solidFill>
          <a:ln/>
        </p:spPr>
      </p:sp>
      <p:sp>
        <p:nvSpPr>
          <p:cNvPr id="20" name="span::before"/>
          <p:cNvSpPr/>
          <p:nvPr/>
        </p:nvSpPr>
        <p:spPr>
          <a:xfrm>
            <a:off x="10966216" y="311170"/>
            <a:ext cx="44440" cy="44440"/>
          </a:xfrm>
          <a:prstGeom prst="rect">
            <a:avLst/>
          </a:prstGeom>
          <a:solidFill>
            <a:srgbClr val="A0A6AF">
              <a:alpha val="55000"/>
            </a:srgbClr>
          </a:solidFill>
          <a:ln/>
        </p:spPr>
      </p:sp>
      <p:sp>
        <p:nvSpPr>
          <p:cNvPr id="21" name="Text"/>
          <p:cNvSpPr txBox="1"/>
          <p:nvPr/>
        </p:nvSpPr>
        <p:spPr>
          <a:xfrm>
            <a:off x="844540" y="603230"/>
            <a:ext cx="661477" cy="120609"/>
          </a:xfrm>
          <a:prstGeom prst="rect">
            <a:avLst/>
          </a:prstGeom>
          <a:noFill/>
          <a:ln/>
        </p:spPr>
        <p:txBody>
          <a:bodyPr wrap="none" lIns="0" tIns="0" rIns="0" bIns="0" rtlCol="0" anchor="t"/>
          <a:lstStyle/>
          <a:p>
            <a:pPr algn="l" indent="0" marL="0">
              <a:lnSpc>
                <a:spcPts val="950"/>
              </a:lnSpc>
              <a:buNone/>
            </a:pPr>
            <a:r>
              <a:rPr lang="en-US" sz="950" spc="10" kern="0" dirty="0">
                <a:solidFill>
                  <a:srgbClr val="155DFC"/>
                </a:solidFill>
                <a:latin typeface="Poppins Medium" pitchFamily="34" charset="0"/>
                <a:ea typeface="Poppins Medium" pitchFamily="34" charset="-122"/>
                <a:cs typeface="Poppins Medium" pitchFamily="34" charset="-120"/>
              </a:rPr>
              <a:t>More work</a:t>
            </a:r>
            <a:endParaRPr lang="en-US" sz="950" dirty="0"/>
          </a:p>
        </p:txBody>
      </p:sp>
      <p:sp>
        <p:nvSpPr>
          <p:cNvPr id="22" name="Title"/>
          <p:cNvSpPr txBox="1"/>
          <p:nvPr/>
        </p:nvSpPr>
        <p:spPr>
          <a:xfrm>
            <a:off x="711220" y="927750"/>
            <a:ext cx="9398020" cy="861090"/>
          </a:xfrm>
          <a:prstGeom prst="rect">
            <a:avLst/>
          </a:prstGeom>
          <a:noFill/>
          <a:ln/>
        </p:spPr>
        <p:txBody>
          <a:bodyPr wrap="square" lIns="0" tIns="0" rIns="0" bIns="0" rtlCol="0" anchor="t"/>
          <a:lstStyle/>
          <a:p>
            <a:pPr algn="l" indent="0" marL="0">
              <a:lnSpc>
                <a:spcPts val="3390"/>
              </a:lnSpc>
              <a:buNone/>
            </a:pPr>
            <a:r>
              <a:rPr lang="en-US" sz="3000" spc="-45" kern="0" dirty="0">
                <a:solidFill>
                  <a:srgbClr val="000000"/>
                </a:solidFill>
                <a:latin typeface="Poppins Medium" pitchFamily="34" charset="0"/>
                <a:ea typeface="Poppins Medium" pitchFamily="34" charset="-122"/>
                <a:cs typeface="Poppins Medium" pitchFamily="34" charset="-120"/>
              </a:rPr>
              <a:t>The same team ships claims engines,</a:t>
            </a:r>
            <a:endParaRPr lang="en-US" sz="3000" dirty="0"/>
          </a:p>
          <a:p>
            <a:pPr algn="l" indent="0" marL="0">
              <a:lnSpc>
                <a:spcPts val="3390"/>
              </a:lnSpc>
              <a:buNone/>
            </a:pPr>
            <a:r>
              <a:rPr lang="en-US" sz="3000" spc="-45" kern="0" dirty="0">
                <a:solidFill>
                  <a:srgbClr val="000000"/>
                </a:solidFill>
                <a:latin typeface="Poppins Medium" pitchFamily="34" charset="0"/>
                <a:ea typeface="Poppins Medium" pitchFamily="34" charset="-122"/>
                <a:cs typeface="Poppins Medium" pitchFamily="34" charset="-120"/>
              </a:rPr>
              <a:t>content pipelines and a data migration</a:t>
            </a:r>
            <a:endParaRPr lang="en-US" sz="3000" dirty="0"/>
          </a:p>
        </p:txBody>
      </p:sp>
      <p:sp>
        <p:nvSpPr>
          <p:cNvPr id="23" name="Text"/>
          <p:cNvSpPr txBox="1"/>
          <p:nvPr/>
        </p:nvSpPr>
        <p:spPr>
          <a:xfrm>
            <a:off x="895380" y="2256922"/>
            <a:ext cx="3145079" cy="167335"/>
          </a:xfrm>
          <a:prstGeom prst="rect">
            <a:avLst/>
          </a:prstGeom>
          <a:noFill/>
          <a:ln/>
        </p:spPr>
        <p:txBody>
          <a:bodyPr wrap="square" lIns="0" tIns="0" rIns="0" bIns="0" rtlCol="0" anchor="t"/>
          <a:lstStyle/>
          <a:p>
            <a:pPr algn="l" indent="0" marL="0">
              <a:lnSpc>
                <a:spcPts val="1318"/>
              </a:lnSpc>
              <a:buNone/>
            </a:pPr>
            <a:r>
              <a:rPr lang="en-US" sz="850" spc="17" kern="0" dirty="0">
                <a:solidFill>
                  <a:srgbClr val="044BD9"/>
                </a:solidFill>
                <a:latin typeface="Poppins Medium" pitchFamily="34" charset="0"/>
                <a:ea typeface="Poppins Medium" pitchFamily="34" charset="-122"/>
                <a:cs typeface="Poppins Medium" pitchFamily="34" charset="-120"/>
              </a:rPr>
              <a:t>Healthcare · A leading healthcare group, Malaysia</a:t>
            </a:r>
            <a:endParaRPr lang="en-US" sz="850" dirty="0"/>
          </a:p>
        </p:txBody>
      </p:sp>
      <p:sp>
        <p:nvSpPr>
          <p:cNvPr id="24" name="Text"/>
          <p:cNvSpPr txBox="1"/>
          <p:nvPr/>
        </p:nvSpPr>
        <p:spPr>
          <a:xfrm>
            <a:off x="895380" y="2485614"/>
            <a:ext cx="3145079" cy="203180"/>
          </a:xfrm>
          <a:prstGeom prst="rect">
            <a:avLst/>
          </a:prstGeom>
          <a:noFill/>
          <a:ln/>
        </p:spPr>
        <p:txBody>
          <a:bodyPr wrap="square" lIns="0" tIns="0" rIns="0" bIns="0" rtlCol="0" anchor="t"/>
          <a:lstStyle/>
          <a:p>
            <a:pPr algn="l" indent="0" marL="0">
              <a:lnSpc>
                <a:spcPts val="1600"/>
              </a:lnSpc>
              <a:buNone/>
            </a:pPr>
            <a:r>
              <a:rPr lang="en-US" sz="1250" dirty="0">
                <a:solidFill>
                  <a:srgbClr val="000000"/>
                </a:solidFill>
                <a:latin typeface="Poppins Medium" pitchFamily="34" charset="0"/>
                <a:ea typeface="Poppins Medium" pitchFamily="34" charset="-122"/>
                <a:cs typeface="Poppins Medium" pitchFamily="34" charset="-120"/>
              </a:rPr>
              <a:t>Medicolegal claims processing</a:t>
            </a:r>
            <a:endParaRPr lang="en-US" sz="1250" dirty="0"/>
          </a:p>
        </p:txBody>
      </p:sp>
      <p:sp>
        <p:nvSpPr>
          <p:cNvPr id="25" name="Text"/>
          <p:cNvSpPr txBox="1"/>
          <p:nvPr/>
        </p:nvSpPr>
        <p:spPr>
          <a:xfrm>
            <a:off x="895380" y="2751978"/>
            <a:ext cx="3145079" cy="433060"/>
          </a:xfrm>
          <a:prstGeom prst="rect">
            <a:avLst/>
          </a:prstGeom>
          <a:noFill/>
          <a:ln/>
        </p:spPr>
        <p:txBody>
          <a:bodyPr wrap="square" lIns="0" tIns="0" rIns="0" bIns="0" rtlCol="0" anchor="t"/>
          <a:lstStyle/>
          <a:p>
            <a:pPr algn="l" indent="0" marL="0">
              <a:lnSpc>
                <a:spcPts val="1705"/>
              </a:lnSpc>
              <a:buNone/>
            </a:pPr>
            <a:r>
              <a:rPr lang="en-US" sz="1100" dirty="0">
                <a:solidFill>
                  <a:srgbClr val="1F2937"/>
                </a:solidFill>
                <a:latin typeface="Poppins Light" pitchFamily="34" charset="0"/>
                <a:ea typeface="Poppins Light" pitchFamily="34" charset="-122"/>
                <a:cs typeface="Poppins Light" pitchFamily="34" charset="-120"/>
              </a:rPr>
              <a:t>Qwen and Claude draft each medicolegal report for a clinician to review.</a:t>
            </a:r>
            <a:endParaRPr lang="en-US" sz="1100" dirty="0"/>
          </a:p>
        </p:txBody>
      </p:sp>
      <p:sp>
        <p:nvSpPr>
          <p:cNvPr id="26" name="Text"/>
          <p:cNvSpPr txBox="1"/>
          <p:nvPr/>
        </p:nvSpPr>
        <p:spPr>
          <a:xfrm>
            <a:off x="895380" y="3494745"/>
            <a:ext cx="206197" cy="279441"/>
          </a:xfrm>
          <a:prstGeom prst="rect">
            <a:avLst/>
          </a:prstGeom>
          <a:noFill/>
          <a:ln/>
        </p:spPr>
        <p:txBody>
          <a:bodyPr wrap="none" lIns="0" tIns="0" rIns="0" bIns="0" rtlCol="0" anchor="t"/>
          <a:lstStyle/>
          <a:p>
            <a:pPr algn="l" indent="0" marL="0">
              <a:lnSpc>
                <a:spcPts val="2200"/>
              </a:lnSpc>
              <a:buNone/>
            </a:pPr>
            <a:r>
              <a:rPr lang="en-US" sz="2200" dirty="0">
                <a:solidFill>
                  <a:srgbClr val="044BD9"/>
                </a:solidFill>
                <a:latin typeface="Poppins Medium" pitchFamily="34" charset="0"/>
                <a:ea typeface="Poppins Medium" pitchFamily="34" charset="-122"/>
                <a:cs typeface="Poppins Medium" pitchFamily="34" charset="-120"/>
              </a:rPr>
              <a:t>4</a:t>
            </a:r>
            <a:endParaRPr lang="en-US" sz="2200" dirty="0"/>
          </a:p>
        </p:txBody>
      </p:sp>
      <p:sp>
        <p:nvSpPr>
          <p:cNvPr id="27" name="Text"/>
          <p:cNvSpPr txBox="1"/>
          <p:nvPr/>
        </p:nvSpPr>
        <p:spPr>
          <a:xfrm>
            <a:off x="1165037" y="3598164"/>
            <a:ext cx="2829245" cy="186995"/>
          </a:xfrm>
          <a:prstGeom prst="rect">
            <a:avLst/>
          </a:prstGeom>
          <a:noFill/>
          <a:ln/>
        </p:spPr>
        <p:txBody>
          <a:bodyPr wrap="none" lIns="0" tIns="0" rIns="0" bIns="0" rtlCol="0" anchor="t"/>
          <a:lstStyle/>
          <a:p>
            <a:pPr algn="l" indent="0" marL="0">
              <a:lnSpc>
                <a:spcPts val="1472"/>
              </a:lnSpc>
              <a:buNone/>
            </a:pPr>
            <a:r>
              <a:rPr lang="en-US" sz="950" dirty="0">
                <a:solidFill>
                  <a:srgbClr val="6B6B6B"/>
                </a:solidFill>
                <a:latin typeface="Poppins Light" pitchFamily="34" charset="0"/>
                <a:ea typeface="Poppins Light" pitchFamily="34" charset="-122"/>
                <a:cs typeface="Poppins Light" pitchFamily="34" charset="-120"/>
              </a:rPr>
              <a:t>claim stages in one flow, intake to adjudication</a:t>
            </a:r>
            <a:endParaRPr lang="en-US" sz="950" dirty="0"/>
          </a:p>
        </p:txBody>
      </p:sp>
      <p:sp>
        <p:nvSpPr>
          <p:cNvPr id="28" name="Text"/>
          <p:cNvSpPr txBox="1"/>
          <p:nvPr/>
        </p:nvSpPr>
        <p:spPr>
          <a:xfrm>
            <a:off x="4535973" y="2256922"/>
            <a:ext cx="3145079" cy="167335"/>
          </a:xfrm>
          <a:prstGeom prst="rect">
            <a:avLst/>
          </a:prstGeom>
          <a:noFill/>
          <a:ln/>
        </p:spPr>
        <p:txBody>
          <a:bodyPr wrap="square" lIns="0" tIns="0" rIns="0" bIns="0" rtlCol="0" anchor="t"/>
          <a:lstStyle/>
          <a:p>
            <a:pPr algn="l" indent="0" marL="0">
              <a:lnSpc>
                <a:spcPts val="1318"/>
              </a:lnSpc>
              <a:buNone/>
            </a:pPr>
            <a:r>
              <a:rPr lang="en-US" sz="850" spc="17" kern="0" dirty="0">
                <a:solidFill>
                  <a:srgbClr val="044BD9"/>
                </a:solidFill>
                <a:latin typeface="Poppins Medium" pitchFamily="34" charset="0"/>
                <a:ea typeface="Poppins Medium" pitchFamily="34" charset="-122"/>
                <a:cs typeface="Poppins Medium" pitchFamily="34" charset="-120"/>
              </a:rPr>
              <a:t>Retail · Eastern Decorator</a:t>
            </a:r>
            <a:endParaRPr lang="en-US" sz="850" dirty="0"/>
          </a:p>
        </p:txBody>
      </p:sp>
      <p:sp>
        <p:nvSpPr>
          <p:cNvPr id="29" name="Text"/>
          <p:cNvSpPr txBox="1"/>
          <p:nvPr/>
        </p:nvSpPr>
        <p:spPr>
          <a:xfrm>
            <a:off x="4535973" y="2485614"/>
            <a:ext cx="3145079" cy="203180"/>
          </a:xfrm>
          <a:prstGeom prst="rect">
            <a:avLst/>
          </a:prstGeom>
          <a:noFill/>
          <a:ln/>
        </p:spPr>
        <p:txBody>
          <a:bodyPr wrap="square" lIns="0" tIns="0" rIns="0" bIns="0" rtlCol="0" anchor="t"/>
          <a:lstStyle/>
          <a:p>
            <a:pPr algn="l" indent="0" marL="0">
              <a:lnSpc>
                <a:spcPts val="1600"/>
              </a:lnSpc>
              <a:buNone/>
            </a:pPr>
            <a:r>
              <a:rPr lang="en-US" sz="1250" dirty="0">
                <a:solidFill>
                  <a:srgbClr val="000000"/>
                </a:solidFill>
                <a:latin typeface="Poppins Medium" pitchFamily="34" charset="0"/>
                <a:ea typeface="Poppins Medium" pitchFamily="34" charset="-122"/>
                <a:cs typeface="Poppins Medium" pitchFamily="34" charset="-120"/>
              </a:rPr>
              <a:t>AI content factory</a:t>
            </a:r>
            <a:endParaRPr lang="en-US" sz="1250" dirty="0"/>
          </a:p>
        </p:txBody>
      </p:sp>
      <p:sp>
        <p:nvSpPr>
          <p:cNvPr id="30" name="Text"/>
          <p:cNvSpPr txBox="1"/>
          <p:nvPr/>
        </p:nvSpPr>
        <p:spPr>
          <a:xfrm>
            <a:off x="4535973" y="2751978"/>
            <a:ext cx="3145079" cy="433060"/>
          </a:xfrm>
          <a:prstGeom prst="rect">
            <a:avLst/>
          </a:prstGeom>
          <a:noFill/>
          <a:ln/>
        </p:spPr>
        <p:txBody>
          <a:bodyPr wrap="square" lIns="0" tIns="0" rIns="0" bIns="0" rtlCol="0" anchor="t"/>
          <a:lstStyle/>
          <a:p>
            <a:pPr algn="l" indent="0" marL="0">
              <a:lnSpc>
                <a:spcPts val="1705"/>
              </a:lnSpc>
              <a:buNone/>
            </a:pPr>
            <a:r>
              <a:rPr lang="en-US" sz="1100" dirty="0">
                <a:solidFill>
                  <a:srgbClr val="1F2937"/>
                </a:solidFill>
                <a:latin typeface="Poppins Light" pitchFamily="34" charset="0"/>
                <a:ea typeface="Poppins Light" pitchFamily="34" charset="-122"/>
                <a:cs typeface="Poppins Light" pitchFamily="34" charset="-120"/>
              </a:rPr>
              <a:t>Gemini turns source assets into imagery, copy and listing variants, with review.</a:t>
            </a:r>
            <a:endParaRPr lang="en-US" sz="1100" dirty="0"/>
          </a:p>
        </p:txBody>
      </p:sp>
      <p:sp>
        <p:nvSpPr>
          <p:cNvPr id="31" name="Text"/>
          <p:cNvSpPr txBox="1"/>
          <p:nvPr/>
        </p:nvSpPr>
        <p:spPr>
          <a:xfrm>
            <a:off x="4535973" y="3494745"/>
            <a:ext cx="191384" cy="279441"/>
          </a:xfrm>
          <a:prstGeom prst="rect">
            <a:avLst/>
          </a:prstGeom>
          <a:noFill/>
          <a:ln/>
        </p:spPr>
        <p:txBody>
          <a:bodyPr wrap="none" lIns="0" tIns="0" rIns="0" bIns="0" rtlCol="0" anchor="t"/>
          <a:lstStyle/>
          <a:p>
            <a:pPr algn="l" indent="0" marL="0">
              <a:lnSpc>
                <a:spcPts val="2200"/>
              </a:lnSpc>
              <a:buNone/>
            </a:pPr>
            <a:r>
              <a:rPr lang="en-US" sz="2200" dirty="0">
                <a:solidFill>
                  <a:srgbClr val="044BD9"/>
                </a:solidFill>
                <a:latin typeface="Poppins Medium" pitchFamily="34" charset="0"/>
                <a:ea typeface="Poppins Medium" pitchFamily="34" charset="-122"/>
                <a:cs typeface="Poppins Medium" pitchFamily="34" charset="-120"/>
              </a:rPr>
              <a:t>3</a:t>
            </a:r>
            <a:endParaRPr lang="en-US" sz="2200" dirty="0"/>
          </a:p>
        </p:txBody>
      </p:sp>
      <p:sp>
        <p:nvSpPr>
          <p:cNvPr id="32" name="Text"/>
          <p:cNvSpPr txBox="1"/>
          <p:nvPr/>
        </p:nvSpPr>
        <p:spPr>
          <a:xfrm>
            <a:off x="4790907" y="3598164"/>
            <a:ext cx="1593982" cy="186995"/>
          </a:xfrm>
          <a:prstGeom prst="rect">
            <a:avLst/>
          </a:prstGeom>
          <a:noFill/>
          <a:ln/>
        </p:spPr>
        <p:txBody>
          <a:bodyPr wrap="none" lIns="0" tIns="0" rIns="0" bIns="0" rtlCol="0" anchor="t"/>
          <a:lstStyle/>
          <a:p>
            <a:pPr algn="l" indent="0" marL="0">
              <a:lnSpc>
                <a:spcPts val="1472"/>
              </a:lnSpc>
              <a:buNone/>
            </a:pPr>
            <a:r>
              <a:rPr lang="en-US" sz="950" dirty="0">
                <a:solidFill>
                  <a:srgbClr val="6B6B6B"/>
                </a:solidFill>
                <a:latin typeface="Poppins Light" pitchFamily="34" charset="0"/>
                <a:ea typeface="Poppins Light" pitchFamily="34" charset="-122"/>
                <a:cs typeface="Poppins Light" pitchFamily="34" charset="-120"/>
              </a:rPr>
              <a:t>content types per product</a:t>
            </a:r>
            <a:endParaRPr lang="en-US" sz="950" dirty="0"/>
          </a:p>
        </p:txBody>
      </p:sp>
      <p:sp>
        <p:nvSpPr>
          <p:cNvPr id="33" name="Text"/>
          <p:cNvSpPr txBox="1"/>
          <p:nvPr/>
        </p:nvSpPr>
        <p:spPr>
          <a:xfrm>
            <a:off x="8176656" y="2256922"/>
            <a:ext cx="3145079" cy="167335"/>
          </a:xfrm>
          <a:prstGeom prst="rect">
            <a:avLst/>
          </a:prstGeom>
          <a:noFill/>
          <a:ln/>
        </p:spPr>
        <p:txBody>
          <a:bodyPr wrap="square" lIns="0" tIns="0" rIns="0" bIns="0" rtlCol="0" anchor="t"/>
          <a:lstStyle/>
          <a:p>
            <a:pPr algn="l" indent="0" marL="0">
              <a:lnSpc>
                <a:spcPts val="1318"/>
              </a:lnSpc>
              <a:buNone/>
            </a:pPr>
            <a:r>
              <a:rPr lang="en-US" sz="850" spc="17" kern="0" dirty="0">
                <a:solidFill>
                  <a:srgbClr val="044BD9"/>
                </a:solidFill>
                <a:latin typeface="Poppins Medium" pitchFamily="34" charset="0"/>
                <a:ea typeface="Poppins Medium" pitchFamily="34" charset="-122"/>
                <a:cs typeface="Poppins Medium" pitchFamily="34" charset="-120"/>
              </a:rPr>
              <a:t>Brewing and consumer goods · Carlsberg</a:t>
            </a:r>
            <a:endParaRPr lang="en-US" sz="850" dirty="0"/>
          </a:p>
        </p:txBody>
      </p:sp>
      <p:sp>
        <p:nvSpPr>
          <p:cNvPr id="34" name="Text"/>
          <p:cNvSpPr txBox="1"/>
          <p:nvPr/>
        </p:nvSpPr>
        <p:spPr>
          <a:xfrm>
            <a:off x="8176656" y="2485614"/>
            <a:ext cx="3145079" cy="203180"/>
          </a:xfrm>
          <a:prstGeom prst="rect">
            <a:avLst/>
          </a:prstGeom>
          <a:noFill/>
          <a:ln/>
        </p:spPr>
        <p:txBody>
          <a:bodyPr wrap="square" lIns="0" tIns="0" rIns="0" bIns="0" rtlCol="0" anchor="t"/>
          <a:lstStyle/>
          <a:p>
            <a:pPr algn="l" indent="0" marL="0">
              <a:lnSpc>
                <a:spcPts val="1600"/>
              </a:lnSpc>
              <a:buNone/>
            </a:pPr>
            <a:r>
              <a:rPr lang="en-US" sz="1250" dirty="0">
                <a:solidFill>
                  <a:srgbClr val="000000"/>
                </a:solidFill>
                <a:latin typeface="Poppins Medium" pitchFamily="34" charset="0"/>
                <a:ea typeface="Poppins Medium" pitchFamily="34" charset="-122"/>
                <a:cs typeface="Poppins Medium" pitchFamily="34" charset="-120"/>
              </a:rPr>
              <a:t>Core data migration</a:t>
            </a:r>
            <a:endParaRPr lang="en-US" sz="1250" dirty="0"/>
          </a:p>
        </p:txBody>
      </p:sp>
      <p:sp>
        <p:nvSpPr>
          <p:cNvPr id="35" name="Text"/>
          <p:cNvSpPr txBox="1"/>
          <p:nvPr/>
        </p:nvSpPr>
        <p:spPr>
          <a:xfrm>
            <a:off x="8176656" y="2751978"/>
            <a:ext cx="3145079" cy="433060"/>
          </a:xfrm>
          <a:prstGeom prst="rect">
            <a:avLst/>
          </a:prstGeom>
          <a:noFill/>
          <a:ln/>
        </p:spPr>
        <p:txBody>
          <a:bodyPr wrap="square" lIns="0" tIns="0" rIns="0" bIns="0" rtlCol="0" anchor="t"/>
          <a:lstStyle/>
          <a:p>
            <a:pPr algn="l" indent="0" marL="0">
              <a:lnSpc>
                <a:spcPts val="1705"/>
              </a:lnSpc>
              <a:buNone/>
            </a:pPr>
            <a:r>
              <a:rPr lang="en-US" sz="1100" dirty="0">
                <a:solidFill>
                  <a:srgbClr val="1F2937"/>
                </a:solidFill>
                <a:latin typeface="Poppins Light" pitchFamily="34" charset="0"/>
                <a:ea typeface="Poppins Light" pitchFamily="34" charset="-122"/>
                <a:cs typeface="Poppins Light" pitchFamily="34" charset="-120"/>
              </a:rPr>
              <a:t>ALPHV assisted Carlsberg in migrating core operational data to a target estate.</a:t>
            </a:r>
            <a:endParaRPr lang="en-US" sz="1100" dirty="0"/>
          </a:p>
        </p:txBody>
      </p:sp>
      <p:sp>
        <p:nvSpPr>
          <p:cNvPr id="36" name="Text"/>
          <p:cNvSpPr txBox="1"/>
          <p:nvPr/>
        </p:nvSpPr>
        <p:spPr>
          <a:xfrm>
            <a:off x="8176656" y="3494745"/>
            <a:ext cx="1360993" cy="279441"/>
          </a:xfrm>
          <a:prstGeom prst="rect">
            <a:avLst/>
          </a:prstGeom>
          <a:noFill/>
          <a:ln/>
        </p:spPr>
        <p:txBody>
          <a:bodyPr wrap="none" lIns="0" tIns="0" rIns="0" bIns="0" rtlCol="0" anchor="t"/>
          <a:lstStyle/>
          <a:p>
            <a:pPr algn="l" indent="0" marL="0">
              <a:lnSpc>
                <a:spcPts val="2200"/>
              </a:lnSpc>
              <a:buNone/>
            </a:pPr>
            <a:r>
              <a:rPr lang="en-US" sz="2200" dirty="0">
                <a:solidFill>
                  <a:srgbClr val="044BD9"/>
                </a:solidFill>
                <a:latin typeface="Poppins Medium" pitchFamily="34" charset="0"/>
                <a:ea typeface="Poppins Medium" pitchFamily="34" charset="-122"/>
                <a:cs typeface="Poppins Medium" pitchFamily="34" charset="-120"/>
              </a:rPr>
              <a:t>5 months</a:t>
            </a:r>
            <a:endParaRPr lang="en-US" sz="2200" dirty="0"/>
          </a:p>
        </p:txBody>
      </p:sp>
      <p:sp>
        <p:nvSpPr>
          <p:cNvPr id="37" name="Text"/>
          <p:cNvSpPr txBox="1"/>
          <p:nvPr/>
        </p:nvSpPr>
        <p:spPr>
          <a:xfrm>
            <a:off x="9601109" y="3598164"/>
            <a:ext cx="1581180" cy="186995"/>
          </a:xfrm>
          <a:prstGeom prst="rect">
            <a:avLst/>
          </a:prstGeom>
          <a:noFill/>
          <a:ln/>
        </p:spPr>
        <p:txBody>
          <a:bodyPr wrap="none" lIns="0" tIns="0" rIns="0" bIns="0" rtlCol="0" anchor="t"/>
          <a:lstStyle/>
          <a:p>
            <a:pPr algn="l" indent="0" marL="0">
              <a:lnSpc>
                <a:spcPts val="1472"/>
              </a:lnSpc>
              <a:buNone/>
            </a:pPr>
            <a:r>
              <a:rPr lang="en-US" sz="950" dirty="0">
                <a:solidFill>
                  <a:srgbClr val="6B6B6B"/>
                </a:solidFill>
                <a:latin typeface="Poppins Light" pitchFamily="34" charset="0"/>
                <a:ea typeface="Poppins Light" pitchFamily="34" charset="-122"/>
                <a:cs typeface="Poppins Light" pitchFamily="34" charset="-120"/>
              </a:rPr>
              <a:t>from extraction to cutover</a:t>
            </a:r>
            <a:endParaRPr lang="en-US" sz="950" dirty="0"/>
          </a:p>
        </p:txBody>
      </p:sp>
      <p:sp>
        <p:nvSpPr>
          <p:cNvPr id="38" name="Text"/>
          <p:cNvSpPr txBox="1"/>
          <p:nvPr/>
        </p:nvSpPr>
        <p:spPr>
          <a:xfrm>
            <a:off x="895380" y="4306092"/>
            <a:ext cx="3145079" cy="167335"/>
          </a:xfrm>
          <a:prstGeom prst="rect">
            <a:avLst/>
          </a:prstGeom>
          <a:noFill/>
          <a:ln/>
        </p:spPr>
        <p:txBody>
          <a:bodyPr wrap="square" lIns="0" tIns="0" rIns="0" bIns="0" rtlCol="0" anchor="t"/>
          <a:lstStyle/>
          <a:p>
            <a:pPr algn="l" indent="0" marL="0">
              <a:lnSpc>
                <a:spcPts val="1318"/>
              </a:lnSpc>
              <a:buNone/>
            </a:pPr>
            <a:r>
              <a:rPr lang="en-US" sz="850" spc="17" kern="0" dirty="0">
                <a:solidFill>
                  <a:srgbClr val="044BD9"/>
                </a:solidFill>
                <a:latin typeface="Poppins Medium" pitchFamily="34" charset="0"/>
                <a:ea typeface="Poppins Medium" pitchFamily="34" charset="-122"/>
                <a:cs typeface="Poppins Medium" pitchFamily="34" charset="-120"/>
              </a:rPr>
              <a:t>Financial services · Fundaztic</a:t>
            </a:r>
            <a:endParaRPr lang="en-US" sz="850" dirty="0"/>
          </a:p>
        </p:txBody>
      </p:sp>
      <p:sp>
        <p:nvSpPr>
          <p:cNvPr id="39" name="Text"/>
          <p:cNvSpPr txBox="1"/>
          <p:nvPr/>
        </p:nvSpPr>
        <p:spPr>
          <a:xfrm>
            <a:off x="895380" y="4534784"/>
            <a:ext cx="3145079" cy="203180"/>
          </a:xfrm>
          <a:prstGeom prst="rect">
            <a:avLst/>
          </a:prstGeom>
          <a:noFill/>
          <a:ln/>
        </p:spPr>
        <p:txBody>
          <a:bodyPr wrap="square" lIns="0" tIns="0" rIns="0" bIns="0" rtlCol="0" anchor="t"/>
          <a:lstStyle/>
          <a:p>
            <a:pPr algn="l" indent="0" marL="0">
              <a:lnSpc>
                <a:spcPts val="1600"/>
              </a:lnSpc>
              <a:buNone/>
            </a:pPr>
            <a:r>
              <a:rPr lang="en-US" sz="1250" dirty="0">
                <a:solidFill>
                  <a:srgbClr val="000000"/>
                </a:solidFill>
                <a:latin typeface="Poppins Medium" pitchFamily="34" charset="0"/>
                <a:ea typeface="Poppins Medium" pitchFamily="34" charset="-122"/>
                <a:cs typeface="Poppins Medium" pitchFamily="34" charset="-120"/>
              </a:rPr>
              <a:t>Debt recovery management</a:t>
            </a:r>
            <a:endParaRPr lang="en-US" sz="1250" dirty="0"/>
          </a:p>
        </p:txBody>
      </p:sp>
      <p:sp>
        <p:nvSpPr>
          <p:cNvPr id="40" name="Text"/>
          <p:cNvSpPr txBox="1"/>
          <p:nvPr/>
        </p:nvSpPr>
        <p:spPr>
          <a:xfrm>
            <a:off x="895380" y="4801149"/>
            <a:ext cx="3145079" cy="433060"/>
          </a:xfrm>
          <a:prstGeom prst="rect">
            <a:avLst/>
          </a:prstGeom>
          <a:noFill/>
          <a:ln/>
        </p:spPr>
        <p:txBody>
          <a:bodyPr wrap="square" lIns="0" tIns="0" rIns="0" bIns="0" rtlCol="0" anchor="t"/>
          <a:lstStyle/>
          <a:p>
            <a:pPr algn="l" indent="0" marL="0">
              <a:lnSpc>
                <a:spcPts val="1705"/>
              </a:lnSpc>
              <a:buNone/>
            </a:pPr>
            <a:r>
              <a:rPr lang="en-US" sz="1100" dirty="0">
                <a:solidFill>
                  <a:srgbClr val="1F2937"/>
                </a:solidFill>
                <a:latin typeface="Poppins Light" pitchFamily="34" charset="0"/>
                <a:ea typeface="Poppins Light" pitchFamily="34" charset="-122"/>
                <a:cs typeface="Poppins Light" pitchFamily="34" charset="-120"/>
              </a:rPr>
              <a:t>Scoped, built and integrated into the lending operation, plus a UI/UX overhaul design.</a:t>
            </a:r>
            <a:endParaRPr lang="en-US" sz="1100" dirty="0"/>
          </a:p>
        </p:txBody>
      </p:sp>
      <p:sp>
        <p:nvSpPr>
          <p:cNvPr id="41" name="Text"/>
          <p:cNvSpPr txBox="1"/>
          <p:nvPr/>
        </p:nvSpPr>
        <p:spPr>
          <a:xfrm>
            <a:off x="895380" y="5543916"/>
            <a:ext cx="646481" cy="279441"/>
          </a:xfrm>
          <a:prstGeom prst="rect">
            <a:avLst/>
          </a:prstGeom>
          <a:noFill/>
          <a:ln/>
        </p:spPr>
        <p:txBody>
          <a:bodyPr wrap="none" lIns="0" tIns="0" rIns="0" bIns="0" rtlCol="0" anchor="t"/>
          <a:lstStyle/>
          <a:p>
            <a:pPr algn="l" indent="0" marL="0">
              <a:lnSpc>
                <a:spcPts val="2200"/>
              </a:lnSpc>
              <a:buNone/>
            </a:pPr>
            <a:r>
              <a:rPr lang="en-US" sz="2200" dirty="0">
                <a:solidFill>
                  <a:srgbClr val="044BD9"/>
                </a:solidFill>
                <a:latin typeface="Poppins Medium" pitchFamily="34" charset="0"/>
                <a:ea typeface="Poppins Medium" pitchFamily="34" charset="-122"/>
                <a:cs typeface="Poppins Medium" pitchFamily="34" charset="-120"/>
              </a:rPr>
              <a:t>DRM</a:t>
            </a:r>
            <a:endParaRPr lang="en-US" sz="2200" dirty="0"/>
          </a:p>
        </p:txBody>
      </p:sp>
      <p:sp>
        <p:nvSpPr>
          <p:cNvPr id="42" name="Text"/>
          <p:cNvSpPr txBox="1"/>
          <p:nvPr/>
        </p:nvSpPr>
        <p:spPr>
          <a:xfrm>
            <a:off x="1605321" y="5647334"/>
            <a:ext cx="1914388" cy="186995"/>
          </a:xfrm>
          <a:prstGeom prst="rect">
            <a:avLst/>
          </a:prstGeom>
          <a:noFill/>
          <a:ln/>
        </p:spPr>
        <p:txBody>
          <a:bodyPr wrap="none" lIns="0" tIns="0" rIns="0" bIns="0" rtlCol="0" anchor="t"/>
          <a:lstStyle/>
          <a:p>
            <a:pPr algn="l" indent="0" marL="0">
              <a:lnSpc>
                <a:spcPts val="1472"/>
              </a:lnSpc>
              <a:buNone/>
            </a:pPr>
            <a:r>
              <a:rPr lang="en-US" sz="950" dirty="0">
                <a:solidFill>
                  <a:srgbClr val="6B6B6B"/>
                </a:solidFill>
                <a:latin typeface="Poppins Light" pitchFamily="34" charset="0"/>
                <a:ea typeface="Poppins Light" pitchFamily="34" charset="-122"/>
                <a:cs typeface="Poppins Light" pitchFamily="34" charset="-120"/>
              </a:rPr>
              <a:t>system that Fundaztic now runs</a:t>
            </a:r>
            <a:endParaRPr lang="en-US" sz="950" dirty="0"/>
          </a:p>
        </p:txBody>
      </p:sp>
      <p:sp>
        <p:nvSpPr>
          <p:cNvPr id="43" name="Text"/>
          <p:cNvSpPr txBox="1"/>
          <p:nvPr/>
        </p:nvSpPr>
        <p:spPr>
          <a:xfrm>
            <a:off x="4535973" y="4306092"/>
            <a:ext cx="3145079" cy="167335"/>
          </a:xfrm>
          <a:prstGeom prst="rect">
            <a:avLst/>
          </a:prstGeom>
          <a:noFill/>
          <a:ln/>
        </p:spPr>
        <p:txBody>
          <a:bodyPr wrap="square" lIns="0" tIns="0" rIns="0" bIns="0" rtlCol="0" anchor="t"/>
          <a:lstStyle/>
          <a:p>
            <a:pPr algn="l" indent="0" marL="0">
              <a:lnSpc>
                <a:spcPts val="1318"/>
              </a:lnSpc>
              <a:buNone/>
            </a:pPr>
            <a:r>
              <a:rPr lang="en-US" sz="850" spc="17" kern="0" dirty="0">
                <a:solidFill>
                  <a:srgbClr val="044BD9"/>
                </a:solidFill>
                <a:latin typeface="Poppins Medium" pitchFamily="34" charset="0"/>
                <a:ea typeface="Poppins Medium" pitchFamily="34" charset="-122"/>
                <a:cs typeface="Poppins Medium" pitchFamily="34" charset="-120"/>
              </a:rPr>
              <a:t>Telecommunications · A telco</a:t>
            </a:r>
            <a:endParaRPr lang="en-US" sz="850" dirty="0"/>
          </a:p>
        </p:txBody>
      </p:sp>
      <p:sp>
        <p:nvSpPr>
          <p:cNvPr id="44" name="Text"/>
          <p:cNvSpPr txBox="1"/>
          <p:nvPr/>
        </p:nvSpPr>
        <p:spPr>
          <a:xfrm>
            <a:off x="4535973" y="4534784"/>
            <a:ext cx="3145079" cy="203180"/>
          </a:xfrm>
          <a:prstGeom prst="rect">
            <a:avLst/>
          </a:prstGeom>
          <a:noFill/>
          <a:ln/>
        </p:spPr>
        <p:txBody>
          <a:bodyPr wrap="square" lIns="0" tIns="0" rIns="0" bIns="0" rtlCol="0" anchor="t"/>
          <a:lstStyle/>
          <a:p>
            <a:pPr algn="l" indent="0" marL="0">
              <a:lnSpc>
                <a:spcPts val="1600"/>
              </a:lnSpc>
              <a:buNone/>
            </a:pPr>
            <a:r>
              <a:rPr lang="en-US" sz="1250" dirty="0">
                <a:solidFill>
                  <a:srgbClr val="000000"/>
                </a:solidFill>
                <a:latin typeface="Poppins Medium" pitchFamily="34" charset="0"/>
                <a:ea typeface="Poppins Medium" pitchFamily="34" charset="-122"/>
                <a:cs typeface="Poppins Medium" pitchFamily="34" charset="-120"/>
              </a:rPr>
              <a:t>VR and web roadshow</a:t>
            </a:r>
            <a:endParaRPr lang="en-US" sz="1250" dirty="0"/>
          </a:p>
        </p:txBody>
      </p:sp>
      <p:sp>
        <p:nvSpPr>
          <p:cNvPr id="45" name="Text"/>
          <p:cNvSpPr txBox="1"/>
          <p:nvPr/>
        </p:nvSpPr>
        <p:spPr>
          <a:xfrm>
            <a:off x="4535973" y="4801149"/>
            <a:ext cx="3145079" cy="433060"/>
          </a:xfrm>
          <a:prstGeom prst="rect">
            <a:avLst/>
          </a:prstGeom>
          <a:noFill/>
          <a:ln/>
        </p:spPr>
        <p:txBody>
          <a:bodyPr wrap="square" lIns="0" tIns="0" rIns="0" bIns="0" rtlCol="0" anchor="t"/>
          <a:lstStyle/>
          <a:p>
            <a:pPr algn="l" indent="0" marL="0">
              <a:lnSpc>
                <a:spcPts val="1705"/>
              </a:lnSpc>
              <a:buNone/>
            </a:pPr>
            <a:r>
              <a:rPr lang="en-US" sz="1100" dirty="0">
                <a:solidFill>
                  <a:srgbClr val="1F2937"/>
                </a:solidFill>
                <a:latin typeface="Poppins Light" pitchFamily="34" charset="0"/>
                <a:ea typeface="Poppins Light" pitchFamily="34" charset="-122"/>
                <a:cs typeface="Poppins Light" pitchFamily="34" charset="-120"/>
              </a:rPr>
              <a:t>A VR experience and a browser build for a travelling roadshow, with on-site support.</a:t>
            </a:r>
            <a:endParaRPr lang="en-US" sz="1100" dirty="0"/>
          </a:p>
        </p:txBody>
      </p:sp>
      <p:sp>
        <p:nvSpPr>
          <p:cNvPr id="46" name="Text"/>
          <p:cNvSpPr txBox="1"/>
          <p:nvPr/>
        </p:nvSpPr>
        <p:spPr>
          <a:xfrm>
            <a:off x="4535973" y="5543916"/>
            <a:ext cx="186629" cy="279441"/>
          </a:xfrm>
          <a:prstGeom prst="rect">
            <a:avLst/>
          </a:prstGeom>
          <a:noFill/>
          <a:ln/>
        </p:spPr>
        <p:txBody>
          <a:bodyPr wrap="none" lIns="0" tIns="0" rIns="0" bIns="0" rtlCol="0" anchor="t"/>
          <a:lstStyle/>
          <a:p>
            <a:pPr algn="l" indent="0" marL="0">
              <a:lnSpc>
                <a:spcPts val="2200"/>
              </a:lnSpc>
              <a:buNone/>
            </a:pPr>
            <a:r>
              <a:rPr lang="en-US" sz="2200" dirty="0">
                <a:solidFill>
                  <a:srgbClr val="044BD9"/>
                </a:solidFill>
                <a:latin typeface="Poppins Medium" pitchFamily="34" charset="0"/>
                <a:ea typeface="Poppins Medium" pitchFamily="34" charset="-122"/>
                <a:cs typeface="Poppins Medium" pitchFamily="34" charset="-120"/>
              </a:rPr>
              <a:t>2</a:t>
            </a:r>
            <a:endParaRPr lang="en-US" sz="2200" dirty="0"/>
          </a:p>
        </p:txBody>
      </p:sp>
      <p:sp>
        <p:nvSpPr>
          <p:cNvPr id="47" name="Text"/>
          <p:cNvSpPr txBox="1"/>
          <p:nvPr/>
        </p:nvSpPr>
        <p:spPr>
          <a:xfrm>
            <a:off x="4786152" y="5647334"/>
            <a:ext cx="2622042" cy="186995"/>
          </a:xfrm>
          <a:prstGeom prst="rect">
            <a:avLst/>
          </a:prstGeom>
          <a:noFill/>
          <a:ln/>
        </p:spPr>
        <p:txBody>
          <a:bodyPr wrap="none" lIns="0" tIns="0" rIns="0" bIns="0" rtlCol="0" anchor="t"/>
          <a:lstStyle/>
          <a:p>
            <a:pPr algn="l" indent="0" marL="0">
              <a:lnSpc>
                <a:spcPts val="1472"/>
              </a:lnSpc>
              <a:buNone/>
            </a:pPr>
            <a:r>
              <a:rPr lang="en-US" sz="950" dirty="0">
                <a:solidFill>
                  <a:srgbClr val="6B6B6B"/>
                </a:solidFill>
                <a:latin typeface="Poppins Light" pitchFamily="34" charset="0"/>
                <a:ea typeface="Poppins Light" pitchFamily="34" charset="-122"/>
                <a:cs typeface="Poppins Light" pitchFamily="34" charset="-120"/>
              </a:rPr>
              <a:t>clients, VR and web, from one shared scene</a:t>
            </a:r>
            <a:endParaRPr lang="en-US" sz="950" dirty="0"/>
          </a:p>
        </p:txBody>
      </p:sp>
      <p:sp>
        <p:nvSpPr>
          <p:cNvPr id="48" name="Text"/>
          <p:cNvSpPr txBox="1"/>
          <p:nvPr/>
        </p:nvSpPr>
        <p:spPr>
          <a:xfrm>
            <a:off x="8176656" y="4306092"/>
            <a:ext cx="3145079" cy="167335"/>
          </a:xfrm>
          <a:prstGeom prst="rect">
            <a:avLst/>
          </a:prstGeom>
          <a:noFill/>
          <a:ln/>
        </p:spPr>
        <p:txBody>
          <a:bodyPr wrap="square" lIns="0" tIns="0" rIns="0" bIns="0" rtlCol="0" anchor="t"/>
          <a:lstStyle/>
          <a:p>
            <a:pPr algn="l" indent="0" marL="0">
              <a:lnSpc>
                <a:spcPts val="1318"/>
              </a:lnSpc>
              <a:buNone/>
            </a:pPr>
            <a:r>
              <a:rPr lang="en-US" sz="850" spc="17" kern="0" dirty="0">
                <a:solidFill>
                  <a:srgbClr val="044BD9"/>
                </a:solidFill>
                <a:latin typeface="Poppins Medium" pitchFamily="34" charset="0"/>
                <a:ea typeface="Poppins Medium" pitchFamily="34" charset="-122"/>
                <a:cs typeface="Poppins Medium" pitchFamily="34" charset="-120"/>
              </a:rPr>
              <a:t>Retail · Case note with FPT AI Factory</a:t>
            </a:r>
            <a:endParaRPr lang="en-US" sz="850" dirty="0"/>
          </a:p>
        </p:txBody>
      </p:sp>
      <p:sp>
        <p:nvSpPr>
          <p:cNvPr id="49" name="Text"/>
          <p:cNvSpPr txBox="1"/>
          <p:nvPr/>
        </p:nvSpPr>
        <p:spPr>
          <a:xfrm>
            <a:off x="8176656" y="4534784"/>
            <a:ext cx="3145079" cy="203180"/>
          </a:xfrm>
          <a:prstGeom prst="rect">
            <a:avLst/>
          </a:prstGeom>
          <a:noFill/>
          <a:ln/>
        </p:spPr>
        <p:txBody>
          <a:bodyPr wrap="square" lIns="0" tIns="0" rIns="0" bIns="0" rtlCol="0" anchor="t"/>
          <a:lstStyle/>
          <a:p>
            <a:pPr algn="l" indent="0" marL="0">
              <a:lnSpc>
                <a:spcPts val="1600"/>
              </a:lnSpc>
              <a:buNone/>
            </a:pPr>
            <a:r>
              <a:rPr lang="en-US" sz="1250" dirty="0">
                <a:solidFill>
                  <a:srgbClr val="000000"/>
                </a:solidFill>
                <a:latin typeface="Poppins Medium" pitchFamily="34" charset="0"/>
                <a:ea typeface="Poppins Medium" pitchFamily="34" charset="-122"/>
                <a:cs typeface="Poppins Medium" pitchFamily="34" charset="-120"/>
              </a:rPr>
              <a:t>Promotions model</a:t>
            </a:r>
            <a:endParaRPr lang="en-US" sz="1250" dirty="0"/>
          </a:p>
        </p:txBody>
      </p:sp>
      <p:sp>
        <p:nvSpPr>
          <p:cNvPr id="50" name="Text"/>
          <p:cNvSpPr txBox="1"/>
          <p:nvPr/>
        </p:nvSpPr>
        <p:spPr>
          <a:xfrm>
            <a:off x="8176656" y="4801149"/>
            <a:ext cx="3145079" cy="433060"/>
          </a:xfrm>
          <a:prstGeom prst="rect">
            <a:avLst/>
          </a:prstGeom>
          <a:noFill/>
          <a:ln/>
        </p:spPr>
        <p:txBody>
          <a:bodyPr wrap="square" lIns="0" tIns="0" rIns="0" bIns="0" rtlCol="0" anchor="t"/>
          <a:lstStyle/>
          <a:p>
            <a:pPr algn="l" indent="0" marL="0">
              <a:lnSpc>
                <a:spcPts val="1705"/>
              </a:lnSpc>
              <a:buNone/>
            </a:pPr>
            <a:r>
              <a:rPr lang="en-US" sz="1100" dirty="0">
                <a:solidFill>
                  <a:srgbClr val="1F2937"/>
                </a:solidFill>
                <a:latin typeface="Poppins Light" pitchFamily="34" charset="0"/>
                <a:ea typeface="Poppins Light" pitchFamily="34" charset="-122"/>
                <a:cs typeface="Poppins Light" pitchFamily="34" charset="-120"/>
              </a:rPr>
              <a:t>Qwen2.5-14B-Instruct, fine-tuned with LoRA and Flash Attention.</a:t>
            </a:r>
            <a:endParaRPr lang="en-US" sz="1100" dirty="0"/>
          </a:p>
        </p:txBody>
      </p:sp>
      <p:sp>
        <p:nvSpPr>
          <p:cNvPr id="51" name="Text"/>
          <p:cNvSpPr txBox="1"/>
          <p:nvPr/>
        </p:nvSpPr>
        <p:spPr>
          <a:xfrm>
            <a:off x="8176656" y="5543916"/>
            <a:ext cx="678393" cy="279441"/>
          </a:xfrm>
          <a:prstGeom prst="rect">
            <a:avLst/>
          </a:prstGeom>
          <a:noFill/>
          <a:ln/>
        </p:spPr>
        <p:txBody>
          <a:bodyPr wrap="none" lIns="0" tIns="0" rIns="0" bIns="0" rtlCol="0" anchor="t"/>
          <a:lstStyle/>
          <a:p>
            <a:pPr algn="l" indent="0" marL="0">
              <a:lnSpc>
                <a:spcPts val="2200"/>
              </a:lnSpc>
              <a:buNone/>
            </a:pPr>
            <a:r>
              <a:rPr lang="en-US" sz="2200" dirty="0">
                <a:solidFill>
                  <a:srgbClr val="044BD9"/>
                </a:solidFill>
                <a:latin typeface="Poppins Medium" pitchFamily="34" charset="0"/>
                <a:ea typeface="Poppins Medium" pitchFamily="34" charset="-122"/>
                <a:cs typeface="Poppins Medium" pitchFamily="34" charset="-120"/>
              </a:rPr>
              <a:t>H100</a:t>
            </a:r>
            <a:endParaRPr lang="en-US" sz="2200" dirty="0"/>
          </a:p>
        </p:txBody>
      </p:sp>
      <p:sp>
        <p:nvSpPr>
          <p:cNvPr id="52" name="Text"/>
          <p:cNvSpPr txBox="1"/>
          <p:nvPr/>
        </p:nvSpPr>
        <p:spPr>
          <a:xfrm>
            <a:off x="8918509" y="5647334"/>
            <a:ext cx="1898752" cy="186995"/>
          </a:xfrm>
          <a:prstGeom prst="rect">
            <a:avLst/>
          </a:prstGeom>
          <a:noFill/>
          <a:ln/>
        </p:spPr>
        <p:txBody>
          <a:bodyPr wrap="none" lIns="0" tIns="0" rIns="0" bIns="0" rtlCol="0" anchor="t"/>
          <a:lstStyle/>
          <a:p>
            <a:pPr algn="l" indent="0" marL="0">
              <a:lnSpc>
                <a:spcPts val="1472"/>
              </a:lnSpc>
              <a:buNone/>
            </a:pPr>
            <a:r>
              <a:rPr lang="en-US" sz="950" dirty="0">
                <a:solidFill>
                  <a:srgbClr val="6B6B6B"/>
                </a:solidFill>
                <a:latin typeface="Poppins Light" pitchFamily="34" charset="0"/>
                <a:ea typeface="Poppins Light" pitchFamily="34" charset="-122"/>
                <a:cs typeface="Poppins Light" pitchFamily="34" charset="-120"/>
              </a:rPr>
              <a:t>SXM compute via FPT AI Factory</a:t>
            </a:r>
            <a:endParaRPr lang="en-US" sz="950" dirty="0"/>
          </a:p>
        </p:txBody>
      </p:sp>
      <p:sp>
        <p:nvSpPr>
          <p:cNvPr id="53" name="Text"/>
          <p:cNvSpPr txBox="1"/>
          <p:nvPr/>
        </p:nvSpPr>
        <p:spPr>
          <a:xfrm>
            <a:off x="6287140" y="276240"/>
            <a:ext cx="708477"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Point of view</a:t>
            </a:r>
            <a:endParaRPr lang="en-US" sz="850" dirty="0"/>
          </a:p>
        </p:txBody>
      </p:sp>
      <p:sp>
        <p:nvSpPr>
          <p:cNvPr id="54" name="Text"/>
          <p:cNvSpPr txBox="1"/>
          <p:nvPr/>
        </p:nvSpPr>
        <p:spPr>
          <a:xfrm>
            <a:off x="7240494" y="276240"/>
            <a:ext cx="665958"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Who we are</a:t>
            </a:r>
            <a:endParaRPr lang="en-US" sz="850" dirty="0"/>
          </a:p>
        </p:txBody>
      </p:sp>
      <p:sp>
        <p:nvSpPr>
          <p:cNvPr id="55" name="Text"/>
          <p:cNvSpPr txBox="1"/>
          <p:nvPr/>
        </p:nvSpPr>
        <p:spPr>
          <a:xfrm>
            <a:off x="8151510" y="276240"/>
            <a:ext cx="671261"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What we do</a:t>
            </a:r>
            <a:endParaRPr lang="en-US" sz="850" dirty="0"/>
          </a:p>
        </p:txBody>
      </p:sp>
      <p:sp>
        <p:nvSpPr>
          <p:cNvPr id="56" name="Text"/>
          <p:cNvSpPr txBox="1"/>
          <p:nvPr/>
        </p:nvSpPr>
        <p:spPr>
          <a:xfrm>
            <a:off x="9067830" y="276240"/>
            <a:ext cx="1205728"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Sectors and products</a:t>
            </a:r>
            <a:endParaRPr lang="en-US" sz="850" dirty="0"/>
          </a:p>
        </p:txBody>
      </p:sp>
      <p:sp>
        <p:nvSpPr>
          <p:cNvPr id="57" name="Text"/>
          <p:cNvSpPr txBox="1"/>
          <p:nvPr/>
        </p:nvSpPr>
        <p:spPr>
          <a:xfrm>
            <a:off x="10516423" y="276240"/>
            <a:ext cx="298552"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044BD9"/>
                </a:solidFill>
                <a:latin typeface="Poppins Medium" pitchFamily="34" charset="0"/>
                <a:ea typeface="Poppins Medium" pitchFamily="34" charset="-122"/>
                <a:cs typeface="Poppins Medium" pitchFamily="34" charset="-120"/>
              </a:rPr>
              <a:t>Proof</a:t>
            </a:r>
            <a:endParaRPr lang="en-US" sz="850" dirty="0"/>
          </a:p>
        </p:txBody>
      </p:sp>
      <p:sp>
        <p:nvSpPr>
          <p:cNvPr id="58" name="Text"/>
          <p:cNvSpPr txBox="1"/>
          <p:nvPr/>
        </p:nvSpPr>
        <p:spPr>
          <a:xfrm>
            <a:off x="11061497" y="276240"/>
            <a:ext cx="433700"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Engage</a:t>
            </a:r>
            <a:endParaRPr lang="en-US" sz="850" dirty="0"/>
          </a:p>
        </p:txBody>
      </p:sp>
      <p:sp>
        <p:nvSpPr>
          <p:cNvPr id="59" name="Source"/>
          <p:cNvSpPr txBox="1"/>
          <p:nvPr/>
        </p:nvSpPr>
        <p:spPr>
          <a:xfrm>
            <a:off x="711220" y="6257971"/>
            <a:ext cx="8300740" cy="302301"/>
          </a:xfrm>
          <a:prstGeom prst="rect">
            <a:avLst/>
          </a:prstGeom>
          <a:noFill/>
          <a:ln/>
        </p:spPr>
        <p:txBody>
          <a:bodyPr wrap="square" lIns="0" tIns="0" rIns="0" bIns="0" rtlCol="0" anchor="t"/>
          <a:lstStyle/>
          <a:p>
            <a:pPr algn="l" indent="0" marL="0">
              <a:lnSpc>
                <a:spcPts val="1190"/>
              </a:lnSpc>
              <a:buNone/>
            </a:pPr>
            <a:r>
              <a:rPr lang="en-US" sz="850" dirty="0">
                <a:solidFill>
                  <a:srgbClr val="6B6B6B"/>
                </a:solidFill>
                <a:latin typeface="Poppins" pitchFamily="34" charset="0"/>
                <a:ea typeface="Poppins" pitchFamily="34" charset="-122"/>
                <a:cs typeface="Poppins" pitchFamily="34" charset="-120"/>
              </a:rPr>
              <a:t>Source: alphv.com/insights case pages for the healthcare group, Eastern Decorator, Carlsberg, Fundaztic and the telco, and the FPT AI Factory case note (October 2026).</a:t>
            </a:r>
            <a:endParaRPr lang="en-US" sz="850" dirty="0"/>
          </a:p>
        </p:txBody>
      </p:sp>
      <p:sp>
        <p:nvSpPr>
          <p:cNvPr id="60" name="Text"/>
          <p:cNvSpPr txBox="1"/>
          <p:nvPr/>
        </p:nvSpPr>
        <p:spPr>
          <a:xfrm>
            <a:off x="9350197" y="6409030"/>
            <a:ext cx="393741" cy="151150"/>
          </a:xfrm>
          <a:prstGeom prst="rect">
            <a:avLst/>
          </a:prstGeom>
          <a:noFill/>
          <a:ln/>
        </p:spPr>
        <p:txBody>
          <a:bodyPr wrap="none" lIns="0" tIns="0" rIns="0" bIns="0" rtlCol="0" anchor="t"/>
          <a:lstStyle/>
          <a:p>
            <a:pPr algn="l" indent="0" marL="0">
              <a:lnSpc>
                <a:spcPts val="1190"/>
              </a:lnSpc>
              <a:buNone/>
            </a:pPr>
            <a:r>
              <a:rPr lang="en-US" sz="850" spc="34" kern="0" dirty="0">
                <a:solidFill>
                  <a:srgbClr val="000000"/>
                </a:solidFill>
                <a:latin typeface="Poppins SemiBold" pitchFamily="34" charset="0"/>
                <a:ea typeface="Poppins SemiBold" pitchFamily="34" charset="-122"/>
                <a:cs typeface="Poppins SemiBold" pitchFamily="34" charset="-120"/>
              </a:rPr>
              <a:t>ALPHV</a:t>
            </a:r>
            <a:endParaRPr lang="en-US" sz="850" dirty="0"/>
          </a:p>
        </p:txBody>
      </p:sp>
      <p:sp>
        <p:nvSpPr>
          <p:cNvPr id="61" name="Text"/>
          <p:cNvSpPr txBox="1"/>
          <p:nvPr/>
        </p:nvSpPr>
        <p:spPr>
          <a:xfrm>
            <a:off x="9858146" y="6409030"/>
            <a:ext cx="1377178" cy="151150"/>
          </a:xfrm>
          <a:prstGeom prst="rect">
            <a:avLst/>
          </a:prstGeom>
          <a:noFill/>
          <a:ln/>
        </p:spPr>
        <p:txBody>
          <a:bodyPr wrap="none" lIns="0" tIns="0" rIns="0" bIns="0" rtlCol="0" anchor="t"/>
          <a:lstStyle/>
          <a:p>
            <a:pPr algn="l" indent="0" marL="0">
              <a:lnSpc>
                <a:spcPts val="1190"/>
              </a:lnSpc>
              <a:buNone/>
            </a:pPr>
            <a:r>
              <a:rPr lang="en-US" sz="850" dirty="0">
                <a:solidFill>
                  <a:srgbClr val="6B6B6B"/>
                </a:solidFill>
                <a:latin typeface="Poppins" pitchFamily="34" charset="0"/>
                <a:ea typeface="Poppins" pitchFamily="34" charset="-122"/>
                <a:cs typeface="Poppins" pitchFamily="34" charset="-120"/>
              </a:rPr>
              <a:t>Corporate overview 2026</a:t>
            </a:r>
            <a:endParaRPr lang="en-US" sz="850" dirty="0"/>
          </a:p>
        </p:txBody>
      </p:sp>
      <p:sp>
        <p:nvSpPr>
          <p:cNvPr id="62" name="Text"/>
          <p:cNvSpPr txBox="1"/>
          <p:nvPr/>
        </p:nvSpPr>
        <p:spPr>
          <a:xfrm>
            <a:off x="11349624" y="6409030"/>
            <a:ext cx="156545" cy="151150"/>
          </a:xfrm>
          <a:prstGeom prst="rect">
            <a:avLst/>
          </a:prstGeom>
          <a:noFill/>
          <a:ln/>
        </p:spPr>
        <p:txBody>
          <a:bodyPr wrap="none" lIns="0" tIns="0" rIns="0" bIns="0" rtlCol="0" anchor="t"/>
          <a:lstStyle/>
          <a:p>
            <a:pPr algn="l" indent="0" marL="0">
              <a:lnSpc>
                <a:spcPts val="1190"/>
              </a:lnSpc>
              <a:buNone/>
            </a:pPr>
            <a:r>
              <a:rPr lang="en-US" sz="850" dirty="0">
                <a:solidFill>
                  <a:srgbClr val="000000"/>
                </a:solidFill>
                <a:latin typeface="Poppins Medium" pitchFamily="34" charset="0"/>
                <a:ea typeface="Poppins Medium" pitchFamily="34" charset="-122"/>
                <a:cs typeface="Poppins Medium" pitchFamily="34" charset="-120"/>
              </a:rPr>
              <a:t>28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adge"/>
          <p:cNvSpPr/>
          <p:nvPr/>
        </p:nvSpPr>
        <p:spPr>
          <a:xfrm>
            <a:off x="714421" y="536570"/>
            <a:ext cx="962955" cy="254020"/>
          </a:xfrm>
          <a:prstGeom prst="roundRect">
            <a:avLst>
              <a:gd name="adj" fmla="val 50000"/>
            </a:avLst>
          </a:prstGeom>
          <a:ln w="6350">
            <a:solidFill>
              <a:srgbClr val="FFFFFF">
                <a:alpha val="55000"/>
              </a:srgbClr>
            </a:solidFill>
            <a:prstDash val="solid"/>
          </a:ln>
        </p:spPr>
      </p:sp>
      <p:sp>
        <p:nvSpPr>
          <p:cNvPr id="3" name="Rule"/>
          <p:cNvSpPr/>
          <p:nvPr/>
        </p:nvSpPr>
        <p:spPr>
          <a:xfrm>
            <a:off x="711220" y="4415363"/>
            <a:ext cx="6565941" cy="0"/>
          </a:xfrm>
          <a:prstGeom prst="line">
            <a:avLst/>
          </a:prstGeom>
          <a:noFill/>
          <a:ln w="12700">
            <a:solidFill>
              <a:srgbClr val="FFFFFF">
                <a:alpha val="55000"/>
              </a:srgbClr>
            </a:solidFill>
            <a:prstDash val="solid"/>
          </a:ln>
        </p:spPr>
      </p:sp>
      <p:sp>
        <p:nvSpPr>
          <p:cNvPr id="4" name="Rule"/>
          <p:cNvSpPr/>
          <p:nvPr/>
        </p:nvSpPr>
        <p:spPr>
          <a:xfrm>
            <a:off x="7480341" y="4415363"/>
            <a:ext cx="4000500" cy="0"/>
          </a:xfrm>
          <a:prstGeom prst="line">
            <a:avLst/>
          </a:prstGeom>
          <a:noFill/>
          <a:ln w="12700">
            <a:solidFill>
              <a:srgbClr val="FFFFFF">
                <a:alpha val="55000"/>
              </a:srgbClr>
            </a:solidFill>
            <a:prstDash val="solid"/>
          </a:ln>
        </p:spPr>
      </p:sp>
      <p:sp>
        <p:nvSpPr>
          <p:cNvPr id="5" name="Text"/>
          <p:cNvSpPr txBox="1"/>
          <p:nvPr/>
        </p:nvSpPr>
        <p:spPr>
          <a:xfrm>
            <a:off x="844540" y="603230"/>
            <a:ext cx="727954" cy="120609"/>
          </a:xfrm>
          <a:prstGeom prst="rect">
            <a:avLst/>
          </a:prstGeom>
          <a:noFill/>
          <a:ln/>
        </p:spPr>
        <p:txBody>
          <a:bodyPr wrap="none" lIns="0" tIns="0" rIns="0" bIns="0" rtlCol="0" anchor="t"/>
          <a:lstStyle/>
          <a:p>
            <a:pPr algn="l" indent="0" marL="0">
              <a:lnSpc>
                <a:spcPts val="950"/>
              </a:lnSpc>
              <a:buNone/>
            </a:pPr>
            <a:r>
              <a:rPr lang="en-US" sz="950" spc="10" kern="0" dirty="0">
                <a:solidFill>
                  <a:srgbClr val="FFFFFF"/>
                </a:solidFill>
                <a:latin typeface="Poppins Medium" pitchFamily="34" charset="0"/>
                <a:ea typeface="Poppins Medium" pitchFamily="34" charset="-122"/>
                <a:cs typeface="Poppins Medium" pitchFamily="34" charset="-120"/>
              </a:rPr>
              <a:t>In numbers</a:t>
            </a:r>
            <a:endParaRPr lang="en-US" sz="950" dirty="0"/>
          </a:p>
        </p:txBody>
      </p:sp>
      <p:sp>
        <p:nvSpPr>
          <p:cNvPr id="6" name="Title"/>
          <p:cNvSpPr txBox="1"/>
          <p:nvPr/>
        </p:nvSpPr>
        <p:spPr>
          <a:xfrm>
            <a:off x="711220" y="927750"/>
            <a:ext cx="9398020" cy="861090"/>
          </a:xfrm>
          <a:prstGeom prst="rect">
            <a:avLst/>
          </a:prstGeom>
          <a:noFill/>
          <a:ln/>
        </p:spPr>
        <p:txBody>
          <a:bodyPr wrap="square" lIns="0" tIns="0" rIns="0" bIns="0" rtlCol="0" anchor="t"/>
          <a:lstStyle/>
          <a:p>
            <a:pPr algn="l" indent="0" marL="0">
              <a:lnSpc>
                <a:spcPts val="3390"/>
              </a:lnSpc>
              <a:buNone/>
            </a:pPr>
            <a:r>
              <a:rPr lang="en-US" sz="3000" spc="-45" kern="0" dirty="0">
                <a:solidFill>
                  <a:srgbClr val="FFFFFF"/>
                </a:solidFill>
                <a:latin typeface="Poppins Medium" pitchFamily="34" charset="0"/>
                <a:ea typeface="Poppins Medium" pitchFamily="34" charset="-122"/>
                <a:cs typeface="Poppins Medium" pitchFamily="34" charset="-120"/>
              </a:rPr>
              <a:t>Platforms built for thousands of</a:t>
            </a:r>
            <a:endParaRPr lang="en-US" sz="3000" dirty="0"/>
          </a:p>
          <a:p>
            <a:pPr algn="l" indent="0" marL="0">
              <a:lnSpc>
                <a:spcPts val="3390"/>
              </a:lnSpc>
              <a:buNone/>
            </a:pPr>
            <a:r>
              <a:rPr lang="en-US" sz="3000" spc="-45" kern="0" dirty="0">
                <a:solidFill>
                  <a:srgbClr val="FFFFFF"/>
                </a:solidFill>
                <a:latin typeface="Poppins Medium" pitchFamily="34" charset="0"/>
                <a:ea typeface="Poppins Medium" pitchFamily="34" charset="-122"/>
                <a:cs typeface="Poppins Medium" pitchFamily="34" charset="-120"/>
              </a:rPr>
              <a:t>people, and work taken off their teams</a:t>
            </a:r>
            <a:endParaRPr lang="en-US" sz="3000" dirty="0"/>
          </a:p>
        </p:txBody>
      </p:sp>
      <p:sp>
        <p:nvSpPr>
          <p:cNvPr id="7" name="Text"/>
          <p:cNvSpPr txBox="1"/>
          <p:nvPr/>
        </p:nvSpPr>
        <p:spPr>
          <a:xfrm>
            <a:off x="711220" y="4131716"/>
            <a:ext cx="6604894" cy="186995"/>
          </a:xfrm>
          <a:prstGeom prst="rect">
            <a:avLst/>
          </a:prstGeom>
          <a:noFill/>
          <a:ln/>
        </p:spPr>
        <p:txBody>
          <a:bodyPr wrap="square" lIns="0" tIns="0" rIns="0" bIns="0" rtlCol="0" anchor="t"/>
          <a:lstStyle/>
          <a:p>
            <a:pPr algn="l" indent="0" marL="0">
              <a:lnSpc>
                <a:spcPts val="1472"/>
              </a:lnSpc>
              <a:buNone/>
            </a:pPr>
            <a:r>
              <a:rPr lang="en-US" sz="950" spc="19" kern="0" dirty="0">
                <a:solidFill>
                  <a:srgbClr val="FFFFFF"/>
                </a:solidFill>
                <a:latin typeface="Poppins Medium" pitchFamily="34" charset="0"/>
                <a:ea typeface="Poppins Medium" pitchFamily="34" charset="-122"/>
                <a:cs typeface="Poppins Medium" pitchFamily="34" charset="-120"/>
              </a:rPr>
              <a:t>Platforms ALPHV designed and engineered</a:t>
            </a:r>
            <a:endParaRPr lang="en-US" sz="950" dirty="0"/>
          </a:p>
        </p:txBody>
      </p:sp>
      <p:sp>
        <p:nvSpPr>
          <p:cNvPr id="8" name="Text"/>
          <p:cNvSpPr txBox="1"/>
          <p:nvPr/>
        </p:nvSpPr>
        <p:spPr>
          <a:xfrm>
            <a:off x="7480341" y="4131716"/>
            <a:ext cx="4029212" cy="186995"/>
          </a:xfrm>
          <a:prstGeom prst="rect">
            <a:avLst/>
          </a:prstGeom>
          <a:noFill/>
          <a:ln/>
        </p:spPr>
        <p:txBody>
          <a:bodyPr wrap="square" lIns="0" tIns="0" rIns="0" bIns="0" rtlCol="0" anchor="t"/>
          <a:lstStyle/>
          <a:p>
            <a:pPr algn="l" indent="0" marL="0">
              <a:lnSpc>
                <a:spcPts val="1472"/>
              </a:lnSpc>
              <a:buNone/>
            </a:pPr>
            <a:r>
              <a:rPr lang="en-US" sz="950" spc="19" kern="0" dirty="0">
                <a:solidFill>
                  <a:srgbClr val="FFFFFF"/>
                </a:solidFill>
                <a:latin typeface="Poppins Medium" pitchFamily="34" charset="0"/>
                <a:ea typeface="Poppins Medium" pitchFamily="34" charset="-122"/>
                <a:cs typeface="Poppins Medium" pitchFamily="34" charset="-120"/>
              </a:rPr>
              <a:t>Work taken off teams</a:t>
            </a:r>
            <a:endParaRPr lang="en-US" sz="950" dirty="0"/>
          </a:p>
        </p:txBody>
      </p:sp>
      <p:sp>
        <p:nvSpPr>
          <p:cNvPr id="9" name="Text"/>
          <p:cNvSpPr txBox="1"/>
          <p:nvPr/>
        </p:nvSpPr>
        <p:spPr>
          <a:xfrm>
            <a:off x="711220" y="4609033"/>
            <a:ext cx="2052828" cy="711220"/>
          </a:xfrm>
          <a:prstGeom prst="rect">
            <a:avLst/>
          </a:prstGeom>
          <a:noFill/>
          <a:ln/>
        </p:spPr>
        <p:txBody>
          <a:bodyPr wrap="square" lIns="0" tIns="0" rIns="0" bIns="0" rtlCol="0" anchor="t"/>
          <a:lstStyle/>
          <a:p>
            <a:pPr algn="l" indent="0" marL="0">
              <a:lnSpc>
                <a:spcPts val="5600"/>
              </a:lnSpc>
              <a:buNone/>
            </a:pPr>
            <a:r>
              <a:rPr lang="en-US" sz="5600" spc="-112" kern="0" dirty="0">
                <a:solidFill>
                  <a:srgbClr val="FFFFFF"/>
                </a:solidFill>
                <a:latin typeface="Poppins Medium" pitchFamily="34" charset="0"/>
                <a:ea typeface="Poppins Medium" pitchFamily="34" charset="-122"/>
                <a:cs typeface="Poppins Medium" pitchFamily="34" charset="-120"/>
              </a:rPr>
              <a:t>3,000</a:t>
            </a:r>
            <a:endParaRPr lang="en-US" sz="5600" dirty="0"/>
          </a:p>
        </p:txBody>
      </p:sp>
      <p:sp>
        <p:nvSpPr>
          <p:cNvPr id="10" name="Text"/>
          <p:cNvSpPr txBox="1"/>
          <p:nvPr/>
        </p:nvSpPr>
        <p:spPr>
          <a:xfrm>
            <a:off x="711220" y="5409408"/>
            <a:ext cx="2052828" cy="607710"/>
          </a:xfrm>
          <a:prstGeom prst="rect">
            <a:avLst/>
          </a:prstGeom>
          <a:noFill/>
          <a:ln/>
        </p:spPr>
        <p:txBody>
          <a:bodyPr wrap="square" lIns="0" tIns="0" rIns="0" bIns="0" rtlCol="0" anchor="t"/>
          <a:lstStyle/>
          <a:p>
            <a:pPr algn="l" indent="0" marL="0">
              <a:lnSpc>
                <a:spcPts val="1595"/>
              </a:lnSpc>
              <a:buNone/>
            </a:pPr>
            <a:r>
              <a:rPr lang="en-US" sz="1100" dirty="0">
                <a:solidFill>
                  <a:srgbClr val="C0D2F6"/>
                </a:solidFill>
                <a:latin typeface="Poppins Light" pitchFamily="34" charset="0"/>
                <a:ea typeface="Poppins Light" pitchFamily="34" charset="-122"/>
                <a:cs typeface="Poppins Light" pitchFamily="34" charset="-120"/>
              </a:rPr>
              <a:t>Doctors onboarded to LocumLah, a Malaysian locum platform</a:t>
            </a:r>
            <a:endParaRPr lang="en-US" sz="1100" dirty="0"/>
          </a:p>
        </p:txBody>
      </p:sp>
      <p:sp>
        <p:nvSpPr>
          <p:cNvPr id="11" name="Text"/>
          <p:cNvSpPr txBox="1"/>
          <p:nvPr/>
        </p:nvSpPr>
        <p:spPr>
          <a:xfrm>
            <a:off x="2946380" y="4609033"/>
            <a:ext cx="1542776" cy="711220"/>
          </a:xfrm>
          <a:prstGeom prst="rect">
            <a:avLst/>
          </a:prstGeom>
          <a:noFill/>
          <a:ln/>
        </p:spPr>
        <p:txBody>
          <a:bodyPr wrap="square" lIns="0" tIns="0" rIns="0" bIns="0" rtlCol="0" anchor="t"/>
          <a:lstStyle/>
          <a:p>
            <a:pPr algn="l" indent="0" marL="0">
              <a:lnSpc>
                <a:spcPts val="5600"/>
              </a:lnSpc>
              <a:buNone/>
            </a:pPr>
            <a:r>
              <a:rPr lang="en-US" sz="5600" spc="-112" kern="0" dirty="0">
                <a:solidFill>
                  <a:srgbClr val="FFFFFF"/>
                </a:solidFill>
                <a:latin typeface="Poppins Medium" pitchFamily="34" charset="0"/>
                <a:ea typeface="Poppins Medium" pitchFamily="34" charset="-122"/>
                <a:cs typeface="Poppins Medium" pitchFamily="34" charset="-120"/>
              </a:rPr>
              <a:t>600</a:t>
            </a:r>
            <a:endParaRPr lang="en-US" sz="5600" dirty="0"/>
          </a:p>
        </p:txBody>
      </p:sp>
      <p:sp>
        <p:nvSpPr>
          <p:cNvPr id="12" name="Text"/>
          <p:cNvSpPr txBox="1"/>
          <p:nvPr/>
        </p:nvSpPr>
        <p:spPr>
          <a:xfrm>
            <a:off x="2946380" y="5409408"/>
            <a:ext cx="1542776" cy="405171"/>
          </a:xfrm>
          <a:prstGeom prst="rect">
            <a:avLst/>
          </a:prstGeom>
          <a:noFill/>
          <a:ln/>
        </p:spPr>
        <p:txBody>
          <a:bodyPr wrap="square" lIns="0" tIns="0" rIns="0" bIns="0" rtlCol="0" anchor="t"/>
          <a:lstStyle/>
          <a:p>
            <a:pPr algn="l" indent="0" marL="0">
              <a:lnSpc>
                <a:spcPts val="1595"/>
              </a:lnSpc>
              <a:buNone/>
            </a:pPr>
            <a:r>
              <a:rPr lang="en-US" sz="1100" dirty="0">
                <a:solidFill>
                  <a:srgbClr val="C0D2F6"/>
                </a:solidFill>
                <a:latin typeface="Poppins Light" pitchFamily="34" charset="0"/>
                <a:ea typeface="Poppins Light" pitchFamily="34" charset="-122"/>
                <a:cs typeface="Poppins Light" pitchFamily="34" charset="-120"/>
              </a:rPr>
              <a:t>Clinics onboarded to LocumLah</a:t>
            </a:r>
            <a:endParaRPr lang="en-US" sz="1100" dirty="0"/>
          </a:p>
        </p:txBody>
      </p:sp>
      <p:sp>
        <p:nvSpPr>
          <p:cNvPr id="13" name="Text"/>
          <p:cNvSpPr txBox="1"/>
          <p:nvPr/>
        </p:nvSpPr>
        <p:spPr>
          <a:xfrm>
            <a:off x="4673590" y="4609033"/>
            <a:ext cx="2626614" cy="711220"/>
          </a:xfrm>
          <a:prstGeom prst="rect">
            <a:avLst/>
          </a:prstGeom>
          <a:noFill/>
          <a:ln/>
        </p:spPr>
        <p:txBody>
          <a:bodyPr wrap="square" lIns="0" tIns="0" rIns="0" bIns="0" rtlCol="0" anchor="t"/>
          <a:lstStyle/>
          <a:p>
            <a:pPr algn="l" indent="0" marL="0">
              <a:lnSpc>
                <a:spcPts val="5600"/>
              </a:lnSpc>
              <a:buNone/>
            </a:pPr>
            <a:r>
              <a:rPr lang="en-US" sz="5600" spc="-112" kern="0" dirty="0">
                <a:solidFill>
                  <a:srgbClr val="FFFFFF"/>
                </a:solidFill>
                <a:latin typeface="Poppins Medium" pitchFamily="34" charset="0"/>
                <a:ea typeface="Poppins Medium" pitchFamily="34" charset="-122"/>
                <a:cs typeface="Poppins Medium" pitchFamily="34" charset="-120"/>
              </a:rPr>
              <a:t>32,000</a:t>
            </a:r>
            <a:endParaRPr lang="en-US" sz="5600" dirty="0"/>
          </a:p>
        </p:txBody>
      </p:sp>
      <p:sp>
        <p:nvSpPr>
          <p:cNvPr id="14" name="Text"/>
          <p:cNvSpPr txBox="1"/>
          <p:nvPr/>
        </p:nvSpPr>
        <p:spPr>
          <a:xfrm>
            <a:off x="4673590" y="5409408"/>
            <a:ext cx="2626614" cy="607710"/>
          </a:xfrm>
          <a:prstGeom prst="rect">
            <a:avLst/>
          </a:prstGeom>
          <a:noFill/>
          <a:ln/>
        </p:spPr>
        <p:txBody>
          <a:bodyPr wrap="square" lIns="0" tIns="0" rIns="0" bIns="0" rtlCol="0" anchor="t"/>
          <a:lstStyle/>
          <a:p>
            <a:pPr algn="l" indent="0" marL="0">
              <a:lnSpc>
                <a:spcPts val="1595"/>
              </a:lnSpc>
              <a:buNone/>
            </a:pPr>
            <a:r>
              <a:rPr lang="en-US" sz="1100" dirty="0">
                <a:solidFill>
                  <a:srgbClr val="C0D2F6"/>
                </a:solidFill>
                <a:latin typeface="Poppins Light" pitchFamily="34" charset="0"/>
                <a:ea typeface="Poppins Light" pitchFamily="34" charset="-122"/>
                <a:cs typeface="Poppins Light" pitchFamily="34" charset="-120"/>
              </a:rPr>
              <a:t>Swipes on Politikus by Caprice, Malaysia’s first public predictions game</a:t>
            </a:r>
            <a:endParaRPr lang="en-US" sz="1100" dirty="0"/>
          </a:p>
        </p:txBody>
      </p:sp>
      <p:sp>
        <p:nvSpPr>
          <p:cNvPr id="15" name="Text"/>
          <p:cNvSpPr txBox="1"/>
          <p:nvPr/>
        </p:nvSpPr>
        <p:spPr>
          <a:xfrm>
            <a:off x="7480341" y="4609033"/>
            <a:ext cx="1918960" cy="711220"/>
          </a:xfrm>
          <a:prstGeom prst="rect">
            <a:avLst/>
          </a:prstGeom>
          <a:noFill/>
          <a:ln/>
        </p:spPr>
        <p:txBody>
          <a:bodyPr wrap="square" lIns="0" tIns="0" rIns="0" bIns="0" rtlCol="0" anchor="t"/>
          <a:lstStyle/>
          <a:p>
            <a:pPr algn="l" indent="0" marL="0">
              <a:lnSpc>
                <a:spcPts val="5600"/>
              </a:lnSpc>
              <a:buNone/>
            </a:pPr>
            <a:r>
              <a:rPr lang="en-US" sz="5600" spc="-112" kern="0" dirty="0">
                <a:solidFill>
                  <a:srgbClr val="FFFFFF"/>
                </a:solidFill>
                <a:latin typeface="Poppins Medium" pitchFamily="34" charset="0"/>
                <a:ea typeface="Poppins Medium" pitchFamily="34" charset="-122"/>
                <a:cs typeface="Poppins Medium" pitchFamily="34" charset="-120"/>
              </a:rPr>
              <a:t>90</a:t>
            </a:r>
            <a:pPr algn="l" indent="0" marL="0">
              <a:lnSpc>
                <a:spcPts val="5600"/>
              </a:lnSpc>
              <a:buNone/>
            </a:pPr>
            <a:r>
              <a:rPr lang="en-US" sz="2800" dirty="0">
                <a:solidFill>
                  <a:srgbClr val="FFFFFF"/>
                </a:solidFill>
                <a:latin typeface="Poppins Medium" pitchFamily="34" charset="0"/>
                <a:ea typeface="Poppins Medium" pitchFamily="34" charset="-122"/>
                <a:cs typeface="Poppins Medium" pitchFamily="34" charset="-120"/>
              </a:rPr>
              <a:t>+</a:t>
            </a:r>
            <a:endParaRPr lang="en-US" sz="5600" dirty="0"/>
          </a:p>
        </p:txBody>
      </p:sp>
      <p:sp>
        <p:nvSpPr>
          <p:cNvPr id="16" name="Text"/>
          <p:cNvSpPr txBox="1"/>
          <p:nvPr/>
        </p:nvSpPr>
        <p:spPr>
          <a:xfrm>
            <a:off x="7480341" y="5409408"/>
            <a:ext cx="1918960" cy="607710"/>
          </a:xfrm>
          <a:prstGeom prst="rect">
            <a:avLst/>
          </a:prstGeom>
          <a:noFill/>
          <a:ln/>
        </p:spPr>
        <p:txBody>
          <a:bodyPr wrap="square" lIns="0" tIns="0" rIns="0" bIns="0" rtlCol="0" anchor="t"/>
          <a:lstStyle/>
          <a:p>
            <a:pPr algn="l" indent="0" marL="0">
              <a:lnSpc>
                <a:spcPts val="1595"/>
              </a:lnSpc>
              <a:buNone/>
            </a:pPr>
            <a:r>
              <a:rPr lang="en-US" sz="1100" dirty="0">
                <a:solidFill>
                  <a:srgbClr val="C0D2F6"/>
                </a:solidFill>
                <a:latin typeface="Poppins Light" pitchFamily="34" charset="0"/>
                <a:ea typeface="Poppins Light" pitchFamily="34" charset="-122"/>
                <a:cs typeface="Poppins Light" pitchFamily="34" charset="-120"/>
              </a:rPr>
              <a:t>Third-party portal automations for one law firm</a:t>
            </a:r>
            <a:endParaRPr lang="en-US" sz="1100" dirty="0"/>
          </a:p>
        </p:txBody>
      </p:sp>
      <p:sp>
        <p:nvSpPr>
          <p:cNvPr id="17" name="Text"/>
          <p:cNvSpPr txBox="1"/>
          <p:nvPr/>
        </p:nvSpPr>
        <p:spPr>
          <a:xfrm>
            <a:off x="9582180" y="4609033"/>
            <a:ext cx="1918960" cy="711220"/>
          </a:xfrm>
          <a:prstGeom prst="rect">
            <a:avLst/>
          </a:prstGeom>
          <a:noFill/>
          <a:ln/>
        </p:spPr>
        <p:txBody>
          <a:bodyPr wrap="square" lIns="0" tIns="0" rIns="0" bIns="0" rtlCol="0" anchor="t"/>
          <a:lstStyle/>
          <a:p>
            <a:pPr algn="l" indent="0" marL="0">
              <a:lnSpc>
                <a:spcPts val="5600"/>
              </a:lnSpc>
              <a:buNone/>
            </a:pPr>
            <a:r>
              <a:rPr lang="en-US" sz="5600" spc="-112" kern="0" dirty="0">
                <a:solidFill>
                  <a:srgbClr val="FFFFFF"/>
                </a:solidFill>
                <a:latin typeface="Poppins Medium" pitchFamily="34" charset="0"/>
                <a:ea typeface="Poppins Medium" pitchFamily="34" charset="-122"/>
                <a:cs typeface="Poppins Medium" pitchFamily="34" charset="-120"/>
              </a:rPr>
              <a:t>80</a:t>
            </a:r>
            <a:pPr algn="l" indent="0" marL="0">
              <a:lnSpc>
                <a:spcPts val="5600"/>
              </a:lnSpc>
              <a:buNone/>
            </a:pPr>
            <a:r>
              <a:rPr lang="en-US" sz="2800" dirty="0">
                <a:solidFill>
                  <a:srgbClr val="FFFFFF"/>
                </a:solidFill>
                <a:latin typeface="Poppins Medium" pitchFamily="34" charset="0"/>
                <a:ea typeface="Poppins Medium" pitchFamily="34" charset="-122"/>
                <a:cs typeface="Poppins Medium" pitchFamily="34" charset="-120"/>
              </a:rPr>
              <a:t>%</a:t>
            </a:r>
            <a:endParaRPr lang="en-US" sz="5600" dirty="0"/>
          </a:p>
        </p:txBody>
      </p:sp>
      <p:sp>
        <p:nvSpPr>
          <p:cNvPr id="18" name="Text"/>
          <p:cNvSpPr txBox="1"/>
          <p:nvPr/>
        </p:nvSpPr>
        <p:spPr>
          <a:xfrm>
            <a:off x="9582180" y="5409408"/>
            <a:ext cx="1918960" cy="607710"/>
          </a:xfrm>
          <a:prstGeom prst="rect">
            <a:avLst/>
          </a:prstGeom>
          <a:noFill/>
          <a:ln/>
        </p:spPr>
        <p:txBody>
          <a:bodyPr wrap="square" lIns="0" tIns="0" rIns="0" bIns="0" rtlCol="0" anchor="t"/>
          <a:lstStyle/>
          <a:p>
            <a:pPr algn="l" indent="0" marL="0">
              <a:lnSpc>
                <a:spcPts val="1595"/>
              </a:lnSpc>
              <a:buNone/>
            </a:pPr>
            <a:r>
              <a:rPr lang="en-US" sz="1100" dirty="0">
                <a:solidFill>
                  <a:srgbClr val="C0D2F6"/>
                </a:solidFill>
                <a:latin typeface="Poppins Light" pitchFamily="34" charset="0"/>
                <a:ea typeface="Poppins Light" pitchFamily="34" charset="-122"/>
                <a:cs typeface="Poppins Light" pitchFamily="34" charset="-120"/>
              </a:rPr>
              <a:t>Less manual data entry time for a Singapore hospitality group</a:t>
            </a:r>
            <a:endParaRPr lang="en-US" sz="1100" dirty="0"/>
          </a:p>
        </p:txBody>
      </p:sp>
      <p:sp>
        <p:nvSpPr>
          <p:cNvPr id="19" name="Source"/>
          <p:cNvSpPr txBox="1"/>
          <p:nvPr/>
        </p:nvSpPr>
        <p:spPr>
          <a:xfrm>
            <a:off x="711220" y="6257971"/>
            <a:ext cx="8300740" cy="302301"/>
          </a:xfrm>
          <a:prstGeom prst="rect">
            <a:avLst/>
          </a:prstGeom>
          <a:noFill/>
          <a:ln/>
        </p:spPr>
        <p:txBody>
          <a:bodyPr wrap="square" lIns="0" tIns="0" rIns="0" bIns="0" rtlCol="0" anchor="t"/>
          <a:lstStyle/>
          <a:p>
            <a:pPr algn="l" indent="0" marL="0">
              <a:lnSpc>
                <a:spcPts val="1190"/>
              </a:lnSpc>
              <a:buNone/>
            </a:pPr>
            <a:r>
              <a:rPr lang="en-US" sz="850" dirty="0">
                <a:solidFill>
                  <a:srgbClr val="C0D2F6"/>
                </a:solidFill>
                <a:latin typeface="Poppins" pitchFamily="34" charset="0"/>
                <a:ea typeface="Poppins" pitchFamily="34" charset="-122"/>
                <a:cs typeface="Poppins" pitchFamily="34" charset="-120"/>
              </a:rPr>
              <a:t>Source: alphv.com/services/web-and-mobile-apps; alphv.com/insights/sovereign-ai-case-management-law-firm; alphv.com/insights/whatsapp-ai-crm-singapore-hospitality (October 2026). Note: 80% is the result reported for one client.</a:t>
            </a:r>
            <a:endParaRPr lang="en-US" sz="850" dirty="0"/>
          </a:p>
        </p:txBody>
      </p:sp>
      <p:sp>
        <p:nvSpPr>
          <p:cNvPr id="20" name="Text"/>
          <p:cNvSpPr txBox="1"/>
          <p:nvPr/>
        </p:nvSpPr>
        <p:spPr>
          <a:xfrm>
            <a:off x="9350472" y="6409030"/>
            <a:ext cx="393741" cy="151150"/>
          </a:xfrm>
          <a:prstGeom prst="rect">
            <a:avLst/>
          </a:prstGeom>
          <a:noFill/>
          <a:ln/>
        </p:spPr>
        <p:txBody>
          <a:bodyPr wrap="none" lIns="0" tIns="0" rIns="0" bIns="0" rtlCol="0" anchor="t"/>
          <a:lstStyle/>
          <a:p>
            <a:pPr algn="l" indent="0" marL="0">
              <a:lnSpc>
                <a:spcPts val="1190"/>
              </a:lnSpc>
              <a:buNone/>
            </a:pPr>
            <a:r>
              <a:rPr lang="en-US" sz="850" spc="34" kern="0" dirty="0">
                <a:solidFill>
                  <a:srgbClr val="FFFFFF"/>
                </a:solidFill>
                <a:latin typeface="Poppins SemiBold" pitchFamily="34" charset="0"/>
                <a:ea typeface="Poppins SemiBold" pitchFamily="34" charset="-122"/>
                <a:cs typeface="Poppins SemiBold" pitchFamily="34" charset="-120"/>
              </a:rPr>
              <a:t>ALPHV</a:t>
            </a:r>
            <a:endParaRPr lang="en-US" sz="850" dirty="0"/>
          </a:p>
        </p:txBody>
      </p:sp>
      <p:sp>
        <p:nvSpPr>
          <p:cNvPr id="21" name="Text"/>
          <p:cNvSpPr txBox="1"/>
          <p:nvPr/>
        </p:nvSpPr>
        <p:spPr>
          <a:xfrm>
            <a:off x="9858512" y="6409030"/>
            <a:ext cx="1377178" cy="151150"/>
          </a:xfrm>
          <a:prstGeom prst="rect">
            <a:avLst/>
          </a:prstGeom>
          <a:noFill/>
          <a:ln/>
        </p:spPr>
        <p:txBody>
          <a:bodyPr wrap="none" lIns="0" tIns="0" rIns="0" bIns="0" rtlCol="0" anchor="t"/>
          <a:lstStyle/>
          <a:p>
            <a:pPr algn="l" indent="0" marL="0">
              <a:lnSpc>
                <a:spcPts val="1190"/>
              </a:lnSpc>
              <a:buNone/>
            </a:pPr>
            <a:r>
              <a:rPr lang="en-US" sz="850" dirty="0">
                <a:solidFill>
                  <a:srgbClr val="C0D2F6"/>
                </a:solidFill>
                <a:latin typeface="Poppins" pitchFamily="34" charset="0"/>
                <a:ea typeface="Poppins" pitchFamily="34" charset="-122"/>
                <a:cs typeface="Poppins" pitchFamily="34" charset="-120"/>
              </a:rPr>
              <a:t>Corporate overview 2026</a:t>
            </a:r>
            <a:endParaRPr lang="en-US" sz="850" dirty="0"/>
          </a:p>
        </p:txBody>
      </p:sp>
      <p:sp>
        <p:nvSpPr>
          <p:cNvPr id="22" name="Text"/>
          <p:cNvSpPr txBox="1"/>
          <p:nvPr/>
        </p:nvSpPr>
        <p:spPr>
          <a:xfrm>
            <a:off x="11349899" y="6409030"/>
            <a:ext cx="156271" cy="151150"/>
          </a:xfrm>
          <a:prstGeom prst="rect">
            <a:avLst/>
          </a:prstGeom>
          <a:noFill/>
          <a:ln/>
        </p:spPr>
        <p:txBody>
          <a:bodyPr wrap="none" lIns="0" tIns="0" rIns="0" bIns="0" rtlCol="0" anchor="t"/>
          <a:lstStyle/>
          <a:p>
            <a:pPr algn="l" indent="0" marL="0">
              <a:lnSpc>
                <a:spcPts val="1190"/>
              </a:lnSpc>
              <a:buNone/>
            </a:pPr>
            <a:r>
              <a:rPr lang="en-US" sz="850" dirty="0">
                <a:solidFill>
                  <a:srgbClr val="FFFFFF"/>
                </a:solidFill>
                <a:latin typeface="Poppins Medium" pitchFamily="34" charset="0"/>
                <a:ea typeface="Poppins Medium" pitchFamily="34" charset="-122"/>
                <a:cs typeface="Poppins Medium" pitchFamily="34" charset="-120"/>
              </a:rPr>
              <a:t>29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badge"/>
          <p:cNvSpPr/>
          <p:nvPr/>
        </p:nvSpPr>
        <p:spPr>
          <a:xfrm>
            <a:off x="714421" y="536570"/>
            <a:ext cx="687903" cy="254020"/>
          </a:xfrm>
          <a:prstGeom prst="roundRect">
            <a:avLst>
              <a:gd name="adj" fmla="val 50000"/>
            </a:avLst>
          </a:prstGeom>
          <a:ln w="6350">
            <a:solidFill>
              <a:srgbClr val="155DFC"/>
            </a:solidFill>
            <a:prstDash val="solid"/>
          </a:ln>
        </p:spPr>
      </p:sp>
      <p:sp>
        <p:nvSpPr>
          <p:cNvPr id="3" name="logo-cell"/>
          <p:cNvSpPr/>
          <p:nvPr/>
        </p:nvSpPr>
        <p:spPr>
          <a:xfrm>
            <a:off x="714421" y="2077060"/>
            <a:ext cx="2066270" cy="806409"/>
          </a:xfrm>
          <a:prstGeom prst="roundRect">
            <a:avLst>
              <a:gd name="adj" fmla="val 12201"/>
            </a:avLst>
          </a:prstGeom>
          <a:solidFill>
            <a:srgbClr val="FFFFFF"/>
          </a:solidFill>
          <a:ln w="6350">
            <a:solidFill>
              <a:srgbClr val="F0F0F0"/>
            </a:solidFill>
            <a:prstDash val="solid"/>
          </a:ln>
        </p:spPr>
      </p:sp>
      <p:pic>
        <p:nvPicPr>
          <p:cNvPr id="4" name="Picture" descr="Fundaztic">    </p:cNvPr>
          <p:cNvPicPr>
            <a:picLocks noChangeAspect="1"/>
          </p:cNvPicPr>
          <p:nvPr/>
        </p:nvPicPr>
        <p:blipFill>
          <a:blip r:embed="rId1"/>
          <a:stretch>
            <a:fillRect/>
          </a:stretch>
        </p:blipFill>
        <p:spPr>
          <a:xfrm>
            <a:off x="1257300" y="2321570"/>
            <a:ext cx="980420" cy="317480"/>
          </a:xfrm>
          <a:prstGeom prst="rect">
            <a:avLst/>
          </a:prstGeom>
        </p:spPr>
      </p:pic>
      <p:sp>
        <p:nvSpPr>
          <p:cNvPr id="5" name="logo-cell"/>
          <p:cNvSpPr/>
          <p:nvPr/>
        </p:nvSpPr>
        <p:spPr>
          <a:xfrm>
            <a:off x="2888590" y="2077060"/>
            <a:ext cx="2066361" cy="806409"/>
          </a:xfrm>
          <a:prstGeom prst="roundRect">
            <a:avLst>
              <a:gd name="adj" fmla="val 12201"/>
            </a:avLst>
          </a:prstGeom>
          <a:solidFill>
            <a:srgbClr val="FFFFFF"/>
          </a:solidFill>
          <a:ln w="6350">
            <a:solidFill>
              <a:srgbClr val="F0F0F0"/>
            </a:solidFill>
            <a:prstDash val="solid"/>
          </a:ln>
        </p:spPr>
      </p:sp>
      <p:pic>
        <p:nvPicPr>
          <p:cNvPr id="6" name="Picture" descr="iPajak Group">    </p:cNvPr>
          <p:cNvPicPr>
            <a:picLocks noChangeAspect="1"/>
          </p:cNvPicPr>
          <p:nvPr/>
        </p:nvPicPr>
        <p:blipFill>
          <a:blip r:embed="rId2"/>
          <a:stretch>
            <a:fillRect/>
          </a:stretch>
        </p:blipFill>
        <p:spPr>
          <a:xfrm>
            <a:off x="3374410" y="2346899"/>
            <a:ext cx="1094537" cy="266730"/>
          </a:xfrm>
          <a:prstGeom prst="rect">
            <a:avLst/>
          </a:prstGeom>
        </p:spPr>
      </p:pic>
      <p:sp>
        <p:nvSpPr>
          <p:cNvPr id="7" name="logo-cell"/>
          <p:cNvSpPr/>
          <p:nvPr/>
        </p:nvSpPr>
        <p:spPr>
          <a:xfrm>
            <a:off x="5062850" y="2077060"/>
            <a:ext cx="2066270" cy="806409"/>
          </a:xfrm>
          <a:prstGeom prst="roundRect">
            <a:avLst>
              <a:gd name="adj" fmla="val 12201"/>
            </a:avLst>
          </a:prstGeom>
          <a:solidFill>
            <a:srgbClr val="FFFFFF"/>
          </a:solidFill>
          <a:ln w="6350">
            <a:solidFill>
              <a:srgbClr val="F0F0F0"/>
            </a:solidFill>
            <a:prstDash val="solid"/>
          </a:ln>
        </p:spPr>
      </p:sp>
      <p:pic>
        <p:nvPicPr>
          <p:cNvPr id="8" name="Picture" descr="Abraham Ooi &amp; Partners">    </p:cNvPr>
          <p:cNvPicPr>
            <a:picLocks noChangeAspect="1"/>
          </p:cNvPicPr>
          <p:nvPr/>
        </p:nvPicPr>
        <p:blipFill>
          <a:blip r:embed="rId3"/>
          <a:stretch>
            <a:fillRect/>
          </a:stretch>
        </p:blipFill>
        <p:spPr>
          <a:xfrm>
            <a:off x="5867339" y="2251710"/>
            <a:ext cx="457200" cy="457200"/>
          </a:xfrm>
          <a:prstGeom prst="roundRect">
            <a:avLst>
              <a:gd name="adj" fmla="val 13889"/>
            </a:avLst>
          </a:prstGeom>
        </p:spPr>
      </p:pic>
      <p:sp>
        <p:nvSpPr>
          <p:cNvPr id="9" name="logo-cell"/>
          <p:cNvSpPr/>
          <p:nvPr/>
        </p:nvSpPr>
        <p:spPr>
          <a:xfrm>
            <a:off x="7237019" y="2077060"/>
            <a:ext cx="2066361" cy="806409"/>
          </a:xfrm>
          <a:prstGeom prst="roundRect">
            <a:avLst>
              <a:gd name="adj" fmla="val 12201"/>
            </a:avLst>
          </a:prstGeom>
          <a:solidFill>
            <a:srgbClr val="FFFFFF"/>
          </a:solidFill>
          <a:ln w="6350">
            <a:solidFill>
              <a:srgbClr val="F0F0F0"/>
            </a:solidFill>
            <a:prstDash val="solid"/>
          </a:ln>
        </p:spPr>
      </p:sp>
      <p:pic>
        <p:nvPicPr>
          <p:cNvPr id="10" name="Picture" descr="Tasco Insurance">    </p:cNvPr>
          <p:cNvPicPr>
            <a:picLocks noChangeAspect="1"/>
          </p:cNvPicPr>
          <p:nvPr/>
        </p:nvPicPr>
        <p:blipFill>
          <a:blip r:embed="rId4"/>
          <a:stretch>
            <a:fillRect/>
          </a:stretch>
        </p:blipFill>
        <p:spPr>
          <a:xfrm>
            <a:off x="7710861" y="2346899"/>
            <a:ext cx="1118586" cy="266639"/>
          </a:xfrm>
          <a:prstGeom prst="rect">
            <a:avLst/>
          </a:prstGeom>
        </p:spPr>
      </p:pic>
      <p:sp>
        <p:nvSpPr>
          <p:cNvPr id="11" name="logo-cell"/>
          <p:cNvSpPr/>
          <p:nvPr/>
        </p:nvSpPr>
        <p:spPr>
          <a:xfrm>
            <a:off x="9411279" y="2077060"/>
            <a:ext cx="2066270" cy="806409"/>
          </a:xfrm>
          <a:prstGeom prst="roundRect">
            <a:avLst>
              <a:gd name="adj" fmla="val 12201"/>
            </a:avLst>
          </a:prstGeom>
          <a:solidFill>
            <a:srgbClr val="FFFFFF"/>
          </a:solidFill>
          <a:ln w="6350">
            <a:solidFill>
              <a:srgbClr val="F0F0F0"/>
            </a:solidFill>
            <a:prstDash val="solid"/>
          </a:ln>
        </p:spPr>
      </p:sp>
      <p:pic>
        <p:nvPicPr>
          <p:cNvPr id="12" name="Picture" descr="PowerDNA">    </p:cNvPr>
          <p:cNvPicPr>
            <a:picLocks noChangeAspect="1"/>
          </p:cNvPicPr>
          <p:nvPr/>
        </p:nvPicPr>
        <p:blipFill>
          <a:blip r:embed="rId5"/>
          <a:stretch>
            <a:fillRect/>
          </a:stretch>
        </p:blipFill>
        <p:spPr>
          <a:xfrm>
            <a:off x="9876526" y="2302459"/>
            <a:ext cx="1135776" cy="355610"/>
          </a:xfrm>
          <a:prstGeom prst="rect">
            <a:avLst/>
          </a:prstGeom>
        </p:spPr>
      </p:pic>
      <p:sp>
        <p:nvSpPr>
          <p:cNvPr id="13" name="logo-cell"/>
          <p:cNvSpPr/>
          <p:nvPr/>
        </p:nvSpPr>
        <p:spPr>
          <a:xfrm>
            <a:off x="714421" y="2991460"/>
            <a:ext cx="2066270" cy="806409"/>
          </a:xfrm>
          <a:prstGeom prst="roundRect">
            <a:avLst>
              <a:gd name="adj" fmla="val 12201"/>
            </a:avLst>
          </a:prstGeom>
          <a:solidFill>
            <a:srgbClr val="FFFFFF"/>
          </a:solidFill>
          <a:ln w="6350">
            <a:solidFill>
              <a:srgbClr val="F0F0F0"/>
            </a:solidFill>
            <a:prstDash val="solid"/>
          </a:ln>
        </p:spPr>
      </p:sp>
      <p:pic>
        <p:nvPicPr>
          <p:cNvPr id="14" name="Picture" descr="EasyRenz">    </p:cNvPr>
          <p:cNvPicPr>
            <a:picLocks noChangeAspect="1"/>
          </p:cNvPicPr>
          <p:nvPr/>
        </p:nvPicPr>
        <p:blipFill>
          <a:blip r:embed="rId6"/>
          <a:stretch>
            <a:fillRect/>
          </a:stretch>
        </p:blipFill>
        <p:spPr>
          <a:xfrm>
            <a:off x="1442375" y="3166110"/>
            <a:ext cx="610271" cy="457109"/>
          </a:xfrm>
          <a:prstGeom prst="rect">
            <a:avLst/>
          </a:prstGeom>
        </p:spPr>
      </p:pic>
      <p:sp>
        <p:nvSpPr>
          <p:cNvPr id="15" name="logo-cell"/>
          <p:cNvSpPr/>
          <p:nvPr/>
        </p:nvSpPr>
        <p:spPr>
          <a:xfrm>
            <a:off x="2888590" y="2991460"/>
            <a:ext cx="2066361" cy="806409"/>
          </a:xfrm>
          <a:prstGeom prst="roundRect">
            <a:avLst>
              <a:gd name="adj" fmla="val 12201"/>
            </a:avLst>
          </a:prstGeom>
          <a:solidFill>
            <a:srgbClr val="FFFFFF"/>
          </a:solidFill>
          <a:ln w="6350">
            <a:solidFill>
              <a:srgbClr val="F0F0F0"/>
            </a:solidFill>
            <a:prstDash val="solid"/>
          </a:ln>
        </p:spPr>
      </p:sp>
      <p:pic>
        <p:nvPicPr>
          <p:cNvPr id="16" name="Picture" descr="Carlsberg">    </p:cNvPr>
          <p:cNvPicPr>
            <a:picLocks noChangeAspect="1"/>
          </p:cNvPicPr>
          <p:nvPr/>
        </p:nvPicPr>
        <p:blipFill>
          <a:blip r:embed="rId7"/>
          <a:stretch>
            <a:fillRect/>
          </a:stretch>
        </p:blipFill>
        <p:spPr>
          <a:xfrm>
            <a:off x="3486241" y="3216859"/>
            <a:ext cx="870875" cy="355610"/>
          </a:xfrm>
          <a:prstGeom prst="rect">
            <a:avLst/>
          </a:prstGeom>
        </p:spPr>
      </p:pic>
      <p:sp>
        <p:nvSpPr>
          <p:cNvPr id="17" name="logo-cell"/>
          <p:cNvSpPr/>
          <p:nvPr/>
        </p:nvSpPr>
        <p:spPr>
          <a:xfrm>
            <a:off x="5062850" y="2991460"/>
            <a:ext cx="2066270" cy="806409"/>
          </a:xfrm>
          <a:prstGeom prst="roundRect">
            <a:avLst>
              <a:gd name="adj" fmla="val 12201"/>
            </a:avLst>
          </a:prstGeom>
          <a:solidFill>
            <a:srgbClr val="FFFFFF"/>
          </a:solidFill>
          <a:ln w="6350">
            <a:solidFill>
              <a:srgbClr val="F0F0F0"/>
            </a:solidFill>
            <a:prstDash val="solid"/>
          </a:ln>
        </p:spPr>
      </p:sp>
      <p:pic>
        <p:nvPicPr>
          <p:cNvPr id="18" name="Picture" descr="Mudah Healthcare">    </p:cNvPr>
          <p:cNvPicPr>
            <a:picLocks noChangeAspect="1"/>
          </p:cNvPicPr>
          <p:nvPr/>
        </p:nvPicPr>
        <p:blipFill>
          <a:blip r:embed="rId8"/>
          <a:stretch>
            <a:fillRect/>
          </a:stretch>
        </p:blipFill>
        <p:spPr>
          <a:xfrm>
            <a:off x="5577566" y="3248589"/>
            <a:ext cx="1036747" cy="292059"/>
          </a:xfrm>
          <a:prstGeom prst="rect">
            <a:avLst/>
          </a:prstGeom>
        </p:spPr>
      </p:pic>
      <p:sp>
        <p:nvSpPr>
          <p:cNvPr id="19" name="logo-cell"/>
          <p:cNvSpPr/>
          <p:nvPr/>
        </p:nvSpPr>
        <p:spPr>
          <a:xfrm>
            <a:off x="7237019" y="2991460"/>
            <a:ext cx="2066361" cy="806409"/>
          </a:xfrm>
          <a:prstGeom prst="roundRect">
            <a:avLst>
              <a:gd name="adj" fmla="val 12201"/>
            </a:avLst>
          </a:prstGeom>
          <a:solidFill>
            <a:srgbClr val="FFFFFF"/>
          </a:solidFill>
          <a:ln w="6350">
            <a:solidFill>
              <a:srgbClr val="F0F0F0"/>
            </a:solidFill>
            <a:prstDash val="solid"/>
          </a:ln>
        </p:spPr>
      </p:sp>
      <p:pic>
        <p:nvPicPr>
          <p:cNvPr id="20" name="Picture" descr="Borong">    </p:cNvPr>
          <p:cNvPicPr>
            <a:picLocks noChangeAspect="1"/>
          </p:cNvPicPr>
          <p:nvPr/>
        </p:nvPicPr>
        <p:blipFill>
          <a:blip r:embed="rId9"/>
          <a:stretch>
            <a:fillRect/>
          </a:stretch>
        </p:blipFill>
        <p:spPr>
          <a:xfrm>
            <a:off x="7862743" y="3210550"/>
            <a:ext cx="814822" cy="368320"/>
          </a:xfrm>
          <a:prstGeom prst="rect">
            <a:avLst/>
          </a:prstGeom>
        </p:spPr>
      </p:pic>
      <p:sp>
        <p:nvSpPr>
          <p:cNvPr id="21" name="logo-cell"/>
          <p:cNvSpPr/>
          <p:nvPr/>
        </p:nvSpPr>
        <p:spPr>
          <a:xfrm>
            <a:off x="9411279" y="2991460"/>
            <a:ext cx="2066270" cy="806409"/>
          </a:xfrm>
          <a:prstGeom prst="roundRect">
            <a:avLst>
              <a:gd name="adj" fmla="val 12201"/>
            </a:avLst>
          </a:prstGeom>
          <a:solidFill>
            <a:srgbClr val="FFFFFF"/>
          </a:solidFill>
          <a:ln w="6350">
            <a:solidFill>
              <a:srgbClr val="F0F0F0"/>
            </a:solidFill>
            <a:prstDash val="solid"/>
          </a:ln>
        </p:spPr>
      </p:sp>
      <p:pic>
        <p:nvPicPr>
          <p:cNvPr id="22" name="Picture" descr="LocumLah">    </p:cNvPr>
          <p:cNvPicPr>
            <a:picLocks noChangeAspect="1"/>
          </p:cNvPicPr>
          <p:nvPr/>
        </p:nvPicPr>
        <p:blipFill>
          <a:blip r:embed="rId10"/>
          <a:stretch>
            <a:fillRect/>
          </a:stretch>
        </p:blipFill>
        <p:spPr>
          <a:xfrm>
            <a:off x="9867930" y="3308939"/>
            <a:ext cx="1153058" cy="171450"/>
          </a:xfrm>
          <a:prstGeom prst="rect">
            <a:avLst/>
          </a:prstGeom>
        </p:spPr>
      </p:pic>
      <p:sp>
        <p:nvSpPr>
          <p:cNvPr id="23" name="Rule"/>
          <p:cNvSpPr/>
          <p:nvPr/>
        </p:nvSpPr>
        <p:spPr>
          <a:xfrm>
            <a:off x="711220" y="4414449"/>
            <a:ext cx="10769620" cy="0"/>
          </a:xfrm>
          <a:prstGeom prst="line">
            <a:avLst/>
          </a:prstGeom>
          <a:noFill/>
          <a:ln w="12700">
            <a:solidFill>
              <a:srgbClr val="044BD9"/>
            </a:solidFill>
            <a:prstDash val="solid"/>
          </a:ln>
        </p:spPr>
      </p:sp>
      <p:sp>
        <p:nvSpPr>
          <p:cNvPr id="24" name="span::before"/>
          <p:cNvSpPr/>
          <p:nvPr/>
        </p:nvSpPr>
        <p:spPr>
          <a:xfrm>
            <a:off x="6191860" y="311170"/>
            <a:ext cx="44440" cy="44440"/>
          </a:xfrm>
          <a:prstGeom prst="rect">
            <a:avLst/>
          </a:prstGeom>
          <a:solidFill>
            <a:srgbClr val="A0A6AF">
              <a:alpha val="55000"/>
            </a:srgbClr>
          </a:solidFill>
          <a:ln/>
        </p:spPr>
      </p:sp>
      <p:sp>
        <p:nvSpPr>
          <p:cNvPr id="25" name="span::before"/>
          <p:cNvSpPr/>
          <p:nvPr/>
        </p:nvSpPr>
        <p:spPr>
          <a:xfrm>
            <a:off x="7145213" y="311170"/>
            <a:ext cx="44440" cy="44440"/>
          </a:xfrm>
          <a:prstGeom prst="rect">
            <a:avLst/>
          </a:prstGeom>
          <a:solidFill>
            <a:srgbClr val="A0A6AF">
              <a:alpha val="55000"/>
            </a:srgbClr>
          </a:solidFill>
          <a:ln/>
        </p:spPr>
      </p:sp>
      <p:sp>
        <p:nvSpPr>
          <p:cNvPr id="26" name="span::before"/>
          <p:cNvSpPr/>
          <p:nvPr/>
        </p:nvSpPr>
        <p:spPr>
          <a:xfrm>
            <a:off x="8056230" y="311170"/>
            <a:ext cx="44440" cy="44440"/>
          </a:xfrm>
          <a:prstGeom prst="rect">
            <a:avLst/>
          </a:prstGeom>
          <a:solidFill>
            <a:srgbClr val="A0A6AF">
              <a:alpha val="55000"/>
            </a:srgbClr>
          </a:solidFill>
          <a:ln/>
        </p:spPr>
      </p:sp>
      <p:sp>
        <p:nvSpPr>
          <p:cNvPr id="27" name="span::before"/>
          <p:cNvSpPr/>
          <p:nvPr/>
        </p:nvSpPr>
        <p:spPr>
          <a:xfrm>
            <a:off x="8972550" y="311170"/>
            <a:ext cx="44440" cy="44440"/>
          </a:xfrm>
          <a:prstGeom prst="rect">
            <a:avLst/>
          </a:prstGeom>
          <a:solidFill>
            <a:srgbClr val="A0A6AF">
              <a:alpha val="55000"/>
            </a:srgbClr>
          </a:solidFill>
          <a:ln/>
        </p:spPr>
      </p:sp>
      <p:sp>
        <p:nvSpPr>
          <p:cNvPr id="28" name="on::before"/>
          <p:cNvSpPr/>
          <p:nvPr/>
        </p:nvSpPr>
        <p:spPr>
          <a:xfrm>
            <a:off x="10421142" y="311170"/>
            <a:ext cx="44440" cy="44440"/>
          </a:xfrm>
          <a:prstGeom prst="rect">
            <a:avLst/>
          </a:prstGeom>
          <a:solidFill>
            <a:srgbClr val="044BD9"/>
          </a:solidFill>
          <a:ln/>
        </p:spPr>
      </p:sp>
      <p:sp>
        <p:nvSpPr>
          <p:cNvPr id="29" name="span::before"/>
          <p:cNvSpPr/>
          <p:nvPr/>
        </p:nvSpPr>
        <p:spPr>
          <a:xfrm>
            <a:off x="10966216" y="311170"/>
            <a:ext cx="44440" cy="44440"/>
          </a:xfrm>
          <a:prstGeom prst="rect">
            <a:avLst/>
          </a:prstGeom>
          <a:solidFill>
            <a:srgbClr val="A0A6AF">
              <a:alpha val="55000"/>
            </a:srgbClr>
          </a:solidFill>
          <a:ln/>
        </p:spPr>
      </p:sp>
      <p:sp>
        <p:nvSpPr>
          <p:cNvPr id="30" name="Text"/>
          <p:cNvSpPr txBox="1"/>
          <p:nvPr/>
        </p:nvSpPr>
        <p:spPr>
          <a:xfrm>
            <a:off x="844540" y="603230"/>
            <a:ext cx="452902" cy="120609"/>
          </a:xfrm>
          <a:prstGeom prst="rect">
            <a:avLst/>
          </a:prstGeom>
          <a:noFill/>
          <a:ln/>
        </p:spPr>
        <p:txBody>
          <a:bodyPr wrap="none" lIns="0" tIns="0" rIns="0" bIns="0" rtlCol="0" anchor="t"/>
          <a:lstStyle/>
          <a:p>
            <a:pPr algn="l" indent="0" marL="0">
              <a:lnSpc>
                <a:spcPts val="950"/>
              </a:lnSpc>
              <a:buNone/>
            </a:pPr>
            <a:r>
              <a:rPr lang="en-US" sz="950" spc="10" kern="0" dirty="0">
                <a:solidFill>
                  <a:srgbClr val="155DFC"/>
                </a:solidFill>
                <a:latin typeface="Poppins Medium" pitchFamily="34" charset="0"/>
                <a:ea typeface="Poppins Medium" pitchFamily="34" charset="-122"/>
                <a:cs typeface="Poppins Medium" pitchFamily="34" charset="-120"/>
              </a:rPr>
              <a:t>Clients</a:t>
            </a:r>
            <a:endParaRPr lang="en-US" sz="950" dirty="0"/>
          </a:p>
        </p:txBody>
      </p:sp>
      <p:sp>
        <p:nvSpPr>
          <p:cNvPr id="31" name="Title"/>
          <p:cNvSpPr txBox="1"/>
          <p:nvPr/>
        </p:nvSpPr>
        <p:spPr>
          <a:xfrm>
            <a:off x="711220" y="927750"/>
            <a:ext cx="9398020" cy="861090"/>
          </a:xfrm>
          <a:prstGeom prst="rect">
            <a:avLst/>
          </a:prstGeom>
          <a:noFill/>
          <a:ln/>
        </p:spPr>
        <p:txBody>
          <a:bodyPr wrap="square" lIns="0" tIns="0" rIns="0" bIns="0" rtlCol="0" anchor="t"/>
          <a:lstStyle/>
          <a:p>
            <a:pPr algn="l" indent="0" marL="0">
              <a:lnSpc>
                <a:spcPts val="3390"/>
              </a:lnSpc>
              <a:buNone/>
            </a:pPr>
            <a:r>
              <a:rPr lang="en-US" sz="3000" spc="-45" kern="0" dirty="0">
                <a:solidFill>
                  <a:srgbClr val="000000"/>
                </a:solidFill>
                <a:latin typeface="Poppins Medium" pitchFamily="34" charset="0"/>
                <a:ea typeface="Poppins Medium" pitchFamily="34" charset="-122"/>
                <a:cs typeface="Poppins Medium" pitchFamily="34" charset="-120"/>
              </a:rPr>
              <a:t>Teams across Malaysia, Singapore</a:t>
            </a:r>
            <a:endParaRPr lang="en-US" sz="3000" dirty="0"/>
          </a:p>
          <a:p>
            <a:pPr algn="l" indent="0" marL="0">
              <a:lnSpc>
                <a:spcPts val="3390"/>
              </a:lnSpc>
              <a:buNone/>
            </a:pPr>
            <a:r>
              <a:rPr lang="en-US" sz="3000" spc="-45" kern="0" dirty="0">
                <a:solidFill>
                  <a:srgbClr val="000000"/>
                </a:solidFill>
                <a:latin typeface="Poppins Medium" pitchFamily="34" charset="0"/>
                <a:ea typeface="Poppins Medium" pitchFamily="34" charset="-122"/>
                <a:cs typeface="Poppins Medium" pitchFamily="34" charset="-120"/>
              </a:rPr>
              <a:t>and Vietnam trust ALPHV</a:t>
            </a:r>
            <a:endParaRPr lang="en-US" sz="3000" dirty="0"/>
          </a:p>
        </p:txBody>
      </p:sp>
      <p:sp>
        <p:nvSpPr>
          <p:cNvPr id="32" name="Text"/>
          <p:cNvSpPr txBox="1"/>
          <p:nvPr/>
        </p:nvSpPr>
        <p:spPr>
          <a:xfrm>
            <a:off x="711220" y="4646341"/>
            <a:ext cx="7688641" cy="1370594"/>
          </a:xfrm>
          <a:prstGeom prst="rect">
            <a:avLst/>
          </a:prstGeom>
          <a:noFill/>
          <a:ln/>
        </p:spPr>
        <p:txBody>
          <a:bodyPr wrap="square" lIns="0" tIns="0" rIns="0" bIns="0" rtlCol="0" anchor="t"/>
          <a:lstStyle/>
          <a:p>
            <a:pPr algn="l" indent="0" marL="0">
              <a:lnSpc>
                <a:spcPts val="2698"/>
              </a:lnSpc>
              <a:buNone/>
            </a:pPr>
            <a:r>
              <a:rPr lang="en-US" sz="1900" spc="-10" kern="0" dirty="0">
                <a:solidFill>
                  <a:srgbClr val="000000"/>
                </a:solidFill>
                <a:latin typeface="Poppins Light" pitchFamily="34" charset="0"/>
                <a:ea typeface="Poppins Light" pitchFamily="34" charset="-122"/>
                <a:cs typeface="Poppins Light" pitchFamily="34" charset="-120"/>
              </a:rPr>
              <a:t>“Our objectives and requirements are well captured and built into solving our problems, incorporating advanced technologies like AI. ALPHV has good people and is easy to work with compared to other tech vendors.”</a:t>
            </a:r>
            <a:endParaRPr lang="en-US" sz="1900" dirty="0"/>
          </a:p>
        </p:txBody>
      </p:sp>
      <p:sp>
        <p:nvSpPr>
          <p:cNvPr id="33" name="Text"/>
          <p:cNvSpPr txBox="1"/>
          <p:nvPr/>
        </p:nvSpPr>
        <p:spPr>
          <a:xfrm>
            <a:off x="8813810" y="5092019"/>
            <a:ext cx="2690348" cy="226405"/>
          </a:xfrm>
          <a:prstGeom prst="rect">
            <a:avLst/>
          </a:prstGeom>
          <a:noFill/>
          <a:ln/>
        </p:spPr>
        <p:txBody>
          <a:bodyPr wrap="square" lIns="0" tIns="0" rIns="0" bIns="0" rtlCol="0" anchor="t"/>
          <a:lstStyle/>
          <a:p>
            <a:pPr algn="l" indent="0" marL="0">
              <a:lnSpc>
                <a:spcPts val="1782"/>
              </a:lnSpc>
              <a:buNone/>
            </a:pPr>
            <a:r>
              <a:rPr lang="en-US" sz="1150" dirty="0">
                <a:solidFill>
                  <a:srgbClr val="000000"/>
                </a:solidFill>
                <a:latin typeface="Poppins Medium" pitchFamily="34" charset="0"/>
                <a:ea typeface="Poppins Medium" pitchFamily="34" charset="-122"/>
                <a:cs typeface="Poppins Medium" pitchFamily="34" charset="-120"/>
              </a:rPr>
              <a:t>Tracy Gan</a:t>
            </a:r>
            <a:endParaRPr lang="en-US" sz="1150" dirty="0"/>
          </a:p>
        </p:txBody>
      </p:sp>
      <p:sp>
        <p:nvSpPr>
          <p:cNvPr id="34" name="Text"/>
          <p:cNvSpPr txBox="1"/>
          <p:nvPr/>
        </p:nvSpPr>
        <p:spPr>
          <a:xfrm>
            <a:off x="8813810" y="5356738"/>
            <a:ext cx="2690348" cy="206654"/>
          </a:xfrm>
          <a:prstGeom prst="rect">
            <a:avLst/>
          </a:prstGeom>
          <a:noFill/>
          <a:ln/>
        </p:spPr>
        <p:txBody>
          <a:bodyPr wrap="square" lIns="0" tIns="0" rIns="0" bIns="0" rtlCol="0" anchor="t"/>
          <a:lstStyle/>
          <a:p>
            <a:pPr algn="l" indent="0" marL="0">
              <a:lnSpc>
                <a:spcPts val="1627"/>
              </a:lnSpc>
              <a:buNone/>
            </a:pPr>
            <a:r>
              <a:rPr lang="en-US" sz="1050" dirty="0">
                <a:solidFill>
                  <a:srgbClr val="1F2937"/>
                </a:solidFill>
                <a:latin typeface="Poppins Light" pitchFamily="34" charset="0"/>
                <a:ea typeface="Poppins Light" pitchFamily="34" charset="-122"/>
                <a:cs typeface="Poppins Light" pitchFamily="34" charset="-120"/>
              </a:rPr>
              <a:t>COO, Fundaztic</a:t>
            </a:r>
            <a:endParaRPr lang="en-US" sz="1050" dirty="0"/>
          </a:p>
        </p:txBody>
      </p:sp>
      <p:sp>
        <p:nvSpPr>
          <p:cNvPr id="35" name="Text"/>
          <p:cNvSpPr txBox="1"/>
          <p:nvPr/>
        </p:nvSpPr>
        <p:spPr>
          <a:xfrm>
            <a:off x="8813810" y="5601523"/>
            <a:ext cx="2690348" cy="413400"/>
          </a:xfrm>
          <a:prstGeom prst="rect">
            <a:avLst/>
          </a:prstGeom>
          <a:noFill/>
          <a:ln/>
        </p:spPr>
        <p:txBody>
          <a:bodyPr wrap="square" lIns="0" tIns="0" rIns="0" bIns="0" rtlCol="0" anchor="t"/>
          <a:lstStyle/>
          <a:p>
            <a:pPr algn="l" indent="0" marL="0">
              <a:lnSpc>
                <a:spcPts val="1627"/>
              </a:lnSpc>
              <a:buNone/>
            </a:pPr>
            <a:r>
              <a:rPr lang="en-US" sz="1050" dirty="0">
                <a:solidFill>
                  <a:srgbClr val="6B6B6B"/>
                </a:solidFill>
                <a:latin typeface="Poppins Light" pitchFamily="34" charset="0"/>
                <a:ea typeface="Poppins Light" pitchFamily="34" charset="-122"/>
                <a:cs typeface="Poppins Light" pitchFamily="34" charset="-120"/>
              </a:rPr>
              <a:t>Head of Corporate Strategy and Investment, Paramount Group</a:t>
            </a:r>
            <a:endParaRPr lang="en-US" sz="1050" dirty="0"/>
          </a:p>
        </p:txBody>
      </p:sp>
      <p:sp>
        <p:nvSpPr>
          <p:cNvPr id="36" name="Text"/>
          <p:cNvSpPr txBox="1"/>
          <p:nvPr/>
        </p:nvSpPr>
        <p:spPr>
          <a:xfrm>
            <a:off x="6287140" y="276240"/>
            <a:ext cx="708477"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Point of view</a:t>
            </a:r>
            <a:endParaRPr lang="en-US" sz="850" dirty="0"/>
          </a:p>
        </p:txBody>
      </p:sp>
      <p:sp>
        <p:nvSpPr>
          <p:cNvPr id="37" name="Text"/>
          <p:cNvSpPr txBox="1"/>
          <p:nvPr/>
        </p:nvSpPr>
        <p:spPr>
          <a:xfrm>
            <a:off x="7240494" y="276240"/>
            <a:ext cx="665958"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Who we are</a:t>
            </a:r>
            <a:endParaRPr lang="en-US" sz="850" dirty="0"/>
          </a:p>
        </p:txBody>
      </p:sp>
      <p:sp>
        <p:nvSpPr>
          <p:cNvPr id="38" name="Text"/>
          <p:cNvSpPr txBox="1"/>
          <p:nvPr/>
        </p:nvSpPr>
        <p:spPr>
          <a:xfrm>
            <a:off x="8151510" y="276240"/>
            <a:ext cx="671261"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What we do</a:t>
            </a:r>
            <a:endParaRPr lang="en-US" sz="850" dirty="0"/>
          </a:p>
        </p:txBody>
      </p:sp>
      <p:sp>
        <p:nvSpPr>
          <p:cNvPr id="39" name="Text"/>
          <p:cNvSpPr txBox="1"/>
          <p:nvPr/>
        </p:nvSpPr>
        <p:spPr>
          <a:xfrm>
            <a:off x="9067830" y="276240"/>
            <a:ext cx="1205728"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Sectors and products</a:t>
            </a:r>
            <a:endParaRPr lang="en-US" sz="850" dirty="0"/>
          </a:p>
        </p:txBody>
      </p:sp>
      <p:sp>
        <p:nvSpPr>
          <p:cNvPr id="40" name="Text"/>
          <p:cNvSpPr txBox="1"/>
          <p:nvPr/>
        </p:nvSpPr>
        <p:spPr>
          <a:xfrm>
            <a:off x="10516423" y="276240"/>
            <a:ext cx="298552"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044BD9"/>
                </a:solidFill>
                <a:latin typeface="Poppins Medium" pitchFamily="34" charset="0"/>
                <a:ea typeface="Poppins Medium" pitchFamily="34" charset="-122"/>
                <a:cs typeface="Poppins Medium" pitchFamily="34" charset="-120"/>
              </a:rPr>
              <a:t>Proof</a:t>
            </a:r>
            <a:endParaRPr lang="en-US" sz="850" dirty="0"/>
          </a:p>
        </p:txBody>
      </p:sp>
      <p:sp>
        <p:nvSpPr>
          <p:cNvPr id="41" name="Text"/>
          <p:cNvSpPr txBox="1"/>
          <p:nvPr/>
        </p:nvSpPr>
        <p:spPr>
          <a:xfrm>
            <a:off x="11061497" y="276240"/>
            <a:ext cx="433700"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Engage</a:t>
            </a:r>
            <a:endParaRPr lang="en-US" sz="850" dirty="0"/>
          </a:p>
        </p:txBody>
      </p:sp>
      <p:sp>
        <p:nvSpPr>
          <p:cNvPr id="42" name="Source"/>
          <p:cNvSpPr txBox="1"/>
          <p:nvPr/>
        </p:nvSpPr>
        <p:spPr>
          <a:xfrm>
            <a:off x="711220" y="6257971"/>
            <a:ext cx="8300740" cy="302301"/>
          </a:xfrm>
          <a:prstGeom prst="rect">
            <a:avLst/>
          </a:prstGeom>
          <a:noFill/>
          <a:ln/>
        </p:spPr>
        <p:txBody>
          <a:bodyPr wrap="square" lIns="0" tIns="0" rIns="0" bIns="0" rtlCol="0" anchor="t"/>
          <a:lstStyle/>
          <a:p>
            <a:pPr algn="l" indent="0" marL="0">
              <a:lnSpc>
                <a:spcPts val="1190"/>
              </a:lnSpc>
              <a:buNone/>
            </a:pPr>
            <a:r>
              <a:rPr lang="en-US" sz="850" dirty="0">
                <a:solidFill>
                  <a:srgbClr val="6B6B6B"/>
                </a:solidFill>
                <a:latin typeface="Poppins" pitchFamily="34" charset="0"/>
                <a:ea typeface="Poppins" pitchFamily="34" charset="-122"/>
                <a:cs typeface="Poppins" pitchFamily="34" charset="-120"/>
              </a:rPr>
              <a:t>Source: alphv.com/platforms-and-clients; alphv.com/industries; alphv.com, home page (October 2026). Logos are the client marks shown on alphv.com.</a:t>
            </a:r>
            <a:endParaRPr lang="en-US" sz="850" dirty="0"/>
          </a:p>
        </p:txBody>
      </p:sp>
      <p:sp>
        <p:nvSpPr>
          <p:cNvPr id="43" name="Text"/>
          <p:cNvSpPr txBox="1"/>
          <p:nvPr/>
        </p:nvSpPr>
        <p:spPr>
          <a:xfrm>
            <a:off x="9348003" y="6409030"/>
            <a:ext cx="393741" cy="151150"/>
          </a:xfrm>
          <a:prstGeom prst="rect">
            <a:avLst/>
          </a:prstGeom>
          <a:noFill/>
          <a:ln/>
        </p:spPr>
        <p:txBody>
          <a:bodyPr wrap="none" lIns="0" tIns="0" rIns="0" bIns="0" rtlCol="0" anchor="t"/>
          <a:lstStyle/>
          <a:p>
            <a:pPr algn="l" indent="0" marL="0">
              <a:lnSpc>
                <a:spcPts val="1190"/>
              </a:lnSpc>
              <a:buNone/>
            </a:pPr>
            <a:r>
              <a:rPr lang="en-US" sz="850" spc="34" kern="0" dirty="0">
                <a:solidFill>
                  <a:srgbClr val="000000"/>
                </a:solidFill>
                <a:latin typeface="Poppins SemiBold" pitchFamily="34" charset="0"/>
                <a:ea typeface="Poppins SemiBold" pitchFamily="34" charset="-122"/>
                <a:cs typeface="Poppins SemiBold" pitchFamily="34" charset="-120"/>
              </a:rPr>
              <a:t>ALPHV</a:t>
            </a:r>
            <a:endParaRPr lang="en-US" sz="850" dirty="0"/>
          </a:p>
        </p:txBody>
      </p:sp>
      <p:sp>
        <p:nvSpPr>
          <p:cNvPr id="44" name="Text"/>
          <p:cNvSpPr txBox="1"/>
          <p:nvPr/>
        </p:nvSpPr>
        <p:spPr>
          <a:xfrm>
            <a:off x="9855952" y="6409030"/>
            <a:ext cx="1377178" cy="151150"/>
          </a:xfrm>
          <a:prstGeom prst="rect">
            <a:avLst/>
          </a:prstGeom>
          <a:noFill/>
          <a:ln/>
        </p:spPr>
        <p:txBody>
          <a:bodyPr wrap="none" lIns="0" tIns="0" rIns="0" bIns="0" rtlCol="0" anchor="t"/>
          <a:lstStyle/>
          <a:p>
            <a:pPr algn="l" indent="0" marL="0">
              <a:lnSpc>
                <a:spcPts val="1190"/>
              </a:lnSpc>
              <a:buNone/>
            </a:pPr>
            <a:r>
              <a:rPr lang="en-US" sz="850" dirty="0">
                <a:solidFill>
                  <a:srgbClr val="6B6B6B"/>
                </a:solidFill>
                <a:latin typeface="Poppins" pitchFamily="34" charset="0"/>
                <a:ea typeface="Poppins" pitchFamily="34" charset="-122"/>
                <a:cs typeface="Poppins" pitchFamily="34" charset="-120"/>
              </a:rPr>
              <a:t>Corporate overview 2026</a:t>
            </a:r>
            <a:endParaRPr lang="en-US" sz="850" dirty="0"/>
          </a:p>
        </p:txBody>
      </p:sp>
      <p:sp>
        <p:nvSpPr>
          <p:cNvPr id="45" name="Text"/>
          <p:cNvSpPr txBox="1"/>
          <p:nvPr/>
        </p:nvSpPr>
        <p:spPr>
          <a:xfrm>
            <a:off x="11347430" y="6409030"/>
            <a:ext cx="158740" cy="151150"/>
          </a:xfrm>
          <a:prstGeom prst="rect">
            <a:avLst/>
          </a:prstGeom>
          <a:noFill/>
          <a:ln/>
        </p:spPr>
        <p:txBody>
          <a:bodyPr wrap="none" lIns="0" tIns="0" rIns="0" bIns="0" rtlCol="0" anchor="t"/>
          <a:lstStyle/>
          <a:p>
            <a:pPr algn="l" indent="0" marL="0">
              <a:lnSpc>
                <a:spcPts val="1190"/>
              </a:lnSpc>
              <a:buNone/>
            </a:pPr>
            <a:r>
              <a:rPr lang="en-US" sz="850" dirty="0">
                <a:solidFill>
                  <a:srgbClr val="000000"/>
                </a:solidFill>
                <a:latin typeface="Poppins Medium" pitchFamily="34" charset="0"/>
                <a:ea typeface="Poppins Medium" pitchFamily="34" charset="-122"/>
                <a:cs typeface="Poppins Medium" pitchFamily="34" charset="-120"/>
              </a:rPr>
              <a:t>30</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8F9FA"/>
        </a:solidFill>
      </p:bgPr>
    </p:bg>
    <p:spTree>
      <p:nvGrpSpPr>
        <p:cNvPr id="1" name=""/>
        <p:cNvGrpSpPr/>
        <p:nvPr/>
      </p:nvGrpSpPr>
      <p:grpSpPr>
        <a:xfrm>
          <a:off x="0" y="0"/>
          <a:ext cx="0" cy="0"/>
          <a:chOff x="0" y="0"/>
          <a:chExt cx="0" cy="0"/>
        </a:xfrm>
      </p:grpSpPr>
      <p:sp>
        <p:nvSpPr>
          <p:cNvPr id="2" name="badge"/>
          <p:cNvSpPr/>
          <p:nvPr/>
        </p:nvSpPr>
        <p:spPr>
          <a:xfrm>
            <a:off x="714421" y="536570"/>
            <a:ext cx="997610" cy="254020"/>
          </a:xfrm>
          <a:prstGeom prst="roundRect">
            <a:avLst>
              <a:gd name="adj" fmla="val 50000"/>
            </a:avLst>
          </a:prstGeom>
          <a:ln w="6350">
            <a:solidFill>
              <a:srgbClr val="155DFC"/>
            </a:solidFill>
            <a:prstDash val="solid"/>
          </a:ln>
        </p:spPr>
      </p:sp>
      <p:sp>
        <p:nvSpPr>
          <p:cNvPr id="3" name="Connector"/>
          <p:cNvSpPr/>
          <p:nvPr/>
        </p:nvSpPr>
        <p:spPr>
          <a:xfrm>
            <a:off x="711220" y="2436419"/>
            <a:ext cx="10769620" cy="0"/>
          </a:xfrm>
          <a:prstGeom prst="line">
            <a:avLst/>
          </a:prstGeom>
          <a:noFill/>
          <a:ln w="12700">
            <a:solidFill>
              <a:srgbClr val="044BD9">
                <a:alpha val="20000"/>
              </a:srgbClr>
            </a:solidFill>
            <a:prstDash val="dash"/>
          </a:ln>
        </p:spPr>
      </p:sp>
      <p:sp>
        <p:nvSpPr>
          <p:cNvPr id="4" name="span"/>
          <p:cNvSpPr/>
          <p:nvPr/>
        </p:nvSpPr>
        <p:spPr>
          <a:xfrm>
            <a:off x="711220" y="2391979"/>
            <a:ext cx="88880" cy="88880"/>
          </a:xfrm>
          <a:prstGeom prst="ellipse">
            <a:avLst/>
          </a:prstGeom>
          <a:solidFill>
            <a:srgbClr val="000000"/>
          </a:solidFill>
          <a:ln/>
        </p:spPr>
      </p:sp>
      <p:sp>
        <p:nvSpPr>
          <p:cNvPr id="5" name="span"/>
          <p:cNvSpPr/>
          <p:nvPr/>
        </p:nvSpPr>
        <p:spPr>
          <a:xfrm>
            <a:off x="2076420" y="2391979"/>
            <a:ext cx="88880" cy="88880"/>
          </a:xfrm>
          <a:prstGeom prst="ellipse">
            <a:avLst/>
          </a:prstGeom>
          <a:solidFill>
            <a:srgbClr val="000000"/>
          </a:solidFill>
          <a:ln/>
        </p:spPr>
      </p:sp>
      <p:sp>
        <p:nvSpPr>
          <p:cNvPr id="6" name="span"/>
          <p:cNvSpPr/>
          <p:nvPr/>
        </p:nvSpPr>
        <p:spPr>
          <a:xfrm>
            <a:off x="3441710" y="2391979"/>
            <a:ext cx="88880" cy="88880"/>
          </a:xfrm>
          <a:prstGeom prst="ellipse">
            <a:avLst/>
          </a:prstGeom>
          <a:solidFill>
            <a:srgbClr val="000000"/>
          </a:solidFill>
          <a:ln/>
        </p:spPr>
      </p:sp>
      <p:sp>
        <p:nvSpPr>
          <p:cNvPr id="7" name="span"/>
          <p:cNvSpPr/>
          <p:nvPr/>
        </p:nvSpPr>
        <p:spPr>
          <a:xfrm>
            <a:off x="4806909" y="2391979"/>
            <a:ext cx="88880" cy="88880"/>
          </a:xfrm>
          <a:prstGeom prst="ellipse">
            <a:avLst/>
          </a:prstGeom>
          <a:solidFill>
            <a:srgbClr val="000000"/>
          </a:solidFill>
          <a:ln/>
        </p:spPr>
      </p:sp>
      <p:sp>
        <p:nvSpPr>
          <p:cNvPr id="8" name="span"/>
          <p:cNvSpPr/>
          <p:nvPr/>
        </p:nvSpPr>
        <p:spPr>
          <a:xfrm>
            <a:off x="6172200" y="2391979"/>
            <a:ext cx="88880" cy="88880"/>
          </a:xfrm>
          <a:prstGeom prst="ellipse">
            <a:avLst/>
          </a:prstGeom>
          <a:solidFill>
            <a:srgbClr val="044BD9"/>
          </a:solidFill>
          <a:ln/>
        </p:spPr>
      </p:sp>
      <p:sp>
        <p:nvSpPr>
          <p:cNvPr id="9" name="span"/>
          <p:cNvSpPr/>
          <p:nvPr/>
        </p:nvSpPr>
        <p:spPr>
          <a:xfrm>
            <a:off x="7537491" y="2391979"/>
            <a:ext cx="88880" cy="88880"/>
          </a:xfrm>
          <a:prstGeom prst="ellipse">
            <a:avLst/>
          </a:prstGeom>
          <a:solidFill>
            <a:srgbClr val="044BD9"/>
          </a:solidFill>
          <a:ln/>
        </p:spPr>
      </p:sp>
      <p:sp>
        <p:nvSpPr>
          <p:cNvPr id="10" name="span"/>
          <p:cNvSpPr/>
          <p:nvPr/>
        </p:nvSpPr>
        <p:spPr>
          <a:xfrm>
            <a:off x="8902690" y="2391979"/>
            <a:ext cx="88880" cy="88880"/>
          </a:xfrm>
          <a:prstGeom prst="ellipse">
            <a:avLst/>
          </a:prstGeom>
          <a:solidFill>
            <a:srgbClr val="044BD9"/>
          </a:solidFill>
          <a:ln/>
        </p:spPr>
      </p:sp>
      <p:sp>
        <p:nvSpPr>
          <p:cNvPr id="11" name="span"/>
          <p:cNvSpPr/>
          <p:nvPr/>
        </p:nvSpPr>
        <p:spPr>
          <a:xfrm>
            <a:off x="10267980" y="2366559"/>
            <a:ext cx="139720" cy="139720"/>
          </a:xfrm>
          <a:prstGeom prst="ellipse">
            <a:avLst/>
          </a:prstGeom>
          <a:solidFill>
            <a:srgbClr val="044BD9"/>
          </a:solidFill>
          <a:ln/>
        </p:spPr>
      </p:sp>
      <p:sp>
        <p:nvSpPr>
          <p:cNvPr id="12" name="card"/>
          <p:cNvSpPr/>
          <p:nvPr/>
        </p:nvSpPr>
        <p:spPr>
          <a:xfrm>
            <a:off x="714421" y="4088831"/>
            <a:ext cx="4565691" cy="1927830"/>
          </a:xfrm>
          <a:prstGeom prst="roundRect">
            <a:avLst>
              <a:gd name="adj" fmla="val 7741"/>
            </a:avLst>
          </a:prstGeom>
          <a:solidFill>
            <a:srgbClr val="044BD9"/>
          </a:solidFill>
          <a:ln w="6350">
            <a:solidFill>
              <a:srgbClr val="044BD9"/>
            </a:solidFill>
            <a:prstDash val="solid"/>
          </a:ln>
        </p:spPr>
      </p:sp>
      <p:pic>
        <p:nvPicPr>
          <p:cNvPr id="13" name="Picture" descr="The ALPHV team at the RAMEN TECH Global Summit 2026 in Fukuoka">    </p:cNvPr>
          <p:cNvPicPr>
            <a:picLocks noChangeAspect="1"/>
          </p:cNvPicPr>
          <p:nvPr/>
        </p:nvPicPr>
        <p:blipFill>
          <a:blip r:embed="rId1"/>
          <a:stretch>
            <a:fillRect/>
          </a:stretch>
        </p:blipFill>
        <p:spPr>
          <a:xfrm>
            <a:off x="5435559" y="4085631"/>
            <a:ext cx="2794041" cy="1934139"/>
          </a:xfrm>
          <a:prstGeom prst="roundRect">
            <a:avLst>
              <a:gd name="adj" fmla="val 7879"/>
            </a:avLst>
          </a:prstGeom>
        </p:spPr>
      </p:pic>
      <p:sp>
        <p:nvSpPr>
          <p:cNvPr id="14" name="tag"/>
          <p:cNvSpPr/>
          <p:nvPr/>
        </p:nvSpPr>
        <p:spPr>
          <a:xfrm>
            <a:off x="5562570" y="5657850"/>
            <a:ext cx="2535083" cy="234909"/>
          </a:xfrm>
          <a:prstGeom prst="roundRect">
            <a:avLst>
              <a:gd name="adj" fmla="val 50020"/>
            </a:avLst>
          </a:prstGeom>
          <a:solidFill>
            <a:srgbClr val="FFFFFF">
              <a:alpha val="92000"/>
            </a:srgbClr>
          </a:solidFill>
          <a:ln/>
        </p:spPr>
      </p:sp>
      <p:pic>
        <p:nvPicPr>
          <p:cNvPr id="15" name="Picture" descr="Presentation on stage at Alibaba Cloud AI Day, with ALPHV among the partners on screen">    </p:cNvPr>
          <p:cNvPicPr>
            <a:picLocks noChangeAspect="1"/>
          </p:cNvPicPr>
          <p:nvPr/>
        </p:nvPicPr>
        <p:blipFill>
          <a:blip r:embed="rId2"/>
          <a:stretch>
            <a:fillRect/>
          </a:stretch>
        </p:blipFill>
        <p:spPr>
          <a:xfrm>
            <a:off x="8382030" y="4085631"/>
            <a:ext cx="3098810" cy="1934139"/>
          </a:xfrm>
          <a:prstGeom prst="roundRect">
            <a:avLst>
              <a:gd name="adj" fmla="val 7879"/>
            </a:avLst>
          </a:prstGeom>
        </p:spPr>
      </p:pic>
      <p:sp>
        <p:nvSpPr>
          <p:cNvPr id="16" name="tag"/>
          <p:cNvSpPr/>
          <p:nvPr/>
        </p:nvSpPr>
        <p:spPr>
          <a:xfrm>
            <a:off x="8509041" y="5657850"/>
            <a:ext cx="2174077" cy="234909"/>
          </a:xfrm>
          <a:prstGeom prst="roundRect">
            <a:avLst>
              <a:gd name="adj" fmla="val 50020"/>
            </a:avLst>
          </a:prstGeom>
          <a:solidFill>
            <a:srgbClr val="FFFFFF">
              <a:alpha val="92000"/>
            </a:srgbClr>
          </a:solidFill>
          <a:ln/>
        </p:spPr>
      </p:sp>
      <p:sp>
        <p:nvSpPr>
          <p:cNvPr id="17" name="span::before"/>
          <p:cNvSpPr/>
          <p:nvPr/>
        </p:nvSpPr>
        <p:spPr>
          <a:xfrm>
            <a:off x="6191860" y="311170"/>
            <a:ext cx="44440" cy="44440"/>
          </a:xfrm>
          <a:prstGeom prst="rect">
            <a:avLst/>
          </a:prstGeom>
          <a:solidFill>
            <a:srgbClr val="A0A6AF">
              <a:alpha val="55000"/>
            </a:srgbClr>
          </a:solidFill>
          <a:ln/>
        </p:spPr>
      </p:sp>
      <p:sp>
        <p:nvSpPr>
          <p:cNvPr id="18" name="span::before"/>
          <p:cNvSpPr/>
          <p:nvPr/>
        </p:nvSpPr>
        <p:spPr>
          <a:xfrm>
            <a:off x="7145213" y="311170"/>
            <a:ext cx="44440" cy="44440"/>
          </a:xfrm>
          <a:prstGeom prst="rect">
            <a:avLst/>
          </a:prstGeom>
          <a:solidFill>
            <a:srgbClr val="A0A6AF">
              <a:alpha val="55000"/>
            </a:srgbClr>
          </a:solidFill>
          <a:ln/>
        </p:spPr>
      </p:sp>
      <p:sp>
        <p:nvSpPr>
          <p:cNvPr id="19" name="span::before"/>
          <p:cNvSpPr/>
          <p:nvPr/>
        </p:nvSpPr>
        <p:spPr>
          <a:xfrm>
            <a:off x="8056230" y="311170"/>
            <a:ext cx="44440" cy="44440"/>
          </a:xfrm>
          <a:prstGeom prst="rect">
            <a:avLst/>
          </a:prstGeom>
          <a:solidFill>
            <a:srgbClr val="A0A6AF">
              <a:alpha val="55000"/>
            </a:srgbClr>
          </a:solidFill>
          <a:ln/>
        </p:spPr>
      </p:sp>
      <p:sp>
        <p:nvSpPr>
          <p:cNvPr id="20" name="span::before"/>
          <p:cNvSpPr/>
          <p:nvPr/>
        </p:nvSpPr>
        <p:spPr>
          <a:xfrm>
            <a:off x="8972550" y="311170"/>
            <a:ext cx="44440" cy="44440"/>
          </a:xfrm>
          <a:prstGeom prst="rect">
            <a:avLst/>
          </a:prstGeom>
          <a:solidFill>
            <a:srgbClr val="A0A6AF">
              <a:alpha val="55000"/>
            </a:srgbClr>
          </a:solidFill>
          <a:ln/>
        </p:spPr>
      </p:sp>
      <p:sp>
        <p:nvSpPr>
          <p:cNvPr id="21" name="on::before"/>
          <p:cNvSpPr/>
          <p:nvPr/>
        </p:nvSpPr>
        <p:spPr>
          <a:xfrm>
            <a:off x="10421142" y="311170"/>
            <a:ext cx="44440" cy="44440"/>
          </a:xfrm>
          <a:prstGeom prst="rect">
            <a:avLst/>
          </a:prstGeom>
          <a:solidFill>
            <a:srgbClr val="044BD9"/>
          </a:solidFill>
          <a:ln/>
        </p:spPr>
      </p:sp>
      <p:sp>
        <p:nvSpPr>
          <p:cNvPr id="22" name="span::before"/>
          <p:cNvSpPr/>
          <p:nvPr/>
        </p:nvSpPr>
        <p:spPr>
          <a:xfrm>
            <a:off x="10966216" y="311170"/>
            <a:ext cx="44440" cy="44440"/>
          </a:xfrm>
          <a:prstGeom prst="rect">
            <a:avLst/>
          </a:prstGeom>
          <a:solidFill>
            <a:srgbClr val="A0A6AF">
              <a:alpha val="55000"/>
            </a:srgbClr>
          </a:solidFill>
          <a:ln/>
        </p:spPr>
      </p:sp>
      <p:sp>
        <p:nvSpPr>
          <p:cNvPr id="23" name="Text"/>
          <p:cNvSpPr txBox="1"/>
          <p:nvPr/>
        </p:nvSpPr>
        <p:spPr>
          <a:xfrm>
            <a:off x="844540" y="603230"/>
            <a:ext cx="762701" cy="120609"/>
          </a:xfrm>
          <a:prstGeom prst="rect">
            <a:avLst/>
          </a:prstGeom>
          <a:noFill/>
          <a:ln/>
        </p:spPr>
        <p:txBody>
          <a:bodyPr wrap="none" lIns="0" tIns="0" rIns="0" bIns="0" rtlCol="0" anchor="t"/>
          <a:lstStyle/>
          <a:p>
            <a:pPr algn="l" indent="0" marL="0">
              <a:lnSpc>
                <a:spcPts val="950"/>
              </a:lnSpc>
              <a:buNone/>
            </a:pPr>
            <a:r>
              <a:rPr lang="en-US" sz="950" spc="10" kern="0" dirty="0">
                <a:solidFill>
                  <a:srgbClr val="155DFC"/>
                </a:solidFill>
                <a:latin typeface="Poppins Medium" pitchFamily="34" charset="0"/>
                <a:ea typeface="Poppins Medium" pitchFamily="34" charset="-122"/>
                <a:cs typeface="Poppins Medium" pitchFamily="34" charset="-120"/>
              </a:rPr>
              <a:t>Recognition</a:t>
            </a:r>
            <a:endParaRPr lang="en-US" sz="950" dirty="0"/>
          </a:p>
        </p:txBody>
      </p:sp>
      <p:sp>
        <p:nvSpPr>
          <p:cNvPr id="24" name="Title"/>
          <p:cNvSpPr txBox="1"/>
          <p:nvPr/>
        </p:nvSpPr>
        <p:spPr>
          <a:xfrm>
            <a:off x="711220" y="927750"/>
            <a:ext cx="9398020" cy="861090"/>
          </a:xfrm>
          <a:prstGeom prst="rect">
            <a:avLst/>
          </a:prstGeom>
          <a:noFill/>
          <a:ln/>
        </p:spPr>
        <p:txBody>
          <a:bodyPr wrap="square" lIns="0" tIns="0" rIns="0" bIns="0" rtlCol="0" anchor="t"/>
          <a:lstStyle/>
          <a:p>
            <a:pPr algn="l" indent="0" marL="0">
              <a:lnSpc>
                <a:spcPts val="3390"/>
              </a:lnSpc>
              <a:buNone/>
            </a:pPr>
            <a:r>
              <a:rPr lang="en-US" sz="3000" spc="-45" kern="0" dirty="0">
                <a:solidFill>
                  <a:srgbClr val="000000"/>
                </a:solidFill>
                <a:latin typeface="Poppins Medium" pitchFamily="34" charset="0"/>
                <a:ea typeface="Poppins Medium" pitchFamily="34" charset="-122"/>
                <a:cs typeface="Poppins Medium" pitchFamily="34" charset="-120"/>
              </a:rPr>
              <a:t>ALPHV placed</a:t>
            </a:r>
            <a:pPr algn="l" indent="0" marL="0">
              <a:lnSpc>
                <a:spcPts val="3390"/>
              </a:lnSpc>
              <a:buNone/>
            </a:pPr>
            <a:r>
              <a:rPr lang="en-US" sz="3000" spc="-45" kern="0" dirty="0">
                <a:solidFill>
                  <a:srgbClr val="044BD9"/>
                </a:solidFill>
                <a:latin typeface="Poppins Medium" pitchFamily="34" charset="0"/>
                <a:ea typeface="Poppins Medium" pitchFamily="34" charset="-122"/>
                <a:cs typeface="Poppins Medium" pitchFamily="34" charset="-120"/>
              </a:rPr>
              <a:t> first of nine</a:t>
            </a:r>
            <a:pPr algn="l" indent="0" marL="0">
              <a:lnSpc>
                <a:spcPts val="3390"/>
              </a:lnSpc>
              <a:buNone/>
            </a:pPr>
            <a:r>
              <a:rPr lang="en-US" sz="3000" spc="-45" kern="0" dirty="0">
                <a:solidFill>
                  <a:srgbClr val="000000"/>
                </a:solidFill>
                <a:latin typeface="Poppins Medium" pitchFamily="34" charset="0"/>
                <a:ea typeface="Poppins Medium" pitchFamily="34" charset="-122"/>
                <a:cs typeface="Poppins Medium" pitchFamily="34" charset="-120"/>
              </a:rPr>
              <a:t> at the AI</a:t>
            </a:r>
            <a:endParaRPr lang="en-US" sz="3000" dirty="0"/>
          </a:p>
          <a:p>
            <a:pPr algn="l" indent="0" marL="0">
              <a:lnSpc>
                <a:spcPts val="3390"/>
              </a:lnSpc>
              <a:buNone/>
            </a:pPr>
            <a:r>
              <a:rPr lang="en-US" sz="3000" spc="-45" kern="0" dirty="0">
                <a:solidFill>
                  <a:srgbClr val="000000"/>
                </a:solidFill>
                <a:latin typeface="Poppins Medium" pitchFamily="34" charset="0"/>
                <a:ea typeface="Poppins Medium" pitchFamily="34" charset="-122"/>
                <a:cs typeface="Poppins Medium" pitchFamily="34" charset="-120"/>
              </a:rPr>
              <a:t>for Insurance Challenge × Tasco</a:t>
            </a:r>
            <a:endParaRPr lang="en-US" sz="3000" dirty="0"/>
          </a:p>
        </p:txBody>
      </p:sp>
      <p:sp>
        <p:nvSpPr>
          <p:cNvPr id="25" name="Text"/>
          <p:cNvSpPr txBox="1"/>
          <p:nvPr/>
        </p:nvSpPr>
        <p:spPr>
          <a:xfrm>
            <a:off x="711220" y="2070384"/>
            <a:ext cx="5342565" cy="216530"/>
          </a:xfrm>
          <a:prstGeom prst="rect">
            <a:avLst/>
          </a:prstGeom>
          <a:noFill/>
          <a:ln/>
        </p:spPr>
        <p:txBody>
          <a:bodyPr wrap="square" lIns="0" tIns="0" rIns="0" bIns="0" rtlCol="0" anchor="t"/>
          <a:lstStyle/>
          <a:p>
            <a:pPr algn="l" indent="0" marL="0">
              <a:lnSpc>
                <a:spcPts val="1705"/>
              </a:lnSpc>
              <a:buNone/>
            </a:pPr>
            <a:r>
              <a:rPr lang="en-US" sz="1100" dirty="0">
                <a:solidFill>
                  <a:srgbClr val="000000"/>
                </a:solidFill>
                <a:latin typeface="Poppins SemiBold" pitchFamily="34" charset="0"/>
                <a:ea typeface="Poppins SemiBold" pitchFamily="34" charset="-122"/>
                <a:cs typeface="Poppins SemiBold" pitchFamily="34" charset="-120"/>
              </a:rPr>
              <a:t>2025</a:t>
            </a:r>
            <a:endParaRPr lang="en-US" sz="1100" dirty="0"/>
          </a:p>
        </p:txBody>
      </p:sp>
      <p:sp>
        <p:nvSpPr>
          <p:cNvPr id="26" name="Text"/>
          <p:cNvSpPr txBox="1"/>
          <p:nvPr/>
        </p:nvSpPr>
        <p:spPr>
          <a:xfrm>
            <a:off x="6172200" y="2070384"/>
            <a:ext cx="5342565" cy="216530"/>
          </a:xfrm>
          <a:prstGeom prst="rect">
            <a:avLst/>
          </a:prstGeom>
          <a:noFill/>
          <a:ln/>
        </p:spPr>
        <p:txBody>
          <a:bodyPr wrap="square" lIns="0" tIns="0" rIns="0" bIns="0" rtlCol="0" anchor="t"/>
          <a:lstStyle/>
          <a:p>
            <a:pPr algn="l" indent="0" marL="0">
              <a:lnSpc>
                <a:spcPts val="1705"/>
              </a:lnSpc>
              <a:buNone/>
            </a:pPr>
            <a:r>
              <a:rPr lang="en-US" sz="1100" dirty="0">
                <a:solidFill>
                  <a:srgbClr val="044BD9"/>
                </a:solidFill>
                <a:latin typeface="Poppins SemiBold" pitchFamily="34" charset="0"/>
                <a:ea typeface="Poppins SemiBold" pitchFamily="34" charset="-122"/>
                <a:cs typeface="Poppins SemiBold" pitchFamily="34" charset="-120"/>
              </a:rPr>
              <a:t>2026</a:t>
            </a:r>
            <a:endParaRPr lang="en-US" sz="1100" dirty="0"/>
          </a:p>
        </p:txBody>
      </p:sp>
      <p:sp>
        <p:nvSpPr>
          <p:cNvPr id="27" name="Text"/>
          <p:cNvSpPr txBox="1"/>
          <p:nvPr/>
        </p:nvSpPr>
        <p:spPr>
          <a:xfrm>
            <a:off x="711220" y="2606406"/>
            <a:ext cx="1230417" cy="186995"/>
          </a:xfrm>
          <a:prstGeom prst="rect">
            <a:avLst/>
          </a:prstGeom>
          <a:noFill/>
          <a:ln/>
        </p:spPr>
        <p:txBody>
          <a:bodyPr wrap="square" lIns="0" tIns="0" rIns="0" bIns="0" rtlCol="0" anchor="t"/>
          <a:lstStyle/>
          <a:p>
            <a:pPr algn="l" indent="0" marL="0">
              <a:lnSpc>
                <a:spcPts val="1472"/>
              </a:lnSpc>
              <a:buNone/>
            </a:pPr>
            <a:r>
              <a:rPr lang="en-US" sz="950" dirty="0">
                <a:solidFill>
                  <a:srgbClr val="6B6B6B"/>
                </a:solidFill>
                <a:latin typeface="Poppins Medium" pitchFamily="34" charset="0"/>
                <a:ea typeface="Poppins Medium" pitchFamily="34" charset="-122"/>
                <a:cs typeface="Poppins Medium" pitchFamily="34" charset="-120"/>
              </a:rPr>
              <a:t>Jul 2025</a:t>
            </a:r>
            <a:endParaRPr lang="en-US" sz="950" dirty="0"/>
          </a:p>
        </p:txBody>
      </p:sp>
      <p:sp>
        <p:nvSpPr>
          <p:cNvPr id="28" name="Text"/>
          <p:cNvSpPr txBox="1"/>
          <p:nvPr/>
        </p:nvSpPr>
        <p:spPr>
          <a:xfrm>
            <a:off x="711220" y="2831165"/>
            <a:ext cx="1230417" cy="699790"/>
          </a:xfrm>
          <a:prstGeom prst="rect">
            <a:avLst/>
          </a:prstGeom>
          <a:noFill/>
          <a:ln/>
        </p:spPr>
        <p:txBody>
          <a:bodyPr wrap="square" lIns="0" tIns="0" rIns="0" bIns="0" rtlCol="0" anchor="t"/>
          <a:lstStyle/>
          <a:p>
            <a:pPr algn="l" indent="0" marL="0">
              <a:lnSpc>
                <a:spcPts val="1378"/>
              </a:lnSpc>
              <a:buNone/>
            </a:pPr>
            <a:r>
              <a:rPr lang="en-US" sz="950" dirty="0">
                <a:solidFill>
                  <a:srgbClr val="1F2937"/>
                </a:solidFill>
                <a:latin typeface="Poppins Light" pitchFamily="34" charset="0"/>
                <a:ea typeface="Poppins Light" pitchFamily="34" charset="-122"/>
                <a:cs typeface="Poppins Light" pitchFamily="34" charset="-120"/>
              </a:rPr>
              <a:t>Alibaba Cloud Partner Network, Tier 2 reseller for Malaysia</a:t>
            </a:r>
            <a:endParaRPr lang="en-US" sz="950" dirty="0"/>
          </a:p>
        </p:txBody>
      </p:sp>
      <p:sp>
        <p:nvSpPr>
          <p:cNvPr id="29" name="Text"/>
          <p:cNvSpPr txBox="1"/>
          <p:nvPr/>
        </p:nvSpPr>
        <p:spPr>
          <a:xfrm>
            <a:off x="2076420" y="2606406"/>
            <a:ext cx="1230417" cy="186995"/>
          </a:xfrm>
          <a:prstGeom prst="rect">
            <a:avLst/>
          </a:prstGeom>
          <a:noFill/>
          <a:ln/>
        </p:spPr>
        <p:txBody>
          <a:bodyPr wrap="square" lIns="0" tIns="0" rIns="0" bIns="0" rtlCol="0" anchor="t"/>
          <a:lstStyle/>
          <a:p>
            <a:pPr algn="l" indent="0" marL="0">
              <a:lnSpc>
                <a:spcPts val="1472"/>
              </a:lnSpc>
              <a:buNone/>
            </a:pPr>
            <a:r>
              <a:rPr lang="en-US" sz="950" dirty="0">
                <a:solidFill>
                  <a:srgbClr val="6B6B6B"/>
                </a:solidFill>
                <a:latin typeface="Poppins Medium" pitchFamily="34" charset="0"/>
                <a:ea typeface="Poppins Medium" pitchFamily="34" charset="-122"/>
                <a:cs typeface="Poppins Medium" pitchFamily="34" charset="-120"/>
              </a:rPr>
              <a:t>Aug 2025</a:t>
            </a:r>
            <a:endParaRPr lang="en-US" sz="950" dirty="0"/>
          </a:p>
        </p:txBody>
      </p:sp>
      <p:sp>
        <p:nvSpPr>
          <p:cNvPr id="30" name="Text"/>
          <p:cNvSpPr txBox="1"/>
          <p:nvPr/>
        </p:nvSpPr>
        <p:spPr>
          <a:xfrm>
            <a:off x="2076420" y="2831165"/>
            <a:ext cx="1230417" cy="524866"/>
          </a:xfrm>
          <a:prstGeom prst="rect">
            <a:avLst/>
          </a:prstGeom>
          <a:noFill/>
          <a:ln/>
        </p:spPr>
        <p:txBody>
          <a:bodyPr wrap="square" lIns="0" tIns="0" rIns="0" bIns="0" rtlCol="0" anchor="t"/>
          <a:lstStyle/>
          <a:p>
            <a:pPr algn="l" indent="0" marL="0">
              <a:lnSpc>
                <a:spcPts val="1378"/>
              </a:lnSpc>
              <a:buNone/>
            </a:pPr>
            <a:r>
              <a:rPr lang="en-US" sz="950" dirty="0">
                <a:solidFill>
                  <a:srgbClr val="1F2937"/>
                </a:solidFill>
                <a:latin typeface="Poppins Light" pitchFamily="34" charset="0"/>
                <a:ea typeface="Poppins Light" pitchFamily="34" charset="-122"/>
                <a:cs typeface="Poppins Light" pitchFamily="34" charset="-120"/>
              </a:rPr>
              <a:t>Technical keynote at the ASEAN AI Summit 2025</a:t>
            </a:r>
            <a:endParaRPr lang="en-US" sz="950" dirty="0"/>
          </a:p>
        </p:txBody>
      </p:sp>
      <p:sp>
        <p:nvSpPr>
          <p:cNvPr id="31" name="Text"/>
          <p:cNvSpPr txBox="1"/>
          <p:nvPr/>
        </p:nvSpPr>
        <p:spPr>
          <a:xfrm>
            <a:off x="3441710" y="2606406"/>
            <a:ext cx="1230417" cy="186995"/>
          </a:xfrm>
          <a:prstGeom prst="rect">
            <a:avLst/>
          </a:prstGeom>
          <a:noFill/>
          <a:ln/>
        </p:spPr>
        <p:txBody>
          <a:bodyPr wrap="square" lIns="0" tIns="0" rIns="0" bIns="0" rtlCol="0" anchor="t"/>
          <a:lstStyle/>
          <a:p>
            <a:pPr algn="l" indent="0" marL="0">
              <a:lnSpc>
                <a:spcPts val="1472"/>
              </a:lnSpc>
              <a:buNone/>
            </a:pPr>
            <a:r>
              <a:rPr lang="en-US" sz="950" dirty="0">
                <a:solidFill>
                  <a:srgbClr val="6B6B6B"/>
                </a:solidFill>
                <a:latin typeface="Poppins Medium" pitchFamily="34" charset="0"/>
                <a:ea typeface="Poppins Medium" pitchFamily="34" charset="-122"/>
                <a:cs typeface="Poppins Medium" pitchFamily="34" charset="-120"/>
              </a:rPr>
              <a:t>Sep 2025</a:t>
            </a:r>
            <a:endParaRPr lang="en-US" sz="950" dirty="0"/>
          </a:p>
        </p:txBody>
      </p:sp>
      <p:sp>
        <p:nvSpPr>
          <p:cNvPr id="32" name="Text"/>
          <p:cNvSpPr txBox="1"/>
          <p:nvPr/>
        </p:nvSpPr>
        <p:spPr>
          <a:xfrm>
            <a:off x="3441710" y="2831165"/>
            <a:ext cx="1230417" cy="524866"/>
          </a:xfrm>
          <a:prstGeom prst="rect">
            <a:avLst/>
          </a:prstGeom>
          <a:noFill/>
          <a:ln/>
        </p:spPr>
        <p:txBody>
          <a:bodyPr wrap="square" lIns="0" tIns="0" rIns="0" bIns="0" rtlCol="0" anchor="t"/>
          <a:lstStyle/>
          <a:p>
            <a:pPr algn="l" indent="0" marL="0">
              <a:lnSpc>
                <a:spcPts val="1378"/>
              </a:lnSpc>
              <a:buNone/>
            </a:pPr>
            <a:r>
              <a:rPr lang="en-US" sz="950" dirty="0">
                <a:solidFill>
                  <a:srgbClr val="1F2937"/>
                </a:solidFill>
                <a:latin typeface="Poppins Light" pitchFamily="34" charset="0"/>
                <a:ea typeface="Poppins Light" pitchFamily="34" charset="-122"/>
                <a:cs typeface="Poppins Light" pitchFamily="34" charset="-120"/>
              </a:rPr>
              <a:t>Agentic AI panel at MDX 2025, Kuala Lumpur</a:t>
            </a:r>
            <a:endParaRPr lang="en-US" sz="950" dirty="0"/>
          </a:p>
        </p:txBody>
      </p:sp>
      <p:sp>
        <p:nvSpPr>
          <p:cNvPr id="33" name="Text"/>
          <p:cNvSpPr txBox="1"/>
          <p:nvPr/>
        </p:nvSpPr>
        <p:spPr>
          <a:xfrm>
            <a:off x="4806909" y="2606406"/>
            <a:ext cx="1230417" cy="186995"/>
          </a:xfrm>
          <a:prstGeom prst="rect">
            <a:avLst/>
          </a:prstGeom>
          <a:noFill/>
          <a:ln/>
        </p:spPr>
        <p:txBody>
          <a:bodyPr wrap="square" lIns="0" tIns="0" rIns="0" bIns="0" rtlCol="0" anchor="t"/>
          <a:lstStyle/>
          <a:p>
            <a:pPr algn="l" indent="0" marL="0">
              <a:lnSpc>
                <a:spcPts val="1472"/>
              </a:lnSpc>
              <a:buNone/>
            </a:pPr>
            <a:r>
              <a:rPr lang="en-US" sz="950" dirty="0">
                <a:solidFill>
                  <a:srgbClr val="6B6B6B"/>
                </a:solidFill>
                <a:latin typeface="Poppins Medium" pitchFamily="34" charset="0"/>
                <a:ea typeface="Poppins Medium" pitchFamily="34" charset="-122"/>
                <a:cs typeface="Poppins Medium" pitchFamily="34" charset="-120"/>
              </a:rPr>
              <a:t>Dec 2025</a:t>
            </a:r>
            <a:endParaRPr lang="en-US" sz="950" dirty="0"/>
          </a:p>
        </p:txBody>
      </p:sp>
      <p:sp>
        <p:nvSpPr>
          <p:cNvPr id="34" name="Text"/>
          <p:cNvSpPr txBox="1"/>
          <p:nvPr/>
        </p:nvSpPr>
        <p:spPr>
          <a:xfrm>
            <a:off x="4806909" y="2831165"/>
            <a:ext cx="1230417" cy="699790"/>
          </a:xfrm>
          <a:prstGeom prst="rect">
            <a:avLst/>
          </a:prstGeom>
          <a:noFill/>
          <a:ln/>
        </p:spPr>
        <p:txBody>
          <a:bodyPr wrap="square" lIns="0" tIns="0" rIns="0" bIns="0" rtlCol="0" anchor="t"/>
          <a:lstStyle/>
          <a:p>
            <a:pPr algn="l" indent="0" marL="0">
              <a:lnSpc>
                <a:spcPts val="1378"/>
              </a:lnSpc>
              <a:buNone/>
            </a:pPr>
            <a:r>
              <a:rPr lang="en-US" sz="950" dirty="0">
                <a:solidFill>
                  <a:srgbClr val="1F2937"/>
                </a:solidFill>
                <a:latin typeface="Poppins Light" pitchFamily="34" charset="0"/>
                <a:ea typeface="Poppins Light" pitchFamily="34" charset="-122"/>
                <a:cs typeface="Poppins Light" pitchFamily="34" charset="-120"/>
              </a:rPr>
              <a:t>One of 12 AI implementation partners at Alibaba Cloud AI Day</a:t>
            </a:r>
            <a:endParaRPr lang="en-US" sz="950" dirty="0"/>
          </a:p>
        </p:txBody>
      </p:sp>
      <p:sp>
        <p:nvSpPr>
          <p:cNvPr id="35" name="Text"/>
          <p:cNvSpPr txBox="1"/>
          <p:nvPr/>
        </p:nvSpPr>
        <p:spPr>
          <a:xfrm>
            <a:off x="6172200" y="2606406"/>
            <a:ext cx="1230417" cy="186995"/>
          </a:xfrm>
          <a:prstGeom prst="rect">
            <a:avLst/>
          </a:prstGeom>
          <a:noFill/>
          <a:ln/>
        </p:spPr>
        <p:txBody>
          <a:bodyPr wrap="square" lIns="0" tIns="0" rIns="0" bIns="0" rtlCol="0" anchor="t"/>
          <a:lstStyle/>
          <a:p>
            <a:pPr algn="l" indent="0" marL="0">
              <a:lnSpc>
                <a:spcPts val="1472"/>
              </a:lnSpc>
              <a:buNone/>
            </a:pPr>
            <a:r>
              <a:rPr lang="en-US" sz="950" dirty="0">
                <a:solidFill>
                  <a:srgbClr val="6B6B6B"/>
                </a:solidFill>
                <a:latin typeface="Poppins Medium" pitchFamily="34" charset="0"/>
                <a:ea typeface="Poppins Medium" pitchFamily="34" charset="-122"/>
                <a:cs typeface="Poppins Medium" pitchFamily="34" charset="-120"/>
              </a:rPr>
              <a:t>Apr 2026</a:t>
            </a:r>
            <a:endParaRPr lang="en-US" sz="950" dirty="0"/>
          </a:p>
        </p:txBody>
      </p:sp>
      <p:sp>
        <p:nvSpPr>
          <p:cNvPr id="36" name="Text"/>
          <p:cNvSpPr txBox="1"/>
          <p:nvPr/>
        </p:nvSpPr>
        <p:spPr>
          <a:xfrm>
            <a:off x="6172200" y="2831165"/>
            <a:ext cx="1230417" cy="524866"/>
          </a:xfrm>
          <a:prstGeom prst="rect">
            <a:avLst/>
          </a:prstGeom>
          <a:noFill/>
          <a:ln/>
        </p:spPr>
        <p:txBody>
          <a:bodyPr wrap="square" lIns="0" tIns="0" rIns="0" bIns="0" rtlCol="0" anchor="t"/>
          <a:lstStyle/>
          <a:p>
            <a:pPr algn="l" indent="0" marL="0">
              <a:lnSpc>
                <a:spcPts val="1378"/>
              </a:lnSpc>
              <a:buNone/>
            </a:pPr>
            <a:r>
              <a:rPr lang="en-US" sz="950" dirty="0">
                <a:solidFill>
                  <a:srgbClr val="1F2937"/>
                </a:solidFill>
                <a:latin typeface="Poppins Light" pitchFamily="34" charset="0"/>
                <a:ea typeface="Poppins Light" pitchFamily="34" charset="-122"/>
                <a:cs typeface="Poppins Light" pitchFamily="34" charset="-120"/>
              </a:rPr>
              <a:t>Strategic partnership with FPT AI Factory</a:t>
            </a:r>
            <a:endParaRPr lang="en-US" sz="950" dirty="0"/>
          </a:p>
        </p:txBody>
      </p:sp>
      <p:sp>
        <p:nvSpPr>
          <p:cNvPr id="37" name="Text"/>
          <p:cNvSpPr txBox="1"/>
          <p:nvPr/>
        </p:nvSpPr>
        <p:spPr>
          <a:xfrm>
            <a:off x="7537491" y="2606406"/>
            <a:ext cx="1230417" cy="186995"/>
          </a:xfrm>
          <a:prstGeom prst="rect">
            <a:avLst/>
          </a:prstGeom>
          <a:noFill/>
          <a:ln/>
        </p:spPr>
        <p:txBody>
          <a:bodyPr wrap="square" lIns="0" tIns="0" rIns="0" bIns="0" rtlCol="0" anchor="t"/>
          <a:lstStyle/>
          <a:p>
            <a:pPr algn="l" indent="0" marL="0">
              <a:lnSpc>
                <a:spcPts val="1472"/>
              </a:lnSpc>
              <a:buNone/>
            </a:pPr>
            <a:r>
              <a:rPr lang="en-US" sz="950" dirty="0">
                <a:solidFill>
                  <a:srgbClr val="6B6B6B"/>
                </a:solidFill>
                <a:latin typeface="Poppins Medium" pitchFamily="34" charset="0"/>
                <a:ea typeface="Poppins Medium" pitchFamily="34" charset="-122"/>
                <a:cs typeface="Poppins Medium" pitchFamily="34" charset="-120"/>
              </a:rPr>
              <a:t>Sep 2026</a:t>
            </a:r>
            <a:endParaRPr lang="en-US" sz="950" dirty="0"/>
          </a:p>
        </p:txBody>
      </p:sp>
      <p:sp>
        <p:nvSpPr>
          <p:cNvPr id="38" name="Text"/>
          <p:cNvSpPr txBox="1"/>
          <p:nvPr/>
        </p:nvSpPr>
        <p:spPr>
          <a:xfrm>
            <a:off x="7537491" y="2831165"/>
            <a:ext cx="1230417" cy="524866"/>
          </a:xfrm>
          <a:prstGeom prst="rect">
            <a:avLst/>
          </a:prstGeom>
          <a:noFill/>
          <a:ln/>
        </p:spPr>
        <p:txBody>
          <a:bodyPr wrap="square" lIns="0" tIns="0" rIns="0" bIns="0" rtlCol="0" anchor="t"/>
          <a:lstStyle/>
          <a:p>
            <a:pPr algn="l" indent="0" marL="0">
              <a:lnSpc>
                <a:spcPts val="1378"/>
              </a:lnSpc>
              <a:buNone/>
            </a:pPr>
            <a:r>
              <a:rPr lang="en-US" sz="950" dirty="0">
                <a:solidFill>
                  <a:srgbClr val="1F2937"/>
                </a:solidFill>
                <a:latin typeface="Poppins Light" pitchFamily="34" charset="0"/>
                <a:ea typeface="Poppins Light" pitchFamily="34" charset="-122"/>
                <a:cs typeface="Poppins Light" pitchFamily="34" charset="-120"/>
              </a:rPr>
              <a:t>Selangor AI Hackathon 2026, 2nd runner-up of 26</a:t>
            </a:r>
            <a:endParaRPr lang="en-US" sz="950" dirty="0"/>
          </a:p>
        </p:txBody>
      </p:sp>
      <p:sp>
        <p:nvSpPr>
          <p:cNvPr id="39" name="Text"/>
          <p:cNvSpPr txBox="1"/>
          <p:nvPr/>
        </p:nvSpPr>
        <p:spPr>
          <a:xfrm>
            <a:off x="8902690" y="2606406"/>
            <a:ext cx="1230417" cy="186995"/>
          </a:xfrm>
          <a:prstGeom prst="rect">
            <a:avLst/>
          </a:prstGeom>
          <a:noFill/>
          <a:ln/>
        </p:spPr>
        <p:txBody>
          <a:bodyPr wrap="square" lIns="0" tIns="0" rIns="0" bIns="0" rtlCol="0" anchor="t"/>
          <a:lstStyle/>
          <a:p>
            <a:pPr algn="l" indent="0" marL="0">
              <a:lnSpc>
                <a:spcPts val="1472"/>
              </a:lnSpc>
              <a:buNone/>
            </a:pPr>
            <a:r>
              <a:rPr lang="en-US" sz="950" dirty="0">
                <a:solidFill>
                  <a:srgbClr val="6B6B6B"/>
                </a:solidFill>
                <a:latin typeface="Poppins Medium" pitchFamily="34" charset="0"/>
                <a:ea typeface="Poppins Medium" pitchFamily="34" charset="-122"/>
                <a:cs typeface="Poppins Medium" pitchFamily="34" charset="-120"/>
              </a:rPr>
              <a:t>Oct 2026</a:t>
            </a:r>
            <a:endParaRPr lang="en-US" sz="950" dirty="0"/>
          </a:p>
        </p:txBody>
      </p:sp>
      <p:sp>
        <p:nvSpPr>
          <p:cNvPr id="40" name="Text"/>
          <p:cNvSpPr txBox="1"/>
          <p:nvPr/>
        </p:nvSpPr>
        <p:spPr>
          <a:xfrm>
            <a:off x="8902690" y="2831165"/>
            <a:ext cx="1230417" cy="1049640"/>
          </a:xfrm>
          <a:prstGeom prst="rect">
            <a:avLst/>
          </a:prstGeom>
          <a:noFill/>
          <a:ln/>
        </p:spPr>
        <p:txBody>
          <a:bodyPr wrap="square" lIns="0" tIns="0" rIns="0" bIns="0" rtlCol="0" anchor="t"/>
          <a:lstStyle/>
          <a:p>
            <a:pPr algn="l" indent="0" marL="0">
              <a:lnSpc>
                <a:spcPts val="1378"/>
              </a:lnSpc>
              <a:buNone/>
            </a:pPr>
            <a:r>
              <a:rPr lang="en-US" sz="950" dirty="0">
                <a:solidFill>
                  <a:srgbClr val="1F2937"/>
                </a:solidFill>
                <a:latin typeface="Poppins Light" pitchFamily="34" charset="0"/>
                <a:ea typeface="Poppins Light" pitchFamily="34" charset="-122"/>
                <a:cs typeface="Poppins Light" pitchFamily="34" charset="-120"/>
              </a:rPr>
              <a:t>RAMEN TECH Global Summit, Fukuoka: represented Singapore, exhibiting among 124 companies</a:t>
            </a:r>
            <a:endParaRPr lang="en-US" sz="950" dirty="0"/>
          </a:p>
        </p:txBody>
      </p:sp>
      <p:sp>
        <p:nvSpPr>
          <p:cNvPr id="41" name="Text"/>
          <p:cNvSpPr txBox="1"/>
          <p:nvPr/>
        </p:nvSpPr>
        <p:spPr>
          <a:xfrm>
            <a:off x="10267980" y="2606406"/>
            <a:ext cx="1230417" cy="186995"/>
          </a:xfrm>
          <a:prstGeom prst="rect">
            <a:avLst/>
          </a:prstGeom>
          <a:noFill/>
          <a:ln/>
        </p:spPr>
        <p:txBody>
          <a:bodyPr wrap="square" lIns="0" tIns="0" rIns="0" bIns="0" rtlCol="0" anchor="t"/>
          <a:lstStyle/>
          <a:p>
            <a:pPr algn="l" indent="0" marL="0">
              <a:lnSpc>
                <a:spcPts val="1472"/>
              </a:lnSpc>
              <a:buNone/>
            </a:pPr>
            <a:r>
              <a:rPr lang="en-US" sz="950" dirty="0">
                <a:solidFill>
                  <a:srgbClr val="044BD9"/>
                </a:solidFill>
                <a:latin typeface="Poppins Medium" pitchFamily="34" charset="0"/>
                <a:ea typeface="Poppins Medium" pitchFamily="34" charset="-122"/>
                <a:cs typeface="Poppins Medium" pitchFamily="34" charset="-120"/>
              </a:rPr>
              <a:t>22 Oct 2026</a:t>
            </a:r>
            <a:endParaRPr lang="en-US" sz="950" dirty="0"/>
          </a:p>
        </p:txBody>
      </p:sp>
      <p:sp>
        <p:nvSpPr>
          <p:cNvPr id="42" name="Text"/>
          <p:cNvSpPr txBox="1"/>
          <p:nvPr/>
        </p:nvSpPr>
        <p:spPr>
          <a:xfrm>
            <a:off x="10267980" y="2831165"/>
            <a:ext cx="1230417" cy="524866"/>
          </a:xfrm>
          <a:prstGeom prst="rect">
            <a:avLst/>
          </a:prstGeom>
          <a:noFill/>
          <a:ln/>
        </p:spPr>
        <p:txBody>
          <a:bodyPr wrap="square" lIns="0" tIns="0" rIns="0" bIns="0" rtlCol="0" anchor="t"/>
          <a:lstStyle/>
          <a:p>
            <a:pPr algn="l" indent="0" marL="0">
              <a:lnSpc>
                <a:spcPts val="1378"/>
              </a:lnSpc>
              <a:buNone/>
            </a:pPr>
            <a:r>
              <a:rPr lang="en-US" sz="950" dirty="0">
                <a:solidFill>
                  <a:srgbClr val="000000"/>
                </a:solidFill>
                <a:latin typeface="Poppins Medium" pitchFamily="34" charset="0"/>
                <a:ea typeface="Poppins Medium" pitchFamily="34" charset="-122"/>
                <a:cs typeface="Poppins Medium" pitchFamily="34" charset="-120"/>
              </a:rPr>
              <a:t>AI for Insurance Challenge × Tasco: winner, first of nine</a:t>
            </a:r>
            <a:endParaRPr lang="en-US" sz="950" dirty="0"/>
          </a:p>
        </p:txBody>
      </p:sp>
      <p:sp>
        <p:nvSpPr>
          <p:cNvPr id="43" name="Text"/>
          <p:cNvSpPr txBox="1"/>
          <p:nvPr/>
        </p:nvSpPr>
        <p:spPr>
          <a:xfrm>
            <a:off x="946130" y="4319443"/>
            <a:ext cx="4131168" cy="167335"/>
          </a:xfrm>
          <a:prstGeom prst="rect">
            <a:avLst/>
          </a:prstGeom>
          <a:noFill/>
          <a:ln/>
        </p:spPr>
        <p:txBody>
          <a:bodyPr wrap="square" lIns="0" tIns="0" rIns="0" bIns="0" rtlCol="0" anchor="t"/>
          <a:lstStyle/>
          <a:p>
            <a:pPr algn="l" indent="0" marL="0">
              <a:lnSpc>
                <a:spcPts val="1318"/>
              </a:lnSpc>
              <a:buNone/>
            </a:pPr>
            <a:r>
              <a:rPr lang="en-US" sz="850" spc="17" kern="0" dirty="0">
                <a:solidFill>
                  <a:srgbClr val="CDDBF7"/>
                </a:solidFill>
                <a:latin typeface="Poppins Medium" pitchFamily="34" charset="0"/>
                <a:ea typeface="Poppins Medium" pitchFamily="34" charset="-122"/>
                <a:cs typeface="Poppins Medium" pitchFamily="34" charset="-120"/>
              </a:rPr>
              <a:t>Winner · 22 Oct 2026</a:t>
            </a:r>
            <a:endParaRPr lang="en-US" sz="850" dirty="0"/>
          </a:p>
        </p:txBody>
      </p:sp>
      <p:sp>
        <p:nvSpPr>
          <p:cNvPr id="44" name="Text"/>
          <p:cNvSpPr txBox="1"/>
          <p:nvPr/>
        </p:nvSpPr>
        <p:spPr>
          <a:xfrm>
            <a:off x="946130" y="4546305"/>
            <a:ext cx="4131168" cy="232440"/>
          </a:xfrm>
          <a:prstGeom prst="rect">
            <a:avLst/>
          </a:prstGeom>
          <a:noFill/>
          <a:ln/>
        </p:spPr>
        <p:txBody>
          <a:bodyPr wrap="square" lIns="0" tIns="0" rIns="0" bIns="0" rtlCol="0" anchor="t"/>
          <a:lstStyle/>
          <a:p>
            <a:pPr algn="l" indent="0" marL="0">
              <a:lnSpc>
                <a:spcPts val="1830"/>
              </a:lnSpc>
              <a:buNone/>
            </a:pPr>
            <a:r>
              <a:rPr lang="en-US" sz="1500" dirty="0">
                <a:solidFill>
                  <a:srgbClr val="FFFFFF"/>
                </a:solidFill>
                <a:latin typeface="Poppins Medium" pitchFamily="34" charset="0"/>
                <a:ea typeface="Poppins Medium" pitchFamily="34" charset="-122"/>
                <a:cs typeface="Poppins Medium" pitchFamily="34" charset="-120"/>
              </a:rPr>
              <a:t>AI for Insurance Challenge × Tasco</a:t>
            </a:r>
            <a:endParaRPr lang="en-US" sz="1500" dirty="0"/>
          </a:p>
        </p:txBody>
      </p:sp>
      <p:sp>
        <p:nvSpPr>
          <p:cNvPr id="45" name="Text"/>
          <p:cNvSpPr txBox="1"/>
          <p:nvPr/>
        </p:nvSpPr>
        <p:spPr>
          <a:xfrm>
            <a:off x="946130" y="5231831"/>
            <a:ext cx="450708" cy="548640"/>
          </a:xfrm>
          <a:prstGeom prst="rect">
            <a:avLst/>
          </a:prstGeom>
          <a:noFill/>
          <a:ln/>
        </p:spPr>
        <p:txBody>
          <a:bodyPr wrap="none" lIns="0" tIns="0" rIns="0" bIns="0" rtlCol="0" anchor="t"/>
          <a:lstStyle/>
          <a:p>
            <a:pPr algn="l" indent="0" marL="0">
              <a:lnSpc>
                <a:spcPts val="4320"/>
              </a:lnSpc>
              <a:buNone/>
            </a:pPr>
            <a:r>
              <a:rPr lang="en-US" sz="4800" spc="-96" kern="0" dirty="0">
                <a:solidFill>
                  <a:srgbClr val="FFFFFF"/>
                </a:solidFill>
                <a:latin typeface="Poppins Medium" pitchFamily="34" charset="0"/>
                <a:ea typeface="Poppins Medium" pitchFamily="34" charset="-122"/>
                <a:cs typeface="Poppins Medium" pitchFamily="34" charset="-120"/>
              </a:rPr>
              <a:t>1</a:t>
            </a:r>
            <a:pPr algn="l" indent="0" marL="0">
              <a:lnSpc>
                <a:spcPts val="4320"/>
              </a:lnSpc>
              <a:buNone/>
            </a:pPr>
            <a:r>
              <a:rPr lang="en-US" sz="2160" spc="-96" kern="0" dirty="0">
                <a:solidFill>
                  <a:srgbClr val="FFFFFF"/>
                </a:solidFill>
                <a:latin typeface="Poppins Medium" pitchFamily="34" charset="0"/>
                <a:ea typeface="Poppins Medium" pitchFamily="34" charset="-122"/>
                <a:cs typeface="Poppins Medium" pitchFamily="34" charset="-120"/>
              </a:rPr>
              <a:t>st</a:t>
            </a:r>
            <a:endParaRPr lang="en-US" sz="4800" dirty="0"/>
          </a:p>
        </p:txBody>
      </p:sp>
      <p:sp>
        <p:nvSpPr>
          <p:cNvPr id="46" name="Text"/>
          <p:cNvSpPr txBox="1"/>
          <p:nvPr/>
        </p:nvSpPr>
        <p:spPr>
          <a:xfrm>
            <a:off x="1511229" y="5130790"/>
            <a:ext cx="3563874" cy="628650"/>
          </a:xfrm>
          <a:prstGeom prst="rect">
            <a:avLst/>
          </a:prstGeom>
          <a:noFill/>
          <a:ln/>
        </p:spPr>
        <p:txBody>
          <a:bodyPr wrap="square" lIns="0" tIns="0" rIns="0" bIns="0" rtlCol="0" anchor="t"/>
          <a:lstStyle/>
          <a:p>
            <a:pPr algn="l" indent="0" marL="0">
              <a:lnSpc>
                <a:spcPts val="1650"/>
              </a:lnSpc>
              <a:buNone/>
            </a:pPr>
            <a:r>
              <a:rPr lang="en-US" sz="1100" dirty="0">
                <a:solidFill>
                  <a:srgbClr val="E1E9FA"/>
                </a:solidFill>
                <a:latin typeface="Poppins Light" pitchFamily="34" charset="0"/>
                <a:ea typeface="Poppins Light" pitchFamily="34" charset="-122"/>
                <a:cs typeface="Poppins Light" pitchFamily="34" charset="-120"/>
              </a:rPr>
              <a:t>of nine companies, from the US, Turkey, Dubai, Taiwan, India and Southeast Asia, at the GenAI Fund and Tasco demo day</a:t>
            </a:r>
            <a:endParaRPr lang="en-US" sz="1100" dirty="0"/>
          </a:p>
        </p:txBody>
      </p:sp>
      <p:sp>
        <p:nvSpPr>
          <p:cNvPr id="47" name="Text"/>
          <p:cNvSpPr txBox="1"/>
          <p:nvPr/>
        </p:nvSpPr>
        <p:spPr>
          <a:xfrm>
            <a:off x="5670560" y="5718200"/>
            <a:ext cx="2344522" cy="107991"/>
          </a:xfrm>
          <a:prstGeom prst="rect">
            <a:avLst/>
          </a:prstGeom>
          <a:noFill/>
          <a:ln/>
        </p:spPr>
        <p:txBody>
          <a:bodyPr wrap="none" lIns="0" tIns="0" rIns="0" bIns="0" rtlCol="0" anchor="t"/>
          <a:lstStyle/>
          <a:p>
            <a:pPr algn="l" indent="0" marL="0">
              <a:lnSpc>
                <a:spcPts val="850"/>
              </a:lnSpc>
              <a:buNone/>
            </a:pPr>
            <a:r>
              <a:rPr lang="en-US" sz="850" dirty="0">
                <a:solidFill>
                  <a:srgbClr val="1F2937"/>
                </a:solidFill>
                <a:latin typeface="Poppins Medium" pitchFamily="34" charset="0"/>
                <a:ea typeface="Poppins Medium" pitchFamily="34" charset="-122"/>
                <a:cs typeface="Poppins Medium" pitchFamily="34" charset="-120"/>
              </a:rPr>
              <a:t>RAMEN TECH Global Summit 2026, Fukuoka</a:t>
            </a:r>
            <a:endParaRPr lang="en-US" sz="850" dirty="0"/>
          </a:p>
        </p:txBody>
      </p:sp>
      <p:sp>
        <p:nvSpPr>
          <p:cNvPr id="48" name="Text"/>
          <p:cNvSpPr txBox="1"/>
          <p:nvPr/>
        </p:nvSpPr>
        <p:spPr>
          <a:xfrm>
            <a:off x="8616940" y="5718200"/>
            <a:ext cx="1983608" cy="107991"/>
          </a:xfrm>
          <a:prstGeom prst="rect">
            <a:avLst/>
          </a:prstGeom>
          <a:noFill/>
          <a:ln/>
        </p:spPr>
        <p:txBody>
          <a:bodyPr wrap="none" lIns="0" tIns="0" rIns="0" bIns="0" rtlCol="0" anchor="t"/>
          <a:lstStyle/>
          <a:p>
            <a:pPr algn="l" indent="0" marL="0">
              <a:lnSpc>
                <a:spcPts val="850"/>
              </a:lnSpc>
              <a:buNone/>
            </a:pPr>
            <a:r>
              <a:rPr lang="en-US" sz="850" dirty="0">
                <a:solidFill>
                  <a:srgbClr val="1F2937"/>
                </a:solidFill>
                <a:latin typeface="Poppins Medium" pitchFamily="34" charset="0"/>
                <a:ea typeface="Poppins Medium" pitchFamily="34" charset="-122"/>
                <a:cs typeface="Poppins Medium" pitchFamily="34" charset="-120"/>
              </a:rPr>
              <a:t>Alibaba Cloud AI Day, Kuala Lumpur</a:t>
            </a:r>
            <a:endParaRPr lang="en-US" sz="850" dirty="0"/>
          </a:p>
        </p:txBody>
      </p:sp>
      <p:sp>
        <p:nvSpPr>
          <p:cNvPr id="49" name="Text"/>
          <p:cNvSpPr txBox="1"/>
          <p:nvPr/>
        </p:nvSpPr>
        <p:spPr>
          <a:xfrm>
            <a:off x="6287140" y="276240"/>
            <a:ext cx="708477"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Point of view</a:t>
            </a:r>
            <a:endParaRPr lang="en-US" sz="850" dirty="0"/>
          </a:p>
        </p:txBody>
      </p:sp>
      <p:sp>
        <p:nvSpPr>
          <p:cNvPr id="50" name="Text"/>
          <p:cNvSpPr txBox="1"/>
          <p:nvPr/>
        </p:nvSpPr>
        <p:spPr>
          <a:xfrm>
            <a:off x="7240494" y="276240"/>
            <a:ext cx="665958"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Who we are</a:t>
            </a:r>
            <a:endParaRPr lang="en-US" sz="850" dirty="0"/>
          </a:p>
        </p:txBody>
      </p:sp>
      <p:sp>
        <p:nvSpPr>
          <p:cNvPr id="51" name="Text"/>
          <p:cNvSpPr txBox="1"/>
          <p:nvPr/>
        </p:nvSpPr>
        <p:spPr>
          <a:xfrm>
            <a:off x="8151510" y="276240"/>
            <a:ext cx="671261"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What we do</a:t>
            </a:r>
            <a:endParaRPr lang="en-US" sz="850" dirty="0"/>
          </a:p>
        </p:txBody>
      </p:sp>
      <p:sp>
        <p:nvSpPr>
          <p:cNvPr id="52" name="Text"/>
          <p:cNvSpPr txBox="1"/>
          <p:nvPr/>
        </p:nvSpPr>
        <p:spPr>
          <a:xfrm>
            <a:off x="9067830" y="276240"/>
            <a:ext cx="1205728"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Sectors and products</a:t>
            </a:r>
            <a:endParaRPr lang="en-US" sz="850" dirty="0"/>
          </a:p>
        </p:txBody>
      </p:sp>
      <p:sp>
        <p:nvSpPr>
          <p:cNvPr id="53" name="Text"/>
          <p:cNvSpPr txBox="1"/>
          <p:nvPr/>
        </p:nvSpPr>
        <p:spPr>
          <a:xfrm>
            <a:off x="10516423" y="276240"/>
            <a:ext cx="298552"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044BD9"/>
                </a:solidFill>
                <a:latin typeface="Poppins Medium" pitchFamily="34" charset="0"/>
                <a:ea typeface="Poppins Medium" pitchFamily="34" charset="-122"/>
                <a:cs typeface="Poppins Medium" pitchFamily="34" charset="-120"/>
              </a:rPr>
              <a:t>Proof</a:t>
            </a:r>
            <a:endParaRPr lang="en-US" sz="850" dirty="0"/>
          </a:p>
        </p:txBody>
      </p:sp>
      <p:sp>
        <p:nvSpPr>
          <p:cNvPr id="54" name="Text"/>
          <p:cNvSpPr txBox="1"/>
          <p:nvPr/>
        </p:nvSpPr>
        <p:spPr>
          <a:xfrm>
            <a:off x="11061497" y="276240"/>
            <a:ext cx="433700"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Engage</a:t>
            </a:r>
            <a:endParaRPr lang="en-US" sz="850" dirty="0"/>
          </a:p>
        </p:txBody>
      </p:sp>
      <p:sp>
        <p:nvSpPr>
          <p:cNvPr id="55" name="Source"/>
          <p:cNvSpPr txBox="1"/>
          <p:nvPr/>
        </p:nvSpPr>
        <p:spPr>
          <a:xfrm>
            <a:off x="711220" y="6257971"/>
            <a:ext cx="8300740" cy="302301"/>
          </a:xfrm>
          <a:prstGeom prst="rect">
            <a:avLst/>
          </a:prstGeom>
          <a:noFill/>
          <a:ln/>
        </p:spPr>
        <p:txBody>
          <a:bodyPr wrap="square" lIns="0" tIns="0" rIns="0" bIns="0" rtlCol="0" anchor="t"/>
          <a:lstStyle/>
          <a:p>
            <a:pPr algn="l" indent="0" marL="0">
              <a:lnSpc>
                <a:spcPts val="1190"/>
              </a:lnSpc>
              <a:buNone/>
            </a:pPr>
            <a:r>
              <a:rPr lang="en-US" sz="850" dirty="0">
                <a:solidFill>
                  <a:srgbClr val="6B6B6B"/>
                </a:solidFill>
                <a:latin typeface="Poppins" pitchFamily="34" charset="0"/>
                <a:ea typeface="Poppins" pitchFamily="34" charset="-122"/>
                <a:cs typeface="Poppins" pitchFamily="34" charset="-120"/>
              </a:rPr>
              <a:t>Source: alphv.com/insights; alphv.com/about; alphv.com/platforms-and-clients; alphv.com news pages on the AI for Insurance Challenge × Tasco, RAMEN TECH Global Summit 2026 and Selangor AI Hackathon 2026 (October 2026).</a:t>
            </a:r>
            <a:endParaRPr lang="en-US" sz="850" dirty="0"/>
          </a:p>
        </p:txBody>
      </p:sp>
      <p:sp>
        <p:nvSpPr>
          <p:cNvPr id="56" name="Text"/>
          <p:cNvSpPr txBox="1"/>
          <p:nvPr/>
        </p:nvSpPr>
        <p:spPr>
          <a:xfrm>
            <a:off x="9379367" y="6409030"/>
            <a:ext cx="393741" cy="151150"/>
          </a:xfrm>
          <a:prstGeom prst="rect">
            <a:avLst/>
          </a:prstGeom>
          <a:noFill/>
          <a:ln/>
        </p:spPr>
        <p:txBody>
          <a:bodyPr wrap="none" lIns="0" tIns="0" rIns="0" bIns="0" rtlCol="0" anchor="t"/>
          <a:lstStyle/>
          <a:p>
            <a:pPr algn="l" indent="0" marL="0">
              <a:lnSpc>
                <a:spcPts val="1190"/>
              </a:lnSpc>
              <a:buNone/>
            </a:pPr>
            <a:r>
              <a:rPr lang="en-US" sz="850" spc="34" kern="0" dirty="0">
                <a:solidFill>
                  <a:srgbClr val="000000"/>
                </a:solidFill>
                <a:latin typeface="Poppins SemiBold" pitchFamily="34" charset="0"/>
                <a:ea typeface="Poppins SemiBold" pitchFamily="34" charset="-122"/>
                <a:cs typeface="Poppins SemiBold" pitchFamily="34" charset="-120"/>
              </a:rPr>
              <a:t>ALPHV</a:t>
            </a:r>
            <a:endParaRPr lang="en-US" sz="850" dirty="0"/>
          </a:p>
        </p:txBody>
      </p:sp>
      <p:sp>
        <p:nvSpPr>
          <p:cNvPr id="57" name="Text"/>
          <p:cNvSpPr txBox="1"/>
          <p:nvPr/>
        </p:nvSpPr>
        <p:spPr>
          <a:xfrm>
            <a:off x="9887316" y="6409030"/>
            <a:ext cx="1377178" cy="151150"/>
          </a:xfrm>
          <a:prstGeom prst="rect">
            <a:avLst/>
          </a:prstGeom>
          <a:noFill/>
          <a:ln/>
        </p:spPr>
        <p:txBody>
          <a:bodyPr wrap="none" lIns="0" tIns="0" rIns="0" bIns="0" rtlCol="0" anchor="t"/>
          <a:lstStyle/>
          <a:p>
            <a:pPr algn="l" indent="0" marL="0">
              <a:lnSpc>
                <a:spcPts val="1190"/>
              </a:lnSpc>
              <a:buNone/>
            </a:pPr>
            <a:r>
              <a:rPr lang="en-US" sz="850" dirty="0">
                <a:solidFill>
                  <a:srgbClr val="6B6B6B"/>
                </a:solidFill>
                <a:latin typeface="Poppins" pitchFamily="34" charset="0"/>
                <a:ea typeface="Poppins" pitchFamily="34" charset="-122"/>
                <a:cs typeface="Poppins" pitchFamily="34" charset="-120"/>
              </a:rPr>
              <a:t>Corporate overview 2026</a:t>
            </a:r>
            <a:endParaRPr lang="en-US" sz="850" dirty="0"/>
          </a:p>
        </p:txBody>
      </p:sp>
      <p:sp>
        <p:nvSpPr>
          <p:cNvPr id="58" name="Text"/>
          <p:cNvSpPr txBox="1"/>
          <p:nvPr/>
        </p:nvSpPr>
        <p:spPr>
          <a:xfrm>
            <a:off x="11378794" y="6409030"/>
            <a:ext cx="127376" cy="151150"/>
          </a:xfrm>
          <a:prstGeom prst="rect">
            <a:avLst/>
          </a:prstGeom>
          <a:noFill/>
          <a:ln/>
        </p:spPr>
        <p:txBody>
          <a:bodyPr wrap="none" lIns="0" tIns="0" rIns="0" bIns="0" rtlCol="0" anchor="t"/>
          <a:lstStyle/>
          <a:p>
            <a:pPr algn="l" indent="0" marL="0">
              <a:lnSpc>
                <a:spcPts val="1190"/>
              </a:lnSpc>
              <a:buNone/>
            </a:pPr>
            <a:r>
              <a:rPr lang="en-US" sz="850" dirty="0">
                <a:solidFill>
                  <a:srgbClr val="000000"/>
                </a:solidFill>
                <a:latin typeface="Poppins Medium" pitchFamily="34" charset="0"/>
                <a:ea typeface="Poppins Medium" pitchFamily="34" charset="-122"/>
                <a:cs typeface="Poppins Medium" pitchFamily="34" charset="-120"/>
              </a:rPr>
              <a:t>31</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p:cNvSpPr txBox="1"/>
          <p:nvPr/>
        </p:nvSpPr>
        <p:spPr>
          <a:xfrm>
            <a:off x="711220" y="2748961"/>
            <a:ext cx="10825399" cy="1257300"/>
          </a:xfrm>
          <a:prstGeom prst="rect">
            <a:avLst/>
          </a:prstGeom>
          <a:noFill/>
          <a:ln/>
        </p:spPr>
        <p:txBody>
          <a:bodyPr wrap="square" lIns="0" tIns="0" rIns="0" bIns="0" rtlCol="0" anchor="t"/>
          <a:lstStyle/>
          <a:p>
            <a:pPr algn="l" indent="0" marL="0">
              <a:lnSpc>
                <a:spcPts val="9900"/>
              </a:lnSpc>
              <a:buNone/>
            </a:pPr>
            <a:r>
              <a:rPr lang="en-US" sz="11000" spc="-440" kern="0" dirty="0">
                <a:solidFill>
                  <a:srgbClr val="F2F6FD"/>
                </a:solidFill>
                <a:latin typeface="Poppins SemiBold" pitchFamily="34" charset="0"/>
                <a:ea typeface="Poppins SemiBold" pitchFamily="34" charset="-122"/>
                <a:cs typeface="Poppins SemiBold" pitchFamily="34" charset="-120"/>
              </a:rPr>
              <a:t>06</a:t>
            </a:r>
            <a:endParaRPr lang="en-US" sz="11000" dirty="0"/>
          </a:p>
        </p:txBody>
      </p:sp>
      <p:sp>
        <p:nvSpPr>
          <p:cNvPr id="3" name="Text"/>
          <p:cNvSpPr txBox="1"/>
          <p:nvPr/>
        </p:nvSpPr>
        <p:spPr>
          <a:xfrm>
            <a:off x="711220" y="4229100"/>
            <a:ext cx="8889980" cy="1280160"/>
          </a:xfrm>
          <a:prstGeom prst="rect">
            <a:avLst/>
          </a:prstGeom>
          <a:noFill/>
          <a:ln/>
        </p:spPr>
        <p:txBody>
          <a:bodyPr wrap="square" lIns="0" tIns="0" rIns="0" bIns="0" rtlCol="0" anchor="t"/>
          <a:lstStyle/>
          <a:p>
            <a:pPr algn="l" indent="0" marL="0">
              <a:lnSpc>
                <a:spcPts val="5040"/>
              </a:lnSpc>
              <a:buNone/>
            </a:pPr>
            <a:r>
              <a:rPr lang="en-US" sz="4800" spc="-120" kern="0" dirty="0">
                <a:solidFill>
                  <a:srgbClr val="FFFFFF"/>
                </a:solidFill>
                <a:latin typeface="Poppins SemiBold" pitchFamily="34" charset="0"/>
                <a:ea typeface="Poppins SemiBold" pitchFamily="34" charset="-122"/>
                <a:cs typeface="Poppins SemiBold" pitchFamily="34" charset="-120"/>
              </a:rPr>
              <a:t>One team, from business</a:t>
            </a:r>
            <a:endParaRPr lang="en-US" sz="4800" dirty="0"/>
          </a:p>
          <a:p>
            <a:pPr algn="l" indent="0" marL="0">
              <a:lnSpc>
                <a:spcPts val="5040"/>
              </a:lnSpc>
              <a:buNone/>
            </a:pPr>
            <a:r>
              <a:rPr lang="en-US" sz="4800" spc="-120" kern="0" dirty="0">
                <a:solidFill>
                  <a:srgbClr val="FFFFFF"/>
                </a:solidFill>
                <a:latin typeface="Poppins SemiBold" pitchFamily="34" charset="0"/>
                <a:ea typeface="Poppins SemiBold" pitchFamily="34" charset="-122"/>
                <a:cs typeface="Poppins SemiBold" pitchFamily="34" charset="-120"/>
              </a:rPr>
              <a:t>case to production</a:t>
            </a:r>
            <a:endParaRPr lang="en-US" sz="4800" dirty="0"/>
          </a:p>
        </p:txBody>
      </p:sp>
      <p:sp>
        <p:nvSpPr>
          <p:cNvPr id="4" name="Text"/>
          <p:cNvSpPr txBox="1"/>
          <p:nvPr/>
        </p:nvSpPr>
        <p:spPr>
          <a:xfrm>
            <a:off x="711220" y="5738774"/>
            <a:ext cx="7153168" cy="276240"/>
          </a:xfrm>
          <a:prstGeom prst="rect">
            <a:avLst/>
          </a:prstGeom>
          <a:noFill/>
          <a:ln/>
        </p:spPr>
        <p:txBody>
          <a:bodyPr wrap="square" lIns="0" tIns="0" rIns="0" bIns="0" rtlCol="0" anchor="t"/>
          <a:lstStyle/>
          <a:p>
            <a:pPr algn="l" indent="0" marL="0">
              <a:lnSpc>
                <a:spcPts val="2175"/>
              </a:lnSpc>
              <a:buNone/>
            </a:pPr>
            <a:r>
              <a:rPr lang="en-US" sz="1450" dirty="0">
                <a:solidFill>
                  <a:srgbClr val="E1E9FA"/>
                </a:solidFill>
                <a:latin typeface="Poppins Light" pitchFamily="34" charset="0"/>
                <a:ea typeface="Poppins Light" pitchFamily="34" charset="-122"/>
                <a:cs typeface="Poppins Light" pitchFamily="34" charset="-120"/>
              </a:rPr>
              <a:t>How our model differs, and how a first message turns into a plan.</a:t>
            </a:r>
            <a:endParaRPr lang="en-US" sz="14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badge"/>
          <p:cNvSpPr/>
          <p:nvPr/>
        </p:nvSpPr>
        <p:spPr>
          <a:xfrm>
            <a:off x="714421" y="536570"/>
            <a:ext cx="949879" cy="254020"/>
          </a:xfrm>
          <a:prstGeom prst="roundRect">
            <a:avLst>
              <a:gd name="adj" fmla="val 50000"/>
            </a:avLst>
          </a:prstGeom>
          <a:ln w="6350">
            <a:solidFill>
              <a:srgbClr val="155DFC"/>
            </a:solidFill>
            <a:prstDash val="solid"/>
          </a:ln>
        </p:spPr>
      </p:sp>
      <p:sp>
        <p:nvSpPr>
          <p:cNvPr id="3" name="Rule"/>
          <p:cNvSpPr/>
          <p:nvPr/>
        </p:nvSpPr>
        <p:spPr>
          <a:xfrm>
            <a:off x="711220" y="2319193"/>
            <a:ext cx="355610" cy="0"/>
          </a:xfrm>
          <a:prstGeom prst="line">
            <a:avLst/>
          </a:prstGeom>
          <a:noFill/>
          <a:ln w="6350">
            <a:solidFill>
              <a:srgbClr val="E3E6EC"/>
            </a:solidFill>
            <a:prstDash val="solid"/>
          </a:ln>
        </p:spPr>
      </p:sp>
      <p:sp>
        <p:nvSpPr>
          <p:cNvPr id="4" name="Rule"/>
          <p:cNvSpPr/>
          <p:nvPr/>
        </p:nvSpPr>
        <p:spPr>
          <a:xfrm>
            <a:off x="1066830" y="2319193"/>
            <a:ext cx="2730490" cy="0"/>
          </a:xfrm>
          <a:prstGeom prst="line">
            <a:avLst/>
          </a:prstGeom>
          <a:noFill/>
          <a:ln w="6350">
            <a:solidFill>
              <a:srgbClr val="E3E6EC"/>
            </a:solidFill>
            <a:prstDash val="solid"/>
          </a:ln>
        </p:spPr>
      </p:sp>
      <p:sp>
        <p:nvSpPr>
          <p:cNvPr id="5" name="Rule"/>
          <p:cNvSpPr/>
          <p:nvPr/>
        </p:nvSpPr>
        <p:spPr>
          <a:xfrm>
            <a:off x="3797320" y="2319193"/>
            <a:ext cx="3556010" cy="0"/>
          </a:xfrm>
          <a:prstGeom prst="line">
            <a:avLst/>
          </a:prstGeom>
          <a:noFill/>
          <a:ln w="6350">
            <a:solidFill>
              <a:srgbClr val="E3E6EC"/>
            </a:solidFill>
            <a:prstDash val="solid"/>
          </a:ln>
        </p:spPr>
      </p:sp>
      <p:sp>
        <p:nvSpPr>
          <p:cNvPr id="6" name="Rule"/>
          <p:cNvSpPr/>
          <p:nvPr/>
        </p:nvSpPr>
        <p:spPr>
          <a:xfrm>
            <a:off x="7353330" y="2319193"/>
            <a:ext cx="4127510" cy="0"/>
          </a:xfrm>
          <a:prstGeom prst="line">
            <a:avLst/>
          </a:prstGeom>
          <a:noFill/>
          <a:ln w="6350">
            <a:solidFill>
              <a:srgbClr val="E3E6EC"/>
            </a:solidFill>
            <a:prstDash val="solid"/>
          </a:ln>
        </p:spPr>
      </p:sp>
      <p:sp>
        <p:nvSpPr>
          <p:cNvPr id="7" name="Rule"/>
          <p:cNvSpPr/>
          <p:nvPr/>
        </p:nvSpPr>
        <p:spPr>
          <a:xfrm>
            <a:off x="711220" y="2722077"/>
            <a:ext cx="355610" cy="0"/>
          </a:xfrm>
          <a:prstGeom prst="line">
            <a:avLst/>
          </a:prstGeom>
          <a:noFill/>
          <a:ln w="6350">
            <a:solidFill>
              <a:srgbClr val="E3E6EC"/>
            </a:solidFill>
            <a:prstDash val="solid"/>
          </a:ln>
        </p:spPr>
      </p:sp>
      <p:sp>
        <p:nvSpPr>
          <p:cNvPr id="8" name="Rule"/>
          <p:cNvSpPr/>
          <p:nvPr/>
        </p:nvSpPr>
        <p:spPr>
          <a:xfrm>
            <a:off x="1066830" y="2722077"/>
            <a:ext cx="2730490" cy="0"/>
          </a:xfrm>
          <a:prstGeom prst="line">
            <a:avLst/>
          </a:prstGeom>
          <a:noFill/>
          <a:ln w="6350">
            <a:solidFill>
              <a:srgbClr val="E3E6EC"/>
            </a:solidFill>
            <a:prstDash val="solid"/>
          </a:ln>
        </p:spPr>
      </p:sp>
      <p:sp>
        <p:nvSpPr>
          <p:cNvPr id="9" name="us"/>
          <p:cNvSpPr/>
          <p:nvPr/>
        </p:nvSpPr>
        <p:spPr>
          <a:xfrm>
            <a:off x="3797320" y="2322393"/>
            <a:ext cx="3556010" cy="402793"/>
          </a:xfrm>
          <a:prstGeom prst="rect">
            <a:avLst/>
          </a:prstGeom>
          <a:solidFill>
            <a:srgbClr val="044BD9">
              <a:alpha val="8000"/>
            </a:srgbClr>
          </a:solidFill>
          <a:ln/>
        </p:spPr>
      </p:sp>
      <p:sp>
        <p:nvSpPr>
          <p:cNvPr id="10" name="Rule"/>
          <p:cNvSpPr/>
          <p:nvPr/>
        </p:nvSpPr>
        <p:spPr>
          <a:xfrm>
            <a:off x="3797320" y="2722077"/>
            <a:ext cx="3556010" cy="0"/>
          </a:xfrm>
          <a:prstGeom prst="line">
            <a:avLst/>
          </a:prstGeom>
          <a:noFill/>
          <a:ln w="6350">
            <a:solidFill>
              <a:srgbClr val="E3E6EC"/>
            </a:solidFill>
            <a:prstDash val="solid"/>
          </a:ln>
        </p:spPr>
      </p:sp>
      <p:sp>
        <p:nvSpPr>
          <p:cNvPr id="11" name="Rule"/>
          <p:cNvSpPr/>
          <p:nvPr/>
        </p:nvSpPr>
        <p:spPr>
          <a:xfrm>
            <a:off x="7353330" y="2722077"/>
            <a:ext cx="4127510" cy="0"/>
          </a:xfrm>
          <a:prstGeom prst="line">
            <a:avLst/>
          </a:prstGeom>
          <a:noFill/>
          <a:ln w="6350">
            <a:solidFill>
              <a:srgbClr val="E3E6EC"/>
            </a:solidFill>
            <a:prstDash val="solid"/>
          </a:ln>
        </p:spPr>
      </p:sp>
      <p:sp>
        <p:nvSpPr>
          <p:cNvPr id="12" name="Rule"/>
          <p:cNvSpPr/>
          <p:nvPr/>
        </p:nvSpPr>
        <p:spPr>
          <a:xfrm>
            <a:off x="711220" y="3124871"/>
            <a:ext cx="355610" cy="0"/>
          </a:xfrm>
          <a:prstGeom prst="line">
            <a:avLst/>
          </a:prstGeom>
          <a:noFill/>
          <a:ln w="6350">
            <a:solidFill>
              <a:srgbClr val="E3E6EC"/>
            </a:solidFill>
            <a:prstDash val="solid"/>
          </a:ln>
        </p:spPr>
      </p:sp>
      <p:sp>
        <p:nvSpPr>
          <p:cNvPr id="13" name="Rule"/>
          <p:cNvSpPr/>
          <p:nvPr/>
        </p:nvSpPr>
        <p:spPr>
          <a:xfrm>
            <a:off x="1066830" y="3124871"/>
            <a:ext cx="2730490" cy="0"/>
          </a:xfrm>
          <a:prstGeom prst="line">
            <a:avLst/>
          </a:prstGeom>
          <a:noFill/>
          <a:ln w="6350">
            <a:solidFill>
              <a:srgbClr val="E3E6EC"/>
            </a:solidFill>
            <a:prstDash val="solid"/>
          </a:ln>
        </p:spPr>
      </p:sp>
      <p:sp>
        <p:nvSpPr>
          <p:cNvPr id="14" name="us"/>
          <p:cNvSpPr/>
          <p:nvPr/>
        </p:nvSpPr>
        <p:spPr>
          <a:xfrm>
            <a:off x="3797320" y="2725278"/>
            <a:ext cx="3556010" cy="402793"/>
          </a:xfrm>
          <a:prstGeom prst="rect">
            <a:avLst/>
          </a:prstGeom>
          <a:solidFill>
            <a:srgbClr val="044BD9">
              <a:alpha val="8000"/>
            </a:srgbClr>
          </a:solidFill>
          <a:ln/>
        </p:spPr>
      </p:sp>
      <p:sp>
        <p:nvSpPr>
          <p:cNvPr id="15" name="Rule"/>
          <p:cNvSpPr/>
          <p:nvPr/>
        </p:nvSpPr>
        <p:spPr>
          <a:xfrm>
            <a:off x="3797320" y="3124871"/>
            <a:ext cx="3556010" cy="0"/>
          </a:xfrm>
          <a:prstGeom prst="line">
            <a:avLst/>
          </a:prstGeom>
          <a:noFill/>
          <a:ln w="6350">
            <a:solidFill>
              <a:srgbClr val="E3E6EC"/>
            </a:solidFill>
            <a:prstDash val="solid"/>
          </a:ln>
        </p:spPr>
      </p:sp>
      <p:sp>
        <p:nvSpPr>
          <p:cNvPr id="16" name="Rule"/>
          <p:cNvSpPr/>
          <p:nvPr/>
        </p:nvSpPr>
        <p:spPr>
          <a:xfrm>
            <a:off x="7353330" y="3124871"/>
            <a:ext cx="4127510" cy="0"/>
          </a:xfrm>
          <a:prstGeom prst="line">
            <a:avLst/>
          </a:prstGeom>
          <a:noFill/>
          <a:ln w="6350">
            <a:solidFill>
              <a:srgbClr val="E3E6EC"/>
            </a:solidFill>
            <a:prstDash val="solid"/>
          </a:ln>
        </p:spPr>
      </p:sp>
      <p:sp>
        <p:nvSpPr>
          <p:cNvPr id="17" name="Rule"/>
          <p:cNvSpPr/>
          <p:nvPr/>
        </p:nvSpPr>
        <p:spPr>
          <a:xfrm>
            <a:off x="711220" y="3527755"/>
            <a:ext cx="355610" cy="0"/>
          </a:xfrm>
          <a:prstGeom prst="line">
            <a:avLst/>
          </a:prstGeom>
          <a:noFill/>
          <a:ln w="6350">
            <a:solidFill>
              <a:srgbClr val="E3E6EC"/>
            </a:solidFill>
            <a:prstDash val="solid"/>
          </a:ln>
        </p:spPr>
      </p:sp>
      <p:sp>
        <p:nvSpPr>
          <p:cNvPr id="18" name="Rule"/>
          <p:cNvSpPr/>
          <p:nvPr/>
        </p:nvSpPr>
        <p:spPr>
          <a:xfrm>
            <a:off x="1066830" y="3527755"/>
            <a:ext cx="2730490" cy="0"/>
          </a:xfrm>
          <a:prstGeom prst="line">
            <a:avLst/>
          </a:prstGeom>
          <a:noFill/>
          <a:ln w="6350">
            <a:solidFill>
              <a:srgbClr val="E3E6EC"/>
            </a:solidFill>
            <a:prstDash val="solid"/>
          </a:ln>
        </p:spPr>
      </p:sp>
      <p:sp>
        <p:nvSpPr>
          <p:cNvPr id="19" name="us"/>
          <p:cNvSpPr/>
          <p:nvPr/>
        </p:nvSpPr>
        <p:spPr>
          <a:xfrm>
            <a:off x="3797320" y="3128071"/>
            <a:ext cx="3556010" cy="402793"/>
          </a:xfrm>
          <a:prstGeom prst="rect">
            <a:avLst/>
          </a:prstGeom>
          <a:solidFill>
            <a:srgbClr val="044BD9">
              <a:alpha val="8000"/>
            </a:srgbClr>
          </a:solidFill>
          <a:ln/>
        </p:spPr>
      </p:sp>
      <p:sp>
        <p:nvSpPr>
          <p:cNvPr id="20" name="Rule"/>
          <p:cNvSpPr/>
          <p:nvPr/>
        </p:nvSpPr>
        <p:spPr>
          <a:xfrm>
            <a:off x="3797320" y="3527755"/>
            <a:ext cx="3556010" cy="0"/>
          </a:xfrm>
          <a:prstGeom prst="line">
            <a:avLst/>
          </a:prstGeom>
          <a:noFill/>
          <a:ln w="6350">
            <a:solidFill>
              <a:srgbClr val="E3E6EC"/>
            </a:solidFill>
            <a:prstDash val="solid"/>
          </a:ln>
        </p:spPr>
      </p:sp>
      <p:sp>
        <p:nvSpPr>
          <p:cNvPr id="21" name="Rule"/>
          <p:cNvSpPr/>
          <p:nvPr/>
        </p:nvSpPr>
        <p:spPr>
          <a:xfrm>
            <a:off x="7353330" y="3527755"/>
            <a:ext cx="4127510" cy="0"/>
          </a:xfrm>
          <a:prstGeom prst="line">
            <a:avLst/>
          </a:prstGeom>
          <a:noFill/>
          <a:ln w="6350">
            <a:solidFill>
              <a:srgbClr val="E3E6EC"/>
            </a:solidFill>
            <a:prstDash val="solid"/>
          </a:ln>
        </p:spPr>
      </p:sp>
      <p:sp>
        <p:nvSpPr>
          <p:cNvPr id="22" name="Rule"/>
          <p:cNvSpPr/>
          <p:nvPr/>
        </p:nvSpPr>
        <p:spPr>
          <a:xfrm>
            <a:off x="711220" y="4123853"/>
            <a:ext cx="355610" cy="0"/>
          </a:xfrm>
          <a:prstGeom prst="line">
            <a:avLst/>
          </a:prstGeom>
          <a:noFill/>
          <a:ln w="6350">
            <a:solidFill>
              <a:srgbClr val="E3E6EC"/>
            </a:solidFill>
            <a:prstDash val="solid"/>
          </a:ln>
        </p:spPr>
      </p:sp>
      <p:sp>
        <p:nvSpPr>
          <p:cNvPr id="23" name="Rule"/>
          <p:cNvSpPr/>
          <p:nvPr/>
        </p:nvSpPr>
        <p:spPr>
          <a:xfrm>
            <a:off x="1066830" y="4123853"/>
            <a:ext cx="2730490" cy="0"/>
          </a:xfrm>
          <a:prstGeom prst="line">
            <a:avLst/>
          </a:prstGeom>
          <a:noFill/>
          <a:ln w="6350">
            <a:solidFill>
              <a:srgbClr val="E3E6EC"/>
            </a:solidFill>
            <a:prstDash val="solid"/>
          </a:ln>
        </p:spPr>
      </p:sp>
      <p:sp>
        <p:nvSpPr>
          <p:cNvPr id="24" name="us"/>
          <p:cNvSpPr/>
          <p:nvPr/>
        </p:nvSpPr>
        <p:spPr>
          <a:xfrm>
            <a:off x="3797320" y="3530864"/>
            <a:ext cx="3556010" cy="596097"/>
          </a:xfrm>
          <a:prstGeom prst="rect">
            <a:avLst/>
          </a:prstGeom>
          <a:solidFill>
            <a:srgbClr val="044BD9">
              <a:alpha val="8000"/>
            </a:srgbClr>
          </a:solidFill>
          <a:ln/>
        </p:spPr>
      </p:sp>
      <p:sp>
        <p:nvSpPr>
          <p:cNvPr id="25" name="Rule"/>
          <p:cNvSpPr/>
          <p:nvPr/>
        </p:nvSpPr>
        <p:spPr>
          <a:xfrm>
            <a:off x="3797320" y="4123853"/>
            <a:ext cx="3556010" cy="0"/>
          </a:xfrm>
          <a:prstGeom prst="line">
            <a:avLst/>
          </a:prstGeom>
          <a:noFill/>
          <a:ln w="6350">
            <a:solidFill>
              <a:srgbClr val="E3E6EC"/>
            </a:solidFill>
            <a:prstDash val="solid"/>
          </a:ln>
        </p:spPr>
      </p:sp>
      <p:sp>
        <p:nvSpPr>
          <p:cNvPr id="26" name="Rule"/>
          <p:cNvSpPr/>
          <p:nvPr/>
        </p:nvSpPr>
        <p:spPr>
          <a:xfrm>
            <a:off x="7353330" y="4123853"/>
            <a:ext cx="4127510" cy="0"/>
          </a:xfrm>
          <a:prstGeom prst="line">
            <a:avLst/>
          </a:prstGeom>
          <a:noFill/>
          <a:ln w="6350">
            <a:solidFill>
              <a:srgbClr val="E3E6EC"/>
            </a:solidFill>
            <a:prstDash val="solid"/>
          </a:ln>
        </p:spPr>
      </p:sp>
      <p:sp>
        <p:nvSpPr>
          <p:cNvPr id="27" name="Rule"/>
          <p:cNvSpPr/>
          <p:nvPr/>
        </p:nvSpPr>
        <p:spPr>
          <a:xfrm>
            <a:off x="711220" y="4719950"/>
            <a:ext cx="355610" cy="0"/>
          </a:xfrm>
          <a:prstGeom prst="line">
            <a:avLst/>
          </a:prstGeom>
          <a:noFill/>
          <a:ln w="6350">
            <a:solidFill>
              <a:srgbClr val="E3E6EC"/>
            </a:solidFill>
            <a:prstDash val="solid"/>
          </a:ln>
        </p:spPr>
      </p:sp>
      <p:sp>
        <p:nvSpPr>
          <p:cNvPr id="28" name="Rule"/>
          <p:cNvSpPr/>
          <p:nvPr/>
        </p:nvSpPr>
        <p:spPr>
          <a:xfrm>
            <a:off x="1066830" y="4719950"/>
            <a:ext cx="2730490" cy="0"/>
          </a:xfrm>
          <a:prstGeom prst="line">
            <a:avLst/>
          </a:prstGeom>
          <a:noFill/>
          <a:ln w="6350">
            <a:solidFill>
              <a:srgbClr val="E3E6EC"/>
            </a:solidFill>
            <a:prstDash val="solid"/>
          </a:ln>
        </p:spPr>
      </p:sp>
      <p:sp>
        <p:nvSpPr>
          <p:cNvPr id="29" name="us"/>
          <p:cNvSpPr/>
          <p:nvPr/>
        </p:nvSpPr>
        <p:spPr>
          <a:xfrm>
            <a:off x="3797320" y="4126962"/>
            <a:ext cx="3556010" cy="596097"/>
          </a:xfrm>
          <a:prstGeom prst="rect">
            <a:avLst/>
          </a:prstGeom>
          <a:solidFill>
            <a:srgbClr val="044BD9">
              <a:alpha val="8000"/>
            </a:srgbClr>
          </a:solidFill>
          <a:ln/>
        </p:spPr>
      </p:sp>
      <p:sp>
        <p:nvSpPr>
          <p:cNvPr id="30" name="Rule"/>
          <p:cNvSpPr/>
          <p:nvPr/>
        </p:nvSpPr>
        <p:spPr>
          <a:xfrm>
            <a:off x="3797320" y="4719950"/>
            <a:ext cx="3556010" cy="0"/>
          </a:xfrm>
          <a:prstGeom prst="line">
            <a:avLst/>
          </a:prstGeom>
          <a:noFill/>
          <a:ln w="6350">
            <a:solidFill>
              <a:srgbClr val="E3E6EC"/>
            </a:solidFill>
            <a:prstDash val="solid"/>
          </a:ln>
        </p:spPr>
      </p:sp>
      <p:sp>
        <p:nvSpPr>
          <p:cNvPr id="31" name="Rule"/>
          <p:cNvSpPr/>
          <p:nvPr/>
        </p:nvSpPr>
        <p:spPr>
          <a:xfrm>
            <a:off x="7353330" y="4719950"/>
            <a:ext cx="4127510" cy="0"/>
          </a:xfrm>
          <a:prstGeom prst="line">
            <a:avLst/>
          </a:prstGeom>
          <a:noFill/>
          <a:ln w="6350">
            <a:solidFill>
              <a:srgbClr val="E3E6EC"/>
            </a:solidFill>
            <a:prstDash val="solid"/>
          </a:ln>
        </p:spPr>
      </p:sp>
      <p:sp>
        <p:nvSpPr>
          <p:cNvPr id="32" name="Rule"/>
          <p:cNvSpPr/>
          <p:nvPr/>
        </p:nvSpPr>
        <p:spPr>
          <a:xfrm>
            <a:off x="711220" y="5122743"/>
            <a:ext cx="355610" cy="0"/>
          </a:xfrm>
          <a:prstGeom prst="line">
            <a:avLst/>
          </a:prstGeom>
          <a:noFill/>
          <a:ln w="6350">
            <a:solidFill>
              <a:srgbClr val="E3E6EC"/>
            </a:solidFill>
            <a:prstDash val="solid"/>
          </a:ln>
        </p:spPr>
      </p:sp>
      <p:sp>
        <p:nvSpPr>
          <p:cNvPr id="33" name="Rule"/>
          <p:cNvSpPr/>
          <p:nvPr/>
        </p:nvSpPr>
        <p:spPr>
          <a:xfrm>
            <a:off x="1066830" y="5122743"/>
            <a:ext cx="2730490" cy="0"/>
          </a:xfrm>
          <a:prstGeom prst="line">
            <a:avLst/>
          </a:prstGeom>
          <a:noFill/>
          <a:ln w="6350">
            <a:solidFill>
              <a:srgbClr val="E3E6EC"/>
            </a:solidFill>
            <a:prstDash val="solid"/>
          </a:ln>
        </p:spPr>
      </p:sp>
      <p:sp>
        <p:nvSpPr>
          <p:cNvPr id="34" name="us"/>
          <p:cNvSpPr/>
          <p:nvPr/>
        </p:nvSpPr>
        <p:spPr>
          <a:xfrm>
            <a:off x="3797320" y="4723150"/>
            <a:ext cx="3556010" cy="402793"/>
          </a:xfrm>
          <a:prstGeom prst="rect">
            <a:avLst/>
          </a:prstGeom>
          <a:solidFill>
            <a:srgbClr val="044BD9">
              <a:alpha val="8000"/>
            </a:srgbClr>
          </a:solidFill>
          <a:ln/>
        </p:spPr>
      </p:sp>
      <p:sp>
        <p:nvSpPr>
          <p:cNvPr id="35" name="Rule"/>
          <p:cNvSpPr/>
          <p:nvPr/>
        </p:nvSpPr>
        <p:spPr>
          <a:xfrm>
            <a:off x="3797320" y="5122743"/>
            <a:ext cx="3556010" cy="0"/>
          </a:xfrm>
          <a:prstGeom prst="line">
            <a:avLst/>
          </a:prstGeom>
          <a:noFill/>
          <a:ln w="6350">
            <a:solidFill>
              <a:srgbClr val="E3E6EC"/>
            </a:solidFill>
            <a:prstDash val="solid"/>
          </a:ln>
        </p:spPr>
      </p:sp>
      <p:sp>
        <p:nvSpPr>
          <p:cNvPr id="36" name="Rule"/>
          <p:cNvSpPr/>
          <p:nvPr/>
        </p:nvSpPr>
        <p:spPr>
          <a:xfrm>
            <a:off x="7353330" y="5122743"/>
            <a:ext cx="4127510" cy="0"/>
          </a:xfrm>
          <a:prstGeom prst="line">
            <a:avLst/>
          </a:prstGeom>
          <a:noFill/>
          <a:ln w="6350">
            <a:solidFill>
              <a:srgbClr val="E3E6EC"/>
            </a:solidFill>
            <a:prstDash val="solid"/>
          </a:ln>
        </p:spPr>
      </p:sp>
      <p:sp>
        <p:nvSpPr>
          <p:cNvPr id="37" name="us"/>
          <p:cNvSpPr/>
          <p:nvPr/>
        </p:nvSpPr>
        <p:spPr>
          <a:xfrm>
            <a:off x="3797320" y="5125944"/>
            <a:ext cx="3556010" cy="399684"/>
          </a:xfrm>
          <a:prstGeom prst="rect">
            <a:avLst/>
          </a:prstGeom>
          <a:solidFill>
            <a:srgbClr val="044BD9">
              <a:alpha val="8000"/>
            </a:srgbClr>
          </a:solidFill>
          <a:ln/>
        </p:spPr>
      </p:sp>
      <p:sp>
        <p:nvSpPr>
          <p:cNvPr id="38" name="Rule"/>
          <p:cNvSpPr/>
          <p:nvPr/>
        </p:nvSpPr>
        <p:spPr>
          <a:xfrm>
            <a:off x="711220" y="5732008"/>
            <a:ext cx="10769620" cy="0"/>
          </a:xfrm>
          <a:prstGeom prst="line">
            <a:avLst/>
          </a:prstGeom>
          <a:noFill/>
          <a:ln w="6350">
            <a:solidFill>
              <a:srgbClr val="E3E6EC"/>
            </a:solidFill>
            <a:prstDash val="solid"/>
          </a:ln>
        </p:spPr>
      </p:sp>
      <p:sp>
        <p:nvSpPr>
          <p:cNvPr id="39" name="span::before"/>
          <p:cNvSpPr/>
          <p:nvPr/>
        </p:nvSpPr>
        <p:spPr>
          <a:xfrm>
            <a:off x="6191860" y="311170"/>
            <a:ext cx="44440" cy="44440"/>
          </a:xfrm>
          <a:prstGeom prst="rect">
            <a:avLst/>
          </a:prstGeom>
          <a:solidFill>
            <a:srgbClr val="A0A6AF">
              <a:alpha val="55000"/>
            </a:srgbClr>
          </a:solidFill>
          <a:ln/>
        </p:spPr>
      </p:sp>
      <p:sp>
        <p:nvSpPr>
          <p:cNvPr id="40" name="span::before"/>
          <p:cNvSpPr/>
          <p:nvPr/>
        </p:nvSpPr>
        <p:spPr>
          <a:xfrm>
            <a:off x="7145213" y="311170"/>
            <a:ext cx="44440" cy="44440"/>
          </a:xfrm>
          <a:prstGeom prst="rect">
            <a:avLst/>
          </a:prstGeom>
          <a:solidFill>
            <a:srgbClr val="A0A6AF">
              <a:alpha val="55000"/>
            </a:srgbClr>
          </a:solidFill>
          <a:ln/>
        </p:spPr>
      </p:sp>
      <p:sp>
        <p:nvSpPr>
          <p:cNvPr id="41" name="span::before"/>
          <p:cNvSpPr/>
          <p:nvPr/>
        </p:nvSpPr>
        <p:spPr>
          <a:xfrm>
            <a:off x="8056230" y="311170"/>
            <a:ext cx="44440" cy="44440"/>
          </a:xfrm>
          <a:prstGeom prst="rect">
            <a:avLst/>
          </a:prstGeom>
          <a:solidFill>
            <a:srgbClr val="A0A6AF">
              <a:alpha val="55000"/>
            </a:srgbClr>
          </a:solidFill>
          <a:ln/>
        </p:spPr>
      </p:sp>
      <p:sp>
        <p:nvSpPr>
          <p:cNvPr id="42" name="span::before"/>
          <p:cNvSpPr/>
          <p:nvPr/>
        </p:nvSpPr>
        <p:spPr>
          <a:xfrm>
            <a:off x="8972550" y="311170"/>
            <a:ext cx="44440" cy="44440"/>
          </a:xfrm>
          <a:prstGeom prst="rect">
            <a:avLst/>
          </a:prstGeom>
          <a:solidFill>
            <a:srgbClr val="A0A6AF">
              <a:alpha val="55000"/>
            </a:srgbClr>
          </a:solidFill>
          <a:ln/>
        </p:spPr>
      </p:sp>
      <p:sp>
        <p:nvSpPr>
          <p:cNvPr id="43" name="span::before"/>
          <p:cNvSpPr/>
          <p:nvPr/>
        </p:nvSpPr>
        <p:spPr>
          <a:xfrm>
            <a:off x="10421142" y="311170"/>
            <a:ext cx="44440" cy="44440"/>
          </a:xfrm>
          <a:prstGeom prst="rect">
            <a:avLst/>
          </a:prstGeom>
          <a:solidFill>
            <a:srgbClr val="A0A6AF">
              <a:alpha val="55000"/>
            </a:srgbClr>
          </a:solidFill>
          <a:ln/>
        </p:spPr>
      </p:sp>
      <p:sp>
        <p:nvSpPr>
          <p:cNvPr id="44" name="on::before"/>
          <p:cNvSpPr/>
          <p:nvPr/>
        </p:nvSpPr>
        <p:spPr>
          <a:xfrm>
            <a:off x="10966216" y="311170"/>
            <a:ext cx="44440" cy="44440"/>
          </a:xfrm>
          <a:prstGeom prst="rect">
            <a:avLst/>
          </a:prstGeom>
          <a:solidFill>
            <a:srgbClr val="044BD9"/>
          </a:solidFill>
          <a:ln/>
        </p:spPr>
      </p:sp>
      <p:sp>
        <p:nvSpPr>
          <p:cNvPr id="45" name="Text"/>
          <p:cNvSpPr txBox="1"/>
          <p:nvPr/>
        </p:nvSpPr>
        <p:spPr>
          <a:xfrm>
            <a:off x="844540" y="603230"/>
            <a:ext cx="714969" cy="120609"/>
          </a:xfrm>
          <a:prstGeom prst="rect">
            <a:avLst/>
          </a:prstGeom>
          <a:noFill/>
          <a:ln/>
        </p:spPr>
        <p:txBody>
          <a:bodyPr wrap="none" lIns="0" tIns="0" rIns="0" bIns="0" rtlCol="0" anchor="t"/>
          <a:lstStyle/>
          <a:p>
            <a:pPr algn="l" indent="0" marL="0">
              <a:lnSpc>
                <a:spcPts val="950"/>
              </a:lnSpc>
              <a:buNone/>
            </a:pPr>
            <a:r>
              <a:rPr lang="en-US" sz="950" spc="10" kern="0" dirty="0">
                <a:solidFill>
                  <a:srgbClr val="155DFC"/>
                </a:solidFill>
                <a:latin typeface="Poppins Medium" pitchFamily="34" charset="0"/>
                <a:ea typeface="Poppins Medium" pitchFamily="34" charset="-122"/>
                <a:cs typeface="Poppins Medium" pitchFamily="34" charset="-120"/>
              </a:rPr>
              <a:t>Why ALPHV</a:t>
            </a:r>
            <a:endParaRPr lang="en-US" sz="950" dirty="0"/>
          </a:p>
        </p:txBody>
      </p:sp>
      <p:sp>
        <p:nvSpPr>
          <p:cNvPr id="46" name="Title"/>
          <p:cNvSpPr txBox="1"/>
          <p:nvPr/>
        </p:nvSpPr>
        <p:spPr>
          <a:xfrm>
            <a:off x="711220" y="927750"/>
            <a:ext cx="9398020" cy="861090"/>
          </a:xfrm>
          <a:prstGeom prst="rect">
            <a:avLst/>
          </a:prstGeom>
          <a:noFill/>
          <a:ln/>
        </p:spPr>
        <p:txBody>
          <a:bodyPr wrap="square" lIns="0" tIns="0" rIns="0" bIns="0" rtlCol="0" anchor="t"/>
          <a:lstStyle/>
          <a:p>
            <a:pPr algn="l" indent="0" marL="0">
              <a:lnSpc>
                <a:spcPts val="3390"/>
              </a:lnSpc>
              <a:buNone/>
            </a:pPr>
            <a:r>
              <a:rPr lang="en-US" sz="3000" spc="-45" kern="0" dirty="0">
                <a:solidFill>
                  <a:srgbClr val="000000"/>
                </a:solidFill>
                <a:latin typeface="Poppins Medium" pitchFamily="34" charset="0"/>
                <a:ea typeface="Poppins Medium" pitchFamily="34" charset="-122"/>
                <a:cs typeface="Poppins Medium" pitchFamily="34" charset="-120"/>
              </a:rPr>
              <a:t>Seven questions to ask any AI partner,</a:t>
            </a:r>
            <a:endParaRPr lang="en-US" sz="3000" dirty="0"/>
          </a:p>
          <a:p>
            <a:pPr algn="l" indent="0" marL="0">
              <a:lnSpc>
                <a:spcPts val="3390"/>
              </a:lnSpc>
              <a:buNone/>
            </a:pPr>
            <a:r>
              <a:rPr lang="en-US" sz="3000" spc="-45" kern="0" dirty="0">
                <a:solidFill>
                  <a:srgbClr val="000000"/>
                </a:solidFill>
                <a:latin typeface="Poppins Medium" pitchFamily="34" charset="0"/>
                <a:ea typeface="Poppins Medium" pitchFamily="34" charset="-122"/>
                <a:cs typeface="Poppins Medium" pitchFamily="34" charset="-120"/>
              </a:rPr>
              <a:t>and how ALPHV answers them</a:t>
            </a:r>
            <a:endParaRPr lang="en-US" sz="3000" dirty="0"/>
          </a:p>
        </p:txBody>
      </p:sp>
      <p:sp>
        <p:nvSpPr>
          <p:cNvPr id="47" name="Text"/>
          <p:cNvSpPr txBox="1"/>
          <p:nvPr/>
        </p:nvSpPr>
        <p:spPr>
          <a:xfrm>
            <a:off x="1066830" y="2071848"/>
            <a:ext cx="2626614" cy="156545"/>
          </a:xfrm>
          <a:prstGeom prst="rect">
            <a:avLst/>
          </a:prstGeom>
          <a:noFill/>
          <a:ln/>
        </p:spPr>
        <p:txBody>
          <a:bodyPr wrap="square" lIns="0" tIns="0" rIns="0" bIns="0" rtlCol="0" anchor="t"/>
          <a:lstStyle/>
          <a:p>
            <a:pPr algn="l" indent="0" marL="0">
              <a:lnSpc>
                <a:spcPts val="1232"/>
              </a:lnSpc>
              <a:buNone/>
            </a:pPr>
            <a:r>
              <a:rPr lang="en-US" sz="850" spc="17" kern="0" dirty="0">
                <a:solidFill>
                  <a:srgbClr val="6B6B6B"/>
                </a:solidFill>
                <a:latin typeface="Poppins Medium" pitchFamily="34" charset="0"/>
                <a:ea typeface="Poppins Medium" pitchFamily="34" charset="-122"/>
                <a:cs typeface="Poppins Medium" pitchFamily="34" charset="-120"/>
              </a:rPr>
              <a:t>Question to ask</a:t>
            </a:r>
            <a:endParaRPr lang="en-US" sz="850" dirty="0"/>
          </a:p>
        </p:txBody>
      </p:sp>
      <p:sp>
        <p:nvSpPr>
          <p:cNvPr id="48" name="Text"/>
          <p:cNvSpPr txBox="1"/>
          <p:nvPr/>
        </p:nvSpPr>
        <p:spPr>
          <a:xfrm>
            <a:off x="3949659" y="2071848"/>
            <a:ext cx="3302447" cy="156545"/>
          </a:xfrm>
          <a:prstGeom prst="rect">
            <a:avLst/>
          </a:prstGeom>
          <a:noFill/>
          <a:ln/>
        </p:spPr>
        <p:txBody>
          <a:bodyPr wrap="square" lIns="0" tIns="0" rIns="0" bIns="0" rtlCol="0" anchor="t"/>
          <a:lstStyle/>
          <a:p>
            <a:pPr algn="l" indent="0" marL="0">
              <a:lnSpc>
                <a:spcPts val="1232"/>
              </a:lnSpc>
              <a:buNone/>
            </a:pPr>
            <a:r>
              <a:rPr lang="en-US" sz="850" spc="17" kern="0" dirty="0">
                <a:solidFill>
                  <a:srgbClr val="044BD9"/>
                </a:solidFill>
                <a:latin typeface="Poppins Medium" pitchFamily="34" charset="0"/>
                <a:ea typeface="Poppins Medium" pitchFamily="34" charset="-122"/>
                <a:cs typeface="Poppins Medium" pitchFamily="34" charset="-120"/>
              </a:rPr>
              <a:t>ALPHV’s answer</a:t>
            </a:r>
            <a:endParaRPr lang="en-US" sz="850" dirty="0"/>
          </a:p>
        </p:txBody>
      </p:sp>
      <p:sp>
        <p:nvSpPr>
          <p:cNvPr id="49" name="Text"/>
          <p:cNvSpPr txBox="1"/>
          <p:nvPr/>
        </p:nvSpPr>
        <p:spPr>
          <a:xfrm>
            <a:off x="7531090" y="2071848"/>
            <a:ext cx="3850721" cy="156545"/>
          </a:xfrm>
          <a:prstGeom prst="rect">
            <a:avLst/>
          </a:prstGeom>
          <a:noFill/>
          <a:ln/>
        </p:spPr>
        <p:txBody>
          <a:bodyPr wrap="square" lIns="0" tIns="0" rIns="0" bIns="0" rtlCol="0" anchor="t"/>
          <a:lstStyle/>
          <a:p>
            <a:pPr algn="l" indent="0" marL="0">
              <a:lnSpc>
                <a:spcPts val="1232"/>
              </a:lnSpc>
              <a:buNone/>
            </a:pPr>
            <a:r>
              <a:rPr lang="en-US" sz="850" spc="17" kern="0" dirty="0">
                <a:solidFill>
                  <a:srgbClr val="6B6B6B"/>
                </a:solidFill>
                <a:latin typeface="Poppins Medium" pitchFamily="34" charset="0"/>
                <a:ea typeface="Poppins Medium" pitchFamily="34" charset="-122"/>
                <a:cs typeface="Poppins Medium" pitchFamily="34" charset="-120"/>
              </a:rPr>
              <a:t>Evidence</a:t>
            </a:r>
            <a:endParaRPr lang="en-US" sz="850" dirty="0"/>
          </a:p>
        </p:txBody>
      </p:sp>
      <p:sp>
        <p:nvSpPr>
          <p:cNvPr id="50" name="Text"/>
          <p:cNvSpPr txBox="1"/>
          <p:nvPr/>
        </p:nvSpPr>
        <p:spPr>
          <a:xfrm>
            <a:off x="711220" y="2422611"/>
            <a:ext cx="242225" cy="193396"/>
          </a:xfrm>
          <a:prstGeom prst="rect">
            <a:avLst/>
          </a:prstGeom>
          <a:noFill/>
          <a:ln/>
        </p:spPr>
        <p:txBody>
          <a:bodyPr wrap="square" lIns="0" tIns="0" rIns="0" bIns="0" rtlCol="0" anchor="t"/>
          <a:lstStyle/>
          <a:p>
            <a:pPr algn="l" indent="0" marL="0">
              <a:lnSpc>
                <a:spcPts val="1522"/>
              </a:lnSpc>
              <a:buNone/>
            </a:pPr>
            <a:r>
              <a:rPr lang="en-US" sz="1050" dirty="0">
                <a:solidFill>
                  <a:srgbClr val="044BD9"/>
                </a:solidFill>
                <a:latin typeface="Poppins SemiBold" pitchFamily="34" charset="0"/>
                <a:ea typeface="Poppins SemiBold" pitchFamily="34" charset="-122"/>
                <a:cs typeface="Poppins SemiBold" pitchFamily="34" charset="-120"/>
              </a:rPr>
              <a:t>01</a:t>
            </a:r>
            <a:endParaRPr lang="en-US" sz="1050" dirty="0"/>
          </a:p>
        </p:txBody>
      </p:sp>
      <p:sp>
        <p:nvSpPr>
          <p:cNvPr id="51" name="Text"/>
          <p:cNvSpPr txBox="1"/>
          <p:nvPr/>
        </p:nvSpPr>
        <p:spPr>
          <a:xfrm>
            <a:off x="1066830" y="2422611"/>
            <a:ext cx="2626614" cy="193396"/>
          </a:xfrm>
          <a:prstGeom prst="rect">
            <a:avLst/>
          </a:prstGeom>
          <a:noFill/>
          <a:ln/>
        </p:spPr>
        <p:txBody>
          <a:bodyPr wrap="square" lIns="0" tIns="0" rIns="0" bIns="0" rtlCol="0" anchor="t"/>
          <a:lstStyle/>
          <a:p>
            <a:pPr algn="l" indent="0" marL="0">
              <a:lnSpc>
                <a:spcPts val="1522"/>
              </a:lnSpc>
              <a:buNone/>
            </a:pPr>
            <a:r>
              <a:rPr lang="en-US" sz="1050" dirty="0">
                <a:solidFill>
                  <a:srgbClr val="000000"/>
                </a:solidFill>
                <a:latin typeface="Poppins Medium" pitchFamily="34" charset="0"/>
                <a:ea typeface="Poppins Medium" pitchFamily="34" charset="-122"/>
                <a:cs typeface="Poppins Medium" pitchFamily="34" charset="-120"/>
              </a:rPr>
              <a:t>Who builds what you scoped?</a:t>
            </a:r>
            <a:endParaRPr lang="en-US" sz="1050" dirty="0"/>
          </a:p>
        </p:txBody>
      </p:sp>
      <p:sp>
        <p:nvSpPr>
          <p:cNvPr id="52" name="Text"/>
          <p:cNvSpPr txBox="1"/>
          <p:nvPr/>
        </p:nvSpPr>
        <p:spPr>
          <a:xfrm>
            <a:off x="3949659" y="2422611"/>
            <a:ext cx="3327867" cy="193396"/>
          </a:xfrm>
          <a:prstGeom prst="rect">
            <a:avLst/>
          </a:prstGeom>
          <a:noFill/>
          <a:ln/>
        </p:spPr>
        <p:txBody>
          <a:bodyPr wrap="square" lIns="0" tIns="0" rIns="0" bIns="0" rtlCol="0" anchor="t"/>
          <a:lstStyle/>
          <a:p>
            <a:pPr algn="l" indent="0" marL="0">
              <a:lnSpc>
                <a:spcPts val="1522"/>
              </a:lnSpc>
              <a:buNone/>
            </a:pPr>
            <a:r>
              <a:rPr lang="en-US" sz="1050" dirty="0">
                <a:solidFill>
                  <a:srgbClr val="1F2937"/>
                </a:solidFill>
                <a:latin typeface="Poppins Light" pitchFamily="34" charset="0"/>
                <a:ea typeface="Poppins Light" pitchFamily="34" charset="-122"/>
                <a:cs typeface="Poppins Light" pitchFamily="34" charset="-120"/>
              </a:rPr>
              <a:t>The engineers who scope it ship and improve it</a:t>
            </a:r>
            <a:endParaRPr lang="en-US" sz="1050" dirty="0"/>
          </a:p>
        </p:txBody>
      </p:sp>
      <p:sp>
        <p:nvSpPr>
          <p:cNvPr id="53" name="Text"/>
          <p:cNvSpPr txBox="1"/>
          <p:nvPr/>
        </p:nvSpPr>
        <p:spPr>
          <a:xfrm>
            <a:off x="7531090" y="2422611"/>
            <a:ext cx="3978189" cy="193396"/>
          </a:xfrm>
          <a:prstGeom prst="rect">
            <a:avLst/>
          </a:prstGeom>
          <a:noFill/>
          <a:ln/>
        </p:spPr>
        <p:txBody>
          <a:bodyPr wrap="square" lIns="0" tIns="0" rIns="0" bIns="0" rtlCol="0" anchor="t"/>
          <a:lstStyle/>
          <a:p>
            <a:pPr algn="l" indent="0" marL="0">
              <a:lnSpc>
                <a:spcPts val="1522"/>
              </a:lnSpc>
              <a:buNone/>
            </a:pPr>
            <a:r>
              <a:rPr lang="en-US" sz="1050" dirty="0">
                <a:solidFill>
                  <a:srgbClr val="1F2937"/>
                </a:solidFill>
                <a:latin typeface="Poppins Light" pitchFamily="34" charset="0"/>
                <a:ea typeface="Poppins Light" pitchFamily="34" charset="-122"/>
                <a:cs typeface="Poppins Light" pitchFamily="34" charset="-120"/>
              </a:rPr>
              <a:t>A founder-led team of 15+, 100% Malaysian</a:t>
            </a:r>
            <a:endParaRPr lang="en-US" sz="1050" dirty="0"/>
          </a:p>
        </p:txBody>
      </p:sp>
      <p:sp>
        <p:nvSpPr>
          <p:cNvPr id="54" name="Text"/>
          <p:cNvSpPr txBox="1"/>
          <p:nvPr/>
        </p:nvSpPr>
        <p:spPr>
          <a:xfrm>
            <a:off x="711220" y="2825405"/>
            <a:ext cx="242225" cy="193396"/>
          </a:xfrm>
          <a:prstGeom prst="rect">
            <a:avLst/>
          </a:prstGeom>
          <a:noFill/>
          <a:ln/>
        </p:spPr>
        <p:txBody>
          <a:bodyPr wrap="square" lIns="0" tIns="0" rIns="0" bIns="0" rtlCol="0" anchor="t"/>
          <a:lstStyle/>
          <a:p>
            <a:pPr algn="l" indent="0" marL="0">
              <a:lnSpc>
                <a:spcPts val="1522"/>
              </a:lnSpc>
              <a:buNone/>
            </a:pPr>
            <a:r>
              <a:rPr lang="en-US" sz="1050" dirty="0">
                <a:solidFill>
                  <a:srgbClr val="044BD9"/>
                </a:solidFill>
                <a:latin typeface="Poppins SemiBold" pitchFamily="34" charset="0"/>
                <a:ea typeface="Poppins SemiBold" pitchFamily="34" charset="-122"/>
                <a:cs typeface="Poppins SemiBold" pitchFamily="34" charset="-120"/>
              </a:rPr>
              <a:t>02</a:t>
            </a:r>
            <a:endParaRPr lang="en-US" sz="1050" dirty="0"/>
          </a:p>
        </p:txBody>
      </p:sp>
      <p:sp>
        <p:nvSpPr>
          <p:cNvPr id="55" name="Text"/>
          <p:cNvSpPr txBox="1"/>
          <p:nvPr/>
        </p:nvSpPr>
        <p:spPr>
          <a:xfrm>
            <a:off x="1066830" y="2825405"/>
            <a:ext cx="2626614" cy="193396"/>
          </a:xfrm>
          <a:prstGeom prst="rect">
            <a:avLst/>
          </a:prstGeom>
          <a:noFill/>
          <a:ln/>
        </p:spPr>
        <p:txBody>
          <a:bodyPr wrap="square" lIns="0" tIns="0" rIns="0" bIns="0" rtlCol="0" anchor="t"/>
          <a:lstStyle/>
          <a:p>
            <a:pPr algn="l" indent="0" marL="0">
              <a:lnSpc>
                <a:spcPts val="1522"/>
              </a:lnSpc>
              <a:buNone/>
            </a:pPr>
            <a:r>
              <a:rPr lang="en-US" sz="1050" dirty="0">
                <a:solidFill>
                  <a:srgbClr val="000000"/>
                </a:solidFill>
                <a:latin typeface="Poppins Medium" pitchFamily="34" charset="0"/>
                <a:ea typeface="Poppins Medium" pitchFamily="34" charset="-122"/>
                <a:cs typeface="Poppins Medium" pitchFamily="34" charset="-120"/>
              </a:rPr>
              <a:t>Where does the work start?</a:t>
            </a:r>
            <a:endParaRPr lang="en-US" sz="1050" dirty="0"/>
          </a:p>
        </p:txBody>
      </p:sp>
      <p:sp>
        <p:nvSpPr>
          <p:cNvPr id="56" name="Text"/>
          <p:cNvSpPr txBox="1"/>
          <p:nvPr/>
        </p:nvSpPr>
        <p:spPr>
          <a:xfrm>
            <a:off x="3949659" y="2825405"/>
            <a:ext cx="3327867" cy="193396"/>
          </a:xfrm>
          <a:prstGeom prst="rect">
            <a:avLst/>
          </a:prstGeom>
          <a:noFill/>
          <a:ln/>
        </p:spPr>
        <p:txBody>
          <a:bodyPr wrap="square" lIns="0" tIns="0" rIns="0" bIns="0" rtlCol="0" anchor="t"/>
          <a:lstStyle/>
          <a:p>
            <a:pPr algn="l" indent="0" marL="0">
              <a:lnSpc>
                <a:spcPts val="1522"/>
              </a:lnSpc>
              <a:buNone/>
            </a:pPr>
            <a:r>
              <a:rPr lang="en-US" sz="1050" dirty="0">
                <a:solidFill>
                  <a:srgbClr val="1F2937"/>
                </a:solidFill>
                <a:latin typeface="Poppins Light" pitchFamily="34" charset="0"/>
                <a:ea typeface="Poppins Light" pitchFamily="34" charset="-122"/>
                <a:cs typeface="Poppins Light" pitchFamily="34" charset="-120"/>
              </a:rPr>
              <a:t>With the business case, before any build starts</a:t>
            </a:r>
            <a:endParaRPr lang="en-US" sz="1050" dirty="0"/>
          </a:p>
        </p:txBody>
      </p:sp>
      <p:sp>
        <p:nvSpPr>
          <p:cNvPr id="57" name="Text"/>
          <p:cNvSpPr txBox="1"/>
          <p:nvPr/>
        </p:nvSpPr>
        <p:spPr>
          <a:xfrm>
            <a:off x="7531090" y="2825405"/>
            <a:ext cx="3978189" cy="193396"/>
          </a:xfrm>
          <a:prstGeom prst="rect">
            <a:avLst/>
          </a:prstGeom>
          <a:noFill/>
          <a:ln/>
        </p:spPr>
        <p:txBody>
          <a:bodyPr wrap="square" lIns="0" tIns="0" rIns="0" bIns="0" rtlCol="0" anchor="t"/>
          <a:lstStyle/>
          <a:p>
            <a:pPr algn="l" indent="0" marL="0">
              <a:lnSpc>
                <a:spcPts val="1522"/>
              </a:lnSpc>
              <a:buNone/>
            </a:pPr>
            <a:r>
              <a:rPr lang="en-US" sz="1050" dirty="0">
                <a:solidFill>
                  <a:srgbClr val="1F2937"/>
                </a:solidFill>
                <a:latin typeface="Poppins Light" pitchFamily="34" charset="0"/>
                <a:ea typeface="Poppins Light" pitchFamily="34" charset="-122"/>
                <a:cs typeface="Poppins Light" pitchFamily="34" charset="-120"/>
              </a:rPr>
              <a:t>Tech advisory, data audit and AI strategy for EasyRenz</a:t>
            </a:r>
            <a:endParaRPr lang="en-US" sz="1050" dirty="0"/>
          </a:p>
        </p:txBody>
      </p:sp>
      <p:sp>
        <p:nvSpPr>
          <p:cNvPr id="58" name="Text"/>
          <p:cNvSpPr txBox="1"/>
          <p:nvPr/>
        </p:nvSpPr>
        <p:spPr>
          <a:xfrm>
            <a:off x="711220" y="3228198"/>
            <a:ext cx="242225" cy="193396"/>
          </a:xfrm>
          <a:prstGeom prst="rect">
            <a:avLst/>
          </a:prstGeom>
          <a:noFill/>
          <a:ln/>
        </p:spPr>
        <p:txBody>
          <a:bodyPr wrap="square" lIns="0" tIns="0" rIns="0" bIns="0" rtlCol="0" anchor="t"/>
          <a:lstStyle/>
          <a:p>
            <a:pPr algn="l" indent="0" marL="0">
              <a:lnSpc>
                <a:spcPts val="1522"/>
              </a:lnSpc>
              <a:buNone/>
            </a:pPr>
            <a:r>
              <a:rPr lang="en-US" sz="1050" dirty="0">
                <a:solidFill>
                  <a:srgbClr val="044BD9"/>
                </a:solidFill>
                <a:latin typeface="Poppins SemiBold" pitchFamily="34" charset="0"/>
                <a:ea typeface="Poppins SemiBold" pitchFamily="34" charset="-122"/>
                <a:cs typeface="Poppins SemiBold" pitchFamily="34" charset="-120"/>
              </a:rPr>
              <a:t>03</a:t>
            </a:r>
            <a:endParaRPr lang="en-US" sz="1050" dirty="0"/>
          </a:p>
        </p:txBody>
      </p:sp>
      <p:sp>
        <p:nvSpPr>
          <p:cNvPr id="59" name="Text"/>
          <p:cNvSpPr txBox="1"/>
          <p:nvPr/>
        </p:nvSpPr>
        <p:spPr>
          <a:xfrm>
            <a:off x="1066830" y="3228198"/>
            <a:ext cx="2626614" cy="193396"/>
          </a:xfrm>
          <a:prstGeom prst="rect">
            <a:avLst/>
          </a:prstGeom>
          <a:noFill/>
          <a:ln/>
        </p:spPr>
        <p:txBody>
          <a:bodyPr wrap="square" lIns="0" tIns="0" rIns="0" bIns="0" rtlCol="0" anchor="t"/>
          <a:lstStyle/>
          <a:p>
            <a:pPr algn="l" indent="0" marL="0">
              <a:lnSpc>
                <a:spcPts val="1522"/>
              </a:lnSpc>
              <a:buNone/>
            </a:pPr>
            <a:r>
              <a:rPr lang="en-US" sz="1050" dirty="0">
                <a:solidFill>
                  <a:srgbClr val="000000"/>
                </a:solidFill>
                <a:latin typeface="Poppins Medium" pitchFamily="34" charset="0"/>
                <a:ea typeface="Poppins Medium" pitchFamily="34" charset="-122"/>
                <a:cs typeface="Poppins Medium" pitchFamily="34" charset="-120"/>
              </a:rPr>
              <a:t>Where will our data run?</a:t>
            </a:r>
            <a:endParaRPr lang="en-US" sz="1050" dirty="0"/>
          </a:p>
        </p:txBody>
      </p:sp>
      <p:sp>
        <p:nvSpPr>
          <p:cNvPr id="60" name="Text"/>
          <p:cNvSpPr txBox="1"/>
          <p:nvPr/>
        </p:nvSpPr>
        <p:spPr>
          <a:xfrm>
            <a:off x="3949659" y="3228198"/>
            <a:ext cx="3327867" cy="193396"/>
          </a:xfrm>
          <a:prstGeom prst="rect">
            <a:avLst/>
          </a:prstGeom>
          <a:noFill/>
          <a:ln/>
        </p:spPr>
        <p:txBody>
          <a:bodyPr wrap="square" lIns="0" tIns="0" rIns="0" bIns="0" rtlCol="0" anchor="t"/>
          <a:lstStyle/>
          <a:p>
            <a:pPr algn="l" indent="0" marL="0">
              <a:lnSpc>
                <a:spcPts val="1522"/>
              </a:lnSpc>
              <a:buNone/>
            </a:pPr>
            <a:r>
              <a:rPr lang="en-US" sz="1050" dirty="0">
                <a:solidFill>
                  <a:srgbClr val="1F2937"/>
                </a:solidFill>
                <a:latin typeface="Poppins Light" pitchFamily="34" charset="0"/>
                <a:ea typeface="Poppins Light" pitchFamily="34" charset="-122"/>
                <a:cs typeface="Poppins Light" pitchFamily="34" charset="-120"/>
              </a:rPr>
              <a:t>Locally hosted, where data must stay in-house</a:t>
            </a:r>
            <a:endParaRPr lang="en-US" sz="1050" dirty="0"/>
          </a:p>
        </p:txBody>
      </p:sp>
      <p:sp>
        <p:nvSpPr>
          <p:cNvPr id="61" name="Text"/>
          <p:cNvSpPr txBox="1"/>
          <p:nvPr/>
        </p:nvSpPr>
        <p:spPr>
          <a:xfrm>
            <a:off x="7531090" y="3228198"/>
            <a:ext cx="3978189" cy="193396"/>
          </a:xfrm>
          <a:prstGeom prst="rect">
            <a:avLst/>
          </a:prstGeom>
          <a:noFill/>
          <a:ln/>
        </p:spPr>
        <p:txBody>
          <a:bodyPr wrap="square" lIns="0" tIns="0" rIns="0" bIns="0" rtlCol="0" anchor="t"/>
          <a:lstStyle/>
          <a:p>
            <a:pPr algn="l" indent="0" marL="0">
              <a:lnSpc>
                <a:spcPts val="1522"/>
              </a:lnSpc>
              <a:buNone/>
            </a:pPr>
            <a:r>
              <a:rPr lang="en-US" sz="1050" dirty="0">
                <a:solidFill>
                  <a:srgbClr val="1F2937"/>
                </a:solidFill>
                <a:latin typeface="Poppins Light" pitchFamily="34" charset="0"/>
                <a:ea typeface="Poppins Light" pitchFamily="34" charset="-122"/>
                <a:cs typeface="Poppins Light" pitchFamily="34" charset="-120"/>
              </a:rPr>
              <a:t>Client data stays inside a 36-year-old law firm</a:t>
            </a:r>
            <a:endParaRPr lang="en-US" sz="1050" dirty="0"/>
          </a:p>
        </p:txBody>
      </p:sp>
      <p:sp>
        <p:nvSpPr>
          <p:cNvPr id="62" name="Text"/>
          <p:cNvSpPr txBox="1"/>
          <p:nvPr/>
        </p:nvSpPr>
        <p:spPr>
          <a:xfrm>
            <a:off x="711220" y="3631082"/>
            <a:ext cx="242225" cy="193396"/>
          </a:xfrm>
          <a:prstGeom prst="rect">
            <a:avLst/>
          </a:prstGeom>
          <a:noFill/>
          <a:ln/>
        </p:spPr>
        <p:txBody>
          <a:bodyPr wrap="square" lIns="0" tIns="0" rIns="0" bIns="0" rtlCol="0" anchor="t"/>
          <a:lstStyle/>
          <a:p>
            <a:pPr algn="l" indent="0" marL="0">
              <a:lnSpc>
                <a:spcPts val="1522"/>
              </a:lnSpc>
              <a:buNone/>
            </a:pPr>
            <a:r>
              <a:rPr lang="en-US" sz="1050" dirty="0">
                <a:solidFill>
                  <a:srgbClr val="044BD9"/>
                </a:solidFill>
                <a:latin typeface="Poppins SemiBold" pitchFamily="34" charset="0"/>
                <a:ea typeface="Poppins SemiBold" pitchFamily="34" charset="-122"/>
                <a:cs typeface="Poppins SemiBold" pitchFamily="34" charset="-120"/>
              </a:rPr>
              <a:t>04</a:t>
            </a:r>
            <a:endParaRPr lang="en-US" sz="1050" dirty="0"/>
          </a:p>
        </p:txBody>
      </p:sp>
      <p:sp>
        <p:nvSpPr>
          <p:cNvPr id="63" name="Text"/>
          <p:cNvSpPr txBox="1"/>
          <p:nvPr/>
        </p:nvSpPr>
        <p:spPr>
          <a:xfrm>
            <a:off x="1066830" y="3631082"/>
            <a:ext cx="2626614" cy="193396"/>
          </a:xfrm>
          <a:prstGeom prst="rect">
            <a:avLst/>
          </a:prstGeom>
          <a:noFill/>
          <a:ln/>
        </p:spPr>
        <p:txBody>
          <a:bodyPr wrap="square" lIns="0" tIns="0" rIns="0" bIns="0" rtlCol="0" anchor="t"/>
          <a:lstStyle/>
          <a:p>
            <a:pPr algn="l" indent="0" marL="0">
              <a:lnSpc>
                <a:spcPts val="1522"/>
              </a:lnSpc>
              <a:buNone/>
            </a:pPr>
            <a:r>
              <a:rPr lang="en-US" sz="1050" dirty="0">
                <a:solidFill>
                  <a:srgbClr val="000000"/>
                </a:solidFill>
                <a:latin typeface="Poppins Medium" pitchFamily="34" charset="0"/>
                <a:ea typeface="Poppins Medium" pitchFamily="34" charset="-122"/>
                <a:cs typeface="Poppins Medium" pitchFamily="34" charset="-120"/>
              </a:rPr>
              <a:t>Which models?</a:t>
            </a:r>
            <a:endParaRPr lang="en-US" sz="1050" dirty="0"/>
          </a:p>
        </p:txBody>
      </p:sp>
      <p:sp>
        <p:nvSpPr>
          <p:cNvPr id="64" name="Text"/>
          <p:cNvSpPr txBox="1"/>
          <p:nvPr/>
        </p:nvSpPr>
        <p:spPr>
          <a:xfrm>
            <a:off x="3949659" y="3631082"/>
            <a:ext cx="3327410" cy="193396"/>
          </a:xfrm>
          <a:prstGeom prst="rect">
            <a:avLst/>
          </a:prstGeom>
          <a:noFill/>
          <a:ln/>
        </p:spPr>
        <p:txBody>
          <a:bodyPr wrap="none" lIns="0" tIns="0" rIns="0" bIns="0" rtlCol="0" anchor="t"/>
          <a:lstStyle/>
          <a:p>
            <a:pPr algn="l" indent="0" marL="0">
              <a:lnSpc>
                <a:spcPts val="1522"/>
              </a:lnSpc>
              <a:buNone/>
            </a:pPr>
            <a:r>
              <a:rPr lang="en-US" sz="1050" dirty="0">
                <a:solidFill>
                  <a:srgbClr val="1F2937"/>
                </a:solidFill>
                <a:latin typeface="Poppins Light" pitchFamily="34" charset="0"/>
                <a:ea typeface="Poppins Light" pitchFamily="34" charset="-122"/>
                <a:cs typeface="Poppins Light" pitchFamily="34" charset="-120"/>
              </a:rPr>
              <a:t>Per project: Qwen, Claude, OpenAI, Gemini or ILMU</a:t>
            </a:r>
            <a:endParaRPr lang="en-US" sz="1050" dirty="0"/>
          </a:p>
        </p:txBody>
      </p:sp>
      <p:sp>
        <p:nvSpPr>
          <p:cNvPr id="65" name="Text"/>
          <p:cNvSpPr txBox="1"/>
          <p:nvPr/>
        </p:nvSpPr>
        <p:spPr>
          <a:xfrm>
            <a:off x="7531090" y="3631082"/>
            <a:ext cx="3978189" cy="386700"/>
          </a:xfrm>
          <a:prstGeom prst="rect">
            <a:avLst/>
          </a:prstGeom>
          <a:noFill/>
          <a:ln/>
        </p:spPr>
        <p:txBody>
          <a:bodyPr wrap="square" lIns="0" tIns="0" rIns="0" bIns="0" rtlCol="0" anchor="t"/>
          <a:lstStyle/>
          <a:p>
            <a:pPr algn="l" indent="0" marL="0">
              <a:lnSpc>
                <a:spcPts val="1522"/>
              </a:lnSpc>
              <a:buNone/>
            </a:pPr>
            <a:r>
              <a:rPr lang="en-US" sz="1050" dirty="0">
                <a:solidFill>
                  <a:srgbClr val="1F2937"/>
                </a:solidFill>
                <a:latin typeface="Poppins Light" pitchFamily="34" charset="0"/>
                <a:ea typeface="Poppins Light" pitchFamily="34" charset="-122"/>
                <a:cs typeface="Poppins Light" pitchFamily="34" charset="-120"/>
              </a:rPr>
              <a:t>Qwen (legal), Qwen and Claude (medicolegal claims), Gemini (retail)</a:t>
            </a:r>
            <a:endParaRPr lang="en-US" sz="1050" dirty="0"/>
          </a:p>
        </p:txBody>
      </p:sp>
      <p:sp>
        <p:nvSpPr>
          <p:cNvPr id="66" name="Text"/>
          <p:cNvSpPr txBox="1"/>
          <p:nvPr/>
        </p:nvSpPr>
        <p:spPr>
          <a:xfrm>
            <a:off x="711220" y="4227180"/>
            <a:ext cx="242225" cy="193396"/>
          </a:xfrm>
          <a:prstGeom prst="rect">
            <a:avLst/>
          </a:prstGeom>
          <a:noFill/>
          <a:ln/>
        </p:spPr>
        <p:txBody>
          <a:bodyPr wrap="square" lIns="0" tIns="0" rIns="0" bIns="0" rtlCol="0" anchor="t"/>
          <a:lstStyle/>
          <a:p>
            <a:pPr algn="l" indent="0" marL="0">
              <a:lnSpc>
                <a:spcPts val="1522"/>
              </a:lnSpc>
              <a:buNone/>
            </a:pPr>
            <a:r>
              <a:rPr lang="en-US" sz="1050" dirty="0">
                <a:solidFill>
                  <a:srgbClr val="044BD9"/>
                </a:solidFill>
                <a:latin typeface="Poppins SemiBold" pitchFamily="34" charset="0"/>
                <a:ea typeface="Poppins SemiBold" pitchFamily="34" charset="-122"/>
                <a:cs typeface="Poppins SemiBold" pitchFamily="34" charset="-120"/>
              </a:rPr>
              <a:t>05</a:t>
            </a:r>
            <a:endParaRPr lang="en-US" sz="1050" dirty="0"/>
          </a:p>
        </p:txBody>
      </p:sp>
      <p:sp>
        <p:nvSpPr>
          <p:cNvPr id="67" name="Text"/>
          <p:cNvSpPr txBox="1"/>
          <p:nvPr/>
        </p:nvSpPr>
        <p:spPr>
          <a:xfrm>
            <a:off x="1066830" y="4227180"/>
            <a:ext cx="2626614" cy="386700"/>
          </a:xfrm>
          <a:prstGeom prst="rect">
            <a:avLst/>
          </a:prstGeom>
          <a:noFill/>
          <a:ln/>
        </p:spPr>
        <p:txBody>
          <a:bodyPr wrap="square" lIns="0" tIns="0" rIns="0" bIns="0" rtlCol="0" anchor="t"/>
          <a:lstStyle/>
          <a:p>
            <a:pPr algn="l" indent="0" marL="0">
              <a:lnSpc>
                <a:spcPts val="1522"/>
              </a:lnSpc>
              <a:buNone/>
            </a:pPr>
            <a:r>
              <a:rPr lang="en-US" sz="1050" dirty="0">
                <a:solidFill>
                  <a:srgbClr val="000000"/>
                </a:solidFill>
                <a:latin typeface="Poppins Medium" pitchFamily="34" charset="0"/>
                <a:ea typeface="Poppins Medium" pitchFamily="34" charset="-122"/>
                <a:cs typeface="Poppins Medium" pitchFamily="34" charset="-120"/>
              </a:rPr>
              <a:t>Can it reach our local systems and portals?</a:t>
            </a:r>
            <a:endParaRPr lang="en-US" sz="1050" dirty="0"/>
          </a:p>
        </p:txBody>
      </p:sp>
      <p:sp>
        <p:nvSpPr>
          <p:cNvPr id="68" name="Text"/>
          <p:cNvSpPr txBox="1"/>
          <p:nvPr/>
        </p:nvSpPr>
        <p:spPr>
          <a:xfrm>
            <a:off x="3949659" y="4227180"/>
            <a:ext cx="3327410" cy="193396"/>
          </a:xfrm>
          <a:prstGeom prst="rect">
            <a:avLst/>
          </a:prstGeom>
          <a:noFill/>
          <a:ln/>
        </p:spPr>
        <p:txBody>
          <a:bodyPr wrap="none" lIns="0" tIns="0" rIns="0" bIns="0" rtlCol="0" anchor="t"/>
          <a:lstStyle/>
          <a:p>
            <a:pPr algn="l" indent="0" marL="0">
              <a:lnSpc>
                <a:spcPts val="1522"/>
              </a:lnSpc>
              <a:buNone/>
            </a:pPr>
            <a:r>
              <a:rPr lang="en-US" sz="1050" dirty="0">
                <a:solidFill>
                  <a:srgbClr val="1F2937"/>
                </a:solidFill>
                <a:latin typeface="Poppins Light" pitchFamily="34" charset="0"/>
                <a:ea typeface="Poppins Light" pitchFamily="34" charset="-122"/>
                <a:cs typeface="Poppins Light" pitchFamily="34" charset="-120"/>
              </a:rPr>
              <a:t>Yes, from ERP and CRM to SSM and CTOS portals</a:t>
            </a:r>
            <a:endParaRPr lang="en-US" sz="1050" dirty="0"/>
          </a:p>
        </p:txBody>
      </p:sp>
      <p:sp>
        <p:nvSpPr>
          <p:cNvPr id="69" name="Text"/>
          <p:cNvSpPr txBox="1"/>
          <p:nvPr/>
        </p:nvSpPr>
        <p:spPr>
          <a:xfrm>
            <a:off x="7531090" y="4227180"/>
            <a:ext cx="3978189" cy="193396"/>
          </a:xfrm>
          <a:prstGeom prst="rect">
            <a:avLst/>
          </a:prstGeom>
          <a:noFill/>
          <a:ln/>
        </p:spPr>
        <p:txBody>
          <a:bodyPr wrap="square" lIns="0" tIns="0" rIns="0" bIns="0" rtlCol="0" anchor="t"/>
          <a:lstStyle/>
          <a:p>
            <a:pPr algn="l" indent="0" marL="0">
              <a:lnSpc>
                <a:spcPts val="1522"/>
              </a:lnSpc>
              <a:buNone/>
            </a:pPr>
            <a:r>
              <a:rPr lang="en-US" sz="1050" dirty="0">
                <a:solidFill>
                  <a:srgbClr val="1F2937"/>
                </a:solidFill>
                <a:latin typeface="Poppins Light" pitchFamily="34" charset="0"/>
                <a:ea typeface="Poppins Light" pitchFamily="34" charset="-122"/>
                <a:cs typeface="Poppins Light" pitchFamily="34" charset="-120"/>
              </a:rPr>
              <a:t>90+ third-party portal automations for one law firm</a:t>
            </a:r>
            <a:endParaRPr lang="en-US" sz="1050" dirty="0"/>
          </a:p>
        </p:txBody>
      </p:sp>
      <p:sp>
        <p:nvSpPr>
          <p:cNvPr id="70" name="Text"/>
          <p:cNvSpPr txBox="1"/>
          <p:nvPr/>
        </p:nvSpPr>
        <p:spPr>
          <a:xfrm>
            <a:off x="711220" y="4823277"/>
            <a:ext cx="242225" cy="193396"/>
          </a:xfrm>
          <a:prstGeom prst="rect">
            <a:avLst/>
          </a:prstGeom>
          <a:noFill/>
          <a:ln/>
        </p:spPr>
        <p:txBody>
          <a:bodyPr wrap="square" lIns="0" tIns="0" rIns="0" bIns="0" rtlCol="0" anchor="t"/>
          <a:lstStyle/>
          <a:p>
            <a:pPr algn="l" indent="0" marL="0">
              <a:lnSpc>
                <a:spcPts val="1522"/>
              </a:lnSpc>
              <a:buNone/>
            </a:pPr>
            <a:r>
              <a:rPr lang="en-US" sz="1050" dirty="0">
                <a:solidFill>
                  <a:srgbClr val="044BD9"/>
                </a:solidFill>
                <a:latin typeface="Poppins SemiBold" pitchFamily="34" charset="0"/>
                <a:ea typeface="Poppins SemiBold" pitchFamily="34" charset="-122"/>
                <a:cs typeface="Poppins SemiBold" pitchFamily="34" charset="-120"/>
              </a:rPr>
              <a:t>06</a:t>
            </a:r>
            <a:endParaRPr lang="en-US" sz="1050" dirty="0"/>
          </a:p>
        </p:txBody>
      </p:sp>
      <p:sp>
        <p:nvSpPr>
          <p:cNvPr id="71" name="Text"/>
          <p:cNvSpPr txBox="1"/>
          <p:nvPr/>
        </p:nvSpPr>
        <p:spPr>
          <a:xfrm>
            <a:off x="1066830" y="4823277"/>
            <a:ext cx="2626614" cy="193396"/>
          </a:xfrm>
          <a:prstGeom prst="rect">
            <a:avLst/>
          </a:prstGeom>
          <a:noFill/>
          <a:ln/>
        </p:spPr>
        <p:txBody>
          <a:bodyPr wrap="square" lIns="0" tIns="0" rIns="0" bIns="0" rtlCol="0" anchor="t"/>
          <a:lstStyle/>
          <a:p>
            <a:pPr algn="l" indent="0" marL="0">
              <a:lnSpc>
                <a:spcPts val="1522"/>
              </a:lnSpc>
              <a:buNone/>
            </a:pPr>
            <a:r>
              <a:rPr lang="en-US" sz="1050" dirty="0">
                <a:solidFill>
                  <a:srgbClr val="000000"/>
                </a:solidFill>
                <a:latin typeface="Poppins Medium" pitchFamily="34" charset="0"/>
                <a:ea typeface="Poppins Medium" pitchFamily="34" charset="-122"/>
                <a:cs typeface="Poppins Medium" pitchFamily="34" charset="-120"/>
              </a:rPr>
              <a:t>What happens after go-live?</a:t>
            </a:r>
            <a:endParaRPr lang="en-US" sz="1050" dirty="0"/>
          </a:p>
        </p:txBody>
      </p:sp>
      <p:sp>
        <p:nvSpPr>
          <p:cNvPr id="72" name="Text"/>
          <p:cNvSpPr txBox="1"/>
          <p:nvPr/>
        </p:nvSpPr>
        <p:spPr>
          <a:xfrm>
            <a:off x="3949659" y="4823277"/>
            <a:ext cx="3327867" cy="193396"/>
          </a:xfrm>
          <a:prstGeom prst="rect">
            <a:avLst/>
          </a:prstGeom>
          <a:noFill/>
          <a:ln/>
        </p:spPr>
        <p:txBody>
          <a:bodyPr wrap="square" lIns="0" tIns="0" rIns="0" bIns="0" rtlCol="0" anchor="t"/>
          <a:lstStyle/>
          <a:p>
            <a:pPr algn="l" indent="0" marL="0">
              <a:lnSpc>
                <a:spcPts val="1522"/>
              </a:lnSpc>
              <a:buNone/>
            </a:pPr>
            <a:r>
              <a:rPr lang="en-US" sz="1050" dirty="0">
                <a:solidFill>
                  <a:srgbClr val="1F2937"/>
                </a:solidFill>
                <a:latin typeface="Poppins Light" pitchFamily="34" charset="0"/>
                <a:ea typeface="Poppins Light" pitchFamily="34" charset="-122"/>
                <a:cs typeface="Poppins Light" pitchFamily="34" charset="-120"/>
              </a:rPr>
              <a:t>We stay to review, iterate and improve</a:t>
            </a:r>
            <a:endParaRPr lang="en-US" sz="1050" dirty="0"/>
          </a:p>
        </p:txBody>
      </p:sp>
      <p:sp>
        <p:nvSpPr>
          <p:cNvPr id="73" name="Text"/>
          <p:cNvSpPr txBox="1"/>
          <p:nvPr/>
        </p:nvSpPr>
        <p:spPr>
          <a:xfrm>
            <a:off x="7531090" y="4823277"/>
            <a:ext cx="3975080" cy="193396"/>
          </a:xfrm>
          <a:prstGeom prst="rect">
            <a:avLst/>
          </a:prstGeom>
          <a:noFill/>
          <a:ln/>
        </p:spPr>
        <p:txBody>
          <a:bodyPr wrap="none" lIns="0" tIns="0" rIns="0" bIns="0" rtlCol="0" anchor="t"/>
          <a:lstStyle/>
          <a:p>
            <a:pPr algn="l" indent="0" marL="0">
              <a:lnSpc>
                <a:spcPts val="1522"/>
              </a:lnSpc>
              <a:buNone/>
            </a:pPr>
            <a:r>
              <a:rPr lang="en-US" sz="1050" dirty="0">
                <a:solidFill>
                  <a:srgbClr val="1F2937"/>
                </a:solidFill>
                <a:latin typeface="Poppins Light" pitchFamily="34" charset="0"/>
                <a:ea typeface="Poppins Light" pitchFamily="34" charset="-122"/>
                <a:cs typeface="Poppins Light" pitchFamily="34" charset="-120"/>
              </a:rPr>
              <a:t>An Improve step on every service, scoped in from day one</a:t>
            </a:r>
            <a:endParaRPr lang="en-US" sz="1050" dirty="0"/>
          </a:p>
        </p:txBody>
      </p:sp>
      <p:sp>
        <p:nvSpPr>
          <p:cNvPr id="74" name="Text"/>
          <p:cNvSpPr txBox="1"/>
          <p:nvPr/>
        </p:nvSpPr>
        <p:spPr>
          <a:xfrm>
            <a:off x="711220" y="5226070"/>
            <a:ext cx="242225" cy="193396"/>
          </a:xfrm>
          <a:prstGeom prst="rect">
            <a:avLst/>
          </a:prstGeom>
          <a:noFill/>
          <a:ln/>
        </p:spPr>
        <p:txBody>
          <a:bodyPr wrap="square" lIns="0" tIns="0" rIns="0" bIns="0" rtlCol="0" anchor="t"/>
          <a:lstStyle/>
          <a:p>
            <a:pPr algn="l" indent="0" marL="0">
              <a:lnSpc>
                <a:spcPts val="1522"/>
              </a:lnSpc>
              <a:buNone/>
            </a:pPr>
            <a:r>
              <a:rPr lang="en-US" sz="1050" dirty="0">
                <a:solidFill>
                  <a:srgbClr val="044BD9"/>
                </a:solidFill>
                <a:latin typeface="Poppins SemiBold" pitchFamily="34" charset="0"/>
                <a:ea typeface="Poppins SemiBold" pitchFamily="34" charset="-122"/>
                <a:cs typeface="Poppins SemiBold" pitchFamily="34" charset="-120"/>
              </a:rPr>
              <a:t>07</a:t>
            </a:r>
            <a:endParaRPr lang="en-US" sz="1050" dirty="0"/>
          </a:p>
        </p:txBody>
      </p:sp>
      <p:sp>
        <p:nvSpPr>
          <p:cNvPr id="75" name="Text"/>
          <p:cNvSpPr txBox="1"/>
          <p:nvPr/>
        </p:nvSpPr>
        <p:spPr>
          <a:xfrm>
            <a:off x="1066830" y="5226070"/>
            <a:ext cx="2628900" cy="193396"/>
          </a:xfrm>
          <a:prstGeom prst="rect">
            <a:avLst/>
          </a:prstGeom>
          <a:noFill/>
          <a:ln/>
        </p:spPr>
        <p:txBody>
          <a:bodyPr wrap="none" lIns="0" tIns="0" rIns="0" bIns="0" rtlCol="0" anchor="t"/>
          <a:lstStyle/>
          <a:p>
            <a:pPr algn="l" indent="0" marL="0">
              <a:lnSpc>
                <a:spcPts val="1522"/>
              </a:lnSpc>
              <a:buNone/>
            </a:pPr>
            <a:r>
              <a:rPr lang="en-US" sz="1050" dirty="0">
                <a:solidFill>
                  <a:srgbClr val="000000"/>
                </a:solidFill>
                <a:latin typeface="Poppins Medium" pitchFamily="34" charset="0"/>
                <a:ea typeface="Poppins Medium" pitchFamily="34" charset="-122"/>
                <a:cs typeface="Poppins Medium" pitchFamily="34" charset="-120"/>
              </a:rPr>
              <a:t>Can you take over a project in flight?</a:t>
            </a:r>
            <a:endParaRPr lang="en-US" sz="1050" dirty="0"/>
          </a:p>
        </p:txBody>
      </p:sp>
      <p:sp>
        <p:nvSpPr>
          <p:cNvPr id="76" name="Text"/>
          <p:cNvSpPr txBox="1"/>
          <p:nvPr/>
        </p:nvSpPr>
        <p:spPr>
          <a:xfrm>
            <a:off x="3949659" y="5226070"/>
            <a:ext cx="3327410" cy="193396"/>
          </a:xfrm>
          <a:prstGeom prst="rect">
            <a:avLst/>
          </a:prstGeom>
          <a:noFill/>
          <a:ln/>
        </p:spPr>
        <p:txBody>
          <a:bodyPr wrap="none" lIns="0" tIns="0" rIns="0" bIns="0" rtlCol="0" anchor="t"/>
          <a:lstStyle/>
          <a:p>
            <a:pPr algn="l" indent="0" marL="0">
              <a:lnSpc>
                <a:spcPts val="1522"/>
              </a:lnSpc>
              <a:buNone/>
            </a:pPr>
            <a:r>
              <a:rPr lang="en-US" sz="1050" dirty="0">
                <a:solidFill>
                  <a:srgbClr val="1F2937"/>
                </a:solidFill>
                <a:latin typeface="Poppins Light" pitchFamily="34" charset="0"/>
                <a:ea typeface="Poppins Light" pitchFamily="34" charset="-122"/>
                <a:cs typeface="Poppins Light" pitchFamily="34" charset="-120"/>
              </a:rPr>
              <a:t>Yes. We scope the remaining work, then deliver it</a:t>
            </a:r>
            <a:endParaRPr lang="en-US" sz="1050" dirty="0"/>
          </a:p>
        </p:txBody>
      </p:sp>
      <p:sp>
        <p:nvSpPr>
          <p:cNvPr id="77" name="Text"/>
          <p:cNvSpPr txBox="1"/>
          <p:nvPr/>
        </p:nvSpPr>
        <p:spPr>
          <a:xfrm>
            <a:off x="7531090" y="5226070"/>
            <a:ext cx="3978189" cy="193396"/>
          </a:xfrm>
          <a:prstGeom prst="rect">
            <a:avLst/>
          </a:prstGeom>
          <a:noFill/>
          <a:ln/>
        </p:spPr>
        <p:txBody>
          <a:bodyPr wrap="square" lIns="0" tIns="0" rIns="0" bIns="0" rtlCol="0" anchor="t"/>
          <a:lstStyle/>
          <a:p>
            <a:pPr algn="l" indent="0" marL="0">
              <a:lnSpc>
                <a:spcPts val="1522"/>
              </a:lnSpc>
              <a:buNone/>
            </a:pPr>
            <a:r>
              <a:rPr lang="en-US" sz="1050" dirty="0">
                <a:solidFill>
                  <a:srgbClr val="1F2937"/>
                </a:solidFill>
                <a:latin typeface="Poppins Light" pitchFamily="34" charset="0"/>
                <a:ea typeface="Poppins Light" pitchFamily="34" charset="-122"/>
                <a:cs typeface="Poppins Light" pitchFamily="34" charset="-120"/>
              </a:rPr>
              <a:t>iPajak Group’s six-branch system, taken over midway</a:t>
            </a:r>
            <a:endParaRPr lang="en-US" sz="1050" dirty="0"/>
          </a:p>
        </p:txBody>
      </p:sp>
      <p:sp>
        <p:nvSpPr>
          <p:cNvPr id="78" name="Text"/>
          <p:cNvSpPr txBox="1"/>
          <p:nvPr/>
        </p:nvSpPr>
        <p:spPr>
          <a:xfrm>
            <a:off x="711220" y="5835335"/>
            <a:ext cx="10825399" cy="186995"/>
          </a:xfrm>
          <a:prstGeom prst="rect">
            <a:avLst/>
          </a:prstGeom>
          <a:noFill/>
          <a:ln/>
        </p:spPr>
        <p:txBody>
          <a:bodyPr wrap="square" lIns="0" tIns="0" rIns="0" bIns="0" rtlCol="0" anchor="t"/>
          <a:lstStyle/>
          <a:p>
            <a:pPr algn="l" indent="0" marL="0">
              <a:lnSpc>
                <a:spcPts val="1472"/>
              </a:lnSpc>
              <a:buNone/>
            </a:pPr>
            <a:r>
              <a:rPr lang="en-US" sz="950" dirty="0">
                <a:solidFill>
                  <a:srgbClr val="6B6B6B"/>
                </a:solidFill>
                <a:latin typeface="Poppins Light" pitchFamily="34" charset="0"/>
                <a:ea typeface="Poppins Light" pitchFamily="34" charset="-122"/>
                <a:cs typeface="Poppins Light" pitchFamily="34" charset="-120"/>
              </a:rPr>
              <a:t>Where a global firm may fit better: multi-country transformation programmes that need large teams in many markets at once.</a:t>
            </a:r>
            <a:endParaRPr lang="en-US" sz="950" dirty="0"/>
          </a:p>
        </p:txBody>
      </p:sp>
      <p:sp>
        <p:nvSpPr>
          <p:cNvPr id="79" name="Text"/>
          <p:cNvSpPr txBox="1"/>
          <p:nvPr/>
        </p:nvSpPr>
        <p:spPr>
          <a:xfrm>
            <a:off x="6287140" y="276240"/>
            <a:ext cx="708477"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Point of view</a:t>
            </a:r>
            <a:endParaRPr lang="en-US" sz="850" dirty="0"/>
          </a:p>
        </p:txBody>
      </p:sp>
      <p:sp>
        <p:nvSpPr>
          <p:cNvPr id="80" name="Text"/>
          <p:cNvSpPr txBox="1"/>
          <p:nvPr/>
        </p:nvSpPr>
        <p:spPr>
          <a:xfrm>
            <a:off x="7240494" y="276240"/>
            <a:ext cx="665958"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Who we are</a:t>
            </a:r>
            <a:endParaRPr lang="en-US" sz="850" dirty="0"/>
          </a:p>
        </p:txBody>
      </p:sp>
      <p:sp>
        <p:nvSpPr>
          <p:cNvPr id="81" name="Text"/>
          <p:cNvSpPr txBox="1"/>
          <p:nvPr/>
        </p:nvSpPr>
        <p:spPr>
          <a:xfrm>
            <a:off x="8151510" y="276240"/>
            <a:ext cx="671261"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What we do</a:t>
            </a:r>
            <a:endParaRPr lang="en-US" sz="850" dirty="0"/>
          </a:p>
        </p:txBody>
      </p:sp>
      <p:sp>
        <p:nvSpPr>
          <p:cNvPr id="82" name="Text"/>
          <p:cNvSpPr txBox="1"/>
          <p:nvPr/>
        </p:nvSpPr>
        <p:spPr>
          <a:xfrm>
            <a:off x="9067830" y="276240"/>
            <a:ext cx="1205728"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Sectors and products</a:t>
            </a:r>
            <a:endParaRPr lang="en-US" sz="850" dirty="0"/>
          </a:p>
        </p:txBody>
      </p:sp>
      <p:sp>
        <p:nvSpPr>
          <p:cNvPr id="83" name="Text"/>
          <p:cNvSpPr txBox="1"/>
          <p:nvPr/>
        </p:nvSpPr>
        <p:spPr>
          <a:xfrm>
            <a:off x="10516423" y="276240"/>
            <a:ext cx="298552"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Proof</a:t>
            </a:r>
            <a:endParaRPr lang="en-US" sz="850" dirty="0"/>
          </a:p>
        </p:txBody>
      </p:sp>
      <p:sp>
        <p:nvSpPr>
          <p:cNvPr id="84" name="Text"/>
          <p:cNvSpPr txBox="1"/>
          <p:nvPr/>
        </p:nvSpPr>
        <p:spPr>
          <a:xfrm>
            <a:off x="11061497" y="276240"/>
            <a:ext cx="433700"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044BD9"/>
                </a:solidFill>
                <a:latin typeface="Poppins Medium" pitchFamily="34" charset="0"/>
                <a:ea typeface="Poppins Medium" pitchFamily="34" charset="-122"/>
                <a:cs typeface="Poppins Medium" pitchFamily="34" charset="-120"/>
              </a:rPr>
              <a:t>Engage</a:t>
            </a:r>
            <a:endParaRPr lang="en-US" sz="850" dirty="0"/>
          </a:p>
        </p:txBody>
      </p:sp>
      <p:sp>
        <p:nvSpPr>
          <p:cNvPr id="85" name="Source"/>
          <p:cNvSpPr txBox="1"/>
          <p:nvPr/>
        </p:nvSpPr>
        <p:spPr>
          <a:xfrm>
            <a:off x="711220" y="6409030"/>
            <a:ext cx="8300740" cy="151150"/>
          </a:xfrm>
          <a:prstGeom prst="rect">
            <a:avLst/>
          </a:prstGeom>
          <a:noFill/>
          <a:ln/>
        </p:spPr>
        <p:txBody>
          <a:bodyPr wrap="square" lIns="0" tIns="0" rIns="0" bIns="0" rtlCol="0" anchor="t"/>
          <a:lstStyle/>
          <a:p>
            <a:pPr algn="l" indent="0" marL="0">
              <a:lnSpc>
                <a:spcPts val="1190"/>
              </a:lnSpc>
              <a:buNone/>
            </a:pPr>
            <a:r>
              <a:rPr lang="en-US" sz="850" dirty="0">
                <a:solidFill>
                  <a:srgbClr val="6B6B6B"/>
                </a:solidFill>
                <a:latin typeface="Poppins" pitchFamily="34" charset="0"/>
                <a:ea typeface="Poppins" pitchFamily="34" charset="-122"/>
                <a:cs typeface="Poppins" pitchFamily="34" charset="-120"/>
              </a:rPr>
              <a:t>Source: alphv.com/about, /how-we-work, /services, /platforms-and-clients and /insights case pages (October 2026).</a:t>
            </a:r>
            <a:endParaRPr lang="en-US" sz="850" dirty="0"/>
          </a:p>
        </p:txBody>
      </p:sp>
      <p:sp>
        <p:nvSpPr>
          <p:cNvPr id="86" name="Text"/>
          <p:cNvSpPr txBox="1"/>
          <p:nvPr/>
        </p:nvSpPr>
        <p:spPr>
          <a:xfrm>
            <a:off x="9353032" y="6409030"/>
            <a:ext cx="393741" cy="151150"/>
          </a:xfrm>
          <a:prstGeom prst="rect">
            <a:avLst/>
          </a:prstGeom>
          <a:noFill/>
          <a:ln/>
        </p:spPr>
        <p:txBody>
          <a:bodyPr wrap="none" lIns="0" tIns="0" rIns="0" bIns="0" rtlCol="0" anchor="t"/>
          <a:lstStyle/>
          <a:p>
            <a:pPr algn="l" indent="0" marL="0">
              <a:lnSpc>
                <a:spcPts val="1190"/>
              </a:lnSpc>
              <a:buNone/>
            </a:pPr>
            <a:r>
              <a:rPr lang="en-US" sz="850" spc="34" kern="0" dirty="0">
                <a:solidFill>
                  <a:srgbClr val="000000"/>
                </a:solidFill>
                <a:latin typeface="Poppins SemiBold" pitchFamily="34" charset="0"/>
                <a:ea typeface="Poppins SemiBold" pitchFamily="34" charset="-122"/>
                <a:cs typeface="Poppins SemiBold" pitchFamily="34" charset="-120"/>
              </a:rPr>
              <a:t>ALPHV</a:t>
            </a:r>
            <a:endParaRPr lang="en-US" sz="850" dirty="0"/>
          </a:p>
        </p:txBody>
      </p:sp>
      <p:sp>
        <p:nvSpPr>
          <p:cNvPr id="87" name="Text"/>
          <p:cNvSpPr txBox="1"/>
          <p:nvPr/>
        </p:nvSpPr>
        <p:spPr>
          <a:xfrm>
            <a:off x="9861072" y="6409030"/>
            <a:ext cx="1377178" cy="151150"/>
          </a:xfrm>
          <a:prstGeom prst="rect">
            <a:avLst/>
          </a:prstGeom>
          <a:noFill/>
          <a:ln/>
        </p:spPr>
        <p:txBody>
          <a:bodyPr wrap="none" lIns="0" tIns="0" rIns="0" bIns="0" rtlCol="0" anchor="t"/>
          <a:lstStyle/>
          <a:p>
            <a:pPr algn="l" indent="0" marL="0">
              <a:lnSpc>
                <a:spcPts val="1190"/>
              </a:lnSpc>
              <a:buNone/>
            </a:pPr>
            <a:r>
              <a:rPr lang="en-US" sz="850" dirty="0">
                <a:solidFill>
                  <a:srgbClr val="6B6B6B"/>
                </a:solidFill>
                <a:latin typeface="Poppins" pitchFamily="34" charset="0"/>
                <a:ea typeface="Poppins" pitchFamily="34" charset="-122"/>
                <a:cs typeface="Poppins" pitchFamily="34" charset="-120"/>
              </a:rPr>
              <a:t>Corporate overview 2026</a:t>
            </a:r>
            <a:endParaRPr lang="en-US" sz="850" dirty="0"/>
          </a:p>
        </p:txBody>
      </p:sp>
      <p:sp>
        <p:nvSpPr>
          <p:cNvPr id="88" name="Text"/>
          <p:cNvSpPr txBox="1"/>
          <p:nvPr/>
        </p:nvSpPr>
        <p:spPr>
          <a:xfrm>
            <a:off x="11352550" y="6409030"/>
            <a:ext cx="153711" cy="151150"/>
          </a:xfrm>
          <a:prstGeom prst="rect">
            <a:avLst/>
          </a:prstGeom>
          <a:noFill/>
          <a:ln/>
        </p:spPr>
        <p:txBody>
          <a:bodyPr wrap="none" lIns="0" tIns="0" rIns="0" bIns="0" rtlCol="0" anchor="t"/>
          <a:lstStyle/>
          <a:p>
            <a:pPr algn="l" indent="0" marL="0">
              <a:lnSpc>
                <a:spcPts val="1190"/>
              </a:lnSpc>
              <a:buNone/>
            </a:pPr>
            <a:r>
              <a:rPr lang="en-US" sz="850" dirty="0">
                <a:solidFill>
                  <a:srgbClr val="000000"/>
                </a:solidFill>
                <a:latin typeface="Poppins Medium" pitchFamily="34" charset="0"/>
                <a:ea typeface="Poppins Medium" pitchFamily="34" charset="-122"/>
                <a:cs typeface="Poppins Medium" pitchFamily="34" charset="-120"/>
              </a:rPr>
              <a:t>33</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8F9FA"/>
        </a:solidFill>
      </p:bgPr>
    </p:bg>
    <p:spTree>
      <p:nvGrpSpPr>
        <p:cNvPr id="1" name=""/>
        <p:cNvGrpSpPr/>
        <p:nvPr/>
      </p:nvGrpSpPr>
      <p:grpSpPr>
        <a:xfrm>
          <a:off x="0" y="0"/>
          <a:ext cx="0" cy="0"/>
          <a:chOff x="0" y="0"/>
          <a:chExt cx="0" cy="0"/>
        </a:xfrm>
      </p:grpSpPr>
      <p:sp>
        <p:nvSpPr>
          <p:cNvPr id="2" name="badge"/>
          <p:cNvSpPr/>
          <p:nvPr/>
        </p:nvSpPr>
        <p:spPr>
          <a:xfrm>
            <a:off x="714421" y="536570"/>
            <a:ext cx="1194755" cy="254020"/>
          </a:xfrm>
          <a:prstGeom prst="roundRect">
            <a:avLst>
              <a:gd name="adj" fmla="val 50000"/>
            </a:avLst>
          </a:prstGeom>
          <a:ln w="6350">
            <a:solidFill>
              <a:srgbClr val="155DFC"/>
            </a:solidFill>
            <a:prstDash val="solid"/>
          </a:ln>
        </p:spPr>
      </p:sp>
      <p:sp>
        <p:nvSpPr>
          <p:cNvPr id="3" name="Rule"/>
          <p:cNvSpPr/>
          <p:nvPr/>
        </p:nvSpPr>
        <p:spPr>
          <a:xfrm>
            <a:off x="711220" y="2340132"/>
            <a:ext cx="4317980" cy="0"/>
          </a:xfrm>
          <a:prstGeom prst="line">
            <a:avLst/>
          </a:prstGeom>
          <a:noFill/>
          <a:ln w="6350">
            <a:solidFill>
              <a:srgbClr val="E3E6EC"/>
            </a:solidFill>
            <a:prstDash val="solid"/>
          </a:ln>
        </p:spPr>
      </p:sp>
      <p:sp>
        <p:nvSpPr>
          <p:cNvPr id="4" name="Connector"/>
          <p:cNvSpPr/>
          <p:nvPr/>
        </p:nvSpPr>
        <p:spPr>
          <a:xfrm>
            <a:off x="908091" y="2940253"/>
            <a:ext cx="6309" cy="2381006"/>
          </a:xfrm>
          <a:prstGeom prst="line">
            <a:avLst/>
          </a:prstGeom>
          <a:noFill/>
          <a:ln w="12700">
            <a:solidFill>
              <a:srgbClr val="044BD9">
                <a:alpha val="20000"/>
              </a:srgbClr>
            </a:solidFill>
            <a:prstDash val="dash"/>
          </a:ln>
        </p:spPr>
      </p:sp>
      <p:sp>
        <p:nvSpPr>
          <p:cNvPr id="5" name="num"/>
          <p:cNvSpPr/>
          <p:nvPr/>
        </p:nvSpPr>
        <p:spPr>
          <a:xfrm>
            <a:off x="711220" y="2533894"/>
            <a:ext cx="406359" cy="406359"/>
          </a:xfrm>
          <a:prstGeom prst="ellipse">
            <a:avLst/>
          </a:prstGeom>
          <a:solidFill>
            <a:srgbClr val="044BD9"/>
          </a:solidFill>
          <a:ln/>
        </p:spPr>
      </p:sp>
      <p:sp>
        <p:nvSpPr>
          <p:cNvPr id="6" name="num"/>
          <p:cNvSpPr/>
          <p:nvPr/>
        </p:nvSpPr>
        <p:spPr>
          <a:xfrm>
            <a:off x="711220" y="3923782"/>
            <a:ext cx="406359" cy="406359"/>
          </a:xfrm>
          <a:prstGeom prst="ellipse">
            <a:avLst/>
          </a:prstGeom>
          <a:solidFill>
            <a:srgbClr val="044BD9"/>
          </a:solidFill>
          <a:ln/>
        </p:spPr>
      </p:sp>
      <p:sp>
        <p:nvSpPr>
          <p:cNvPr id="7" name="num"/>
          <p:cNvSpPr/>
          <p:nvPr/>
        </p:nvSpPr>
        <p:spPr>
          <a:xfrm>
            <a:off x="711220" y="5313761"/>
            <a:ext cx="406359" cy="406359"/>
          </a:xfrm>
          <a:prstGeom prst="ellipse">
            <a:avLst/>
          </a:prstGeom>
          <a:solidFill>
            <a:srgbClr val="044BD9"/>
          </a:solidFill>
          <a:ln/>
        </p:spPr>
      </p:sp>
      <p:sp>
        <p:nvSpPr>
          <p:cNvPr id="8" name="Rule"/>
          <p:cNvSpPr/>
          <p:nvPr/>
        </p:nvSpPr>
        <p:spPr>
          <a:xfrm>
            <a:off x="5435559" y="2340132"/>
            <a:ext cx="6045190" cy="0"/>
          </a:xfrm>
          <a:prstGeom prst="line">
            <a:avLst/>
          </a:prstGeom>
          <a:noFill/>
          <a:ln w="6350">
            <a:solidFill>
              <a:srgbClr val="E3E6EC"/>
            </a:solidFill>
            <a:prstDash val="solid"/>
          </a:ln>
        </p:spPr>
      </p:sp>
      <p:sp>
        <p:nvSpPr>
          <p:cNvPr id="9" name="card"/>
          <p:cNvSpPr/>
          <p:nvPr/>
        </p:nvSpPr>
        <p:spPr>
          <a:xfrm>
            <a:off x="5438760" y="2486254"/>
            <a:ext cx="2940070" cy="1685788"/>
          </a:xfrm>
          <a:prstGeom prst="roundRect">
            <a:avLst>
              <a:gd name="adj" fmla="val 8852"/>
            </a:avLst>
          </a:prstGeom>
          <a:solidFill>
            <a:srgbClr val="FFFFFF"/>
          </a:solidFill>
          <a:ln w="6350">
            <a:solidFill>
              <a:srgbClr val="F0F0F0"/>
            </a:solidFill>
            <a:prstDash val="solid"/>
          </a:ln>
        </p:spPr>
      </p:sp>
      <p:sp>
        <p:nvSpPr>
          <p:cNvPr id="10" name="Rule"/>
          <p:cNvSpPr/>
          <p:nvPr/>
        </p:nvSpPr>
        <p:spPr>
          <a:xfrm>
            <a:off x="5619720" y="3699388"/>
            <a:ext cx="2578059" cy="0"/>
          </a:xfrm>
          <a:prstGeom prst="line">
            <a:avLst/>
          </a:prstGeom>
          <a:noFill/>
          <a:ln w="6350">
            <a:solidFill>
              <a:srgbClr val="F0F0F0"/>
            </a:solidFill>
            <a:prstDash val="solid"/>
          </a:ln>
        </p:spPr>
      </p:sp>
      <p:sp>
        <p:nvSpPr>
          <p:cNvPr id="11" name="card"/>
          <p:cNvSpPr/>
          <p:nvPr/>
        </p:nvSpPr>
        <p:spPr>
          <a:xfrm>
            <a:off x="8537570" y="2486254"/>
            <a:ext cx="2940070" cy="1685788"/>
          </a:xfrm>
          <a:prstGeom prst="roundRect">
            <a:avLst>
              <a:gd name="adj" fmla="val 8852"/>
            </a:avLst>
          </a:prstGeom>
          <a:solidFill>
            <a:srgbClr val="FFFFFF"/>
          </a:solidFill>
          <a:ln w="6350">
            <a:solidFill>
              <a:srgbClr val="F0F0F0"/>
            </a:solidFill>
            <a:prstDash val="solid"/>
          </a:ln>
        </p:spPr>
      </p:sp>
      <p:sp>
        <p:nvSpPr>
          <p:cNvPr id="12" name="Rule"/>
          <p:cNvSpPr/>
          <p:nvPr/>
        </p:nvSpPr>
        <p:spPr>
          <a:xfrm>
            <a:off x="8718530" y="3699388"/>
            <a:ext cx="2578059" cy="0"/>
          </a:xfrm>
          <a:prstGeom prst="line">
            <a:avLst/>
          </a:prstGeom>
          <a:noFill/>
          <a:ln w="6350">
            <a:solidFill>
              <a:srgbClr val="F0F0F0"/>
            </a:solidFill>
            <a:prstDash val="solid"/>
          </a:ln>
        </p:spPr>
      </p:sp>
      <p:sp>
        <p:nvSpPr>
          <p:cNvPr id="13" name="card"/>
          <p:cNvSpPr/>
          <p:nvPr/>
        </p:nvSpPr>
        <p:spPr>
          <a:xfrm>
            <a:off x="5438760" y="4330781"/>
            <a:ext cx="2940070" cy="1685788"/>
          </a:xfrm>
          <a:prstGeom prst="roundRect">
            <a:avLst>
              <a:gd name="adj" fmla="val 8852"/>
            </a:avLst>
          </a:prstGeom>
          <a:solidFill>
            <a:srgbClr val="FFFFFF"/>
          </a:solidFill>
          <a:ln w="6350">
            <a:solidFill>
              <a:srgbClr val="F0F0F0"/>
            </a:solidFill>
            <a:prstDash val="solid"/>
          </a:ln>
        </p:spPr>
      </p:sp>
      <p:sp>
        <p:nvSpPr>
          <p:cNvPr id="14" name="Rule"/>
          <p:cNvSpPr/>
          <p:nvPr/>
        </p:nvSpPr>
        <p:spPr>
          <a:xfrm>
            <a:off x="5619720" y="5543916"/>
            <a:ext cx="2578059" cy="0"/>
          </a:xfrm>
          <a:prstGeom prst="line">
            <a:avLst/>
          </a:prstGeom>
          <a:noFill/>
          <a:ln w="6350">
            <a:solidFill>
              <a:srgbClr val="F0F0F0"/>
            </a:solidFill>
            <a:prstDash val="solid"/>
          </a:ln>
        </p:spPr>
      </p:sp>
      <p:sp>
        <p:nvSpPr>
          <p:cNvPr id="15" name="card"/>
          <p:cNvSpPr/>
          <p:nvPr/>
        </p:nvSpPr>
        <p:spPr>
          <a:xfrm>
            <a:off x="8537570" y="4330781"/>
            <a:ext cx="2940070" cy="1685788"/>
          </a:xfrm>
          <a:prstGeom prst="roundRect">
            <a:avLst>
              <a:gd name="adj" fmla="val 8852"/>
            </a:avLst>
          </a:prstGeom>
          <a:solidFill>
            <a:srgbClr val="FFFFFF"/>
          </a:solidFill>
          <a:ln w="6350">
            <a:solidFill>
              <a:srgbClr val="F0F0F0"/>
            </a:solidFill>
            <a:prstDash val="solid"/>
          </a:ln>
        </p:spPr>
      </p:sp>
      <p:sp>
        <p:nvSpPr>
          <p:cNvPr id="16" name="Rule"/>
          <p:cNvSpPr/>
          <p:nvPr/>
        </p:nvSpPr>
        <p:spPr>
          <a:xfrm>
            <a:off x="8718530" y="5543916"/>
            <a:ext cx="2578059" cy="0"/>
          </a:xfrm>
          <a:prstGeom prst="line">
            <a:avLst/>
          </a:prstGeom>
          <a:noFill/>
          <a:ln w="6350">
            <a:solidFill>
              <a:srgbClr val="F0F0F0"/>
            </a:solidFill>
            <a:prstDash val="solid"/>
          </a:ln>
        </p:spPr>
      </p:sp>
      <p:sp>
        <p:nvSpPr>
          <p:cNvPr id="17" name="span::before"/>
          <p:cNvSpPr/>
          <p:nvPr/>
        </p:nvSpPr>
        <p:spPr>
          <a:xfrm>
            <a:off x="6191860" y="311170"/>
            <a:ext cx="44440" cy="44440"/>
          </a:xfrm>
          <a:prstGeom prst="rect">
            <a:avLst/>
          </a:prstGeom>
          <a:solidFill>
            <a:srgbClr val="A0A6AF">
              <a:alpha val="55000"/>
            </a:srgbClr>
          </a:solidFill>
          <a:ln/>
        </p:spPr>
      </p:sp>
      <p:sp>
        <p:nvSpPr>
          <p:cNvPr id="18" name="span::before"/>
          <p:cNvSpPr/>
          <p:nvPr/>
        </p:nvSpPr>
        <p:spPr>
          <a:xfrm>
            <a:off x="7145213" y="311170"/>
            <a:ext cx="44440" cy="44440"/>
          </a:xfrm>
          <a:prstGeom prst="rect">
            <a:avLst/>
          </a:prstGeom>
          <a:solidFill>
            <a:srgbClr val="A0A6AF">
              <a:alpha val="55000"/>
            </a:srgbClr>
          </a:solidFill>
          <a:ln/>
        </p:spPr>
      </p:sp>
      <p:sp>
        <p:nvSpPr>
          <p:cNvPr id="19" name="span::before"/>
          <p:cNvSpPr/>
          <p:nvPr/>
        </p:nvSpPr>
        <p:spPr>
          <a:xfrm>
            <a:off x="8056230" y="311170"/>
            <a:ext cx="44440" cy="44440"/>
          </a:xfrm>
          <a:prstGeom prst="rect">
            <a:avLst/>
          </a:prstGeom>
          <a:solidFill>
            <a:srgbClr val="A0A6AF">
              <a:alpha val="55000"/>
            </a:srgbClr>
          </a:solidFill>
          <a:ln/>
        </p:spPr>
      </p:sp>
      <p:sp>
        <p:nvSpPr>
          <p:cNvPr id="20" name="span::before"/>
          <p:cNvSpPr/>
          <p:nvPr/>
        </p:nvSpPr>
        <p:spPr>
          <a:xfrm>
            <a:off x="8972550" y="311170"/>
            <a:ext cx="44440" cy="44440"/>
          </a:xfrm>
          <a:prstGeom prst="rect">
            <a:avLst/>
          </a:prstGeom>
          <a:solidFill>
            <a:srgbClr val="A0A6AF">
              <a:alpha val="55000"/>
            </a:srgbClr>
          </a:solidFill>
          <a:ln/>
        </p:spPr>
      </p:sp>
      <p:sp>
        <p:nvSpPr>
          <p:cNvPr id="21" name="span::before"/>
          <p:cNvSpPr/>
          <p:nvPr/>
        </p:nvSpPr>
        <p:spPr>
          <a:xfrm>
            <a:off x="10421142" y="311170"/>
            <a:ext cx="44440" cy="44440"/>
          </a:xfrm>
          <a:prstGeom prst="rect">
            <a:avLst/>
          </a:prstGeom>
          <a:solidFill>
            <a:srgbClr val="A0A6AF">
              <a:alpha val="55000"/>
            </a:srgbClr>
          </a:solidFill>
          <a:ln/>
        </p:spPr>
      </p:sp>
      <p:sp>
        <p:nvSpPr>
          <p:cNvPr id="22" name="on::before"/>
          <p:cNvSpPr/>
          <p:nvPr/>
        </p:nvSpPr>
        <p:spPr>
          <a:xfrm>
            <a:off x="10966216" y="311170"/>
            <a:ext cx="44440" cy="44440"/>
          </a:xfrm>
          <a:prstGeom prst="rect">
            <a:avLst/>
          </a:prstGeom>
          <a:solidFill>
            <a:srgbClr val="044BD9"/>
          </a:solidFill>
          <a:ln/>
        </p:spPr>
      </p:sp>
      <p:sp>
        <p:nvSpPr>
          <p:cNvPr id="23" name="Text"/>
          <p:cNvSpPr txBox="1"/>
          <p:nvPr/>
        </p:nvSpPr>
        <p:spPr>
          <a:xfrm>
            <a:off x="844540" y="603230"/>
            <a:ext cx="959846" cy="120609"/>
          </a:xfrm>
          <a:prstGeom prst="rect">
            <a:avLst/>
          </a:prstGeom>
          <a:noFill/>
          <a:ln/>
        </p:spPr>
        <p:txBody>
          <a:bodyPr wrap="none" lIns="0" tIns="0" rIns="0" bIns="0" rtlCol="0" anchor="t"/>
          <a:lstStyle/>
          <a:p>
            <a:pPr algn="l" indent="0" marL="0">
              <a:lnSpc>
                <a:spcPts val="950"/>
              </a:lnSpc>
              <a:buNone/>
            </a:pPr>
            <a:r>
              <a:rPr lang="en-US" sz="950" spc="10" kern="0" dirty="0">
                <a:solidFill>
                  <a:srgbClr val="155DFC"/>
                </a:solidFill>
                <a:latin typeface="Poppins Medium" pitchFamily="34" charset="0"/>
                <a:ea typeface="Poppins Medium" pitchFamily="34" charset="-122"/>
                <a:cs typeface="Poppins Medium" pitchFamily="34" charset="-120"/>
              </a:rPr>
              <a:t>How to engage</a:t>
            </a:r>
            <a:endParaRPr lang="en-US" sz="950" dirty="0"/>
          </a:p>
        </p:txBody>
      </p:sp>
      <p:sp>
        <p:nvSpPr>
          <p:cNvPr id="24" name="Title"/>
          <p:cNvSpPr txBox="1"/>
          <p:nvPr/>
        </p:nvSpPr>
        <p:spPr>
          <a:xfrm>
            <a:off x="711220" y="927750"/>
            <a:ext cx="9398020" cy="861090"/>
          </a:xfrm>
          <a:prstGeom prst="rect">
            <a:avLst/>
          </a:prstGeom>
          <a:noFill/>
          <a:ln/>
        </p:spPr>
        <p:txBody>
          <a:bodyPr wrap="square" lIns="0" tIns="0" rIns="0" bIns="0" rtlCol="0" anchor="t"/>
          <a:lstStyle/>
          <a:p>
            <a:pPr algn="l" indent="0" marL="0">
              <a:lnSpc>
                <a:spcPts val="3390"/>
              </a:lnSpc>
              <a:buNone/>
            </a:pPr>
            <a:r>
              <a:rPr lang="en-US" sz="3000" spc="-45" kern="0" dirty="0">
                <a:solidFill>
                  <a:srgbClr val="000000"/>
                </a:solidFill>
                <a:latin typeface="Poppins Medium" pitchFamily="34" charset="0"/>
                <a:ea typeface="Poppins Medium" pitchFamily="34" charset="-122"/>
                <a:cs typeface="Poppins Medium" pitchFamily="34" charset="-120"/>
              </a:rPr>
              <a:t>Engagements start from</a:t>
            </a:r>
            <a:pPr algn="l" indent="0" marL="0">
              <a:lnSpc>
                <a:spcPts val="3390"/>
              </a:lnSpc>
              <a:buNone/>
            </a:pPr>
            <a:r>
              <a:rPr lang="en-US" sz="3000" spc="-45" kern="0" dirty="0">
                <a:solidFill>
                  <a:srgbClr val="044BD9"/>
                </a:solidFill>
                <a:latin typeface="Poppins Medium" pitchFamily="34" charset="0"/>
                <a:ea typeface="Poppins Medium" pitchFamily="34" charset="-122"/>
                <a:cs typeface="Poppins Medium" pitchFamily="34" charset="-120"/>
              </a:rPr>
              <a:t> the business</a:t>
            </a:r>
            <a:endParaRPr lang="en-US" sz="3000" dirty="0"/>
          </a:p>
          <a:p>
            <a:pPr algn="l" indent="0" marL="0">
              <a:lnSpc>
                <a:spcPts val="3390"/>
              </a:lnSpc>
              <a:buNone/>
            </a:pPr>
            <a:r>
              <a:rPr lang="en-US" sz="3000" spc="-45" kern="0" dirty="0">
                <a:solidFill>
                  <a:srgbClr val="044BD9"/>
                </a:solidFill>
                <a:latin typeface="Poppins Medium" pitchFamily="34" charset="0"/>
                <a:ea typeface="Poppins Medium" pitchFamily="34" charset="-122"/>
                <a:cs typeface="Poppins Medium" pitchFamily="34" charset="-120"/>
              </a:rPr>
              <a:t>case</a:t>
            </a:r>
            <a:pPr algn="l" indent="0" marL="0">
              <a:lnSpc>
                <a:spcPts val="3390"/>
              </a:lnSpc>
              <a:buNone/>
            </a:pPr>
            <a:r>
              <a:rPr lang="en-US" sz="3000" spc="-45" kern="0" dirty="0">
                <a:solidFill>
                  <a:srgbClr val="000000"/>
                </a:solidFill>
                <a:latin typeface="Poppins Medium" pitchFamily="34" charset="0"/>
                <a:ea typeface="Poppins Medium" pitchFamily="34" charset="-122"/>
                <a:cs typeface="Poppins Medium" pitchFamily="34" charset="-120"/>
              </a:rPr>
              <a:t>, wherever your systems are today</a:t>
            </a:r>
            <a:endParaRPr lang="en-US" sz="3000" dirty="0"/>
          </a:p>
        </p:txBody>
      </p:sp>
      <p:sp>
        <p:nvSpPr>
          <p:cNvPr id="25" name="Text"/>
          <p:cNvSpPr txBox="1"/>
          <p:nvPr/>
        </p:nvSpPr>
        <p:spPr>
          <a:xfrm>
            <a:off x="711220" y="2072396"/>
            <a:ext cx="4347972" cy="186995"/>
          </a:xfrm>
          <a:prstGeom prst="rect">
            <a:avLst/>
          </a:prstGeom>
          <a:noFill/>
          <a:ln/>
        </p:spPr>
        <p:txBody>
          <a:bodyPr wrap="square" lIns="0" tIns="0" rIns="0" bIns="0" rtlCol="0" anchor="t"/>
          <a:lstStyle/>
          <a:p>
            <a:pPr algn="l" indent="0" marL="0">
              <a:lnSpc>
                <a:spcPts val="1472"/>
              </a:lnSpc>
              <a:buNone/>
            </a:pPr>
            <a:r>
              <a:rPr lang="en-US" sz="950" spc="19" kern="0" dirty="0">
                <a:solidFill>
                  <a:srgbClr val="6B6B6B"/>
                </a:solidFill>
                <a:latin typeface="Poppins Medium" pitchFamily="34" charset="0"/>
                <a:ea typeface="Poppins Medium" pitchFamily="34" charset="-122"/>
                <a:cs typeface="Poppins Medium" pitchFamily="34" charset="-120"/>
              </a:rPr>
              <a:t>What happens after you get in touch</a:t>
            </a:r>
            <a:endParaRPr lang="en-US" sz="950" dirty="0"/>
          </a:p>
        </p:txBody>
      </p:sp>
      <p:sp>
        <p:nvSpPr>
          <p:cNvPr id="26" name="Text"/>
          <p:cNvSpPr txBox="1"/>
          <p:nvPr/>
        </p:nvSpPr>
        <p:spPr>
          <a:xfrm>
            <a:off x="837499" y="2618384"/>
            <a:ext cx="293888" cy="236190"/>
          </a:xfrm>
          <a:prstGeom prst="rect">
            <a:avLst/>
          </a:prstGeom>
          <a:noFill/>
          <a:ln/>
        </p:spPr>
        <p:txBody>
          <a:bodyPr wrap="square" lIns="0" tIns="0" rIns="0" bIns="0" rtlCol="0" anchor="t"/>
          <a:lstStyle/>
          <a:p>
            <a:pPr algn="l" indent="0" marL="0">
              <a:lnSpc>
                <a:spcPts val="1860"/>
              </a:lnSpc>
              <a:buNone/>
            </a:pPr>
            <a:r>
              <a:rPr lang="en-US" sz="1200" dirty="0">
                <a:solidFill>
                  <a:srgbClr val="FFFFFF"/>
                </a:solidFill>
                <a:latin typeface="Poppins SemiBold" pitchFamily="34" charset="0"/>
                <a:ea typeface="Poppins SemiBold" pitchFamily="34" charset="-122"/>
                <a:cs typeface="Poppins SemiBold" pitchFamily="34" charset="-120"/>
              </a:rPr>
              <a:t>01</a:t>
            </a:r>
            <a:endParaRPr lang="en-US" sz="1200" dirty="0"/>
          </a:p>
        </p:txBody>
      </p:sp>
      <p:sp>
        <p:nvSpPr>
          <p:cNvPr id="27" name="Text"/>
          <p:cNvSpPr txBox="1"/>
          <p:nvPr/>
        </p:nvSpPr>
        <p:spPr>
          <a:xfrm>
            <a:off x="1282720" y="2533894"/>
            <a:ext cx="3774186" cy="222291"/>
          </a:xfrm>
          <a:prstGeom prst="rect">
            <a:avLst/>
          </a:prstGeom>
          <a:noFill/>
          <a:ln/>
        </p:spPr>
        <p:txBody>
          <a:bodyPr wrap="square" lIns="0" tIns="0" rIns="0" bIns="0" rtlCol="0" anchor="t"/>
          <a:lstStyle/>
          <a:p>
            <a:pPr algn="l" indent="0" marL="0">
              <a:lnSpc>
                <a:spcPts val="1750"/>
              </a:lnSpc>
              <a:buNone/>
            </a:pPr>
            <a:r>
              <a:rPr lang="en-US" sz="1400" dirty="0">
                <a:solidFill>
                  <a:srgbClr val="000000"/>
                </a:solidFill>
                <a:latin typeface="Poppins Medium" pitchFamily="34" charset="0"/>
                <a:ea typeface="Poppins Medium" pitchFamily="34" charset="-122"/>
                <a:cs typeface="Poppins Medium" pitchFamily="34" charset="-120"/>
              </a:rPr>
              <a:t>Tell us about the business case</a:t>
            </a:r>
            <a:endParaRPr lang="en-US" sz="1400" dirty="0"/>
          </a:p>
        </p:txBody>
      </p:sp>
      <p:sp>
        <p:nvSpPr>
          <p:cNvPr id="28" name="Text"/>
          <p:cNvSpPr txBox="1"/>
          <p:nvPr/>
        </p:nvSpPr>
        <p:spPr>
          <a:xfrm>
            <a:off x="1282720" y="2803368"/>
            <a:ext cx="3774186" cy="433060"/>
          </a:xfrm>
          <a:prstGeom prst="rect">
            <a:avLst/>
          </a:prstGeom>
          <a:noFill/>
          <a:ln/>
        </p:spPr>
        <p:txBody>
          <a:bodyPr wrap="square" lIns="0" tIns="0" rIns="0" bIns="0" rtlCol="0" anchor="t"/>
          <a:lstStyle/>
          <a:p>
            <a:pPr algn="l" indent="0" marL="0">
              <a:lnSpc>
                <a:spcPts val="1705"/>
              </a:lnSpc>
              <a:buNone/>
            </a:pPr>
            <a:r>
              <a:rPr lang="en-US" sz="1100" dirty="0">
                <a:solidFill>
                  <a:srgbClr val="1F2937"/>
                </a:solidFill>
                <a:latin typeface="Poppins Light" pitchFamily="34" charset="0"/>
                <a:ea typeface="Poppins Light" pitchFamily="34" charset="-122"/>
                <a:cs typeface="Poppins Light" pitchFamily="34" charset="-120"/>
              </a:rPr>
              <a:t>Share what you want AI to change and the systems involved, by form, WhatsApp, phone or email.</a:t>
            </a:r>
            <a:endParaRPr lang="en-US" sz="1100" dirty="0"/>
          </a:p>
        </p:txBody>
      </p:sp>
      <p:sp>
        <p:nvSpPr>
          <p:cNvPr id="29" name="Text"/>
          <p:cNvSpPr txBox="1"/>
          <p:nvPr/>
        </p:nvSpPr>
        <p:spPr>
          <a:xfrm>
            <a:off x="821406" y="4008272"/>
            <a:ext cx="310073" cy="236190"/>
          </a:xfrm>
          <a:prstGeom prst="rect">
            <a:avLst/>
          </a:prstGeom>
          <a:noFill/>
          <a:ln/>
        </p:spPr>
        <p:txBody>
          <a:bodyPr wrap="square" lIns="0" tIns="0" rIns="0" bIns="0" rtlCol="0" anchor="t"/>
          <a:lstStyle/>
          <a:p>
            <a:pPr algn="l" indent="0" marL="0">
              <a:lnSpc>
                <a:spcPts val="1860"/>
              </a:lnSpc>
              <a:buNone/>
            </a:pPr>
            <a:r>
              <a:rPr lang="en-US" sz="1200" dirty="0">
                <a:solidFill>
                  <a:srgbClr val="FFFFFF"/>
                </a:solidFill>
                <a:latin typeface="Poppins SemiBold" pitchFamily="34" charset="0"/>
                <a:ea typeface="Poppins SemiBold" pitchFamily="34" charset="-122"/>
                <a:cs typeface="Poppins SemiBold" pitchFamily="34" charset="-120"/>
              </a:rPr>
              <a:t>02</a:t>
            </a:r>
            <a:endParaRPr lang="en-US" sz="1200" dirty="0"/>
          </a:p>
        </p:txBody>
      </p:sp>
      <p:sp>
        <p:nvSpPr>
          <p:cNvPr id="30" name="Text"/>
          <p:cNvSpPr txBox="1"/>
          <p:nvPr/>
        </p:nvSpPr>
        <p:spPr>
          <a:xfrm>
            <a:off x="1282720" y="3923782"/>
            <a:ext cx="3774186" cy="222291"/>
          </a:xfrm>
          <a:prstGeom prst="rect">
            <a:avLst/>
          </a:prstGeom>
          <a:noFill/>
          <a:ln/>
        </p:spPr>
        <p:txBody>
          <a:bodyPr wrap="square" lIns="0" tIns="0" rIns="0" bIns="0" rtlCol="0" anchor="t"/>
          <a:lstStyle/>
          <a:p>
            <a:pPr algn="l" indent="0" marL="0">
              <a:lnSpc>
                <a:spcPts val="1750"/>
              </a:lnSpc>
              <a:buNone/>
            </a:pPr>
            <a:r>
              <a:rPr lang="en-US" sz="1400" dirty="0">
                <a:solidFill>
                  <a:srgbClr val="000000"/>
                </a:solidFill>
                <a:latin typeface="Poppins Medium" pitchFamily="34" charset="0"/>
                <a:ea typeface="Poppins Medium" pitchFamily="34" charset="-122"/>
                <a:cs typeface="Poppins Medium" pitchFamily="34" charset="-120"/>
              </a:rPr>
              <a:t>Find where AI pays back</a:t>
            </a:r>
            <a:endParaRPr lang="en-US" sz="1400" dirty="0"/>
          </a:p>
        </p:txBody>
      </p:sp>
      <p:sp>
        <p:nvSpPr>
          <p:cNvPr id="31" name="Text"/>
          <p:cNvSpPr txBox="1"/>
          <p:nvPr/>
        </p:nvSpPr>
        <p:spPr>
          <a:xfrm>
            <a:off x="1282720" y="4193347"/>
            <a:ext cx="3774186" cy="433060"/>
          </a:xfrm>
          <a:prstGeom prst="rect">
            <a:avLst/>
          </a:prstGeom>
          <a:noFill/>
          <a:ln/>
        </p:spPr>
        <p:txBody>
          <a:bodyPr wrap="square" lIns="0" tIns="0" rIns="0" bIns="0" rtlCol="0" anchor="t"/>
          <a:lstStyle/>
          <a:p>
            <a:pPr algn="l" indent="0" marL="0">
              <a:lnSpc>
                <a:spcPts val="1705"/>
              </a:lnSpc>
              <a:buNone/>
            </a:pPr>
            <a:r>
              <a:rPr lang="en-US" sz="1100" dirty="0">
                <a:solidFill>
                  <a:srgbClr val="1F2937"/>
                </a:solidFill>
                <a:latin typeface="Poppins Light" pitchFamily="34" charset="0"/>
                <a:ea typeface="Poppins Light" pitchFamily="34" charset="-122"/>
                <a:cs typeface="Poppins Light" pitchFamily="34" charset="-120"/>
              </a:rPr>
              <a:t>Tech advisory, a data audit and AI strategy research show where AI pays back, before any build starts.</a:t>
            </a:r>
            <a:endParaRPr lang="en-US" sz="1100" dirty="0"/>
          </a:p>
        </p:txBody>
      </p:sp>
      <p:sp>
        <p:nvSpPr>
          <p:cNvPr id="32" name="Text"/>
          <p:cNvSpPr txBox="1"/>
          <p:nvPr/>
        </p:nvSpPr>
        <p:spPr>
          <a:xfrm>
            <a:off x="819485" y="5398252"/>
            <a:ext cx="312085" cy="236190"/>
          </a:xfrm>
          <a:prstGeom prst="rect">
            <a:avLst/>
          </a:prstGeom>
          <a:noFill/>
          <a:ln/>
        </p:spPr>
        <p:txBody>
          <a:bodyPr wrap="square" lIns="0" tIns="0" rIns="0" bIns="0" rtlCol="0" anchor="t"/>
          <a:lstStyle/>
          <a:p>
            <a:pPr algn="l" indent="0" marL="0">
              <a:lnSpc>
                <a:spcPts val="1860"/>
              </a:lnSpc>
              <a:buNone/>
            </a:pPr>
            <a:r>
              <a:rPr lang="en-US" sz="1200" dirty="0">
                <a:solidFill>
                  <a:srgbClr val="FFFFFF"/>
                </a:solidFill>
                <a:latin typeface="Poppins SemiBold" pitchFamily="34" charset="0"/>
                <a:ea typeface="Poppins SemiBold" pitchFamily="34" charset="-122"/>
                <a:cs typeface="Poppins SemiBold" pitchFamily="34" charset="-120"/>
              </a:rPr>
              <a:t>03</a:t>
            </a:r>
            <a:endParaRPr lang="en-US" sz="1200" dirty="0"/>
          </a:p>
        </p:txBody>
      </p:sp>
      <p:sp>
        <p:nvSpPr>
          <p:cNvPr id="33" name="Text"/>
          <p:cNvSpPr txBox="1"/>
          <p:nvPr/>
        </p:nvSpPr>
        <p:spPr>
          <a:xfrm>
            <a:off x="1282720" y="5313761"/>
            <a:ext cx="3771900" cy="222291"/>
          </a:xfrm>
          <a:prstGeom prst="rect">
            <a:avLst/>
          </a:prstGeom>
          <a:noFill/>
          <a:ln/>
        </p:spPr>
        <p:txBody>
          <a:bodyPr wrap="none" lIns="0" tIns="0" rIns="0" bIns="0" rtlCol="0" anchor="t"/>
          <a:lstStyle/>
          <a:p>
            <a:pPr algn="l" indent="0" marL="0">
              <a:lnSpc>
                <a:spcPts val="1750"/>
              </a:lnSpc>
              <a:buNone/>
            </a:pPr>
            <a:r>
              <a:rPr lang="en-US" sz="1400" dirty="0">
                <a:solidFill>
                  <a:srgbClr val="000000"/>
                </a:solidFill>
                <a:latin typeface="Poppins Medium" pitchFamily="34" charset="0"/>
                <a:ea typeface="Poppins Medium" pitchFamily="34" charset="-122"/>
                <a:cs typeface="Poppins Medium" pitchFamily="34" charset="-120"/>
              </a:rPr>
              <a:t>One team designs, builds and improves it</a:t>
            </a:r>
            <a:endParaRPr lang="en-US" sz="1400" dirty="0"/>
          </a:p>
        </p:txBody>
      </p:sp>
      <p:sp>
        <p:nvSpPr>
          <p:cNvPr id="34" name="Text"/>
          <p:cNvSpPr txBox="1"/>
          <p:nvPr/>
        </p:nvSpPr>
        <p:spPr>
          <a:xfrm>
            <a:off x="1282720" y="5583326"/>
            <a:ext cx="3774186" cy="433060"/>
          </a:xfrm>
          <a:prstGeom prst="rect">
            <a:avLst/>
          </a:prstGeom>
          <a:noFill/>
          <a:ln/>
        </p:spPr>
        <p:txBody>
          <a:bodyPr wrap="square" lIns="0" tIns="0" rIns="0" bIns="0" rtlCol="0" anchor="t"/>
          <a:lstStyle/>
          <a:p>
            <a:pPr algn="l" indent="0" marL="0">
              <a:lnSpc>
                <a:spcPts val="1705"/>
              </a:lnSpc>
              <a:buNone/>
            </a:pPr>
            <a:r>
              <a:rPr lang="en-US" sz="1100" dirty="0">
                <a:solidFill>
                  <a:srgbClr val="1F2937"/>
                </a:solidFill>
                <a:latin typeface="Poppins Light" pitchFamily="34" charset="0"/>
                <a:ea typeface="Poppins Light" pitchFamily="34" charset="-122"/>
                <a:cs typeface="Poppins Light" pitchFamily="34" charset="-120"/>
              </a:rPr>
              <a:t>The engineers who scope your AI are the ones who ship and improve it. No hand-offs.</a:t>
            </a:r>
            <a:endParaRPr lang="en-US" sz="1100" dirty="0"/>
          </a:p>
        </p:txBody>
      </p:sp>
      <p:sp>
        <p:nvSpPr>
          <p:cNvPr id="35" name="Text"/>
          <p:cNvSpPr txBox="1"/>
          <p:nvPr/>
        </p:nvSpPr>
        <p:spPr>
          <a:xfrm>
            <a:off x="5435559" y="2072396"/>
            <a:ext cx="6082040" cy="186995"/>
          </a:xfrm>
          <a:prstGeom prst="rect">
            <a:avLst/>
          </a:prstGeom>
          <a:noFill/>
          <a:ln/>
        </p:spPr>
        <p:txBody>
          <a:bodyPr wrap="square" lIns="0" tIns="0" rIns="0" bIns="0" rtlCol="0" anchor="t"/>
          <a:lstStyle/>
          <a:p>
            <a:pPr algn="l" indent="0" marL="0">
              <a:lnSpc>
                <a:spcPts val="1472"/>
              </a:lnSpc>
              <a:buNone/>
            </a:pPr>
            <a:r>
              <a:rPr lang="en-US" sz="950" spc="19" kern="0" dirty="0">
                <a:solidFill>
                  <a:srgbClr val="6B6B6B"/>
                </a:solidFill>
                <a:latin typeface="Poppins Medium" pitchFamily="34" charset="0"/>
                <a:ea typeface="Poppins Medium" pitchFamily="34" charset="-122"/>
                <a:cs typeface="Poppins Medium" pitchFamily="34" charset="-120"/>
              </a:rPr>
              <a:t>Where we start depends on where you are</a:t>
            </a:r>
            <a:endParaRPr lang="en-US" sz="950" dirty="0"/>
          </a:p>
        </p:txBody>
      </p:sp>
      <p:sp>
        <p:nvSpPr>
          <p:cNvPr id="36" name="Text"/>
          <p:cNvSpPr txBox="1"/>
          <p:nvPr/>
        </p:nvSpPr>
        <p:spPr>
          <a:xfrm>
            <a:off x="5619720" y="2664013"/>
            <a:ext cx="2601102" cy="203180"/>
          </a:xfrm>
          <a:prstGeom prst="rect">
            <a:avLst/>
          </a:prstGeom>
          <a:noFill/>
          <a:ln/>
        </p:spPr>
        <p:txBody>
          <a:bodyPr wrap="square" lIns="0" tIns="0" rIns="0" bIns="0" rtlCol="0" anchor="t"/>
          <a:lstStyle/>
          <a:p>
            <a:pPr algn="l" indent="0" marL="0">
              <a:lnSpc>
                <a:spcPts val="1600"/>
              </a:lnSpc>
              <a:buNone/>
            </a:pPr>
            <a:r>
              <a:rPr lang="en-US" sz="1250" dirty="0">
                <a:solidFill>
                  <a:srgbClr val="000000"/>
                </a:solidFill>
                <a:latin typeface="Poppins Medium" pitchFamily="34" charset="0"/>
                <a:ea typeface="Poppins Medium" pitchFamily="34" charset="-122"/>
                <a:cs typeface="Poppins Medium" pitchFamily="34" charset="-120"/>
              </a:rPr>
              <a:t>Strategy before the build</a:t>
            </a:r>
            <a:endParaRPr lang="en-US" sz="1250" dirty="0"/>
          </a:p>
        </p:txBody>
      </p:sp>
      <p:sp>
        <p:nvSpPr>
          <p:cNvPr id="37" name="Text"/>
          <p:cNvSpPr txBox="1"/>
          <p:nvPr/>
        </p:nvSpPr>
        <p:spPr>
          <a:xfrm>
            <a:off x="5619720" y="2943088"/>
            <a:ext cx="2601102" cy="649590"/>
          </a:xfrm>
          <a:prstGeom prst="rect">
            <a:avLst/>
          </a:prstGeom>
          <a:noFill/>
          <a:ln/>
        </p:spPr>
        <p:txBody>
          <a:bodyPr wrap="square" lIns="0" tIns="0" rIns="0" bIns="0" rtlCol="0" anchor="t"/>
          <a:lstStyle/>
          <a:p>
            <a:pPr algn="l" indent="0" marL="0">
              <a:lnSpc>
                <a:spcPts val="1705"/>
              </a:lnSpc>
              <a:buNone/>
            </a:pPr>
            <a:r>
              <a:rPr lang="en-US" sz="1100" dirty="0">
                <a:solidFill>
                  <a:srgbClr val="1F2937"/>
                </a:solidFill>
                <a:latin typeface="Poppins Light" pitchFamily="34" charset="0"/>
                <a:ea typeface="Poppins Light" pitchFamily="34" charset="-122"/>
                <a:cs typeface="Poppins Light" pitchFamily="34" charset="-120"/>
              </a:rPr>
              <a:t>Tech advisory, a data audit and AI strategy research to find where AI pays back, before any build starts.</a:t>
            </a:r>
            <a:endParaRPr lang="en-US" sz="1100" dirty="0"/>
          </a:p>
        </p:txBody>
      </p:sp>
      <p:sp>
        <p:nvSpPr>
          <p:cNvPr id="38" name="Text"/>
          <p:cNvSpPr txBox="1"/>
          <p:nvPr/>
        </p:nvSpPr>
        <p:spPr>
          <a:xfrm>
            <a:off x="5619720" y="3802715"/>
            <a:ext cx="2601102" cy="186995"/>
          </a:xfrm>
          <a:prstGeom prst="rect">
            <a:avLst/>
          </a:prstGeom>
          <a:noFill/>
          <a:ln/>
        </p:spPr>
        <p:txBody>
          <a:bodyPr wrap="square" lIns="0" tIns="0" rIns="0" bIns="0" rtlCol="0" anchor="t"/>
          <a:lstStyle/>
          <a:p>
            <a:pPr algn="l" indent="0" marL="0">
              <a:lnSpc>
                <a:spcPts val="1472"/>
              </a:lnSpc>
              <a:buNone/>
            </a:pPr>
            <a:r>
              <a:rPr lang="en-US" sz="950" dirty="0">
                <a:solidFill>
                  <a:srgbClr val="044BD9"/>
                </a:solidFill>
                <a:latin typeface="Poppins Medium" pitchFamily="34" charset="0"/>
                <a:ea typeface="Poppins Medium" pitchFamily="34" charset="-122"/>
                <a:cs typeface="Poppins Medium" pitchFamily="34" charset="-120"/>
              </a:rPr>
              <a:t>Proof</a:t>
            </a:r>
            <a:pPr algn="l" indent="0" marL="0">
              <a:lnSpc>
                <a:spcPts val="1472"/>
              </a:lnSpc>
              <a:buNone/>
            </a:pPr>
            <a:r>
              <a:rPr lang="en-US" sz="950" dirty="0">
                <a:solidFill>
                  <a:srgbClr val="6B6B6B"/>
                </a:solidFill>
                <a:latin typeface="Poppins Light" pitchFamily="34" charset="0"/>
                <a:ea typeface="Poppins Light" pitchFamily="34" charset="-122"/>
                <a:cs typeface="Poppins Light" pitchFamily="34" charset="-120"/>
              </a:rPr>
              <a:t> · EasyRenz</a:t>
            </a:r>
            <a:endParaRPr lang="en-US" sz="950" dirty="0"/>
          </a:p>
        </p:txBody>
      </p:sp>
      <p:sp>
        <p:nvSpPr>
          <p:cNvPr id="39" name="Text"/>
          <p:cNvSpPr txBox="1"/>
          <p:nvPr/>
        </p:nvSpPr>
        <p:spPr>
          <a:xfrm>
            <a:off x="8718530" y="2664013"/>
            <a:ext cx="2601102" cy="203180"/>
          </a:xfrm>
          <a:prstGeom prst="rect">
            <a:avLst/>
          </a:prstGeom>
          <a:noFill/>
          <a:ln/>
        </p:spPr>
        <p:txBody>
          <a:bodyPr wrap="square" lIns="0" tIns="0" rIns="0" bIns="0" rtlCol="0" anchor="t"/>
          <a:lstStyle/>
          <a:p>
            <a:pPr algn="l" indent="0" marL="0">
              <a:lnSpc>
                <a:spcPts val="1600"/>
              </a:lnSpc>
              <a:buNone/>
            </a:pPr>
            <a:r>
              <a:rPr lang="en-US" sz="1250" dirty="0">
                <a:solidFill>
                  <a:srgbClr val="000000"/>
                </a:solidFill>
                <a:latin typeface="Poppins Medium" pitchFamily="34" charset="0"/>
                <a:ea typeface="Poppins Medium" pitchFamily="34" charset="-122"/>
                <a:cs typeface="Poppins Medium" pitchFamily="34" charset="-120"/>
              </a:rPr>
              <a:t>Replace legacy systems</a:t>
            </a:r>
            <a:endParaRPr lang="en-US" sz="1250" dirty="0"/>
          </a:p>
        </p:txBody>
      </p:sp>
      <p:sp>
        <p:nvSpPr>
          <p:cNvPr id="40" name="Text"/>
          <p:cNvSpPr txBox="1"/>
          <p:nvPr/>
        </p:nvSpPr>
        <p:spPr>
          <a:xfrm>
            <a:off x="8718530" y="2943088"/>
            <a:ext cx="2601102" cy="649590"/>
          </a:xfrm>
          <a:prstGeom prst="rect">
            <a:avLst/>
          </a:prstGeom>
          <a:noFill/>
          <a:ln/>
        </p:spPr>
        <p:txBody>
          <a:bodyPr wrap="square" lIns="0" tIns="0" rIns="0" bIns="0" rtlCol="0" anchor="t"/>
          <a:lstStyle/>
          <a:p>
            <a:pPr algn="l" indent="0" marL="0">
              <a:lnSpc>
                <a:spcPts val="1705"/>
              </a:lnSpc>
              <a:buNone/>
            </a:pPr>
            <a:r>
              <a:rPr lang="en-US" sz="1100" dirty="0">
                <a:solidFill>
                  <a:srgbClr val="1F2937"/>
                </a:solidFill>
                <a:latin typeface="Poppins Light" pitchFamily="34" charset="0"/>
                <a:ea typeface="Poppins Light" pitchFamily="34" charset="-122"/>
                <a:cs typeface="Poppins Light" pitchFamily="34" charset="-120"/>
              </a:rPr>
              <a:t>A 36-year-old law firm replaced its legacy system with one ALPHV platform, back office included.</a:t>
            </a:r>
            <a:endParaRPr lang="en-US" sz="1100" dirty="0"/>
          </a:p>
        </p:txBody>
      </p:sp>
      <p:sp>
        <p:nvSpPr>
          <p:cNvPr id="41" name="Text"/>
          <p:cNvSpPr txBox="1"/>
          <p:nvPr/>
        </p:nvSpPr>
        <p:spPr>
          <a:xfrm>
            <a:off x="8718530" y="3802715"/>
            <a:ext cx="2601102" cy="186995"/>
          </a:xfrm>
          <a:prstGeom prst="rect">
            <a:avLst/>
          </a:prstGeom>
          <a:noFill/>
          <a:ln/>
        </p:spPr>
        <p:txBody>
          <a:bodyPr wrap="square" lIns="0" tIns="0" rIns="0" bIns="0" rtlCol="0" anchor="t"/>
          <a:lstStyle/>
          <a:p>
            <a:pPr algn="l" indent="0" marL="0">
              <a:lnSpc>
                <a:spcPts val="1472"/>
              </a:lnSpc>
              <a:buNone/>
            </a:pPr>
            <a:r>
              <a:rPr lang="en-US" sz="950" dirty="0">
                <a:solidFill>
                  <a:srgbClr val="044BD9"/>
                </a:solidFill>
                <a:latin typeface="Poppins Medium" pitchFamily="34" charset="0"/>
                <a:ea typeface="Poppins Medium" pitchFamily="34" charset="-122"/>
                <a:cs typeface="Poppins Medium" pitchFamily="34" charset="-120"/>
              </a:rPr>
              <a:t>Proof</a:t>
            </a:r>
            <a:pPr algn="l" indent="0" marL="0">
              <a:lnSpc>
                <a:spcPts val="1472"/>
              </a:lnSpc>
              <a:buNone/>
            </a:pPr>
            <a:r>
              <a:rPr lang="en-US" sz="950" dirty="0">
                <a:solidFill>
                  <a:srgbClr val="6B6B6B"/>
                </a:solidFill>
                <a:latin typeface="Poppins Light" pitchFamily="34" charset="0"/>
                <a:ea typeface="Poppins Light" pitchFamily="34" charset="-122"/>
                <a:cs typeface="Poppins Light" pitchFamily="34" charset="-120"/>
              </a:rPr>
              <a:t> · Abraham Ooi &amp; Partners, 2025</a:t>
            </a:r>
            <a:endParaRPr lang="en-US" sz="950" dirty="0"/>
          </a:p>
        </p:txBody>
      </p:sp>
      <p:sp>
        <p:nvSpPr>
          <p:cNvPr id="42" name="Text"/>
          <p:cNvSpPr txBox="1"/>
          <p:nvPr/>
        </p:nvSpPr>
        <p:spPr>
          <a:xfrm>
            <a:off x="5619720" y="4508632"/>
            <a:ext cx="2601102" cy="203180"/>
          </a:xfrm>
          <a:prstGeom prst="rect">
            <a:avLst/>
          </a:prstGeom>
          <a:noFill/>
          <a:ln/>
        </p:spPr>
        <p:txBody>
          <a:bodyPr wrap="square" lIns="0" tIns="0" rIns="0" bIns="0" rtlCol="0" anchor="t"/>
          <a:lstStyle/>
          <a:p>
            <a:pPr algn="l" indent="0" marL="0">
              <a:lnSpc>
                <a:spcPts val="1600"/>
              </a:lnSpc>
              <a:buNone/>
            </a:pPr>
            <a:r>
              <a:rPr lang="en-US" sz="1250" dirty="0">
                <a:solidFill>
                  <a:srgbClr val="000000"/>
                </a:solidFill>
                <a:latin typeface="Poppins Medium" pitchFamily="34" charset="0"/>
                <a:ea typeface="Poppins Medium" pitchFamily="34" charset="-122"/>
                <a:cs typeface="Poppins Medium" pitchFamily="34" charset="-120"/>
              </a:rPr>
              <a:t>Connect third-party portals</a:t>
            </a:r>
            <a:endParaRPr lang="en-US" sz="1250" dirty="0"/>
          </a:p>
        </p:txBody>
      </p:sp>
      <p:sp>
        <p:nvSpPr>
          <p:cNvPr id="43" name="Text"/>
          <p:cNvSpPr txBox="1"/>
          <p:nvPr/>
        </p:nvSpPr>
        <p:spPr>
          <a:xfrm>
            <a:off x="5619720" y="4787707"/>
            <a:ext cx="2601102" cy="649590"/>
          </a:xfrm>
          <a:prstGeom prst="rect">
            <a:avLst/>
          </a:prstGeom>
          <a:noFill/>
          <a:ln/>
        </p:spPr>
        <p:txBody>
          <a:bodyPr wrap="square" lIns="0" tIns="0" rIns="0" bIns="0" rtlCol="0" anchor="t"/>
          <a:lstStyle/>
          <a:p>
            <a:pPr algn="l" indent="0" marL="0">
              <a:lnSpc>
                <a:spcPts val="1705"/>
              </a:lnSpc>
              <a:buNone/>
            </a:pPr>
            <a:r>
              <a:rPr lang="en-US" sz="1100" dirty="0">
                <a:solidFill>
                  <a:srgbClr val="1F2937"/>
                </a:solidFill>
                <a:latin typeface="Poppins Light" pitchFamily="34" charset="0"/>
                <a:ea typeface="Poppins Light" pitchFamily="34" charset="-122"/>
                <a:cs typeface="Poppins Light" pitchFamily="34" charset="-120"/>
              </a:rPr>
              <a:t>For the same law firm: 90+ portal automations, including banks, government, SSM and CTOS.</a:t>
            </a:r>
            <a:endParaRPr lang="en-US" sz="1100" dirty="0"/>
          </a:p>
        </p:txBody>
      </p:sp>
      <p:sp>
        <p:nvSpPr>
          <p:cNvPr id="44" name="Text"/>
          <p:cNvSpPr txBox="1"/>
          <p:nvPr/>
        </p:nvSpPr>
        <p:spPr>
          <a:xfrm>
            <a:off x="5619720" y="5647334"/>
            <a:ext cx="2601102" cy="186995"/>
          </a:xfrm>
          <a:prstGeom prst="rect">
            <a:avLst/>
          </a:prstGeom>
          <a:noFill/>
          <a:ln/>
        </p:spPr>
        <p:txBody>
          <a:bodyPr wrap="square" lIns="0" tIns="0" rIns="0" bIns="0" rtlCol="0" anchor="t"/>
          <a:lstStyle/>
          <a:p>
            <a:pPr algn="l" indent="0" marL="0">
              <a:lnSpc>
                <a:spcPts val="1472"/>
              </a:lnSpc>
              <a:buNone/>
            </a:pPr>
            <a:r>
              <a:rPr lang="en-US" sz="950" dirty="0">
                <a:solidFill>
                  <a:srgbClr val="044BD9"/>
                </a:solidFill>
                <a:latin typeface="Poppins Medium" pitchFamily="34" charset="0"/>
                <a:ea typeface="Poppins Medium" pitchFamily="34" charset="-122"/>
                <a:cs typeface="Poppins Medium" pitchFamily="34" charset="-120"/>
              </a:rPr>
              <a:t>Proof</a:t>
            </a:r>
            <a:pPr algn="l" indent="0" marL="0">
              <a:lnSpc>
                <a:spcPts val="1472"/>
              </a:lnSpc>
              <a:buNone/>
            </a:pPr>
            <a:r>
              <a:rPr lang="en-US" sz="950" dirty="0">
                <a:solidFill>
                  <a:srgbClr val="6B6B6B"/>
                </a:solidFill>
                <a:latin typeface="Poppins Light" pitchFamily="34" charset="0"/>
                <a:ea typeface="Poppins Light" pitchFamily="34" charset="-122"/>
                <a:cs typeface="Poppins Light" pitchFamily="34" charset="-120"/>
              </a:rPr>
              <a:t> · 90+ portal automations</a:t>
            </a:r>
            <a:endParaRPr lang="en-US" sz="950" dirty="0"/>
          </a:p>
        </p:txBody>
      </p:sp>
      <p:sp>
        <p:nvSpPr>
          <p:cNvPr id="45" name="Text"/>
          <p:cNvSpPr txBox="1"/>
          <p:nvPr/>
        </p:nvSpPr>
        <p:spPr>
          <a:xfrm>
            <a:off x="8718530" y="4508632"/>
            <a:ext cx="2601102" cy="203180"/>
          </a:xfrm>
          <a:prstGeom prst="rect">
            <a:avLst/>
          </a:prstGeom>
          <a:noFill/>
          <a:ln/>
        </p:spPr>
        <p:txBody>
          <a:bodyPr wrap="square" lIns="0" tIns="0" rIns="0" bIns="0" rtlCol="0" anchor="t"/>
          <a:lstStyle/>
          <a:p>
            <a:pPr algn="l" indent="0" marL="0">
              <a:lnSpc>
                <a:spcPts val="1600"/>
              </a:lnSpc>
              <a:buNone/>
            </a:pPr>
            <a:r>
              <a:rPr lang="en-US" sz="1250" dirty="0">
                <a:solidFill>
                  <a:srgbClr val="000000"/>
                </a:solidFill>
                <a:latin typeface="Poppins Medium" pitchFamily="34" charset="0"/>
                <a:ea typeface="Poppins Medium" pitchFamily="34" charset="-122"/>
                <a:cs typeface="Poppins Medium" pitchFamily="34" charset="-120"/>
              </a:rPr>
              <a:t>Take over projects midway</a:t>
            </a:r>
            <a:endParaRPr lang="en-US" sz="1250" dirty="0"/>
          </a:p>
        </p:txBody>
      </p:sp>
      <p:sp>
        <p:nvSpPr>
          <p:cNvPr id="46" name="Text"/>
          <p:cNvSpPr txBox="1"/>
          <p:nvPr/>
        </p:nvSpPr>
        <p:spPr>
          <a:xfrm>
            <a:off x="8718530" y="4787707"/>
            <a:ext cx="2601102" cy="649590"/>
          </a:xfrm>
          <a:prstGeom prst="rect">
            <a:avLst/>
          </a:prstGeom>
          <a:noFill/>
          <a:ln/>
        </p:spPr>
        <p:txBody>
          <a:bodyPr wrap="square" lIns="0" tIns="0" rIns="0" bIns="0" rtlCol="0" anchor="t"/>
          <a:lstStyle/>
          <a:p>
            <a:pPr algn="l" indent="0" marL="0">
              <a:lnSpc>
                <a:spcPts val="1705"/>
              </a:lnSpc>
              <a:buNone/>
            </a:pPr>
            <a:r>
              <a:rPr lang="en-US" sz="1100" dirty="0">
                <a:solidFill>
                  <a:srgbClr val="1F2937"/>
                </a:solidFill>
                <a:latin typeface="Poppins Light" pitchFamily="34" charset="0"/>
                <a:ea typeface="Poppins Light" pitchFamily="34" charset="-122"/>
                <a:cs typeface="Poppins Light" pitchFamily="34" charset="-120"/>
              </a:rPr>
              <a:t>We took over iPajak Group’s pawn brokerage system midway and delivered it for six branches.</a:t>
            </a:r>
            <a:endParaRPr lang="en-US" sz="1100" dirty="0"/>
          </a:p>
        </p:txBody>
      </p:sp>
      <p:sp>
        <p:nvSpPr>
          <p:cNvPr id="47" name="Text"/>
          <p:cNvSpPr txBox="1"/>
          <p:nvPr/>
        </p:nvSpPr>
        <p:spPr>
          <a:xfrm>
            <a:off x="8718530" y="5647334"/>
            <a:ext cx="2601102" cy="186995"/>
          </a:xfrm>
          <a:prstGeom prst="rect">
            <a:avLst/>
          </a:prstGeom>
          <a:noFill/>
          <a:ln/>
        </p:spPr>
        <p:txBody>
          <a:bodyPr wrap="square" lIns="0" tIns="0" rIns="0" bIns="0" rtlCol="0" anchor="t"/>
          <a:lstStyle/>
          <a:p>
            <a:pPr algn="l" indent="0" marL="0">
              <a:lnSpc>
                <a:spcPts val="1472"/>
              </a:lnSpc>
              <a:buNone/>
            </a:pPr>
            <a:r>
              <a:rPr lang="en-US" sz="950" dirty="0">
                <a:solidFill>
                  <a:srgbClr val="044BD9"/>
                </a:solidFill>
                <a:latin typeface="Poppins Medium" pitchFamily="34" charset="0"/>
                <a:ea typeface="Poppins Medium" pitchFamily="34" charset="-122"/>
                <a:cs typeface="Poppins Medium" pitchFamily="34" charset="-120"/>
              </a:rPr>
              <a:t>Proof</a:t>
            </a:r>
            <a:pPr algn="l" indent="0" marL="0">
              <a:lnSpc>
                <a:spcPts val="1472"/>
              </a:lnSpc>
              <a:buNone/>
            </a:pPr>
            <a:r>
              <a:rPr lang="en-US" sz="950" dirty="0">
                <a:solidFill>
                  <a:srgbClr val="6B6B6B"/>
                </a:solidFill>
                <a:latin typeface="Poppins Light" pitchFamily="34" charset="0"/>
                <a:ea typeface="Poppins Light" pitchFamily="34" charset="-122"/>
                <a:cs typeface="Poppins Light" pitchFamily="34" charset="-120"/>
              </a:rPr>
              <a:t> · iPajak Group</a:t>
            </a:r>
            <a:endParaRPr lang="en-US" sz="950" dirty="0"/>
          </a:p>
        </p:txBody>
      </p:sp>
      <p:sp>
        <p:nvSpPr>
          <p:cNvPr id="48" name="Text"/>
          <p:cNvSpPr txBox="1"/>
          <p:nvPr/>
        </p:nvSpPr>
        <p:spPr>
          <a:xfrm>
            <a:off x="6287140" y="276240"/>
            <a:ext cx="708477"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Point of view</a:t>
            </a:r>
            <a:endParaRPr lang="en-US" sz="850" dirty="0"/>
          </a:p>
        </p:txBody>
      </p:sp>
      <p:sp>
        <p:nvSpPr>
          <p:cNvPr id="49" name="Text"/>
          <p:cNvSpPr txBox="1"/>
          <p:nvPr/>
        </p:nvSpPr>
        <p:spPr>
          <a:xfrm>
            <a:off x="7240494" y="276240"/>
            <a:ext cx="665958"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Who we are</a:t>
            </a:r>
            <a:endParaRPr lang="en-US" sz="850" dirty="0"/>
          </a:p>
        </p:txBody>
      </p:sp>
      <p:sp>
        <p:nvSpPr>
          <p:cNvPr id="50" name="Text"/>
          <p:cNvSpPr txBox="1"/>
          <p:nvPr/>
        </p:nvSpPr>
        <p:spPr>
          <a:xfrm>
            <a:off x="8151510" y="276240"/>
            <a:ext cx="671261"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What we do</a:t>
            </a:r>
            <a:endParaRPr lang="en-US" sz="850" dirty="0"/>
          </a:p>
        </p:txBody>
      </p:sp>
      <p:sp>
        <p:nvSpPr>
          <p:cNvPr id="51" name="Text"/>
          <p:cNvSpPr txBox="1"/>
          <p:nvPr/>
        </p:nvSpPr>
        <p:spPr>
          <a:xfrm>
            <a:off x="9067830" y="276240"/>
            <a:ext cx="1205728"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Sectors and products</a:t>
            </a:r>
            <a:endParaRPr lang="en-US" sz="850" dirty="0"/>
          </a:p>
        </p:txBody>
      </p:sp>
      <p:sp>
        <p:nvSpPr>
          <p:cNvPr id="52" name="Text"/>
          <p:cNvSpPr txBox="1"/>
          <p:nvPr/>
        </p:nvSpPr>
        <p:spPr>
          <a:xfrm>
            <a:off x="10516423" y="276240"/>
            <a:ext cx="298552"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A0A6AF"/>
                </a:solidFill>
                <a:latin typeface="Poppins Medium" pitchFamily="34" charset="0"/>
                <a:ea typeface="Poppins Medium" pitchFamily="34" charset="-122"/>
                <a:cs typeface="Poppins Medium" pitchFamily="34" charset="-120"/>
              </a:rPr>
              <a:t>Proof</a:t>
            </a:r>
            <a:endParaRPr lang="en-US" sz="850" dirty="0"/>
          </a:p>
        </p:txBody>
      </p:sp>
      <p:sp>
        <p:nvSpPr>
          <p:cNvPr id="53" name="Text"/>
          <p:cNvSpPr txBox="1"/>
          <p:nvPr/>
        </p:nvSpPr>
        <p:spPr>
          <a:xfrm>
            <a:off x="11061497" y="276240"/>
            <a:ext cx="433700" cy="107991"/>
          </a:xfrm>
          <a:prstGeom prst="rect">
            <a:avLst/>
          </a:prstGeom>
          <a:noFill/>
          <a:ln/>
        </p:spPr>
        <p:txBody>
          <a:bodyPr wrap="square" lIns="0" tIns="0" rIns="0" bIns="0" rtlCol="0" anchor="t"/>
          <a:lstStyle/>
          <a:p>
            <a:pPr algn="l" indent="0" marL="0">
              <a:lnSpc>
                <a:spcPts val="850"/>
              </a:lnSpc>
              <a:buNone/>
            </a:pPr>
            <a:r>
              <a:rPr lang="en-US" sz="850" spc="9" kern="0" dirty="0">
                <a:solidFill>
                  <a:srgbClr val="044BD9"/>
                </a:solidFill>
                <a:latin typeface="Poppins Medium" pitchFamily="34" charset="0"/>
                <a:ea typeface="Poppins Medium" pitchFamily="34" charset="-122"/>
                <a:cs typeface="Poppins Medium" pitchFamily="34" charset="-120"/>
              </a:rPr>
              <a:t>Engage</a:t>
            </a:r>
            <a:endParaRPr lang="en-US" sz="850" dirty="0"/>
          </a:p>
        </p:txBody>
      </p:sp>
      <p:sp>
        <p:nvSpPr>
          <p:cNvPr id="54" name="Source"/>
          <p:cNvSpPr txBox="1"/>
          <p:nvPr/>
        </p:nvSpPr>
        <p:spPr>
          <a:xfrm>
            <a:off x="711220" y="6409030"/>
            <a:ext cx="8300740" cy="151150"/>
          </a:xfrm>
          <a:prstGeom prst="rect">
            <a:avLst/>
          </a:prstGeom>
          <a:noFill/>
          <a:ln/>
        </p:spPr>
        <p:txBody>
          <a:bodyPr wrap="square" lIns="0" tIns="0" rIns="0" bIns="0" rtlCol="0" anchor="t"/>
          <a:lstStyle/>
          <a:p>
            <a:pPr algn="l" indent="0" marL="0">
              <a:lnSpc>
                <a:spcPts val="1190"/>
              </a:lnSpc>
              <a:buNone/>
            </a:pPr>
            <a:r>
              <a:rPr lang="en-US" sz="850" dirty="0">
                <a:solidFill>
                  <a:srgbClr val="6B6B6B"/>
                </a:solidFill>
                <a:latin typeface="Poppins" pitchFamily="34" charset="0"/>
                <a:ea typeface="Poppins" pitchFamily="34" charset="-122"/>
                <a:cs typeface="Poppins" pitchFamily="34" charset="-120"/>
              </a:rPr>
              <a:t>Source: alphv.com/contact; alphv.com/services/system-integration-and-consulting (October 2026).</a:t>
            </a:r>
            <a:endParaRPr lang="en-US" sz="850" dirty="0"/>
          </a:p>
        </p:txBody>
      </p:sp>
      <p:sp>
        <p:nvSpPr>
          <p:cNvPr id="55" name="Text"/>
          <p:cNvSpPr txBox="1"/>
          <p:nvPr/>
        </p:nvSpPr>
        <p:spPr>
          <a:xfrm>
            <a:off x="9347271" y="6409030"/>
            <a:ext cx="393741" cy="151150"/>
          </a:xfrm>
          <a:prstGeom prst="rect">
            <a:avLst/>
          </a:prstGeom>
          <a:noFill/>
          <a:ln/>
        </p:spPr>
        <p:txBody>
          <a:bodyPr wrap="none" lIns="0" tIns="0" rIns="0" bIns="0" rtlCol="0" anchor="t"/>
          <a:lstStyle/>
          <a:p>
            <a:pPr algn="l" indent="0" marL="0">
              <a:lnSpc>
                <a:spcPts val="1190"/>
              </a:lnSpc>
              <a:buNone/>
            </a:pPr>
            <a:r>
              <a:rPr lang="en-US" sz="850" spc="34" kern="0" dirty="0">
                <a:solidFill>
                  <a:srgbClr val="000000"/>
                </a:solidFill>
                <a:latin typeface="Poppins SemiBold" pitchFamily="34" charset="0"/>
                <a:ea typeface="Poppins SemiBold" pitchFamily="34" charset="-122"/>
                <a:cs typeface="Poppins SemiBold" pitchFamily="34" charset="-120"/>
              </a:rPr>
              <a:t>ALPHV</a:t>
            </a:r>
            <a:endParaRPr lang="en-US" sz="850" dirty="0"/>
          </a:p>
        </p:txBody>
      </p:sp>
      <p:sp>
        <p:nvSpPr>
          <p:cNvPr id="56" name="Text"/>
          <p:cNvSpPr txBox="1"/>
          <p:nvPr/>
        </p:nvSpPr>
        <p:spPr>
          <a:xfrm>
            <a:off x="9855312" y="6409030"/>
            <a:ext cx="1377178" cy="151150"/>
          </a:xfrm>
          <a:prstGeom prst="rect">
            <a:avLst/>
          </a:prstGeom>
          <a:noFill/>
          <a:ln/>
        </p:spPr>
        <p:txBody>
          <a:bodyPr wrap="none" lIns="0" tIns="0" rIns="0" bIns="0" rtlCol="0" anchor="t"/>
          <a:lstStyle/>
          <a:p>
            <a:pPr algn="l" indent="0" marL="0">
              <a:lnSpc>
                <a:spcPts val="1190"/>
              </a:lnSpc>
              <a:buNone/>
            </a:pPr>
            <a:r>
              <a:rPr lang="en-US" sz="850" dirty="0">
                <a:solidFill>
                  <a:srgbClr val="6B6B6B"/>
                </a:solidFill>
                <a:latin typeface="Poppins" pitchFamily="34" charset="0"/>
                <a:ea typeface="Poppins" pitchFamily="34" charset="-122"/>
                <a:cs typeface="Poppins" pitchFamily="34" charset="-120"/>
              </a:rPr>
              <a:t>Corporate overview 2026</a:t>
            </a:r>
            <a:endParaRPr lang="en-US" sz="850" dirty="0"/>
          </a:p>
        </p:txBody>
      </p:sp>
      <p:sp>
        <p:nvSpPr>
          <p:cNvPr id="57" name="Text"/>
          <p:cNvSpPr txBox="1"/>
          <p:nvPr/>
        </p:nvSpPr>
        <p:spPr>
          <a:xfrm>
            <a:off x="11346790" y="6409030"/>
            <a:ext cx="159471" cy="151150"/>
          </a:xfrm>
          <a:prstGeom prst="rect">
            <a:avLst/>
          </a:prstGeom>
          <a:noFill/>
          <a:ln/>
        </p:spPr>
        <p:txBody>
          <a:bodyPr wrap="none" lIns="0" tIns="0" rIns="0" bIns="0" rtlCol="0" anchor="t"/>
          <a:lstStyle/>
          <a:p>
            <a:pPr algn="l" indent="0" marL="0">
              <a:lnSpc>
                <a:spcPts val="1190"/>
              </a:lnSpc>
              <a:buNone/>
            </a:pPr>
            <a:r>
              <a:rPr lang="en-US" sz="850" dirty="0">
                <a:solidFill>
                  <a:srgbClr val="000000"/>
                </a:solidFill>
                <a:latin typeface="Poppins Medium" pitchFamily="34" charset="0"/>
                <a:ea typeface="Poppins Medium" pitchFamily="34" charset="-122"/>
                <a:cs typeface="Poppins Medium" pitchFamily="34" charset="-120"/>
              </a:rPr>
              <a:t>34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Picture" descr="ALPHV">    </p:cNvPr>
          <p:cNvPicPr>
            <a:picLocks noChangeAspect="1"/>
          </p:cNvPicPr>
          <p:nvPr/>
        </p:nvPicPr>
        <p:blipFill>
          <a:blip r:embed="rId2"/>
          <a:stretch>
            <a:fillRect/>
          </a:stretch>
        </p:blipFill>
        <p:spPr>
          <a:xfrm>
            <a:off x="711220" y="533370"/>
            <a:ext cx="934608" cy="292059"/>
          </a:xfrm>
          <a:prstGeom prst="rect">
            <a:avLst/>
          </a:prstGeom>
        </p:spPr>
      </p:pic>
      <p:sp>
        <p:nvSpPr>
          <p:cNvPr id="3" name="badge"/>
          <p:cNvSpPr/>
          <p:nvPr/>
        </p:nvSpPr>
        <p:spPr>
          <a:xfrm>
            <a:off x="9878812" y="536570"/>
            <a:ext cx="1598828" cy="254020"/>
          </a:xfrm>
          <a:prstGeom prst="roundRect">
            <a:avLst>
              <a:gd name="adj" fmla="val 50000"/>
            </a:avLst>
          </a:prstGeom>
          <a:ln w="6350">
            <a:solidFill>
              <a:srgbClr val="FFFFFF">
                <a:alpha val="55000"/>
              </a:srgbClr>
            </a:solidFill>
            <a:prstDash val="solid"/>
          </a:ln>
        </p:spPr>
      </p:sp>
      <p:sp>
        <p:nvSpPr>
          <p:cNvPr id="4" name="Rule"/>
          <p:cNvSpPr/>
          <p:nvPr/>
        </p:nvSpPr>
        <p:spPr>
          <a:xfrm>
            <a:off x="711220" y="4485681"/>
            <a:ext cx="10769620" cy="0"/>
          </a:xfrm>
          <a:prstGeom prst="line">
            <a:avLst/>
          </a:prstGeom>
          <a:noFill/>
          <a:ln w="6350">
            <a:solidFill>
              <a:srgbClr val="FFFFFF">
                <a:alpha val="22000"/>
              </a:srgbClr>
            </a:solidFill>
            <a:prstDash val="solid"/>
          </a:ln>
        </p:spPr>
      </p:sp>
      <p:sp>
        <p:nvSpPr>
          <p:cNvPr id="5" name="Text"/>
          <p:cNvSpPr txBox="1"/>
          <p:nvPr/>
        </p:nvSpPr>
        <p:spPr>
          <a:xfrm>
            <a:off x="10009022" y="603230"/>
            <a:ext cx="1363828" cy="120609"/>
          </a:xfrm>
          <a:prstGeom prst="rect">
            <a:avLst/>
          </a:prstGeom>
          <a:noFill/>
          <a:ln/>
        </p:spPr>
        <p:txBody>
          <a:bodyPr wrap="none" lIns="0" tIns="0" rIns="0" bIns="0" rtlCol="0" anchor="t"/>
          <a:lstStyle/>
          <a:p>
            <a:pPr algn="l" indent="0" marL="0">
              <a:lnSpc>
                <a:spcPts val="950"/>
              </a:lnSpc>
              <a:buNone/>
            </a:pPr>
            <a:r>
              <a:rPr lang="en-US" sz="950" spc="10" kern="0" dirty="0">
                <a:solidFill>
                  <a:srgbClr val="FFFFFF"/>
                </a:solidFill>
                <a:latin typeface="Poppins Medium" pitchFamily="34" charset="0"/>
                <a:ea typeface="Poppins Medium" pitchFamily="34" charset="-122"/>
                <a:cs typeface="Poppins Medium" pitchFamily="34" charset="-120"/>
              </a:rPr>
              <a:t>Talk to an AI engineer</a:t>
            </a:r>
            <a:endParaRPr lang="en-US" sz="950" dirty="0"/>
          </a:p>
        </p:txBody>
      </p:sp>
      <p:sp>
        <p:nvSpPr>
          <p:cNvPr id="6" name="Text"/>
          <p:cNvSpPr txBox="1"/>
          <p:nvPr/>
        </p:nvSpPr>
        <p:spPr>
          <a:xfrm>
            <a:off x="711220" y="2953969"/>
            <a:ext cx="9575780" cy="739658"/>
          </a:xfrm>
          <a:prstGeom prst="rect">
            <a:avLst/>
          </a:prstGeom>
          <a:noFill/>
          <a:ln/>
        </p:spPr>
        <p:txBody>
          <a:bodyPr wrap="square" lIns="0" tIns="0" rIns="0" bIns="0" rtlCol="0" anchor="t"/>
          <a:lstStyle/>
          <a:p>
            <a:pPr algn="l" indent="0" marL="0">
              <a:lnSpc>
                <a:spcPts val="5824"/>
              </a:lnSpc>
              <a:buNone/>
            </a:pPr>
            <a:r>
              <a:rPr lang="en-US" sz="5600" spc="-140" kern="0" dirty="0">
                <a:solidFill>
                  <a:srgbClr val="FFFFFF"/>
                </a:solidFill>
                <a:latin typeface="Poppins SemiBold" pitchFamily="34" charset="0"/>
                <a:ea typeface="Poppins SemiBold" pitchFamily="34" charset="-122"/>
                <a:cs typeface="Poppins SemiBold" pitchFamily="34" charset="-120"/>
              </a:rPr>
              <a:t>Let’s build what’s next</a:t>
            </a:r>
            <a:endParaRPr lang="en-US" sz="5600" dirty="0"/>
          </a:p>
        </p:txBody>
      </p:sp>
      <p:sp>
        <p:nvSpPr>
          <p:cNvPr id="7" name="Text"/>
          <p:cNvSpPr txBox="1"/>
          <p:nvPr/>
        </p:nvSpPr>
        <p:spPr>
          <a:xfrm>
            <a:off x="711220" y="3922136"/>
            <a:ext cx="6883420" cy="276240"/>
          </a:xfrm>
          <a:prstGeom prst="rect">
            <a:avLst/>
          </a:prstGeom>
          <a:noFill/>
          <a:ln/>
        </p:spPr>
        <p:txBody>
          <a:bodyPr wrap="none" lIns="0" tIns="0" rIns="0" bIns="0" rtlCol="0" anchor="t"/>
          <a:lstStyle/>
          <a:p>
            <a:pPr algn="l" indent="0" marL="0">
              <a:lnSpc>
                <a:spcPts val="2175"/>
              </a:lnSpc>
              <a:buNone/>
            </a:pPr>
            <a:r>
              <a:rPr lang="en-US" sz="1450" dirty="0">
                <a:solidFill>
                  <a:srgbClr val="E1E9FA"/>
                </a:solidFill>
                <a:latin typeface="Poppins Light" pitchFamily="34" charset="0"/>
                <a:ea typeface="Poppins Light" pitchFamily="34" charset="-122"/>
                <a:cs typeface="Poppins Light" pitchFamily="34" charset="-120"/>
              </a:rPr>
              <a:t>Tell us where your business needs to be. We’ll map the path to get there.</a:t>
            </a:r>
            <a:endParaRPr lang="en-US" sz="1450" dirty="0"/>
          </a:p>
        </p:txBody>
      </p:sp>
      <p:sp>
        <p:nvSpPr>
          <p:cNvPr id="8" name="Text"/>
          <p:cNvSpPr txBox="1"/>
          <p:nvPr/>
        </p:nvSpPr>
        <p:spPr>
          <a:xfrm>
            <a:off x="711220" y="4690963"/>
            <a:ext cx="3344875" cy="167335"/>
          </a:xfrm>
          <a:prstGeom prst="rect">
            <a:avLst/>
          </a:prstGeom>
          <a:noFill/>
          <a:ln/>
        </p:spPr>
        <p:txBody>
          <a:bodyPr wrap="square" lIns="0" tIns="0" rIns="0" bIns="0" rtlCol="0" anchor="t"/>
          <a:lstStyle/>
          <a:p>
            <a:pPr algn="l" indent="0" marL="0">
              <a:lnSpc>
                <a:spcPts val="1318"/>
              </a:lnSpc>
              <a:buNone/>
            </a:pPr>
            <a:r>
              <a:rPr lang="en-US" sz="850" spc="26" kern="0" dirty="0">
                <a:solidFill>
                  <a:srgbClr val="C0D2F6"/>
                </a:solidFill>
                <a:latin typeface="Poppins Medium" pitchFamily="34" charset="0"/>
                <a:ea typeface="Poppins Medium" pitchFamily="34" charset="-122"/>
                <a:cs typeface="Poppins Medium" pitchFamily="34" charset="-120"/>
              </a:rPr>
              <a:t>Email</a:t>
            </a:r>
            <a:endParaRPr lang="en-US" sz="850" dirty="0"/>
          </a:p>
        </p:txBody>
      </p:sp>
      <p:sp>
        <p:nvSpPr>
          <p:cNvPr id="9" name="Text"/>
          <p:cNvSpPr txBox="1"/>
          <p:nvPr/>
        </p:nvSpPr>
        <p:spPr>
          <a:xfrm>
            <a:off x="711220" y="4896795"/>
            <a:ext cx="3344875" cy="236190"/>
          </a:xfrm>
          <a:prstGeom prst="rect">
            <a:avLst/>
          </a:prstGeom>
          <a:noFill/>
          <a:ln/>
        </p:spPr>
        <p:txBody>
          <a:bodyPr wrap="square" lIns="0" tIns="0" rIns="0" bIns="0" rtlCol="0" anchor="t"/>
          <a:lstStyle/>
          <a:p>
            <a:pPr algn="l" indent="0" marL="0">
              <a:lnSpc>
                <a:spcPts val="1860"/>
              </a:lnSpc>
              <a:buNone/>
            </a:pPr>
            <a:r>
              <a:rPr lang="en-US" sz="1200" dirty="0">
                <a:solidFill>
                  <a:srgbClr val="FFFFFF"/>
                </a:solidFill>
                <a:latin typeface="Poppins" pitchFamily="34" charset="0"/>
                <a:ea typeface="Poppins" pitchFamily="34" charset="-122"/>
                <a:cs typeface="Poppins" pitchFamily="34" charset="-120"/>
              </a:rPr>
              <a:t>admin@alphv.com</a:t>
            </a:r>
            <a:endParaRPr lang="en-US" sz="1200" dirty="0"/>
          </a:p>
        </p:txBody>
      </p:sp>
      <p:sp>
        <p:nvSpPr>
          <p:cNvPr id="10" name="Text"/>
          <p:cNvSpPr txBox="1"/>
          <p:nvPr/>
        </p:nvSpPr>
        <p:spPr>
          <a:xfrm>
            <a:off x="4436486" y="4690963"/>
            <a:ext cx="3344967" cy="167335"/>
          </a:xfrm>
          <a:prstGeom prst="rect">
            <a:avLst/>
          </a:prstGeom>
          <a:noFill/>
          <a:ln/>
        </p:spPr>
        <p:txBody>
          <a:bodyPr wrap="square" lIns="0" tIns="0" rIns="0" bIns="0" rtlCol="0" anchor="t"/>
          <a:lstStyle/>
          <a:p>
            <a:pPr algn="l" indent="0" marL="0">
              <a:lnSpc>
                <a:spcPts val="1318"/>
              </a:lnSpc>
              <a:buNone/>
            </a:pPr>
            <a:r>
              <a:rPr lang="en-US" sz="850" spc="26" kern="0" dirty="0">
                <a:solidFill>
                  <a:srgbClr val="C0D2F6"/>
                </a:solidFill>
                <a:latin typeface="Poppins Medium" pitchFamily="34" charset="0"/>
                <a:ea typeface="Poppins Medium" pitchFamily="34" charset="-122"/>
                <a:cs typeface="Poppins Medium" pitchFamily="34" charset="-120"/>
              </a:rPr>
              <a:t>WhatsApp or call</a:t>
            </a:r>
            <a:endParaRPr lang="en-US" sz="850" dirty="0"/>
          </a:p>
        </p:txBody>
      </p:sp>
      <p:sp>
        <p:nvSpPr>
          <p:cNvPr id="11" name="Text"/>
          <p:cNvSpPr txBox="1"/>
          <p:nvPr/>
        </p:nvSpPr>
        <p:spPr>
          <a:xfrm>
            <a:off x="4436486" y="4896795"/>
            <a:ext cx="3344967" cy="236190"/>
          </a:xfrm>
          <a:prstGeom prst="rect">
            <a:avLst/>
          </a:prstGeom>
          <a:noFill/>
          <a:ln/>
        </p:spPr>
        <p:txBody>
          <a:bodyPr wrap="square" lIns="0" tIns="0" rIns="0" bIns="0" rtlCol="0" anchor="t"/>
          <a:lstStyle/>
          <a:p>
            <a:pPr algn="l" indent="0" marL="0">
              <a:lnSpc>
                <a:spcPts val="1860"/>
              </a:lnSpc>
              <a:buNone/>
            </a:pPr>
            <a:r>
              <a:rPr lang="en-US" sz="1200" dirty="0">
                <a:solidFill>
                  <a:srgbClr val="FFFFFF"/>
                </a:solidFill>
                <a:latin typeface="Poppins" pitchFamily="34" charset="0"/>
                <a:ea typeface="Poppins" pitchFamily="34" charset="-122"/>
                <a:cs typeface="Poppins" pitchFamily="34" charset="-120"/>
              </a:rPr>
              <a:t>+60 16-518 7740</a:t>
            </a:r>
            <a:endParaRPr lang="en-US" sz="1200" dirty="0"/>
          </a:p>
        </p:txBody>
      </p:sp>
      <p:sp>
        <p:nvSpPr>
          <p:cNvPr id="12" name="Text"/>
          <p:cNvSpPr txBox="1"/>
          <p:nvPr/>
        </p:nvSpPr>
        <p:spPr>
          <a:xfrm>
            <a:off x="8161843" y="4690963"/>
            <a:ext cx="3344967" cy="167335"/>
          </a:xfrm>
          <a:prstGeom prst="rect">
            <a:avLst/>
          </a:prstGeom>
          <a:noFill/>
          <a:ln/>
        </p:spPr>
        <p:txBody>
          <a:bodyPr wrap="square" lIns="0" tIns="0" rIns="0" bIns="0" rtlCol="0" anchor="t"/>
          <a:lstStyle/>
          <a:p>
            <a:pPr algn="l" indent="0" marL="0">
              <a:lnSpc>
                <a:spcPts val="1318"/>
              </a:lnSpc>
              <a:buNone/>
            </a:pPr>
            <a:r>
              <a:rPr lang="en-US" sz="850" spc="26" kern="0" dirty="0">
                <a:solidFill>
                  <a:srgbClr val="C0D2F6"/>
                </a:solidFill>
                <a:latin typeface="Poppins Medium" pitchFamily="34" charset="0"/>
                <a:ea typeface="Poppins Medium" pitchFamily="34" charset="-122"/>
                <a:cs typeface="Poppins Medium" pitchFamily="34" charset="-120"/>
              </a:rPr>
              <a:t>Web</a:t>
            </a:r>
            <a:endParaRPr lang="en-US" sz="850" dirty="0"/>
          </a:p>
        </p:txBody>
      </p:sp>
      <p:sp>
        <p:nvSpPr>
          <p:cNvPr id="13" name="Text"/>
          <p:cNvSpPr txBox="1"/>
          <p:nvPr/>
        </p:nvSpPr>
        <p:spPr>
          <a:xfrm>
            <a:off x="8161843" y="4896795"/>
            <a:ext cx="3344967" cy="236190"/>
          </a:xfrm>
          <a:prstGeom prst="rect">
            <a:avLst/>
          </a:prstGeom>
          <a:noFill/>
          <a:ln/>
        </p:spPr>
        <p:txBody>
          <a:bodyPr wrap="square" lIns="0" tIns="0" rIns="0" bIns="0" rtlCol="0" anchor="t"/>
          <a:lstStyle/>
          <a:p>
            <a:pPr algn="l" indent="0" marL="0">
              <a:lnSpc>
                <a:spcPts val="1860"/>
              </a:lnSpc>
              <a:buNone/>
            </a:pPr>
            <a:r>
              <a:rPr lang="en-US" sz="1200" dirty="0">
                <a:solidFill>
                  <a:srgbClr val="FFFFFF"/>
                </a:solidFill>
                <a:latin typeface="Poppins" pitchFamily="34" charset="0"/>
                <a:ea typeface="Poppins" pitchFamily="34" charset="-122"/>
                <a:cs typeface="Poppins" pitchFamily="34" charset="-120"/>
              </a:rPr>
              <a:t>alphv.com</a:t>
            </a:r>
            <a:endParaRPr lang="en-US" sz="1200" dirty="0"/>
          </a:p>
        </p:txBody>
      </p:sp>
      <p:sp>
        <p:nvSpPr>
          <p:cNvPr id="14" name="Text"/>
          <p:cNvSpPr txBox="1"/>
          <p:nvPr/>
        </p:nvSpPr>
        <p:spPr>
          <a:xfrm>
            <a:off x="711220" y="5322997"/>
            <a:ext cx="7085137" cy="167335"/>
          </a:xfrm>
          <a:prstGeom prst="rect">
            <a:avLst/>
          </a:prstGeom>
          <a:noFill/>
          <a:ln/>
        </p:spPr>
        <p:txBody>
          <a:bodyPr wrap="square" lIns="0" tIns="0" rIns="0" bIns="0" rtlCol="0" anchor="t"/>
          <a:lstStyle/>
          <a:p>
            <a:pPr algn="l" indent="0" marL="0">
              <a:lnSpc>
                <a:spcPts val="1318"/>
              </a:lnSpc>
              <a:buNone/>
            </a:pPr>
            <a:r>
              <a:rPr lang="en-US" sz="850" spc="26" kern="0" dirty="0">
                <a:solidFill>
                  <a:srgbClr val="C0D2F6"/>
                </a:solidFill>
                <a:latin typeface="Poppins Medium" pitchFamily="34" charset="0"/>
                <a:ea typeface="Poppins Medium" pitchFamily="34" charset="-122"/>
                <a:cs typeface="Poppins Medium" pitchFamily="34" charset="-120"/>
              </a:rPr>
              <a:t>Headquarters</a:t>
            </a:r>
            <a:endParaRPr lang="en-US" sz="850" dirty="0"/>
          </a:p>
        </p:txBody>
      </p:sp>
      <p:sp>
        <p:nvSpPr>
          <p:cNvPr id="15" name="Text"/>
          <p:cNvSpPr txBox="1"/>
          <p:nvPr/>
        </p:nvSpPr>
        <p:spPr>
          <a:xfrm>
            <a:off x="711220" y="5526634"/>
            <a:ext cx="7085137" cy="405171"/>
          </a:xfrm>
          <a:prstGeom prst="rect">
            <a:avLst/>
          </a:prstGeom>
          <a:noFill/>
          <a:ln/>
        </p:spPr>
        <p:txBody>
          <a:bodyPr wrap="square" lIns="0" tIns="0" rIns="0" bIns="0" rtlCol="0" anchor="t"/>
          <a:lstStyle/>
          <a:p>
            <a:pPr algn="l" indent="0" marL="0">
              <a:lnSpc>
                <a:spcPts val="1595"/>
              </a:lnSpc>
              <a:buNone/>
            </a:pPr>
            <a:r>
              <a:rPr lang="en-US" sz="1100" dirty="0">
                <a:solidFill>
                  <a:srgbClr val="FFFFFF"/>
                </a:solidFill>
                <a:latin typeface="Poppins" pitchFamily="34" charset="0"/>
                <a:ea typeface="Poppins" pitchFamily="34" charset="-122"/>
                <a:cs typeface="Poppins" pitchFamily="34" charset="-120"/>
              </a:rPr>
              <a:t>Unit 21-05, Level 21, Tower A, The Vertical Business Suites,</a:t>
            </a:r>
            <a:endParaRPr lang="en-US" sz="1100" dirty="0"/>
          </a:p>
          <a:p>
            <a:pPr algn="l" indent="0" marL="0">
              <a:lnSpc>
                <a:spcPts val="1595"/>
              </a:lnSpc>
              <a:buNone/>
            </a:pPr>
            <a:r>
              <a:rPr lang="en-US" sz="1100" dirty="0">
                <a:solidFill>
                  <a:srgbClr val="FFFFFF"/>
                </a:solidFill>
                <a:latin typeface="Poppins" pitchFamily="34" charset="0"/>
                <a:ea typeface="Poppins" pitchFamily="34" charset="-122"/>
                <a:cs typeface="Poppins" pitchFamily="34" charset="-120"/>
              </a:rPr>
              <a:t>8 Jalan Kerinchi, Bangsar South, 59200 Kuala Lumpur</a:t>
            </a:r>
            <a:endParaRPr lang="en-US" sz="1100" dirty="0"/>
          </a:p>
        </p:txBody>
      </p:sp>
      <p:sp>
        <p:nvSpPr>
          <p:cNvPr id="16" name="Text"/>
          <p:cNvSpPr txBox="1"/>
          <p:nvPr/>
        </p:nvSpPr>
        <p:spPr>
          <a:xfrm>
            <a:off x="8161843" y="5322997"/>
            <a:ext cx="3344967" cy="167335"/>
          </a:xfrm>
          <a:prstGeom prst="rect">
            <a:avLst/>
          </a:prstGeom>
          <a:noFill/>
          <a:ln/>
        </p:spPr>
        <p:txBody>
          <a:bodyPr wrap="square" lIns="0" tIns="0" rIns="0" bIns="0" rtlCol="0" anchor="t"/>
          <a:lstStyle/>
          <a:p>
            <a:pPr algn="l" indent="0" marL="0">
              <a:lnSpc>
                <a:spcPts val="1318"/>
              </a:lnSpc>
              <a:buNone/>
            </a:pPr>
            <a:r>
              <a:rPr lang="en-US" sz="850" spc="26" kern="0" dirty="0">
                <a:solidFill>
                  <a:srgbClr val="C0D2F6"/>
                </a:solidFill>
                <a:latin typeface="Poppins Medium" pitchFamily="34" charset="0"/>
                <a:ea typeface="Poppins Medium" pitchFamily="34" charset="-122"/>
                <a:cs typeface="Poppins Medium" pitchFamily="34" charset="-120"/>
              </a:rPr>
              <a:t>Office</a:t>
            </a:r>
            <a:endParaRPr lang="en-US" sz="850" dirty="0"/>
          </a:p>
        </p:txBody>
      </p:sp>
      <p:sp>
        <p:nvSpPr>
          <p:cNvPr id="17" name="Text"/>
          <p:cNvSpPr txBox="1"/>
          <p:nvPr/>
        </p:nvSpPr>
        <p:spPr>
          <a:xfrm>
            <a:off x="8161843" y="5526634"/>
            <a:ext cx="3344967" cy="405171"/>
          </a:xfrm>
          <a:prstGeom prst="rect">
            <a:avLst/>
          </a:prstGeom>
          <a:noFill/>
          <a:ln/>
        </p:spPr>
        <p:txBody>
          <a:bodyPr wrap="square" lIns="0" tIns="0" rIns="0" bIns="0" rtlCol="0" anchor="t"/>
          <a:lstStyle/>
          <a:p>
            <a:pPr algn="l" indent="0" marL="0">
              <a:lnSpc>
                <a:spcPts val="1595"/>
              </a:lnSpc>
              <a:buNone/>
            </a:pPr>
            <a:r>
              <a:rPr lang="en-US" sz="1100" dirty="0">
                <a:solidFill>
                  <a:srgbClr val="FFFFFF"/>
                </a:solidFill>
                <a:latin typeface="Poppins" pitchFamily="34" charset="0"/>
                <a:ea typeface="Poppins" pitchFamily="34" charset="-122"/>
                <a:cs typeface="Poppins" pitchFamily="34" charset="-120"/>
              </a:rPr>
              <a:t>WCEGA Tower, 21 Bukit Batok Crescent, Singapore 658065</a:t>
            </a:r>
            <a:endParaRPr lang="en-US" sz="1100" dirty="0"/>
          </a:p>
        </p:txBody>
      </p:sp>
      <p:sp>
        <p:nvSpPr>
          <p:cNvPr id="18" name="Text"/>
          <p:cNvSpPr txBox="1"/>
          <p:nvPr/>
        </p:nvSpPr>
        <p:spPr>
          <a:xfrm>
            <a:off x="711220" y="6212434"/>
            <a:ext cx="1570756" cy="186995"/>
          </a:xfrm>
          <a:prstGeom prst="rect">
            <a:avLst/>
          </a:prstGeom>
          <a:noFill/>
          <a:ln/>
        </p:spPr>
        <p:txBody>
          <a:bodyPr wrap="none" lIns="0" tIns="0" rIns="0" bIns="0" rtlCol="0" anchor="t"/>
          <a:lstStyle/>
          <a:p>
            <a:pPr algn="l" indent="0" marL="0">
              <a:lnSpc>
                <a:spcPts val="1472"/>
              </a:lnSpc>
              <a:buNone/>
            </a:pPr>
            <a:r>
              <a:rPr lang="en-US" sz="950" dirty="0">
                <a:solidFill>
                  <a:srgbClr val="FFFFFF"/>
                </a:solidFill>
                <a:latin typeface="Poppins Medium" pitchFamily="34" charset="0"/>
                <a:ea typeface="Poppins Medium" pitchFamily="34" charset="-122"/>
                <a:cs typeface="Poppins Medium" pitchFamily="34" charset="-120"/>
              </a:rPr>
              <a:t>We automate everything.</a:t>
            </a:r>
            <a:endParaRPr lang="en-US" sz="950" dirty="0"/>
          </a:p>
        </p:txBody>
      </p:sp>
      <p:sp>
        <p:nvSpPr>
          <p:cNvPr id="19" name="Text"/>
          <p:cNvSpPr txBox="1"/>
          <p:nvPr/>
        </p:nvSpPr>
        <p:spPr>
          <a:xfrm>
            <a:off x="6999823" y="6212434"/>
            <a:ext cx="4506438" cy="186995"/>
          </a:xfrm>
          <a:prstGeom prst="rect">
            <a:avLst/>
          </a:prstGeom>
          <a:noFill/>
          <a:ln/>
        </p:spPr>
        <p:txBody>
          <a:bodyPr wrap="none" lIns="0" tIns="0" rIns="0" bIns="0" rtlCol="0" anchor="t"/>
          <a:lstStyle/>
          <a:p>
            <a:pPr algn="l" indent="0" marL="0">
              <a:lnSpc>
                <a:spcPts val="1472"/>
              </a:lnSpc>
              <a:buNone/>
            </a:pPr>
            <a:r>
              <a:rPr lang="en-US" sz="950" dirty="0">
                <a:solidFill>
                  <a:srgbClr val="E1E9FA"/>
                </a:solidFill>
                <a:latin typeface="Poppins Light" pitchFamily="34" charset="0"/>
                <a:ea typeface="Poppins Light" pitchFamily="34" charset="-122"/>
                <a:cs typeface="Poppins Light" pitchFamily="34" charset="-120"/>
              </a:rPr>
              <a:t>ALPHV Technologies Sdn Bhd · Company Reg. No. 202301015604 (1509526-V)</a:t>
            </a:r>
            <a:endParaRPr lang="en-US" sz="950" dirty="0"/>
          </a:p>
        </p:txBody>
      </p:sp>
    </p:spTree>
  </p:cSld>
  <p:clrMapOvr>
    <a:masterClrMapping/>
  </p:clrMapOvr>
</p:sld>
</file>

<file path=ppt/theme/theme1.xml><?xml version="1.0" encoding="utf-8"?>
<a:theme xmlns:a="http://schemas.openxmlformats.org/drawingml/2006/main" name="ALPHV Cobalt Editorial">
  <a:themeElements>
    <a:clrScheme name="ALPHV Cobalt Editorial">
      <a:dk1>
        <a:srgbClr val="000000"/>
      </a:dk1>
      <a:lt1>
        <a:srgbClr val="FFFFFF"/>
      </a:lt1>
      <a:dk2>
        <a:srgbClr val="1F2937"/>
      </a:dk2>
      <a:lt2>
        <a:srgbClr val="F8F9FA"/>
      </a:lt2>
      <a:accent1>
        <a:srgbClr val="044BD9"/>
      </a:accent1>
      <a:accent2>
        <a:srgbClr val="155DFC"/>
      </a:accent2>
      <a:accent3>
        <a:srgbClr val="3B6BFF"/>
      </a:accent3>
      <a:accent4>
        <a:srgbClr val="0236A8"/>
      </a:accent4>
      <a:accent5>
        <a:srgbClr val="6B6B6B"/>
      </a:accent5>
      <a:accent6>
        <a:srgbClr val="E3E6EC"/>
      </a:accent6>
      <a:hlink>
        <a:srgbClr val="155DFC"/>
      </a:hlink>
      <a:folHlink>
        <a:srgbClr val="0236A8"/>
      </a:folHlink>
    </a:clrScheme>
    <a:fontScheme name="ALPHV Cobalt Editorial">
      <a:majorFont>
        <a:latin typeface="Poppins Medium"/>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oppins Ligh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ALPHV Technologies Sdn Bhd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ALPHV Technologies: corporate overview 2026</dc:title>
  <dc:subject>PptxGenJS Presentation</dc:subject>
  <dc:creator>ALPHV Technologies</dc:creator>
  <cp:lastModifiedBy>ALPHV Technologies</cp:lastModifiedBy>
  <cp:revision>1</cp:revision>
  <dcterms:created xsi:type="dcterms:W3CDTF">2026-10-25T18:31:33Z</dcterms:created>
  <dcterms:modified xsi:type="dcterms:W3CDTF">2026-10-25T18:31:33Z</dcterms:modified>
</cp:coreProperties>
</file>